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0a9af569-601d-0ead-38df-4d62fb31235e}">
          <p14:sldIdLst>
            <p14:sldId id="256"/>
            <p14:sldId id="257"/>
            <p14:sldId id="258"/>
            <p14:sldId id="259"/>
          </p14:sldIdLst>
        </p14:section>
        <p14:section name="세계관 · 캐릭터" id="{ae6a59ca-7405-4d19-211c-6e9fbb581a17}">
          <p14:sldIdLst>
            <p14:sldId id="260"/>
            <p14:sldId id="261"/>
            <p14:sldId id="262"/>
            <p14:sldId id="263"/>
          </p14:sldIdLst>
        </p14:section>
        <p14:section name="연출 · AI 설계" id="{c85d237f-2a95-86c2-7469-48d11d5525a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결과물 · IP 확장" id="{2d52d80a-7e95-3b5b-2839-389989251df8}">
          <p14:sldIdLst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이민상  ·  곰나나 「점심메뉴 대소동」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kwQ9-Hc1DLFkLV5Mx-d7NjC70e1IsnNo/view" TargetMode="External"/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kwQ9-Hc1DLFkLV5Mx-d7NjC70e1IsnNo/view" TargetMode="External"/><Relationship Id="rId3" Type="http://schemas.openxmlformats.org/officeDocument/2006/relationships/hyperlink" Target="https://drive.google.com/file/d/1kwQ9-Hc1DLFkLV5Mx-d7NjC70e1IsnNo/view" TargetMode="External"/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QdZ01a6mN7L7mlONQdThAWSbANCpgrNe/view" TargetMode="External"/><Relationship Id="rId3" Type="http://schemas.openxmlformats.org/officeDocument/2006/relationships/hyperlink" Target="https://drive.google.com/file/d/1QdZ01a6mN7L7mlONQdThAWSbANCpgrNe/view" TargetMode="External"/><Relationship Id="rId1" Type="http://schemas.openxmlformats.org/officeDocument/2006/relationships/image" Target="../media/image-21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logo-1" descr="곰나나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6159"/>
            <a:ext cx="3017520" cy="2010962"/>
          </a:xfrm>
          <a:prstGeom prst="rect">
            <a:avLst/>
          </a:prstGeom>
        </p:spPr>
      </p:pic>
      <p:sp>
        <p:nvSpPr>
          <p:cNvPr id="3" name="text-2"/>
          <p:cNvSpPr txBox="1"/>
          <p:nvPr/>
        </p:nvSpPr>
        <p:spPr>
          <a:xfrm>
            <a:off x="54864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· 캐릭터 IP 포트폴리오 2026</a:t>
            </a:r>
            <a:endParaRPr lang="en-US" sz="13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3291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곰나나</a:t>
            </a:r>
            <a:endParaRPr lang="en-US" sz="1800" dirty="0"/>
          </a:p>
        </p:txBody>
      </p:sp>
      <p:sp>
        <p:nvSpPr>
          <p:cNvPr id="5" name="text-4"/>
          <p:cNvSpPr txBox="1"/>
          <p:nvPr/>
        </p:nvSpPr>
        <p:spPr>
          <a:xfrm>
            <a:off x="548640" y="3703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「점심메뉴 대소동」</a:t>
            </a:r>
            <a:endParaRPr lang="en-US" sz="3600" dirty="0"/>
          </a:p>
        </p:txBody>
      </p:sp>
      <p:sp>
        <p:nvSpPr>
          <p:cNvPr id="6" name="text-5"/>
          <p:cNvSpPr txBox="1"/>
          <p:nvPr/>
        </p:nvSpPr>
        <p:spPr>
          <a:xfrm>
            <a:off x="548640" y="4663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이민상</a:t>
            </a:r>
            <a:endParaRPr lang="en-US" sz="2400" dirty="0"/>
          </a:p>
        </p:txBody>
      </p:sp>
      <p:sp>
        <p:nvSpPr>
          <p:cNvPr id="7" name="text-6"/>
          <p:cNvSpPr txBox="1"/>
          <p:nvPr/>
        </p:nvSpPr>
        <p:spPr>
          <a:xfrm>
            <a:off x="54864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도구로 쓰는 1인 풀파이프라인 디렉터</a:t>
            </a:r>
            <a:endParaRPr lang="en-US" sz="1500" dirty="0"/>
          </a:p>
        </p:txBody>
      </p:sp>
      <p:sp>
        <p:nvSpPr>
          <p:cNvPr id="8" name="frame-7"/>
          <p:cNvSpPr/>
          <p:nvPr/>
        </p:nvSpPr>
        <p:spPr>
          <a:xfrm>
            <a:off x="5806440" y="1255014"/>
            <a:ext cx="5852160" cy="3387852"/>
          </a:xfrm>
          <a:prstGeom prst="roundRect">
            <a:avLst>
              <a:gd name="adj" fmla="val 3239"/>
            </a:avLst>
          </a:prstGeom>
          <a:solidFill>
            <a:schemeClr val="accent5"/>
          </a:solidFill>
          <a:ln/>
        </p:spPr>
      </p:sp>
      <p:pic>
        <p:nvPicPr>
          <p:cNvPr id="9" name="img-TEST-8" descr="키 비주얼: 콩가리니쿠를 들고 달려오는 지니와 뒤따르는 미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364742"/>
            <a:ext cx="5632704" cy="3168396"/>
          </a:xfrm>
          <a:prstGeom prst="rect">
            <a:avLst/>
          </a:prstGeom>
        </p:spPr>
      </p:pic>
      <p:sp>
        <p:nvSpPr>
          <p:cNvPr id="10" name="text-9"/>
          <p:cNvSpPr txBox="1"/>
          <p:nvPr/>
        </p:nvSpPr>
        <p:spPr>
          <a:xfrm>
            <a:off x="5806440" y="478002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비주얼 — 콩가리니쿠를 든 지니, 뒤따르는 미샤</a:t>
            </a:r>
            <a:endParaRPr lang="en-US" sz="10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</a:t>
            </a:r>
            <a:endParaRPr lang="en-US" sz="2800" dirty="0"/>
          </a:p>
        </p:txBody>
      </p:sp>
      <p:sp>
        <p:nvSpPr>
          <p:cNvPr id="3" name="chip-10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frame-11"/>
          <p:cNvSpPr/>
          <p:nvPr/>
        </p:nvSpPr>
        <p:spPr>
          <a:xfrm>
            <a:off x="548640" y="1465212"/>
            <a:ext cx="6400800" cy="3653257"/>
          </a:xfrm>
          <a:prstGeom prst="roundRect">
            <a:avLst>
              <a:gd name="adj" fmla="val 3004"/>
            </a:avLst>
          </a:prstGeom>
          <a:solidFill>
            <a:schemeClr val="accent5"/>
          </a:solidFill>
          <a:ln/>
        </p:spPr>
      </p:sp>
      <p:pic>
        <p:nvPicPr>
          <p:cNvPr id="5" name="img-0202-12" descr="컷2 국밥 선언: 콩가리니쿠를 들어 올린 지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6652"/>
            <a:ext cx="6217920" cy="3470377"/>
          </a:xfrm>
          <a:prstGeom prst="rect">
            <a:avLst/>
          </a:prstGeom>
        </p:spPr>
      </p:pic>
      <p:sp>
        <p:nvSpPr>
          <p:cNvPr id="6" name="text-13"/>
          <p:cNvSpPr txBox="1"/>
          <p:nvPr/>
        </p:nvSpPr>
        <p:spPr>
          <a:xfrm>
            <a:off x="548640" y="52099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컷2 · 씬2-B  국밥 선언</a:t>
            </a:r>
            <a:endParaRPr lang="en-US" sz="1000" dirty="0"/>
          </a:p>
        </p:txBody>
      </p:sp>
      <p:sp>
        <p:nvSpPr>
          <p:cNvPr id="7" name="card-14"/>
          <p:cNvSpPr/>
          <p:nvPr/>
        </p:nvSpPr>
        <p:spPr>
          <a:xfrm>
            <a:off x="7315200" y="1280160"/>
            <a:ext cx="4325112" cy="3653257"/>
          </a:xfrm>
          <a:prstGeom prst="roundRect">
            <a:avLst>
              <a:gd name="adj" fmla="val 3504"/>
            </a:avLst>
          </a:prstGeom>
          <a:solidFill>
            <a:schemeClr val="bg2"/>
          </a:solidFill>
          <a:ln/>
        </p:spPr>
      </p:sp>
      <p:sp>
        <p:nvSpPr>
          <p:cNvPr id="8" name="text-15"/>
          <p:cNvSpPr txBox="1"/>
          <p:nvPr/>
        </p:nvSpPr>
        <p:spPr>
          <a:xfrm>
            <a:off x="7635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LOGLINE</a:t>
            </a:r>
            <a:endParaRPr lang="en-US" sz="1100" dirty="0"/>
          </a:p>
        </p:txBody>
      </p:sp>
      <p:sp>
        <p:nvSpPr>
          <p:cNvPr id="9" name="text-16"/>
          <p:cNvSpPr txBox="1"/>
          <p:nvPr/>
        </p:nvSpPr>
        <p:spPr>
          <a:xfrm>
            <a:off x="7635240" y="19202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우유부단한 곰 지니가 점심 메뉴를 정하려 하지만, 짝사랑 상대 고양이 오대오의 등장으로 정신이 팔려 결국 아무것도 정하지 못한 채 끝나는 에피소드</a:t>
            </a:r>
            <a:endParaRPr lang="en-US" sz="1700" dirty="0"/>
          </a:p>
        </p:txBody>
      </p:sp>
      <p:sp>
        <p:nvSpPr>
          <p:cNvPr id="10" name="chip-17"/>
          <p:cNvSpPr/>
          <p:nvPr/>
        </p:nvSpPr>
        <p:spPr>
          <a:xfrm>
            <a:off x="7635240" y="4293337"/>
            <a:ext cx="1170432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코미디</a:t>
            </a:r>
            <a:endParaRPr lang="en-US" sz="1100" dirty="0"/>
          </a:p>
        </p:txBody>
      </p:sp>
      <p:sp>
        <p:nvSpPr>
          <p:cNvPr id="11" name="chip-18"/>
          <p:cNvSpPr/>
          <p:nvPr/>
        </p:nvSpPr>
        <p:spPr>
          <a:xfrm>
            <a:off x="8897112" y="4293337"/>
            <a:ext cx="1170432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 숏폼</a:t>
            </a:r>
            <a:endParaRPr lang="en-US" sz="1100" dirty="0"/>
          </a:p>
        </p:txBody>
      </p:sp>
      <p:sp>
        <p:nvSpPr>
          <p:cNvPr id="12" name="chip-19"/>
          <p:cNvSpPr/>
          <p:nvPr/>
        </p:nvSpPr>
        <p:spPr>
          <a:xfrm>
            <a:off x="10158984" y="4293337"/>
            <a:ext cx="117043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1100" dirty="0"/>
          </a:p>
        </p:txBody>
      </p:sp>
      <p:sp>
        <p:nvSpPr>
          <p:cNvPr id="13" name="text-20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시나리오 · 캐릭터 · 스틸컷 · 영상 · IP 확장을 한 사람이 설계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기본 정보</a:t>
            </a:r>
            <a:endParaRPr lang="en-US" sz="2800" dirty="0"/>
          </a:p>
        </p:txBody>
      </p:sp>
      <p:sp>
        <p:nvSpPr>
          <p:cNvPr id="3" name="chip-21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card-22"/>
          <p:cNvSpPr/>
          <p:nvPr/>
        </p:nvSpPr>
        <p:spPr>
          <a:xfrm>
            <a:off x="548640" y="1280160"/>
            <a:ext cx="2615184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</p:spPr>
      </p:sp>
      <p:sp>
        <p:nvSpPr>
          <p:cNvPr id="5" name="text-23"/>
          <p:cNvSpPr txBox="1"/>
          <p:nvPr/>
        </p:nvSpPr>
        <p:spPr>
          <a:xfrm>
            <a:off x="822960" y="1463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6" name="text-24"/>
          <p:cNvSpPr txBox="1"/>
          <p:nvPr/>
        </p:nvSpPr>
        <p:spPr>
          <a:xfrm>
            <a:off x="822960" y="1783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+ 코믹</a:t>
            </a:r>
            <a:endParaRPr lang="en-US" sz="3000" dirty="0"/>
          </a:p>
        </p:txBody>
      </p:sp>
      <p:sp>
        <p:nvSpPr>
          <p:cNvPr id="7" name="text-25"/>
          <p:cNvSpPr txBox="1"/>
          <p:nvPr/>
        </p:nvSpPr>
        <p:spPr>
          <a:xfrm>
            <a:off x="822960" y="25146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 of Life / Comedy</a:t>
            </a:r>
            <a:endParaRPr lang="en-US" sz="1200" dirty="0"/>
          </a:p>
        </p:txBody>
      </p:sp>
      <p:sp>
        <p:nvSpPr>
          <p:cNvPr id="8" name="card-26"/>
          <p:cNvSpPr/>
          <p:nvPr/>
        </p:nvSpPr>
        <p:spPr>
          <a:xfrm>
            <a:off x="3364992" y="1280160"/>
            <a:ext cx="2615184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</p:spPr>
      </p:sp>
      <p:sp>
        <p:nvSpPr>
          <p:cNvPr id="9" name="text-27"/>
          <p:cNvSpPr txBox="1"/>
          <p:nvPr/>
        </p:nvSpPr>
        <p:spPr>
          <a:xfrm>
            <a:off x="3639312" y="1463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0" name="text-28"/>
          <p:cNvSpPr txBox="1"/>
          <p:nvPr/>
        </p:nvSpPr>
        <p:spPr>
          <a:xfrm>
            <a:off x="3639312" y="1783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</a:t>
            </a:r>
            <a:endParaRPr lang="en-US" sz="3000" dirty="0"/>
          </a:p>
        </p:txBody>
      </p:sp>
      <p:sp>
        <p:nvSpPr>
          <p:cNvPr id="11" name="text-29"/>
          <p:cNvSpPr txBox="1"/>
          <p:nvPr/>
        </p:nvSpPr>
        <p:spPr>
          <a:xfrm>
            <a:off x="3639312" y="25146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외</a:t>
            </a:r>
            <a:endParaRPr lang="en-US" sz="1200" dirty="0"/>
          </a:p>
        </p:txBody>
      </p:sp>
      <p:sp>
        <p:nvSpPr>
          <p:cNvPr id="12" name="card-30"/>
          <p:cNvSpPr/>
          <p:nvPr/>
        </p:nvSpPr>
        <p:spPr>
          <a:xfrm>
            <a:off x="6181344" y="1280160"/>
            <a:ext cx="2615184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</p:spPr>
      </p:sp>
      <p:sp>
        <p:nvSpPr>
          <p:cNvPr id="13" name="text-31"/>
          <p:cNvSpPr txBox="1"/>
          <p:nvPr/>
        </p:nvSpPr>
        <p:spPr>
          <a:xfrm>
            <a:off x="6455664" y="1463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14" name="text-32"/>
          <p:cNvSpPr txBox="1"/>
          <p:nvPr/>
        </p:nvSpPr>
        <p:spPr>
          <a:xfrm>
            <a:off x="6455664" y="1783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</a:t>
            </a:r>
            <a:endParaRPr lang="en-US" sz="3000" dirty="0"/>
          </a:p>
        </p:txBody>
      </p:sp>
      <p:sp>
        <p:nvSpPr>
          <p:cNvPr id="15" name="text-33"/>
          <p:cNvSpPr txBox="1"/>
          <p:nvPr/>
        </p:nvSpPr>
        <p:spPr>
          <a:xfrm>
            <a:off x="6455664" y="25146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 / 13씬</a:t>
            </a:r>
            <a:endParaRPr lang="en-US" sz="1200" dirty="0"/>
          </a:p>
        </p:txBody>
      </p:sp>
      <p:sp>
        <p:nvSpPr>
          <p:cNvPr id="16" name="card-34"/>
          <p:cNvSpPr/>
          <p:nvPr/>
        </p:nvSpPr>
        <p:spPr>
          <a:xfrm>
            <a:off x="8997696" y="1280160"/>
            <a:ext cx="2615184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</p:spPr>
      </p:sp>
      <p:sp>
        <p:nvSpPr>
          <p:cNvPr id="17" name="text-35"/>
          <p:cNvSpPr txBox="1"/>
          <p:nvPr/>
        </p:nvSpPr>
        <p:spPr>
          <a:xfrm>
            <a:off x="9272016" y="1463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화면비</a:t>
            </a:r>
            <a:endParaRPr lang="en-US" sz="1200" dirty="0"/>
          </a:p>
        </p:txBody>
      </p:sp>
      <p:sp>
        <p:nvSpPr>
          <p:cNvPr id="18" name="text-36"/>
          <p:cNvSpPr txBox="1"/>
          <p:nvPr/>
        </p:nvSpPr>
        <p:spPr>
          <a:xfrm>
            <a:off x="9272016" y="1783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</a:t>
            </a:r>
            <a:endParaRPr lang="en-US" sz="3000" dirty="0"/>
          </a:p>
        </p:txBody>
      </p:sp>
      <p:sp>
        <p:nvSpPr>
          <p:cNvPr id="19" name="text-37"/>
          <p:cNvSpPr txBox="1"/>
          <p:nvPr/>
        </p:nvSpPr>
        <p:spPr>
          <a:xfrm>
            <a:off x="9272016" y="25146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</a:t>
            </a:r>
            <a:endParaRPr lang="en-US" sz="1200" dirty="0"/>
          </a:p>
        </p:txBody>
      </p:sp>
      <p:sp>
        <p:nvSpPr>
          <p:cNvPr id="20" name="card-38"/>
          <p:cNvSpPr/>
          <p:nvPr/>
        </p:nvSpPr>
        <p:spPr>
          <a:xfrm>
            <a:off x="548640" y="3337560"/>
            <a:ext cx="3429000" cy="2880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1" name="chip-39"/>
          <p:cNvSpPr/>
          <p:nvPr/>
        </p:nvSpPr>
        <p:spPr>
          <a:xfrm>
            <a:off x="822960" y="3611880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타겟</a:t>
            </a:r>
            <a:endParaRPr lang="en-US" sz="1100" dirty="0"/>
          </a:p>
        </p:txBody>
      </p:sp>
      <p:sp>
        <p:nvSpPr>
          <p:cNvPr id="22" name="text-40"/>
          <p:cNvSpPr txBox="1"/>
          <p:nvPr/>
        </p:nvSpPr>
        <p:spPr>
          <a:xfrm>
            <a:off x="822960" y="4160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10대 후반~30대 초반 MZ세대</a:t>
            </a:r>
            <a:endParaRPr lang="en-US" sz="1600" dirty="0"/>
          </a:p>
        </p:txBody>
      </p:sp>
      <p:sp>
        <p:nvSpPr>
          <p:cNvPr id="23" name="text-41"/>
          <p:cNvSpPr txBox="1"/>
          <p:nvPr/>
        </p:nvSpPr>
        <p:spPr>
          <a:xfrm>
            <a:off x="822960" y="5349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릴스 · 쇼츠 주 소비층</a:t>
            </a:r>
            <a:endParaRPr lang="en-US" sz="1300" dirty="0"/>
          </a:p>
        </p:txBody>
      </p:sp>
      <p:sp>
        <p:nvSpPr>
          <p:cNvPr id="24" name="card-42"/>
          <p:cNvSpPr/>
          <p:nvPr/>
        </p:nvSpPr>
        <p:spPr>
          <a:xfrm>
            <a:off x="4178808" y="3337560"/>
            <a:ext cx="3429000" cy="2880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5" name="chip-43"/>
          <p:cNvSpPr/>
          <p:nvPr/>
        </p:nvSpPr>
        <p:spPr>
          <a:xfrm>
            <a:off x="4453128" y="3611880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타겟</a:t>
            </a:r>
            <a:endParaRPr lang="en-US" sz="1100" dirty="0"/>
          </a:p>
        </p:txBody>
      </p:sp>
      <p:sp>
        <p:nvSpPr>
          <p:cNvPr id="26" name="text-44"/>
          <p:cNvSpPr txBox="1"/>
          <p:nvPr/>
        </p:nvSpPr>
        <p:spPr>
          <a:xfrm>
            <a:off x="4453128" y="4160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귀여운 캐릭터 콘텐츠를 좋아하는 전 연령대</a:t>
            </a:r>
            <a:endParaRPr lang="en-US" sz="1600" dirty="0"/>
          </a:p>
        </p:txBody>
      </p:sp>
      <p:sp>
        <p:nvSpPr>
          <p:cNvPr id="27" name="text-45"/>
          <p:cNvSpPr txBox="1"/>
          <p:nvPr/>
        </p:nvSpPr>
        <p:spPr>
          <a:xfrm>
            <a:off x="4453128" y="5349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굿즈 · 이모티콘 구매층과 겹침</a:t>
            </a:r>
            <a:endParaRPr lang="en-US" sz="1300" dirty="0"/>
          </a:p>
        </p:txBody>
      </p:sp>
      <p:sp>
        <p:nvSpPr>
          <p:cNvPr id="28" name="frame-46"/>
          <p:cNvSpPr/>
          <p:nvPr/>
        </p:nvSpPr>
        <p:spPr>
          <a:xfrm>
            <a:off x="7808976" y="3659400"/>
            <a:ext cx="3834079" cy="2236680"/>
          </a:xfrm>
          <a:prstGeom prst="roundRect">
            <a:avLst>
              <a:gd name="adj" fmla="val 4906"/>
            </a:avLst>
          </a:prstGeom>
          <a:solidFill>
            <a:schemeClr val="accent5"/>
          </a:solidFill>
          <a:ln/>
        </p:spPr>
      </p:sp>
      <p:pic>
        <p:nvPicPr>
          <p:cNvPr id="29" name="img-0102-47" descr="언덕에 나란히 앉은 지니와 미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3750840"/>
            <a:ext cx="3651199" cy="2053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기획의도</a:t>
            </a:r>
            <a:endParaRPr lang="en-US" sz="2800" dirty="0"/>
          </a:p>
        </p:txBody>
      </p:sp>
      <p:sp>
        <p:nvSpPr>
          <p:cNvPr id="3" name="chip-48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-49"/>
          <p:cNvSpPr txBox="1"/>
          <p:nvPr/>
        </p:nvSpPr>
        <p:spPr>
          <a:xfrm>
            <a:off x="548640" y="13258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산동네 곰들의 일상 코미디로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공감과 캐릭터 몰입을 만드는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시리즈</a:t>
            </a:r>
            <a:endParaRPr lang="en-US" sz="2400" dirty="0"/>
          </a:p>
        </p:txBody>
      </p:sp>
      <p:sp>
        <p:nvSpPr>
          <p:cNvPr id="5" name="card-50"/>
          <p:cNvSpPr/>
          <p:nvPr/>
        </p:nvSpPr>
        <p:spPr>
          <a:xfrm>
            <a:off x="548640" y="3337560"/>
            <a:ext cx="539496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6" name="chip-51"/>
          <p:cNvSpPr/>
          <p:nvPr/>
        </p:nvSpPr>
        <p:spPr>
          <a:xfrm>
            <a:off x="777240" y="3538728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200" dirty="0"/>
          </a:p>
        </p:txBody>
      </p:sp>
      <p:sp>
        <p:nvSpPr>
          <p:cNvPr id="7" name="text-52"/>
          <p:cNvSpPr txBox="1"/>
          <p:nvPr/>
        </p:nvSpPr>
        <p:spPr>
          <a:xfrm>
            <a:off x="2331720" y="34472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메뉴 고민이라는 일상 소재</a:t>
            </a:r>
            <a:endParaRPr lang="en-US" sz="1400" dirty="0"/>
          </a:p>
        </p:txBody>
      </p:sp>
      <p:sp>
        <p:nvSpPr>
          <p:cNvPr id="8" name="card-53"/>
          <p:cNvSpPr/>
          <p:nvPr/>
        </p:nvSpPr>
        <p:spPr>
          <a:xfrm>
            <a:off x="548640" y="4270248"/>
            <a:ext cx="539496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9" name="chip-54"/>
          <p:cNvSpPr/>
          <p:nvPr/>
        </p:nvSpPr>
        <p:spPr>
          <a:xfrm>
            <a:off x="777240" y="4471416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몰입</a:t>
            </a:r>
            <a:endParaRPr lang="en-US" sz="1200" dirty="0"/>
          </a:p>
        </p:txBody>
      </p:sp>
      <p:sp>
        <p:nvSpPr>
          <p:cNvPr id="10" name="text-55"/>
          <p:cNvSpPr txBox="1"/>
          <p:nvPr/>
        </p:nvSpPr>
        <p:spPr>
          <a:xfrm>
            <a:off x="2331720" y="43799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성격이 행동과 소품으로 보이는 연출</a:t>
            </a:r>
            <a:endParaRPr lang="en-US" sz="1400" dirty="0"/>
          </a:p>
        </p:txBody>
      </p:sp>
      <p:sp>
        <p:nvSpPr>
          <p:cNvPr id="11" name="card-56"/>
          <p:cNvSpPr/>
          <p:nvPr/>
        </p:nvSpPr>
        <p:spPr>
          <a:xfrm>
            <a:off x="548640" y="5202936"/>
            <a:ext cx="539496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12" name="chip-57"/>
          <p:cNvSpPr/>
          <p:nvPr/>
        </p:nvSpPr>
        <p:spPr>
          <a:xfrm>
            <a:off x="777240" y="5404104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시리즈성</a:t>
            </a:r>
            <a:endParaRPr lang="en-US" sz="1200" dirty="0"/>
          </a:p>
        </p:txBody>
      </p:sp>
      <p:sp>
        <p:nvSpPr>
          <p:cNvPr id="13" name="text-58"/>
          <p:cNvSpPr txBox="1"/>
          <p:nvPr/>
        </p:nvSpPr>
        <p:spPr>
          <a:xfrm>
            <a:off x="2331720" y="53126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「근데 저녁은 뭐 먹지?」 루프형 엔딩</a:t>
            </a:r>
            <a:endParaRPr lang="en-US" sz="1400" dirty="0"/>
          </a:p>
        </p:txBody>
      </p:sp>
      <p:sp>
        <p:nvSpPr>
          <p:cNvPr id="14" name="frame-59"/>
          <p:cNvSpPr/>
          <p:nvPr/>
        </p:nvSpPr>
        <p:spPr>
          <a:xfrm>
            <a:off x="6309360" y="2038049"/>
            <a:ext cx="5330952" cy="3056223"/>
          </a:xfrm>
          <a:prstGeom prst="roundRect">
            <a:avLst>
              <a:gd name="adj" fmla="val 3590"/>
            </a:avLst>
          </a:prstGeom>
          <a:solidFill>
            <a:schemeClr val="accent5"/>
          </a:solidFill>
          <a:ln/>
        </p:spPr>
      </p:sp>
      <p:pic>
        <p:nvPicPr>
          <p:cNvPr id="15" name="img-0802-60" descr="뒷모습 와이드: 초원을 바라보는 지니와 미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29489"/>
            <a:ext cx="5148072" cy="2873343"/>
          </a:xfrm>
          <a:prstGeom prst="rect">
            <a:avLst/>
          </a:prstGeom>
        </p:spPr>
      </p:pic>
      <p:sp>
        <p:nvSpPr>
          <p:cNvPr id="16" name="text-61"/>
          <p:cNvSpPr txBox="1"/>
          <p:nvPr/>
        </p:nvSpPr>
        <p:spPr>
          <a:xfrm>
            <a:off x="6309360" y="518571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컷8 · 씬8-B  오픈 엔딩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세계관 · 무대 — 고고산 언덕</a:t>
            </a:r>
            <a:endParaRPr lang="en-US" sz="2800" dirty="0"/>
          </a:p>
        </p:txBody>
      </p:sp>
      <p:sp>
        <p:nvSpPr>
          <p:cNvPr id="3" name="chip-62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frame-63"/>
          <p:cNvSpPr/>
          <p:nvPr/>
        </p:nvSpPr>
        <p:spPr>
          <a:xfrm>
            <a:off x="548640" y="1403547"/>
            <a:ext cx="6949440" cy="3959466"/>
          </a:xfrm>
          <a:prstGeom prst="roundRect">
            <a:avLst>
              <a:gd name="adj" fmla="val 2771"/>
            </a:avLst>
          </a:prstGeom>
          <a:solidFill>
            <a:schemeClr val="accent5"/>
          </a:solidFill>
          <a:ln/>
        </p:spPr>
      </p:sp>
      <p:pic>
        <p:nvPicPr>
          <p:cNvPr id="5" name="img-Background-64" descr="배경 시트: 파란 하늘과 뭉게구름, 초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4987"/>
            <a:ext cx="6766560" cy="3776586"/>
          </a:xfrm>
          <a:prstGeom prst="rect">
            <a:avLst/>
          </a:prstGeom>
        </p:spPr>
      </p:pic>
      <p:sp>
        <p:nvSpPr>
          <p:cNvPr id="6" name="text-65"/>
          <p:cNvSpPr txBox="1"/>
          <p:nvPr/>
        </p:nvSpPr>
        <p:spPr>
          <a:xfrm>
            <a:off x="548640" y="545445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시트</a:t>
            </a:r>
            <a:endParaRPr lang="en-US" sz="1000" dirty="0"/>
          </a:p>
        </p:txBody>
      </p:sp>
      <p:sp>
        <p:nvSpPr>
          <p:cNvPr id="7" name="card-66"/>
          <p:cNvSpPr/>
          <p:nvPr/>
        </p:nvSpPr>
        <p:spPr>
          <a:xfrm>
            <a:off x="7772400" y="1280160"/>
            <a:ext cx="3867912" cy="4206240"/>
          </a:xfrm>
          <a:prstGeom prst="roundRect">
            <a:avLst>
              <a:gd name="adj" fmla="val 3310"/>
            </a:avLst>
          </a:prstGeom>
          <a:solidFill>
            <a:schemeClr val="bg2"/>
          </a:solidFill>
          <a:ln/>
        </p:spPr>
      </p:sp>
      <p:sp>
        <p:nvSpPr>
          <p:cNvPr id="8" name="text-67"/>
          <p:cNvSpPr txBox="1"/>
          <p:nvPr/>
        </p:nvSpPr>
        <p:spPr>
          <a:xfrm>
            <a:off x="804672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</a:t>
            </a:r>
            <a:endParaRPr lang="en-US" sz="1200" dirty="0"/>
          </a:p>
        </p:txBody>
      </p:sp>
      <p:sp>
        <p:nvSpPr>
          <p:cNvPr id="9" name="text-68"/>
          <p:cNvSpPr txBox="1"/>
          <p:nvPr/>
        </p:nvSpPr>
        <p:spPr>
          <a:xfrm>
            <a:off x="8961120" y="16002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고고산 언덕 · 산동네 공터</a:t>
            </a:r>
            <a:endParaRPr lang="en-US" sz="1300" dirty="0"/>
          </a:p>
        </p:txBody>
      </p:sp>
      <p:sp>
        <p:nvSpPr>
          <p:cNvPr id="10" name="text-69"/>
          <p:cNvSpPr txBox="1"/>
          <p:nvPr/>
        </p:nvSpPr>
        <p:spPr>
          <a:xfrm>
            <a:off x="804672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200" dirty="0"/>
          </a:p>
        </p:txBody>
      </p:sp>
      <p:sp>
        <p:nvSpPr>
          <p:cNvPr id="11" name="text-70"/>
          <p:cNvSpPr txBox="1"/>
          <p:nvPr/>
        </p:nvSpPr>
        <p:spPr>
          <a:xfrm>
            <a:off x="8961120" y="2331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컷 정오</a:t>
            </a:r>
            <a:endParaRPr lang="en-US" sz="1300" dirty="0"/>
          </a:p>
        </p:txBody>
      </p:sp>
      <p:sp>
        <p:nvSpPr>
          <p:cNvPr id="12" name="text-71"/>
          <p:cNvSpPr txBox="1"/>
          <p:nvPr/>
        </p:nvSpPr>
        <p:spPr>
          <a:xfrm>
            <a:off x="8046720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1200" dirty="0"/>
          </a:p>
        </p:txBody>
      </p:sp>
      <p:sp>
        <p:nvSpPr>
          <p:cNvPr id="13" name="text-72"/>
          <p:cNvSpPr txBox="1"/>
          <p:nvPr/>
        </p:nvSpPr>
        <p:spPr>
          <a:xfrm>
            <a:off x="8961120" y="30632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선명한 파란 하늘 · 뭉게구름</a:t>
            </a:r>
            <a:endParaRPr lang="en-US" sz="1300" dirty="0"/>
          </a:p>
        </p:txBody>
      </p:sp>
      <p:sp>
        <p:nvSpPr>
          <p:cNvPr id="14" name="text-73"/>
          <p:cNvSpPr txBox="1"/>
          <p:nvPr/>
        </p:nvSpPr>
        <p:spPr>
          <a:xfrm>
            <a:off x="8046720" y="3794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</a:t>
            </a:r>
            <a:endParaRPr lang="en-US" sz="1200" dirty="0"/>
          </a:p>
        </p:txBody>
      </p:sp>
      <p:sp>
        <p:nvSpPr>
          <p:cNvPr id="15" name="text-74"/>
          <p:cNvSpPr txBox="1"/>
          <p:nvPr/>
        </p:nvSpPr>
        <p:spPr>
          <a:xfrm>
            <a:off x="8961120" y="37947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자연광이 도는 초록 초원</a:t>
            </a:r>
            <a:endParaRPr lang="en-US" sz="1300" dirty="0"/>
          </a:p>
        </p:txBody>
      </p:sp>
      <p:sp>
        <p:nvSpPr>
          <p:cNvPr id="16" name="text-75"/>
          <p:cNvSpPr txBox="1"/>
          <p:nvPr/>
        </p:nvSpPr>
        <p:spPr>
          <a:xfrm>
            <a:off x="804672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1200" dirty="0"/>
          </a:p>
        </p:txBody>
      </p:sp>
      <p:sp>
        <p:nvSpPr>
          <p:cNvPr id="17" name="text-76"/>
          <p:cNvSpPr txBox="1"/>
          <p:nvPr/>
        </p:nvSpPr>
        <p:spPr>
          <a:xfrm>
            <a:off x="8961120" y="452628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순백(#FFFFFF) — 하늘·초원 위에서 돋보이게</a:t>
            </a:r>
            <a:endParaRPr lang="en-US" sz="1300" dirty="0"/>
          </a:p>
        </p:txBody>
      </p:sp>
      <p:sp>
        <p:nvSpPr>
          <p:cNvPr id="18" name="swatch-77"/>
          <p:cNvSpPr/>
          <p:nvPr/>
        </p:nvSpPr>
        <p:spPr>
          <a:xfrm>
            <a:off x="548640" y="58978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F7"/>
            </a:solidFill>
            <a:prstDash val="solid"/>
          </a:ln>
        </p:spPr>
      </p:sp>
      <p:sp>
        <p:nvSpPr>
          <p:cNvPr id="19" name="text-78"/>
          <p:cNvSpPr txBox="1"/>
          <p:nvPr/>
        </p:nvSpPr>
        <p:spPr>
          <a:xfrm>
            <a:off x="960120" y="5925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1100" dirty="0"/>
          </a:p>
        </p:txBody>
      </p:sp>
      <p:sp>
        <p:nvSpPr>
          <p:cNvPr id="20" name="swatch-79"/>
          <p:cNvSpPr/>
          <p:nvPr/>
        </p:nvSpPr>
        <p:spPr>
          <a:xfrm>
            <a:off x="1965960" y="5897880"/>
            <a:ext cx="329184" cy="329184"/>
          </a:xfrm>
          <a:prstGeom prst="ellipse">
            <a:avLst/>
          </a:prstGeom>
          <a:solidFill>
            <a:srgbClr val="4FA3D9"/>
          </a:solidFill>
          <a:ln w="12700">
            <a:solidFill>
              <a:srgbClr val="BFE3F7"/>
            </a:solidFill>
            <a:prstDash val="solid"/>
          </a:ln>
        </p:spPr>
      </p:sp>
      <p:sp>
        <p:nvSpPr>
          <p:cNvPr id="21" name="text-80"/>
          <p:cNvSpPr txBox="1"/>
          <p:nvPr/>
        </p:nvSpPr>
        <p:spPr>
          <a:xfrm>
            <a:off x="2377440" y="5925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1100" dirty="0"/>
          </a:p>
        </p:txBody>
      </p:sp>
      <p:sp>
        <p:nvSpPr>
          <p:cNvPr id="22" name="swatch-81"/>
          <p:cNvSpPr/>
          <p:nvPr/>
        </p:nvSpPr>
        <p:spPr>
          <a:xfrm>
            <a:off x="3383280" y="58978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F7"/>
            </a:solidFill>
            <a:prstDash val="solid"/>
          </a:ln>
        </p:spPr>
      </p:sp>
      <p:sp>
        <p:nvSpPr>
          <p:cNvPr id="23" name="text-82"/>
          <p:cNvSpPr txBox="1"/>
          <p:nvPr/>
        </p:nvSpPr>
        <p:spPr>
          <a:xfrm>
            <a:off x="3794760" y="5925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</a:t>
            </a:r>
            <a:endParaRPr lang="en-US" sz="1100" dirty="0"/>
          </a:p>
        </p:txBody>
      </p:sp>
      <p:sp>
        <p:nvSpPr>
          <p:cNvPr id="24" name="swatch-83"/>
          <p:cNvSpPr/>
          <p:nvPr/>
        </p:nvSpPr>
        <p:spPr>
          <a:xfrm>
            <a:off x="4800600" y="5897880"/>
            <a:ext cx="329184" cy="329184"/>
          </a:xfrm>
          <a:prstGeom prst="ellipse">
            <a:avLst/>
          </a:prstGeom>
          <a:solidFill>
            <a:srgbClr val="7CC36B"/>
          </a:solidFill>
          <a:ln w="12700">
            <a:solidFill>
              <a:srgbClr val="BFE3F7"/>
            </a:solidFill>
            <a:prstDash val="solid"/>
          </a:ln>
        </p:spPr>
      </p:sp>
      <p:sp>
        <p:nvSpPr>
          <p:cNvPr id="25" name="text-84"/>
          <p:cNvSpPr txBox="1"/>
          <p:nvPr/>
        </p:nvSpPr>
        <p:spPr>
          <a:xfrm>
            <a:off x="5212080" y="5925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소개</a:t>
            </a:r>
            <a:endParaRPr lang="en-US" sz="2800" dirty="0"/>
          </a:p>
        </p:txBody>
      </p:sp>
      <p:sp>
        <p:nvSpPr>
          <p:cNvPr id="3" name="chip-85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card-86"/>
          <p:cNvSpPr/>
          <p:nvPr/>
        </p:nvSpPr>
        <p:spPr>
          <a:xfrm>
            <a:off x="548640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5" name="frame-87"/>
          <p:cNvSpPr/>
          <p:nvPr/>
        </p:nvSpPr>
        <p:spPr>
          <a:xfrm>
            <a:off x="685800" y="1411907"/>
            <a:ext cx="3291840" cy="1885346"/>
          </a:xfrm>
          <a:prstGeom prst="roundRect">
            <a:avLst>
              <a:gd name="adj" fmla="val 5820"/>
            </a:avLst>
          </a:prstGeom>
          <a:solidFill>
            <a:schemeClr val="accent5"/>
          </a:solidFill>
          <a:ln/>
        </p:spPr>
      </p:sp>
      <p:pic>
        <p:nvPicPr>
          <p:cNvPr id="6" name="img-JIni-88" descr="지니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66771"/>
            <a:ext cx="3182112" cy="1775618"/>
          </a:xfrm>
          <a:prstGeom prst="rect">
            <a:avLst/>
          </a:prstGeom>
        </p:spPr>
      </p:pic>
      <p:sp>
        <p:nvSpPr>
          <p:cNvPr id="7" name="text-89"/>
          <p:cNvSpPr txBox="1"/>
          <p:nvPr/>
        </p:nvSpPr>
        <p:spPr>
          <a:xfrm>
            <a:off x="822960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</a:t>
            </a:r>
            <a:endParaRPr lang="en-US" sz="2200" dirty="0"/>
          </a:p>
        </p:txBody>
      </p:sp>
      <p:sp>
        <p:nvSpPr>
          <p:cNvPr id="8" name="chip-90"/>
          <p:cNvSpPr/>
          <p:nvPr/>
        </p:nvSpPr>
        <p:spPr>
          <a:xfrm>
            <a:off x="2331720" y="3639312"/>
            <a:ext cx="15087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주동인물 · 흰 곰</a:t>
            </a:r>
            <a:endParaRPr lang="en-US" sz="1000" dirty="0"/>
          </a:p>
        </p:txBody>
      </p:sp>
      <p:sp>
        <p:nvSpPr>
          <p:cNvPr id="9" name="traits-91"/>
          <p:cNvSpPr txBox="1"/>
          <p:nvPr/>
        </p:nvSpPr>
        <p:spPr>
          <a:xfrm>
            <a:off x="822960" y="4206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까칠·힙한 텐션, 결국 모든 상황에 참여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한식파 — 국밥 · 순대국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앞에선 흔들림, 실수엔 당당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오른손엔 늘 콩가리니쿠 (먹지 않음)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오대오를 일방적으로 좋아함</a:t>
            </a:r>
            <a:endParaRPr lang="en-US" sz="1300" dirty="0"/>
          </a:p>
        </p:txBody>
      </p:sp>
      <p:sp>
        <p:nvSpPr>
          <p:cNvPr id="10" name="card-92"/>
          <p:cNvSpPr/>
          <p:nvPr/>
        </p:nvSpPr>
        <p:spPr>
          <a:xfrm>
            <a:off x="4311396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11" name="frame-93"/>
          <p:cNvSpPr/>
          <p:nvPr/>
        </p:nvSpPr>
        <p:spPr>
          <a:xfrm>
            <a:off x="4448556" y="1411907"/>
            <a:ext cx="3291840" cy="1885346"/>
          </a:xfrm>
          <a:prstGeom prst="roundRect">
            <a:avLst>
              <a:gd name="adj" fmla="val 5820"/>
            </a:avLst>
          </a:prstGeom>
          <a:solidFill>
            <a:schemeClr val="accent5"/>
          </a:solidFill>
          <a:ln/>
        </p:spPr>
      </p:sp>
      <p:pic>
        <p:nvPicPr>
          <p:cNvPr id="12" name="img-Misha-94" descr="미샤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466771"/>
            <a:ext cx="3182112" cy="1775618"/>
          </a:xfrm>
          <a:prstGeom prst="rect">
            <a:avLst/>
          </a:prstGeom>
        </p:spPr>
      </p:pic>
      <p:sp>
        <p:nvSpPr>
          <p:cNvPr id="13" name="text-95"/>
          <p:cNvSpPr txBox="1"/>
          <p:nvPr/>
        </p:nvSpPr>
        <p:spPr>
          <a:xfrm>
            <a:off x="4585716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미샤</a:t>
            </a:r>
            <a:endParaRPr lang="en-US" sz="2200" dirty="0"/>
          </a:p>
        </p:txBody>
      </p:sp>
      <p:sp>
        <p:nvSpPr>
          <p:cNvPr id="14" name="chip-96"/>
          <p:cNvSpPr/>
          <p:nvPr/>
        </p:nvSpPr>
        <p:spPr>
          <a:xfrm>
            <a:off x="6094476" y="3639312"/>
            <a:ext cx="15087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조력자 · 흰 곰</a:t>
            </a:r>
            <a:endParaRPr lang="en-US" sz="1000" dirty="0"/>
          </a:p>
        </p:txBody>
      </p:sp>
      <p:sp>
        <p:nvSpPr>
          <p:cNvPr id="15" name="traits-97"/>
          <p:cNvSpPr txBox="1"/>
          <p:nvPr/>
        </p:nvSpPr>
        <p:spPr>
          <a:xfrm>
            <a:off x="4585716" y="4206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상냥하고 호기심 많음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의견을 대체로 따름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취향 앞에선 우물쭈물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최애 음식 — 햄버거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소심해 보여도 계획적 · 적극적</a:t>
            </a:r>
            <a:endParaRPr lang="en-US" sz="1300" dirty="0"/>
          </a:p>
        </p:txBody>
      </p:sp>
      <p:sp>
        <p:nvSpPr>
          <p:cNvPr id="16" name="card-98"/>
          <p:cNvSpPr/>
          <p:nvPr/>
        </p:nvSpPr>
        <p:spPr>
          <a:xfrm>
            <a:off x="8074152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17" name="frame-99"/>
          <p:cNvSpPr/>
          <p:nvPr/>
        </p:nvSpPr>
        <p:spPr>
          <a:xfrm>
            <a:off x="8211312" y="1411907"/>
            <a:ext cx="3291840" cy="1885346"/>
          </a:xfrm>
          <a:prstGeom prst="roundRect">
            <a:avLst>
              <a:gd name="adj" fmla="val 5820"/>
            </a:avLst>
          </a:prstGeom>
          <a:solidFill>
            <a:schemeClr val="accent5"/>
          </a:solidFill>
          <a:ln/>
        </p:spPr>
      </p:sp>
      <p:pic>
        <p:nvPicPr>
          <p:cNvPr id="18" name="img-Odeo-100" descr="오대오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466771"/>
            <a:ext cx="3182112" cy="1775618"/>
          </a:xfrm>
          <a:prstGeom prst="rect">
            <a:avLst/>
          </a:prstGeom>
        </p:spPr>
      </p:pic>
      <p:sp>
        <p:nvSpPr>
          <p:cNvPr id="19" name="text-101"/>
          <p:cNvSpPr txBox="1"/>
          <p:nvPr/>
        </p:nvSpPr>
        <p:spPr>
          <a:xfrm>
            <a:off x="8348472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오대오</a:t>
            </a:r>
            <a:endParaRPr lang="en-US" sz="2200" dirty="0"/>
          </a:p>
        </p:txBody>
      </p:sp>
      <p:sp>
        <p:nvSpPr>
          <p:cNvPr id="20" name="chip-102"/>
          <p:cNvSpPr/>
          <p:nvPr/>
        </p:nvSpPr>
        <p:spPr>
          <a:xfrm>
            <a:off x="9857232" y="3639312"/>
            <a:ext cx="15087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카메오 · 고양이</a:t>
            </a:r>
            <a:endParaRPr lang="en-US" sz="1000" dirty="0"/>
          </a:p>
        </p:txBody>
      </p:sp>
      <p:sp>
        <p:nvSpPr>
          <p:cNvPr id="21" name="traits-103"/>
          <p:cNvSpPr txBox="1"/>
          <p:nvPr/>
        </p:nvSpPr>
        <p:spPr>
          <a:xfrm>
            <a:off x="8348472" y="4206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시크함의 끝판왕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건드려도 목만 스윽 — 무반응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분홍 목걸이 + 금색 방울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맥락상 필요할 때만 등장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소품 — 콩가리니쿠</a:t>
            </a:r>
            <a:endParaRPr lang="en-US" sz="2800" dirty="0"/>
          </a:p>
        </p:txBody>
      </p:sp>
      <p:sp>
        <p:nvSpPr>
          <p:cNvPr id="3" name="chip-104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-10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먹지 않는 고기 소품. 쥔 손과 각도로 지니의 감정을 보여준다</a:t>
            </a:r>
            <a:endParaRPr lang="en-US" sz="1600" dirty="0"/>
          </a:p>
        </p:txBody>
      </p:sp>
      <p:sp>
        <p:nvSpPr>
          <p:cNvPr id="5" name="frame-106"/>
          <p:cNvSpPr/>
          <p:nvPr/>
        </p:nvSpPr>
        <p:spPr>
          <a:xfrm>
            <a:off x="548640" y="1791586"/>
            <a:ext cx="3429000" cy="1994668"/>
          </a:xfrm>
          <a:prstGeom prst="roundRect">
            <a:avLst>
              <a:gd name="adj" fmla="val 5501"/>
            </a:avLst>
          </a:prstGeom>
          <a:solidFill>
            <a:schemeClr val="accent5"/>
          </a:solidFill>
          <a:ln/>
        </p:spPr>
      </p:sp>
      <p:pic>
        <p:nvPicPr>
          <p:cNvPr id="6" name="img-0201-107" descr="콩가리니쿠 늘어뜨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83026"/>
            <a:ext cx="3246120" cy="1811788"/>
          </a:xfrm>
          <a:prstGeom prst="rect">
            <a:avLst/>
          </a:prstGeom>
        </p:spPr>
      </p:pic>
      <p:sp>
        <p:nvSpPr>
          <p:cNvPr id="7" name="chip-108"/>
          <p:cNvSpPr/>
          <p:nvPr/>
        </p:nvSpPr>
        <p:spPr>
          <a:xfrm>
            <a:off x="548640" y="3969134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늘어뜨림</a:t>
            </a:r>
            <a:endParaRPr lang="en-US" sz="1300" dirty="0"/>
          </a:p>
        </p:txBody>
      </p:sp>
      <p:sp>
        <p:nvSpPr>
          <p:cNvPr id="8" name="text-109"/>
          <p:cNvSpPr txBox="1"/>
          <p:nvPr/>
        </p:nvSpPr>
        <p:spPr>
          <a:xfrm>
            <a:off x="548640" y="444462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컷1~2-A · 배고픔, 결의 직전</a:t>
            </a:r>
            <a:endParaRPr lang="en-US" sz="1200" dirty="0"/>
          </a:p>
        </p:txBody>
      </p:sp>
      <p:sp>
        <p:nvSpPr>
          <p:cNvPr id="9" name="text-110"/>
          <p:cNvSpPr txBox="1"/>
          <p:nvPr/>
        </p:nvSpPr>
        <p:spPr>
          <a:xfrm>
            <a:off x="3995928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frame-111"/>
          <p:cNvSpPr/>
          <p:nvPr/>
        </p:nvSpPr>
        <p:spPr>
          <a:xfrm>
            <a:off x="4379976" y="1791610"/>
            <a:ext cx="3429000" cy="1994621"/>
          </a:xfrm>
          <a:prstGeom prst="roundRect">
            <a:avLst>
              <a:gd name="adj" fmla="val 5501"/>
            </a:avLst>
          </a:prstGeom>
          <a:solidFill>
            <a:schemeClr val="accent5"/>
          </a:solidFill>
          <a:ln/>
        </p:spPr>
      </p:sp>
      <p:pic>
        <p:nvPicPr>
          <p:cNvPr id="11" name="img-0202-112" descr="콩가리니쿠 들어 올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83050"/>
            <a:ext cx="3246120" cy="1811741"/>
          </a:xfrm>
          <a:prstGeom prst="rect">
            <a:avLst/>
          </a:prstGeom>
        </p:spPr>
      </p:pic>
      <p:sp>
        <p:nvSpPr>
          <p:cNvPr id="12" name="chip-113"/>
          <p:cNvSpPr/>
          <p:nvPr/>
        </p:nvSpPr>
        <p:spPr>
          <a:xfrm>
            <a:off x="4379976" y="396911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올림</a:t>
            </a:r>
            <a:endParaRPr lang="en-US" sz="1300" dirty="0"/>
          </a:p>
        </p:txBody>
      </p:sp>
      <p:sp>
        <p:nvSpPr>
          <p:cNvPr id="13" name="text-114"/>
          <p:cNvSpPr txBox="1"/>
          <p:nvPr/>
        </p:nvSpPr>
        <p:spPr>
          <a:xfrm>
            <a:off x="4379976" y="444459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컷2-B · 국밥 선언의 확신</a:t>
            </a:r>
            <a:endParaRPr lang="en-US" sz="1200" dirty="0"/>
          </a:p>
        </p:txBody>
      </p:sp>
      <p:sp>
        <p:nvSpPr>
          <p:cNvPr id="14" name="text-115"/>
          <p:cNvSpPr txBox="1"/>
          <p:nvPr/>
        </p:nvSpPr>
        <p:spPr>
          <a:xfrm>
            <a:off x="7827264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frame-116"/>
          <p:cNvSpPr/>
          <p:nvPr/>
        </p:nvSpPr>
        <p:spPr>
          <a:xfrm>
            <a:off x="8211312" y="1791610"/>
            <a:ext cx="3429000" cy="1994621"/>
          </a:xfrm>
          <a:prstGeom prst="roundRect">
            <a:avLst>
              <a:gd name="adj" fmla="val 5501"/>
            </a:avLst>
          </a:prstGeom>
          <a:solidFill>
            <a:schemeClr val="accent5"/>
          </a:solidFill>
          <a:ln/>
        </p:spPr>
      </p:sp>
      <p:pic>
        <p:nvPicPr>
          <p:cNvPr id="16" name="img-0401-117" descr="콩가리니쿠 힘없이 기울어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83050"/>
            <a:ext cx="3246120" cy="1811741"/>
          </a:xfrm>
          <a:prstGeom prst="rect">
            <a:avLst/>
          </a:prstGeom>
        </p:spPr>
      </p:pic>
      <p:sp>
        <p:nvSpPr>
          <p:cNvPr id="17" name="chip-118"/>
          <p:cNvSpPr/>
          <p:nvPr/>
        </p:nvSpPr>
        <p:spPr>
          <a:xfrm>
            <a:off x="8211312" y="396911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힘없이 기울어짐</a:t>
            </a:r>
            <a:endParaRPr lang="en-US" sz="1300" dirty="0"/>
          </a:p>
        </p:txBody>
      </p:sp>
      <p:sp>
        <p:nvSpPr>
          <p:cNvPr id="18" name="text-119"/>
          <p:cNvSpPr txBox="1"/>
          <p:nvPr/>
        </p:nvSpPr>
        <p:spPr>
          <a:xfrm>
            <a:off x="8211312" y="444459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컷4 · 확신이 흔들림</a:t>
            </a:r>
            <a:endParaRPr lang="en-US" sz="1200" dirty="0"/>
          </a:p>
        </p:txBody>
      </p:sp>
      <p:sp>
        <p:nvSpPr>
          <p:cNvPr id="19" name="card-120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-121"/>
          <p:cNvSpPr txBox="1"/>
          <p:nvPr/>
        </p:nvSpPr>
        <p:spPr>
          <a:xfrm>
            <a:off x="82296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규칙</a:t>
            </a:r>
            <a:endParaRPr lang="en-US" sz="1200" dirty="0"/>
          </a:p>
        </p:txBody>
      </p:sp>
      <p:sp>
        <p:nvSpPr>
          <p:cNvPr id="21" name="chip-122"/>
          <p:cNvSpPr/>
          <p:nvPr/>
        </p:nvSpPr>
        <p:spPr>
          <a:xfrm>
            <a:off x="822960" y="5605272"/>
            <a:ext cx="31546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오른손</a:t>
            </a:r>
            <a:endParaRPr lang="en-US" sz="1200" dirty="0"/>
          </a:p>
        </p:txBody>
      </p:sp>
      <p:sp>
        <p:nvSpPr>
          <p:cNvPr id="22" name="chip-123"/>
          <p:cNvSpPr/>
          <p:nvPr/>
        </p:nvSpPr>
        <p:spPr>
          <a:xfrm>
            <a:off x="4206240" y="5605272"/>
            <a:ext cx="31546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찌르는 건 왼손 손가락 (컷7-A)</a:t>
            </a:r>
            <a:endParaRPr lang="en-US" sz="1200" dirty="0"/>
          </a:p>
        </p:txBody>
      </p:sp>
      <p:sp>
        <p:nvSpPr>
          <p:cNvPr id="23" name="chip-124"/>
          <p:cNvSpPr/>
          <p:nvPr/>
        </p:nvSpPr>
        <p:spPr>
          <a:xfrm>
            <a:off x="7589520" y="5605272"/>
            <a:ext cx="31546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뒷모습에서도 오른손 (컷8-B)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줄거리 — 3막 구성</a:t>
            </a:r>
            <a:endParaRPr lang="en-US" sz="2800" dirty="0"/>
          </a:p>
        </p:txBody>
      </p:sp>
      <p:sp>
        <p:nvSpPr>
          <p:cNvPr id="3" name="chip-125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card-126"/>
          <p:cNvSpPr/>
          <p:nvPr/>
        </p:nvSpPr>
        <p:spPr>
          <a:xfrm>
            <a:off x="548640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5" name="frame-127"/>
          <p:cNvSpPr/>
          <p:nvPr/>
        </p:nvSpPr>
        <p:spPr>
          <a:xfrm>
            <a:off x="685800" y="1411708"/>
            <a:ext cx="3291840" cy="1885744"/>
          </a:xfrm>
          <a:prstGeom prst="roundRect">
            <a:avLst>
              <a:gd name="adj" fmla="val 5819"/>
            </a:avLst>
          </a:prstGeom>
          <a:solidFill>
            <a:schemeClr val="accent5"/>
          </a:solidFill>
          <a:ln/>
        </p:spPr>
      </p:sp>
      <p:pic>
        <p:nvPicPr>
          <p:cNvPr id="6" name="img-0202-128" descr="02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66572"/>
            <a:ext cx="3182112" cy="1776016"/>
          </a:xfrm>
          <a:prstGeom prst="rect">
            <a:avLst/>
          </a:prstGeom>
        </p:spPr>
      </p:pic>
      <p:sp>
        <p:nvSpPr>
          <p:cNvPr id="7" name="chip-129"/>
          <p:cNvSpPr/>
          <p:nvPr/>
        </p:nvSpPr>
        <p:spPr>
          <a:xfrm>
            <a:off x="777240" y="356616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 배고픔</a:t>
            </a:r>
            <a:endParaRPr lang="en-US" sz="1200" dirty="0"/>
          </a:p>
        </p:txBody>
      </p:sp>
      <p:sp>
        <p:nvSpPr>
          <p:cNvPr id="8" name="text-130"/>
          <p:cNvSpPr txBox="1"/>
          <p:nvPr/>
        </p:nvSpPr>
        <p:spPr>
          <a:xfrm>
            <a:off x="822960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언덕의 지니·미샤 「배고프다」 → 지니의 국밥 선언 → 미샤는 햄버거 쪽 → 지니 흔들림</a:t>
            </a:r>
            <a:endParaRPr lang="en-US" sz="1400" dirty="0"/>
          </a:p>
        </p:txBody>
      </p:sp>
      <p:sp>
        <p:nvSpPr>
          <p:cNvPr id="9" name="text-131"/>
          <p:cNvSpPr txBox="1"/>
          <p:nvPr/>
        </p:nvSpPr>
        <p:spPr>
          <a:xfrm>
            <a:off x="82296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「국밥… 아니, 순대국인가…」</a:t>
            </a:r>
            <a:endParaRPr lang="en-US" sz="1500" dirty="0"/>
          </a:p>
        </p:txBody>
      </p:sp>
      <p:sp>
        <p:nvSpPr>
          <p:cNvPr id="10" name="card-132"/>
          <p:cNvSpPr/>
          <p:nvPr/>
        </p:nvSpPr>
        <p:spPr>
          <a:xfrm>
            <a:off x="4311396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11" name="frame-133"/>
          <p:cNvSpPr/>
          <p:nvPr/>
        </p:nvSpPr>
        <p:spPr>
          <a:xfrm>
            <a:off x="4448556" y="1411708"/>
            <a:ext cx="3291840" cy="1885744"/>
          </a:xfrm>
          <a:prstGeom prst="roundRect">
            <a:avLst>
              <a:gd name="adj" fmla="val 5819"/>
            </a:avLst>
          </a:prstGeom>
          <a:solidFill>
            <a:schemeClr val="accent5"/>
          </a:solidFill>
          <a:ln/>
        </p:spPr>
      </p:sp>
      <p:pic>
        <p:nvPicPr>
          <p:cNvPr id="12" name="img-0602-134" descr="06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466572"/>
            <a:ext cx="3182112" cy="1776016"/>
          </a:xfrm>
          <a:prstGeom prst="rect">
            <a:avLst/>
          </a:prstGeom>
        </p:spPr>
      </p:pic>
      <p:sp>
        <p:nvSpPr>
          <p:cNvPr id="13" name="chip-135"/>
          <p:cNvSpPr/>
          <p:nvPr/>
        </p:nvSpPr>
        <p:spPr>
          <a:xfrm>
            <a:off x="4539996" y="356616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 오대오</a:t>
            </a:r>
            <a:endParaRPr lang="en-US" sz="1200" dirty="0"/>
          </a:p>
        </p:txBody>
      </p:sp>
      <p:sp>
        <p:nvSpPr>
          <p:cNvPr id="14" name="text-136"/>
          <p:cNvSpPr txBox="1"/>
          <p:nvPr/>
        </p:nvSpPr>
        <p:spPr>
          <a:xfrm>
            <a:off x="4585716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 오대오 등장 → 흙먼지 광속 질주 → 왼손으로 콕 → 목만 돌린 무표정</a:t>
            </a:r>
            <a:endParaRPr lang="en-US" sz="1400" dirty="0"/>
          </a:p>
        </p:txBody>
      </p:sp>
      <p:sp>
        <p:nvSpPr>
          <p:cNvPr id="15" name="text-137"/>
          <p:cNvSpPr txBox="1"/>
          <p:nvPr/>
        </p:nvSpPr>
        <p:spPr>
          <a:xfrm>
            <a:off x="4585716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「오대오다~」</a:t>
            </a:r>
            <a:endParaRPr lang="en-US" sz="1500" dirty="0"/>
          </a:p>
        </p:txBody>
      </p:sp>
      <p:sp>
        <p:nvSpPr>
          <p:cNvPr id="16" name="card-138"/>
          <p:cNvSpPr/>
          <p:nvPr/>
        </p:nvSpPr>
        <p:spPr>
          <a:xfrm>
            <a:off x="8074152" y="1234440"/>
            <a:ext cx="3566160" cy="502920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/>
        </p:spPr>
      </p:sp>
      <p:sp>
        <p:nvSpPr>
          <p:cNvPr id="17" name="frame-139"/>
          <p:cNvSpPr/>
          <p:nvPr/>
        </p:nvSpPr>
        <p:spPr>
          <a:xfrm>
            <a:off x="8211312" y="1411685"/>
            <a:ext cx="3291840" cy="1885791"/>
          </a:xfrm>
          <a:prstGeom prst="roundRect">
            <a:avLst>
              <a:gd name="adj" fmla="val 5819"/>
            </a:avLst>
          </a:prstGeom>
          <a:solidFill>
            <a:schemeClr val="accent5"/>
          </a:solidFill>
          <a:ln/>
        </p:spPr>
      </p:sp>
      <p:pic>
        <p:nvPicPr>
          <p:cNvPr id="18" name="img-0802-140" descr="08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466549"/>
            <a:ext cx="3182112" cy="1776063"/>
          </a:xfrm>
          <a:prstGeom prst="rect">
            <a:avLst/>
          </a:prstGeom>
        </p:spPr>
      </p:pic>
      <p:sp>
        <p:nvSpPr>
          <p:cNvPr id="19" name="chip-141"/>
          <p:cNvSpPr/>
          <p:nvPr/>
        </p:nvSpPr>
        <p:spPr>
          <a:xfrm>
            <a:off x="8302752" y="356616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 엔딩</a:t>
            </a:r>
            <a:endParaRPr lang="en-US" sz="1200" dirty="0"/>
          </a:p>
        </p:txBody>
      </p:sp>
      <p:sp>
        <p:nvSpPr>
          <p:cNvPr id="20" name="text-142"/>
          <p:cNvSpPr txBox="1"/>
          <p:nvPr/>
        </p:nvSpPr>
        <p:spPr>
          <a:xfrm>
            <a:off x="8348472" y="4114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미샤 「…그래서 뭐 먹어?」 → 뒷모습 와이드, 메뉴는 끝내 미정</a:t>
            </a:r>
            <a:endParaRPr lang="en-US" sz="1400" dirty="0"/>
          </a:p>
        </p:txBody>
      </p:sp>
      <p:sp>
        <p:nvSpPr>
          <p:cNvPr id="21" name="text-143"/>
          <p:cNvSpPr txBox="1"/>
          <p:nvPr/>
        </p:nvSpPr>
        <p:spPr>
          <a:xfrm>
            <a:off x="8348472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「근데 저녁은 뭐 먹지?」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설계 ① — 감정을 카메라로 번역</a:t>
            </a:r>
            <a:endParaRPr lang="en-US" sz="2800" dirty="0"/>
          </a:p>
        </p:txBody>
      </p:sp>
      <p:sp>
        <p:nvSpPr>
          <p:cNvPr id="3" name="chip-144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-145"/>
          <p:cNvSpPr txBox="1"/>
          <p:nvPr/>
        </p:nvSpPr>
        <p:spPr>
          <a:xfrm>
            <a:off x="54864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endParaRPr lang="en-US" sz="1100" dirty="0"/>
          </a:p>
        </p:txBody>
      </p:sp>
      <p:sp>
        <p:nvSpPr>
          <p:cNvPr id="5" name="text-146"/>
          <p:cNvSpPr txBox="1"/>
          <p:nvPr/>
        </p:nvSpPr>
        <p:spPr>
          <a:xfrm>
            <a:off x="5486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· 앵글</a:t>
            </a:r>
            <a:endParaRPr lang="en-US" sz="1100" dirty="0"/>
          </a:p>
        </p:txBody>
      </p:sp>
      <p:sp>
        <p:nvSpPr>
          <p:cNvPr id="6" name="frame-147"/>
          <p:cNvSpPr/>
          <p:nvPr/>
        </p:nvSpPr>
        <p:spPr>
          <a:xfrm>
            <a:off x="548640" y="1307306"/>
            <a:ext cx="2093976" cy="1225868"/>
          </a:xfrm>
          <a:prstGeom prst="roundRect">
            <a:avLst>
              <a:gd name="adj" fmla="val 8951"/>
            </a:avLst>
          </a:prstGeom>
          <a:solidFill>
            <a:schemeClr val="accent5"/>
          </a:solidFill>
          <a:ln/>
        </p:spPr>
      </p:sp>
      <p:pic>
        <p:nvPicPr>
          <p:cNvPr id="7" name="img-0102-148" descr="01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62170"/>
            <a:ext cx="1984248" cy="1116140"/>
          </a:xfrm>
          <a:prstGeom prst="rect">
            <a:avLst/>
          </a:prstGeom>
        </p:spPr>
      </p:pic>
      <p:sp>
        <p:nvSpPr>
          <p:cNvPr id="8" name="chip-149"/>
          <p:cNvSpPr/>
          <p:nvPr/>
        </p:nvSpPr>
        <p:spPr>
          <a:xfrm>
            <a:off x="548640" y="3127248"/>
            <a:ext cx="2093976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배고픈 공허함</a:t>
            </a:r>
            <a:endParaRPr lang="en-US" sz="1200" dirty="0"/>
          </a:p>
        </p:txBody>
      </p:sp>
      <p:sp>
        <p:nvSpPr>
          <p:cNvPr id="9" name="text-150"/>
          <p:cNvSpPr txBox="1"/>
          <p:nvPr/>
        </p:nvSpPr>
        <p:spPr>
          <a:xfrm>
            <a:off x="548640" y="358444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card-151"/>
          <p:cNvSpPr/>
          <p:nvPr/>
        </p:nvSpPr>
        <p:spPr>
          <a:xfrm>
            <a:off x="548640" y="4480560"/>
            <a:ext cx="2093976" cy="1097280"/>
          </a:xfrm>
          <a:prstGeom prst="roundRect">
            <a:avLst>
              <a:gd name="adj" fmla="val 11667"/>
            </a:avLst>
          </a:prstGeom>
          <a:solidFill>
            <a:schemeClr val="accent5"/>
          </a:solidFill>
          <a:ln/>
        </p:spPr>
      </p:sp>
      <p:sp>
        <p:nvSpPr>
          <p:cNvPr id="11" name="text-152"/>
          <p:cNvSpPr txBox="1"/>
          <p:nvPr/>
        </p:nvSpPr>
        <p:spPr>
          <a:xfrm>
            <a:off x="640080" y="452628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하이앵글 3/4 부감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원경으로 작게</a:t>
            </a:r>
            <a:endParaRPr lang="en-US" sz="1300" dirty="0"/>
          </a:p>
        </p:txBody>
      </p:sp>
      <p:sp>
        <p:nvSpPr>
          <p:cNvPr id="12" name="frame-153"/>
          <p:cNvSpPr/>
          <p:nvPr/>
        </p:nvSpPr>
        <p:spPr>
          <a:xfrm>
            <a:off x="2798064" y="1311647"/>
            <a:ext cx="2093976" cy="1217186"/>
          </a:xfrm>
          <a:prstGeom prst="roundRect">
            <a:avLst>
              <a:gd name="adj" fmla="val 9015"/>
            </a:avLst>
          </a:prstGeom>
          <a:solidFill>
            <a:schemeClr val="accent5"/>
          </a:solidFill>
          <a:ln/>
        </p:spPr>
      </p:sp>
      <p:pic>
        <p:nvPicPr>
          <p:cNvPr id="13" name="img-0202-154" descr="02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366511"/>
            <a:ext cx="1984248" cy="1107458"/>
          </a:xfrm>
          <a:prstGeom prst="rect">
            <a:avLst/>
          </a:prstGeom>
        </p:spPr>
      </p:pic>
      <p:sp>
        <p:nvSpPr>
          <p:cNvPr id="14" name="chip-155"/>
          <p:cNvSpPr/>
          <p:nvPr/>
        </p:nvSpPr>
        <p:spPr>
          <a:xfrm>
            <a:off x="2798064" y="3127248"/>
            <a:ext cx="2093976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국밥 선언의 확신</a:t>
            </a:r>
            <a:endParaRPr lang="en-US" sz="1200" dirty="0"/>
          </a:p>
        </p:txBody>
      </p:sp>
      <p:sp>
        <p:nvSpPr>
          <p:cNvPr id="15" name="text-156"/>
          <p:cNvSpPr txBox="1"/>
          <p:nvPr/>
        </p:nvSpPr>
        <p:spPr>
          <a:xfrm>
            <a:off x="2798064" y="358444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card-157"/>
          <p:cNvSpPr/>
          <p:nvPr/>
        </p:nvSpPr>
        <p:spPr>
          <a:xfrm>
            <a:off x="2798064" y="4480560"/>
            <a:ext cx="2093976" cy="1097280"/>
          </a:xfrm>
          <a:prstGeom prst="roundRect">
            <a:avLst>
              <a:gd name="adj" fmla="val 11667"/>
            </a:avLst>
          </a:prstGeom>
          <a:solidFill>
            <a:schemeClr val="accent5"/>
          </a:solidFill>
          <a:ln/>
        </p:spPr>
      </p:sp>
      <p:sp>
        <p:nvSpPr>
          <p:cNvPr id="17" name="text-158"/>
          <p:cNvSpPr txBox="1"/>
          <p:nvPr/>
        </p:nvSpPr>
        <p:spPr>
          <a:xfrm>
            <a:off x="2889504" y="452628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로우앵글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미디엄샷</a:t>
            </a:r>
            <a:endParaRPr lang="en-US" sz="1300" dirty="0"/>
          </a:p>
        </p:txBody>
      </p:sp>
      <p:sp>
        <p:nvSpPr>
          <p:cNvPr id="18" name="frame-159"/>
          <p:cNvSpPr/>
          <p:nvPr/>
        </p:nvSpPr>
        <p:spPr>
          <a:xfrm>
            <a:off x="5047488" y="1311647"/>
            <a:ext cx="2093976" cy="1217186"/>
          </a:xfrm>
          <a:prstGeom prst="roundRect">
            <a:avLst>
              <a:gd name="adj" fmla="val 9015"/>
            </a:avLst>
          </a:prstGeom>
          <a:solidFill>
            <a:schemeClr val="accent5"/>
          </a:solidFill>
          <a:ln/>
        </p:spPr>
      </p:sp>
      <p:pic>
        <p:nvPicPr>
          <p:cNvPr id="19" name="img-0401-160" descr="040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366511"/>
            <a:ext cx="1984248" cy="1107458"/>
          </a:xfrm>
          <a:prstGeom prst="rect">
            <a:avLst/>
          </a:prstGeom>
        </p:spPr>
      </p:pic>
      <p:sp>
        <p:nvSpPr>
          <p:cNvPr id="20" name="chip-161"/>
          <p:cNvSpPr/>
          <p:nvPr/>
        </p:nvSpPr>
        <p:spPr>
          <a:xfrm>
            <a:off x="5047488" y="3127248"/>
            <a:ext cx="2093976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확신이 무너지는 순간</a:t>
            </a:r>
            <a:endParaRPr lang="en-US" sz="1200" dirty="0"/>
          </a:p>
        </p:txBody>
      </p:sp>
      <p:sp>
        <p:nvSpPr>
          <p:cNvPr id="21" name="text-162"/>
          <p:cNvSpPr txBox="1"/>
          <p:nvPr/>
        </p:nvSpPr>
        <p:spPr>
          <a:xfrm>
            <a:off x="5047488" y="358444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card-163"/>
          <p:cNvSpPr/>
          <p:nvPr/>
        </p:nvSpPr>
        <p:spPr>
          <a:xfrm>
            <a:off x="5047488" y="4480560"/>
            <a:ext cx="2093976" cy="1097280"/>
          </a:xfrm>
          <a:prstGeom prst="roundRect">
            <a:avLst>
              <a:gd name="adj" fmla="val 11667"/>
            </a:avLst>
          </a:prstGeom>
          <a:solidFill>
            <a:schemeClr val="accent5"/>
          </a:solidFill>
          <a:ln/>
        </p:spPr>
      </p:sp>
      <p:sp>
        <p:nvSpPr>
          <p:cNvPr id="23" name="text-164"/>
          <p:cNvSpPr txBox="1"/>
          <p:nvPr/>
        </p:nvSpPr>
        <p:spPr>
          <a:xfrm>
            <a:off x="5138928" y="452628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더치틸트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두 캐릭터 사이 여백</a:t>
            </a:r>
            <a:endParaRPr lang="en-US" sz="1300" dirty="0"/>
          </a:p>
        </p:txBody>
      </p:sp>
      <p:sp>
        <p:nvSpPr>
          <p:cNvPr id="24" name="frame-165"/>
          <p:cNvSpPr/>
          <p:nvPr/>
        </p:nvSpPr>
        <p:spPr>
          <a:xfrm>
            <a:off x="7296912" y="1311647"/>
            <a:ext cx="2093976" cy="1217186"/>
          </a:xfrm>
          <a:prstGeom prst="roundRect">
            <a:avLst>
              <a:gd name="adj" fmla="val 9015"/>
            </a:avLst>
          </a:prstGeom>
          <a:solidFill>
            <a:schemeClr val="accent5"/>
          </a:solidFill>
          <a:ln/>
        </p:spPr>
      </p:sp>
      <p:pic>
        <p:nvPicPr>
          <p:cNvPr id="25" name="img-0602-166" descr="060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1366511"/>
            <a:ext cx="1984248" cy="1107458"/>
          </a:xfrm>
          <a:prstGeom prst="rect">
            <a:avLst/>
          </a:prstGeom>
        </p:spPr>
      </p:pic>
      <p:sp>
        <p:nvSpPr>
          <p:cNvPr id="26" name="chip-167"/>
          <p:cNvSpPr/>
          <p:nvPr/>
        </p:nvSpPr>
        <p:spPr>
          <a:xfrm>
            <a:off x="7296912" y="3127248"/>
            <a:ext cx="2093976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오대오를 향한 폭주</a:t>
            </a:r>
            <a:endParaRPr lang="en-US" sz="1200" dirty="0"/>
          </a:p>
        </p:txBody>
      </p:sp>
      <p:sp>
        <p:nvSpPr>
          <p:cNvPr id="27" name="text-168"/>
          <p:cNvSpPr txBox="1"/>
          <p:nvPr/>
        </p:nvSpPr>
        <p:spPr>
          <a:xfrm>
            <a:off x="7296912" y="358444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card-169"/>
          <p:cNvSpPr/>
          <p:nvPr/>
        </p:nvSpPr>
        <p:spPr>
          <a:xfrm>
            <a:off x="7296912" y="4480560"/>
            <a:ext cx="2093976" cy="1097280"/>
          </a:xfrm>
          <a:prstGeom prst="roundRect">
            <a:avLst>
              <a:gd name="adj" fmla="val 11667"/>
            </a:avLst>
          </a:prstGeom>
          <a:solidFill>
            <a:schemeClr val="accent5"/>
          </a:solidFill>
          <a:ln/>
        </p:spPr>
      </p:sp>
      <p:sp>
        <p:nvSpPr>
          <p:cNvPr id="29" name="text-170"/>
          <p:cNvSpPr txBox="1"/>
          <p:nvPr/>
        </p:nvSpPr>
        <p:spPr>
          <a:xfrm>
            <a:off x="7388352" y="452628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다이나믹 더치틸트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스피드라인 · 흙먼지</a:t>
            </a:r>
            <a:endParaRPr lang="en-US" sz="1300" dirty="0"/>
          </a:p>
        </p:txBody>
      </p:sp>
      <p:sp>
        <p:nvSpPr>
          <p:cNvPr id="30" name="frame-171"/>
          <p:cNvSpPr/>
          <p:nvPr/>
        </p:nvSpPr>
        <p:spPr>
          <a:xfrm>
            <a:off x="9546336" y="1311632"/>
            <a:ext cx="2093976" cy="1217215"/>
          </a:xfrm>
          <a:prstGeom prst="roundRect">
            <a:avLst>
              <a:gd name="adj" fmla="val 9015"/>
            </a:avLst>
          </a:prstGeom>
          <a:solidFill>
            <a:schemeClr val="accent5"/>
          </a:solidFill>
          <a:ln/>
        </p:spPr>
      </p:sp>
      <p:pic>
        <p:nvPicPr>
          <p:cNvPr id="31" name="img-0802-172" descr="080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366496"/>
            <a:ext cx="1984248" cy="1107487"/>
          </a:xfrm>
          <a:prstGeom prst="rect">
            <a:avLst/>
          </a:prstGeom>
        </p:spPr>
      </p:pic>
      <p:sp>
        <p:nvSpPr>
          <p:cNvPr id="32" name="chip-173"/>
          <p:cNvSpPr/>
          <p:nvPr/>
        </p:nvSpPr>
        <p:spPr>
          <a:xfrm>
            <a:off x="9546336" y="3127248"/>
            <a:ext cx="2093976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허무한 결말</a:t>
            </a:r>
            <a:endParaRPr lang="en-US" sz="1200" dirty="0"/>
          </a:p>
        </p:txBody>
      </p:sp>
      <p:sp>
        <p:nvSpPr>
          <p:cNvPr id="33" name="text-174"/>
          <p:cNvSpPr txBox="1"/>
          <p:nvPr/>
        </p:nvSpPr>
        <p:spPr>
          <a:xfrm>
            <a:off x="9546336" y="358444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card-175"/>
          <p:cNvSpPr/>
          <p:nvPr/>
        </p:nvSpPr>
        <p:spPr>
          <a:xfrm>
            <a:off x="9546336" y="4480560"/>
            <a:ext cx="2093976" cy="1097280"/>
          </a:xfrm>
          <a:prstGeom prst="roundRect">
            <a:avLst>
              <a:gd name="adj" fmla="val 11667"/>
            </a:avLst>
          </a:prstGeom>
          <a:solidFill>
            <a:schemeClr val="accent5"/>
          </a:solidFill>
          <a:ln/>
        </p:spPr>
      </p:sp>
      <p:sp>
        <p:nvSpPr>
          <p:cNvPr id="35" name="text-176"/>
          <p:cNvSpPr txBox="1"/>
          <p:nvPr/>
        </p:nvSpPr>
        <p:spPr>
          <a:xfrm>
            <a:off x="9637776" y="452628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뒷모습 와이드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하단에 작게</a:t>
            </a:r>
            <a:endParaRPr lang="en-US" sz="1300" dirty="0"/>
          </a:p>
        </p:txBody>
      </p:sp>
      <p:sp>
        <p:nvSpPr>
          <p:cNvPr id="36" name="text-17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카메라를 먼저 정하고, 그 샷을 프롬프트로 옮긴다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설계 ② — 반전 대비</a:t>
            </a:r>
            <a:endParaRPr lang="en-US" sz="2800" dirty="0"/>
          </a:p>
        </p:txBody>
      </p:sp>
      <p:sp>
        <p:nvSpPr>
          <p:cNvPr id="3" name="chip-178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frame-179"/>
          <p:cNvSpPr/>
          <p:nvPr/>
        </p:nvSpPr>
        <p:spPr>
          <a:xfrm>
            <a:off x="548640" y="1365256"/>
            <a:ext cx="5120640" cy="2938767"/>
          </a:xfrm>
          <a:prstGeom prst="roundRect">
            <a:avLst>
              <a:gd name="adj" fmla="val 3734"/>
            </a:avLst>
          </a:prstGeom>
          <a:solidFill>
            <a:schemeClr val="accent3"/>
          </a:solidFill>
          <a:ln/>
        </p:spPr>
      </p:sp>
      <p:pic>
        <p:nvPicPr>
          <p:cNvPr id="5" name="img-0602-180" descr="지니의 광속 질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56696"/>
            <a:ext cx="4937760" cy="2755887"/>
          </a:xfrm>
          <a:prstGeom prst="rect">
            <a:avLst/>
          </a:prstGeom>
        </p:spPr>
      </p:pic>
      <p:sp>
        <p:nvSpPr>
          <p:cNvPr id="6" name="frame-181"/>
          <p:cNvSpPr/>
          <p:nvPr/>
        </p:nvSpPr>
        <p:spPr>
          <a:xfrm>
            <a:off x="6522415" y="1365256"/>
            <a:ext cx="5120640" cy="2938767"/>
          </a:xfrm>
          <a:prstGeom prst="roundRect">
            <a:avLst>
              <a:gd name="adj" fmla="val 3734"/>
            </a:avLst>
          </a:prstGeom>
          <a:solidFill>
            <a:schemeClr val="accent5"/>
          </a:solidFill>
          <a:ln/>
        </p:spPr>
      </p:sp>
      <p:pic>
        <p:nvPicPr>
          <p:cNvPr id="7" name="img-0702-182" descr="목만 돌린 오대오의 무반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456696"/>
            <a:ext cx="4937760" cy="2755887"/>
          </a:xfrm>
          <a:prstGeom prst="rect">
            <a:avLst/>
          </a:prstGeom>
        </p:spPr>
      </p:pic>
      <p:sp>
        <p:nvSpPr>
          <p:cNvPr id="8" name="vs-183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9" name="chip-184"/>
          <p:cNvSpPr/>
          <p:nvPr/>
        </p:nvSpPr>
        <p:spPr>
          <a:xfrm>
            <a:off x="548640" y="4572000"/>
            <a:ext cx="210312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에너지</a:t>
            </a:r>
            <a:endParaRPr lang="en-US" sz="1400" dirty="0"/>
          </a:p>
        </p:txBody>
      </p:sp>
      <p:sp>
        <p:nvSpPr>
          <p:cNvPr id="10" name="text-185"/>
          <p:cNvSpPr txBox="1"/>
          <p:nvPr/>
        </p:nvSpPr>
        <p:spPr>
          <a:xfrm>
            <a:off x="548640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— 흙먼지 · 스피드라인 광속 질주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「오대오다~」 응답을 기대하지 않는 일방통행 톤</a:t>
            </a:r>
            <a:endParaRPr lang="en-US" sz="1400" dirty="0"/>
          </a:p>
        </p:txBody>
      </p:sp>
      <p:sp>
        <p:nvSpPr>
          <p:cNvPr id="11" name="chip-186"/>
          <p:cNvSpPr/>
          <p:nvPr/>
        </p:nvSpPr>
        <p:spPr>
          <a:xfrm>
            <a:off x="6522415" y="4572000"/>
            <a:ext cx="2103120" cy="42062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반응</a:t>
            </a:r>
            <a:endParaRPr lang="en-US" sz="1400" dirty="0"/>
          </a:p>
        </p:txBody>
      </p:sp>
      <p:sp>
        <p:nvSpPr>
          <p:cNvPr id="12" name="text-187"/>
          <p:cNvSpPr txBox="1"/>
          <p:nvPr/>
        </p:nvSpPr>
        <p:spPr>
          <a:xfrm>
            <a:off x="6522415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오대오 — 몸은 그대로, 목만 스윽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무표정 한 컷으로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프롬프트 설계 — 모든 컷의 전제를 고정</a:t>
            </a:r>
            <a:endParaRPr lang="en-US" sz="2800" dirty="0"/>
          </a:p>
        </p:txBody>
      </p:sp>
      <p:sp>
        <p:nvSpPr>
          <p:cNvPr id="3" name="chip-188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card-189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569"/>
            </a:avLst>
          </a:prstGeom>
          <a:solidFill>
            <a:schemeClr val="bg2"/>
          </a:solidFill>
          <a:ln/>
        </p:spPr>
      </p:sp>
      <p:sp>
        <p:nvSpPr>
          <p:cNvPr id="5" name="text-190"/>
          <p:cNvSpPr txBox="1"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비주얼 사양</a:t>
            </a:r>
            <a:endParaRPr lang="en-US" sz="1600" dirty="0"/>
          </a:p>
        </p:txBody>
      </p:sp>
      <p:sp>
        <p:nvSpPr>
          <p:cNvPr id="6" name="text-191"/>
          <p:cNvSpPr txBox="1"/>
          <p:nvPr/>
        </p:nvSpPr>
        <p:spPr>
          <a:xfrm>
            <a:off x="384048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컷 프롬프트에 자동 포함</a:t>
            </a:r>
            <a:endParaRPr lang="en-US" sz="1100" dirty="0"/>
          </a:p>
        </p:txBody>
      </p:sp>
      <p:sp>
        <p:nvSpPr>
          <p:cNvPr id="7" name="spec-row-192"/>
          <p:cNvSpPr/>
          <p:nvPr/>
        </p:nvSpPr>
        <p:spPr>
          <a:xfrm>
            <a:off x="777240" y="1920240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8" name="text-193"/>
          <p:cNvSpPr txBox="1"/>
          <p:nvPr/>
        </p:nvSpPr>
        <p:spPr>
          <a:xfrm>
            <a:off x="960120" y="19202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화면비</a:t>
            </a:r>
            <a:endParaRPr lang="en-US" sz="1200" dirty="0"/>
          </a:p>
        </p:txBody>
      </p:sp>
      <p:sp>
        <p:nvSpPr>
          <p:cNvPr id="9" name="text-194"/>
          <p:cNvSpPr txBox="1"/>
          <p:nvPr/>
        </p:nvSpPr>
        <p:spPr>
          <a:xfrm>
            <a:off x="2286000" y="192024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</a:t>
            </a:r>
            <a:endParaRPr lang="en-US" sz="1200" dirty="0"/>
          </a:p>
        </p:txBody>
      </p:sp>
      <p:sp>
        <p:nvSpPr>
          <p:cNvPr id="10" name="spec-row-195"/>
          <p:cNvSpPr/>
          <p:nvPr/>
        </p:nvSpPr>
        <p:spPr>
          <a:xfrm>
            <a:off x="777240" y="2505456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11" name="text-196"/>
          <p:cNvSpPr txBox="1"/>
          <p:nvPr/>
        </p:nvSpPr>
        <p:spPr>
          <a:xfrm>
            <a:off x="960120" y="250545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스타일</a:t>
            </a:r>
            <a:endParaRPr lang="en-US" sz="1200" dirty="0"/>
          </a:p>
        </p:txBody>
      </p:sp>
      <p:sp>
        <p:nvSpPr>
          <p:cNvPr id="12" name="text-197"/>
          <p:cNvSpPr txBox="1"/>
          <p:nvPr/>
        </p:nvSpPr>
        <p:spPr>
          <a:xfrm>
            <a:off x="2286000" y="250545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애니메 셀셰이딩 — 실사풍 · 페인터리 · 과한 반사광 금지</a:t>
            </a:r>
            <a:endParaRPr lang="en-US" sz="1200" dirty="0"/>
          </a:p>
        </p:txBody>
      </p:sp>
      <p:sp>
        <p:nvSpPr>
          <p:cNvPr id="13" name="spec-row-198"/>
          <p:cNvSpPr/>
          <p:nvPr/>
        </p:nvSpPr>
        <p:spPr>
          <a:xfrm>
            <a:off x="777240" y="3090672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14" name="text-199"/>
          <p:cNvSpPr txBox="1"/>
          <p:nvPr/>
        </p:nvSpPr>
        <p:spPr>
          <a:xfrm>
            <a:off x="960120" y="309067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</a:t>
            </a:r>
            <a:endParaRPr lang="en-US" sz="1200" dirty="0"/>
          </a:p>
        </p:txBody>
      </p:sp>
      <p:sp>
        <p:nvSpPr>
          <p:cNvPr id="15" name="text-200"/>
          <p:cNvSpPr txBox="1"/>
          <p:nvPr/>
        </p:nvSpPr>
        <p:spPr>
          <a:xfrm>
            <a:off x="2286000" y="3090672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순백 캐릭터 #FFFFFF · 파란 하늘 · 뭉게구름 · 초록 초원</a:t>
            </a:r>
            <a:endParaRPr lang="en-US" sz="1200" dirty="0"/>
          </a:p>
        </p:txBody>
      </p:sp>
      <p:sp>
        <p:nvSpPr>
          <p:cNvPr id="16" name="spec-row-201"/>
          <p:cNvSpPr/>
          <p:nvPr/>
        </p:nvSpPr>
        <p:spPr>
          <a:xfrm>
            <a:off x="777240" y="3675888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17" name="text-202"/>
          <p:cNvSpPr txBox="1"/>
          <p:nvPr/>
        </p:nvSpPr>
        <p:spPr>
          <a:xfrm>
            <a:off x="960120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</a:t>
            </a:r>
            <a:endParaRPr lang="en-US" sz="1200" dirty="0"/>
          </a:p>
        </p:txBody>
      </p:sp>
      <p:sp>
        <p:nvSpPr>
          <p:cNvPr id="18" name="text-203"/>
          <p:cNvSpPr txBox="1"/>
          <p:nvPr/>
        </p:nvSpPr>
        <p:spPr>
          <a:xfrm>
            <a:off x="2286000" y="36758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컷 정오</a:t>
            </a:r>
            <a:endParaRPr lang="en-US" sz="1200" dirty="0"/>
          </a:p>
        </p:txBody>
      </p:sp>
      <p:sp>
        <p:nvSpPr>
          <p:cNvPr id="19" name="spec-row-204"/>
          <p:cNvSpPr/>
          <p:nvPr/>
        </p:nvSpPr>
        <p:spPr>
          <a:xfrm>
            <a:off x="777240" y="4261104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20" name="text-205"/>
          <p:cNvSpPr txBox="1"/>
          <p:nvPr/>
        </p:nvSpPr>
        <p:spPr>
          <a:xfrm>
            <a:off x="960120" y="426110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</a:t>
            </a:r>
            <a:endParaRPr lang="en-US" sz="1200" dirty="0"/>
          </a:p>
        </p:txBody>
      </p:sp>
      <p:sp>
        <p:nvSpPr>
          <p:cNvPr id="21" name="text-206"/>
          <p:cNvSpPr txBox="1"/>
          <p:nvPr/>
        </p:nvSpPr>
        <p:spPr>
          <a:xfrm>
            <a:off x="2286000" y="4261104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고고산 언덕 (공터)</a:t>
            </a:r>
            <a:endParaRPr lang="en-US" sz="1200" dirty="0"/>
          </a:p>
        </p:txBody>
      </p:sp>
      <p:sp>
        <p:nvSpPr>
          <p:cNvPr id="22" name="spec-row-207"/>
          <p:cNvSpPr/>
          <p:nvPr/>
        </p:nvSpPr>
        <p:spPr>
          <a:xfrm>
            <a:off x="777240" y="4846320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23" name="text-208"/>
          <p:cNvSpPr txBox="1"/>
          <p:nvPr/>
        </p:nvSpPr>
        <p:spPr>
          <a:xfrm>
            <a:off x="960120" y="48463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</a:t>
            </a:r>
            <a:endParaRPr lang="en-US" sz="1200" dirty="0"/>
          </a:p>
        </p:txBody>
      </p:sp>
      <p:sp>
        <p:nvSpPr>
          <p:cNvPr id="24" name="text-209"/>
          <p:cNvSpPr txBox="1"/>
          <p:nvPr/>
        </p:nvSpPr>
        <p:spPr>
          <a:xfrm>
            <a:off x="2286000" y="484632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경쾌하고 발랄한 CM송 느낌</a:t>
            </a:r>
            <a:endParaRPr lang="en-US" sz="1200" dirty="0"/>
          </a:p>
        </p:txBody>
      </p:sp>
      <p:sp>
        <p:nvSpPr>
          <p:cNvPr id="25" name="spec-row-210"/>
          <p:cNvSpPr/>
          <p:nvPr/>
        </p:nvSpPr>
        <p:spPr>
          <a:xfrm>
            <a:off x="777240" y="5431536"/>
            <a:ext cx="5577840" cy="493776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</p:spPr>
      </p:sp>
      <p:sp>
        <p:nvSpPr>
          <p:cNvPr id="26" name="text-211"/>
          <p:cNvSpPr txBox="1"/>
          <p:nvPr/>
        </p:nvSpPr>
        <p:spPr>
          <a:xfrm>
            <a:off x="960120" y="543153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</a:t>
            </a:r>
            <a:endParaRPr lang="en-US" sz="1200" dirty="0"/>
          </a:p>
        </p:txBody>
      </p:sp>
      <p:sp>
        <p:nvSpPr>
          <p:cNvPr id="27" name="text-212"/>
          <p:cNvSpPr txBox="1"/>
          <p:nvPr/>
        </p:nvSpPr>
        <p:spPr>
          <a:xfrm>
            <a:off x="2286000" y="543153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200" dirty="0"/>
          </a:p>
        </p:txBody>
      </p:sp>
      <p:sp>
        <p:nvSpPr>
          <p:cNvPr id="28" name="card-213"/>
          <p:cNvSpPr/>
          <p:nvPr/>
        </p:nvSpPr>
        <p:spPr>
          <a:xfrm>
            <a:off x="6858000" y="1234440"/>
            <a:ext cx="4785055" cy="3246120"/>
          </a:xfrm>
          <a:prstGeom prst="roundRect">
            <a:avLst>
              <a:gd name="adj" fmla="val 3944"/>
            </a:avLst>
          </a:prstGeom>
          <a:solidFill>
            <a:schemeClr val="accent5"/>
          </a:solidFill>
          <a:ln/>
        </p:spPr>
      </p:sp>
      <p:sp>
        <p:nvSpPr>
          <p:cNvPr id="29" name="text-214"/>
          <p:cNvSpPr txBox="1"/>
          <p:nvPr/>
        </p:nvSpPr>
        <p:spPr>
          <a:xfrm>
            <a:off x="7132320" y="141732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기술 5항목 규칙</a:t>
            </a:r>
            <a:endParaRPr lang="en-US" sz="1600" dirty="0"/>
          </a:p>
        </p:txBody>
      </p:sp>
      <p:sp>
        <p:nvSpPr>
          <p:cNvPr id="30" name="num-215"/>
          <p:cNvSpPr/>
          <p:nvPr/>
        </p:nvSpPr>
        <p:spPr>
          <a:xfrm>
            <a:off x="7132320" y="195681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-216"/>
          <p:cNvSpPr txBox="1"/>
          <p:nvPr/>
        </p:nvSpPr>
        <p:spPr>
          <a:xfrm>
            <a:off x="7589520" y="1920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</a:t>
            </a:r>
            <a:endParaRPr lang="en-US" sz="1200" dirty="0"/>
          </a:p>
        </p:txBody>
      </p:sp>
      <p:sp>
        <p:nvSpPr>
          <p:cNvPr id="32" name="text-217"/>
          <p:cNvSpPr txBox="1"/>
          <p:nvPr/>
        </p:nvSpPr>
        <p:spPr>
          <a:xfrm>
            <a:off x="8823960" y="1920240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+ 앵글</a:t>
            </a:r>
            <a:endParaRPr lang="en-US" sz="1100" dirty="0"/>
          </a:p>
        </p:txBody>
      </p:sp>
      <p:sp>
        <p:nvSpPr>
          <p:cNvPr id="33" name="num-218"/>
          <p:cNvSpPr/>
          <p:nvPr/>
        </p:nvSpPr>
        <p:spPr>
          <a:xfrm>
            <a:off x="7132320" y="24505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-219"/>
          <p:cNvSpPr txBox="1"/>
          <p:nvPr/>
        </p:nvSpPr>
        <p:spPr>
          <a:xfrm>
            <a:off x="7589520" y="2414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등장인물</a:t>
            </a:r>
            <a:endParaRPr lang="en-US" sz="1200" dirty="0"/>
          </a:p>
        </p:txBody>
      </p:sp>
      <p:sp>
        <p:nvSpPr>
          <p:cNvPr id="35" name="text-220"/>
          <p:cNvSpPr txBox="1"/>
          <p:nvPr/>
        </p:nvSpPr>
        <p:spPr>
          <a:xfrm>
            <a:off x="8823960" y="2414016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· 어디에 · 어떤 자세</a:t>
            </a:r>
            <a:endParaRPr lang="en-US" sz="1100" dirty="0"/>
          </a:p>
        </p:txBody>
      </p:sp>
      <p:sp>
        <p:nvSpPr>
          <p:cNvPr id="36" name="num-221"/>
          <p:cNvSpPr/>
          <p:nvPr/>
        </p:nvSpPr>
        <p:spPr>
          <a:xfrm>
            <a:off x="7132320" y="29443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-222"/>
          <p:cNvSpPr txBox="1"/>
          <p:nvPr/>
        </p:nvSpPr>
        <p:spPr>
          <a:xfrm>
            <a:off x="7589520" y="2907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표정·감정</a:t>
            </a:r>
            <a:endParaRPr lang="en-US" sz="1200" dirty="0"/>
          </a:p>
        </p:txBody>
      </p:sp>
      <p:sp>
        <p:nvSpPr>
          <p:cNvPr id="38" name="text-223"/>
          <p:cNvSpPr txBox="1"/>
          <p:nvPr/>
        </p:nvSpPr>
        <p:spPr>
          <a:xfrm>
            <a:off x="8823960" y="2907792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 · 감정 상태</a:t>
            </a:r>
            <a:endParaRPr lang="en-US" sz="1100" dirty="0"/>
          </a:p>
        </p:txBody>
      </p:sp>
      <p:sp>
        <p:nvSpPr>
          <p:cNvPr id="39" name="num-224"/>
          <p:cNvSpPr/>
          <p:nvPr/>
        </p:nvSpPr>
        <p:spPr>
          <a:xfrm>
            <a:off x="7132320" y="34381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-225"/>
          <p:cNvSpPr txBox="1"/>
          <p:nvPr/>
        </p:nvSpPr>
        <p:spPr>
          <a:xfrm>
            <a:off x="7589520" y="34015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소품·이펙트</a:t>
            </a:r>
            <a:endParaRPr lang="en-US" sz="1200" dirty="0"/>
          </a:p>
        </p:txBody>
      </p:sp>
      <p:sp>
        <p:nvSpPr>
          <p:cNvPr id="41" name="text-226"/>
          <p:cNvSpPr txBox="1"/>
          <p:nvPr/>
        </p:nvSpPr>
        <p:spPr>
          <a:xfrm>
            <a:off x="8823960" y="3401568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콩가리니쿠 쥔 손 · 흙먼지 · 스피드라인</a:t>
            </a:r>
            <a:endParaRPr lang="en-US" sz="1100" dirty="0"/>
          </a:p>
        </p:txBody>
      </p:sp>
      <p:sp>
        <p:nvSpPr>
          <p:cNvPr id="42" name="num-227"/>
          <p:cNvSpPr/>
          <p:nvPr/>
        </p:nvSpPr>
        <p:spPr>
          <a:xfrm>
            <a:off x="7132320" y="39319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-228"/>
          <p:cNvSpPr txBox="1"/>
          <p:nvPr/>
        </p:nvSpPr>
        <p:spPr>
          <a:xfrm>
            <a:off x="7589520" y="38953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</a:t>
            </a:r>
            <a:endParaRPr lang="en-US" sz="1200" dirty="0"/>
          </a:p>
        </p:txBody>
      </p:sp>
      <p:sp>
        <p:nvSpPr>
          <p:cNvPr id="44" name="text-229"/>
          <p:cNvSpPr txBox="1"/>
          <p:nvPr/>
        </p:nvSpPr>
        <p:spPr>
          <a:xfrm>
            <a:off x="8823960" y="3895344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+ 대사 + 톤, 없으면 '없음'</a:t>
            </a:r>
            <a:endParaRPr lang="en-US" sz="1100" dirty="0"/>
          </a:p>
        </p:txBody>
      </p:sp>
      <p:sp>
        <p:nvSpPr>
          <p:cNvPr id="45" name="card-230"/>
          <p:cNvSpPr/>
          <p:nvPr/>
        </p:nvSpPr>
        <p:spPr>
          <a:xfrm>
            <a:off x="6858000" y="4617720"/>
            <a:ext cx="4785055" cy="713232"/>
          </a:xfrm>
          <a:prstGeom prst="roundRect">
            <a:avLst>
              <a:gd name="adj" fmla="val 17949"/>
            </a:avLst>
          </a:prstGeom>
          <a:solidFill>
            <a:schemeClr val="bg2"/>
          </a:solidFill>
          <a:ln/>
        </p:spPr>
      </p:sp>
      <p:sp>
        <p:nvSpPr>
          <p:cNvPr id="46" name="dot-231"/>
          <p:cNvSpPr/>
          <p:nvPr/>
        </p:nvSpPr>
        <p:spPr>
          <a:xfrm>
            <a:off x="7086600" y="4864608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7" name="text-232"/>
          <p:cNvSpPr txBox="1"/>
          <p:nvPr/>
        </p:nvSpPr>
        <p:spPr>
          <a:xfrm>
            <a:off x="7452360" y="4690872"/>
            <a:ext cx="4007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이미지 단계엔 카메라 무브 금지</a:t>
            </a:r>
            <a:endParaRPr lang="en-US" sz="1300" dirty="0"/>
          </a:p>
        </p:txBody>
      </p:sp>
      <p:sp>
        <p:nvSpPr>
          <p:cNvPr id="48" name="text-233"/>
          <p:cNvSpPr txBox="1"/>
          <p:nvPr/>
        </p:nvSpPr>
        <p:spPr>
          <a:xfrm>
            <a:off x="7452360" y="5001768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움직임은 영상화 단계에서만 지정</a:t>
            </a:r>
            <a:endParaRPr lang="en-US" sz="1100" dirty="0"/>
          </a:p>
        </p:txBody>
      </p:sp>
      <p:sp>
        <p:nvSpPr>
          <p:cNvPr id="49" name="card-234"/>
          <p:cNvSpPr/>
          <p:nvPr/>
        </p:nvSpPr>
        <p:spPr>
          <a:xfrm>
            <a:off x="6858000" y="5440680"/>
            <a:ext cx="4785055" cy="713232"/>
          </a:xfrm>
          <a:prstGeom prst="roundRect">
            <a:avLst>
              <a:gd name="adj" fmla="val 17949"/>
            </a:avLst>
          </a:prstGeom>
          <a:solidFill>
            <a:schemeClr val="bg2"/>
          </a:solidFill>
          <a:ln/>
        </p:spPr>
      </p:sp>
      <p:sp>
        <p:nvSpPr>
          <p:cNvPr id="50" name="dot-235"/>
          <p:cNvSpPr/>
          <p:nvPr/>
        </p:nvSpPr>
        <p:spPr>
          <a:xfrm>
            <a:off x="7086600" y="5687568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1" name="text-236"/>
          <p:cNvSpPr txBox="1"/>
          <p:nvPr/>
        </p:nvSpPr>
        <p:spPr>
          <a:xfrm>
            <a:off x="7452360" y="5513832"/>
            <a:ext cx="4007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심리는 눈에 보이는 형태로 번역</a:t>
            </a:r>
            <a:endParaRPr lang="en-US" sz="1300" dirty="0"/>
          </a:p>
        </p:txBody>
      </p:sp>
      <p:sp>
        <p:nvSpPr>
          <p:cNvPr id="52" name="text-237"/>
          <p:cNvSpPr txBox="1"/>
          <p:nvPr/>
        </p:nvSpPr>
        <p:spPr>
          <a:xfrm>
            <a:off x="7452360" y="5824728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「눈 흔들림」 「힘없이 기울어진 고기」처럼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스토리보드 ① — S#1 배고픔</a:t>
            </a:r>
            <a:endParaRPr lang="en-US" sz="2800" dirty="0"/>
          </a:p>
        </p:txBody>
      </p:sp>
      <p:sp>
        <p:nvSpPr>
          <p:cNvPr id="3" name="chip-238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frame-239"/>
          <p:cNvSpPr/>
          <p:nvPr/>
        </p:nvSpPr>
        <p:spPr>
          <a:xfrm>
            <a:off x="977240" y="1188720"/>
            <a:ext cx="2922016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5" name="img-0102-240" descr="01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04" y="1243584"/>
            <a:ext cx="2812288" cy="1581912"/>
          </a:xfrm>
          <a:prstGeom prst="rect">
            <a:avLst/>
          </a:prstGeom>
        </p:spPr>
      </p:pic>
      <p:sp>
        <p:nvSpPr>
          <p:cNvPr id="6" name="sb-caption-241"/>
          <p:cNvSpPr txBox="1"/>
          <p:nvPr/>
        </p:nvSpPr>
        <p:spPr>
          <a:xfrm>
            <a:off x="977240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컷1 · 씬1-A · 3초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하이앵글 3/4 부감, 미디엄 와이드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</a:t>
            </a:r>
            <a:endParaRPr lang="en-US" sz="1100" dirty="0"/>
          </a:p>
        </p:txBody>
      </p:sp>
      <p:sp>
        <p:nvSpPr>
          <p:cNvPr id="7" name="frame-242"/>
          <p:cNvSpPr/>
          <p:nvPr/>
        </p:nvSpPr>
        <p:spPr>
          <a:xfrm>
            <a:off x="4623854" y="1188720"/>
            <a:ext cx="2943987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8" name="img-0201-243" descr="02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718" y="1243584"/>
            <a:ext cx="2834259" cy="1581912"/>
          </a:xfrm>
          <a:prstGeom prst="rect">
            <a:avLst/>
          </a:prstGeom>
        </p:spPr>
      </p:pic>
      <p:sp>
        <p:nvSpPr>
          <p:cNvPr id="9" name="sb-caption-244"/>
          <p:cNvSpPr txBox="1"/>
          <p:nvPr/>
        </p:nvSpPr>
        <p:spPr>
          <a:xfrm>
            <a:off x="4623854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컷2 · 씬2-A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로우앵글 미디엄샷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</a:t>
            </a:r>
            <a:endParaRPr lang="en-US" sz="1100" dirty="0"/>
          </a:p>
        </p:txBody>
      </p:sp>
      <p:sp>
        <p:nvSpPr>
          <p:cNvPr id="10" name="frame-245"/>
          <p:cNvSpPr/>
          <p:nvPr/>
        </p:nvSpPr>
        <p:spPr>
          <a:xfrm>
            <a:off x="8281417" y="118872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1" name="img-0202-246" descr="02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1" y="1243584"/>
            <a:ext cx="2834333" cy="1581912"/>
          </a:xfrm>
          <a:prstGeom prst="rect">
            <a:avLst/>
          </a:prstGeom>
        </p:spPr>
      </p:pic>
      <p:sp>
        <p:nvSpPr>
          <p:cNvPr id="12" name="sb-caption-247"/>
          <p:cNvSpPr txBox="1"/>
          <p:nvPr/>
        </p:nvSpPr>
        <p:spPr>
          <a:xfrm>
            <a:off x="8281417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컷2 · 씬2-B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로우앵글 미디엄샷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「오늘은 내가 딱 정할게. 국밥 어때? 이만한 게 없지.」</a:t>
            </a:r>
            <a:endParaRPr lang="en-US" sz="1100" dirty="0"/>
          </a:p>
        </p:txBody>
      </p:sp>
      <p:sp>
        <p:nvSpPr>
          <p:cNvPr id="13" name="frame-248"/>
          <p:cNvSpPr/>
          <p:nvPr/>
        </p:nvSpPr>
        <p:spPr>
          <a:xfrm>
            <a:off x="966217" y="379476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4" name="img-0301-249" descr="030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1" y="3849624"/>
            <a:ext cx="2834333" cy="1581912"/>
          </a:xfrm>
          <a:prstGeom prst="rect">
            <a:avLst/>
          </a:prstGeom>
        </p:spPr>
      </p:pic>
      <p:sp>
        <p:nvSpPr>
          <p:cNvPr id="15" name="sb-caption-250"/>
          <p:cNvSpPr txBox="1"/>
          <p:nvPr/>
        </p:nvSpPr>
        <p:spPr>
          <a:xfrm>
            <a:off x="966217" y="55778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컷3 · 씬3-A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아이레벨 클로즈업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미샤 「어… 나는 국물보단 햄버거 쪽이 좋은데…」</a:t>
            </a:r>
            <a:endParaRPr lang="en-US" sz="1100" dirty="0"/>
          </a:p>
        </p:txBody>
      </p:sp>
      <p:sp>
        <p:nvSpPr>
          <p:cNvPr id="16" name="frame-251"/>
          <p:cNvSpPr/>
          <p:nvPr/>
        </p:nvSpPr>
        <p:spPr>
          <a:xfrm>
            <a:off x="4623817" y="379476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7" name="img-0401-252" descr="040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681" y="3849624"/>
            <a:ext cx="2834333" cy="1581912"/>
          </a:xfrm>
          <a:prstGeom prst="rect">
            <a:avLst/>
          </a:prstGeom>
        </p:spPr>
      </p:pic>
      <p:sp>
        <p:nvSpPr>
          <p:cNvPr id="18" name="sb-caption-253"/>
          <p:cNvSpPr txBox="1"/>
          <p:nvPr/>
        </p:nvSpPr>
        <p:spPr>
          <a:xfrm>
            <a:off x="4623817" y="55778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컷4 · 씬4-A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더치틸트 미디엄샷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「국밥… 아니, 순대국인가…」</a:t>
            </a:r>
            <a:endParaRPr lang="en-US" sz="1100" dirty="0"/>
          </a:p>
        </p:txBody>
      </p:sp>
      <p:sp>
        <p:nvSpPr>
          <p:cNvPr id="19" name="card-254"/>
          <p:cNvSpPr/>
          <p:nvPr/>
        </p:nvSpPr>
        <p:spPr>
          <a:xfrm>
            <a:off x="8107528" y="3794760"/>
            <a:ext cx="329184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20" name="chip-255"/>
          <p:cNvSpPr/>
          <p:nvPr/>
        </p:nvSpPr>
        <p:spPr>
          <a:xfrm>
            <a:off x="8336128" y="402336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· 4컷 · 27초</a:t>
            </a:r>
            <a:endParaRPr lang="en-US" sz="1200" dirty="0"/>
          </a:p>
        </p:txBody>
      </p:sp>
      <p:sp>
        <p:nvSpPr>
          <p:cNvPr id="21" name="text-256"/>
          <p:cNvSpPr txBox="1"/>
          <p:nvPr/>
        </p:nvSpPr>
        <p:spPr>
          <a:xfrm>
            <a:off x="8336128" y="4572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→ 흔들림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「배고프다」부터 4줄의 대사로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갈등을 쌓는 구간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스토리보드 ② — S#2 오대오</a:t>
            </a:r>
            <a:endParaRPr lang="en-US" sz="2800" dirty="0"/>
          </a:p>
        </p:txBody>
      </p:sp>
      <p:sp>
        <p:nvSpPr>
          <p:cNvPr id="3" name="chip-257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frame-258"/>
          <p:cNvSpPr/>
          <p:nvPr/>
        </p:nvSpPr>
        <p:spPr>
          <a:xfrm>
            <a:off x="966217" y="118872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5" name="img-0501-259" descr="05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1" y="1243584"/>
            <a:ext cx="2834333" cy="1581912"/>
          </a:xfrm>
          <a:prstGeom prst="rect">
            <a:avLst/>
          </a:prstGeom>
        </p:spPr>
      </p:pic>
      <p:sp>
        <p:nvSpPr>
          <p:cNvPr id="6" name="sb-caption-260"/>
          <p:cNvSpPr txBox="1"/>
          <p:nvPr/>
        </p:nvSpPr>
        <p:spPr>
          <a:xfrm>
            <a:off x="966217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컷5 · 씬5-A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원경 와이드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</a:t>
            </a:r>
            <a:endParaRPr lang="en-US" sz="1100" dirty="0"/>
          </a:p>
        </p:txBody>
      </p:sp>
      <p:sp>
        <p:nvSpPr>
          <p:cNvPr id="7" name="frame-261"/>
          <p:cNvSpPr/>
          <p:nvPr/>
        </p:nvSpPr>
        <p:spPr>
          <a:xfrm>
            <a:off x="4623817" y="118872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8" name="img-0601-262" descr="06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81" y="1243584"/>
            <a:ext cx="2834333" cy="1581912"/>
          </a:xfrm>
          <a:prstGeom prst="rect">
            <a:avLst/>
          </a:prstGeom>
        </p:spPr>
      </p:pic>
      <p:sp>
        <p:nvSpPr>
          <p:cNvPr id="9" name="sb-caption-263"/>
          <p:cNvSpPr txBox="1"/>
          <p:nvPr/>
        </p:nvSpPr>
        <p:spPr>
          <a:xfrm>
            <a:off x="4623817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컷6 · 씬6-A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더치틸트 미디엄샷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</a:t>
            </a:r>
            <a:endParaRPr lang="en-US" sz="1100" dirty="0"/>
          </a:p>
        </p:txBody>
      </p:sp>
      <p:sp>
        <p:nvSpPr>
          <p:cNvPr id="10" name="frame-264"/>
          <p:cNvSpPr/>
          <p:nvPr/>
        </p:nvSpPr>
        <p:spPr>
          <a:xfrm>
            <a:off x="8281417" y="118872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1" name="img-0602-265" descr="06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1" y="1243584"/>
            <a:ext cx="2834333" cy="1581912"/>
          </a:xfrm>
          <a:prstGeom prst="rect">
            <a:avLst/>
          </a:prstGeom>
        </p:spPr>
      </p:pic>
      <p:sp>
        <p:nvSpPr>
          <p:cNvPr id="12" name="sb-caption-266"/>
          <p:cNvSpPr txBox="1"/>
          <p:nvPr/>
        </p:nvSpPr>
        <p:spPr>
          <a:xfrm>
            <a:off x="8281417" y="2971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컷6 · 씬6-B · 5초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다이나믹 더치틸트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「오대오다~」</a:t>
            </a:r>
            <a:endParaRPr lang="en-US" sz="1100" dirty="0"/>
          </a:p>
        </p:txBody>
      </p:sp>
      <p:sp>
        <p:nvSpPr>
          <p:cNvPr id="13" name="frame-267"/>
          <p:cNvSpPr/>
          <p:nvPr/>
        </p:nvSpPr>
        <p:spPr>
          <a:xfrm>
            <a:off x="966254" y="3794760"/>
            <a:ext cx="2943987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4" name="img-0701-268" descr="070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8" y="3849624"/>
            <a:ext cx="2834259" cy="1581912"/>
          </a:xfrm>
          <a:prstGeom prst="rect">
            <a:avLst/>
          </a:prstGeom>
        </p:spPr>
      </p:pic>
      <p:sp>
        <p:nvSpPr>
          <p:cNvPr id="15" name="sb-caption-269"/>
          <p:cNvSpPr txBox="1"/>
          <p:nvPr/>
        </p:nvSpPr>
        <p:spPr>
          <a:xfrm>
            <a:off x="966254" y="55778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컷7 · 씬7-A · 3초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프로필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 · 왼손 손가락으로 콕</a:t>
            </a:r>
            <a:endParaRPr lang="en-US" sz="1100" dirty="0"/>
          </a:p>
        </p:txBody>
      </p:sp>
      <p:sp>
        <p:nvSpPr>
          <p:cNvPr id="16" name="frame-270"/>
          <p:cNvSpPr/>
          <p:nvPr/>
        </p:nvSpPr>
        <p:spPr>
          <a:xfrm>
            <a:off x="4623817" y="3794760"/>
            <a:ext cx="2944061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/>
        </p:spPr>
      </p:sp>
      <p:pic>
        <p:nvPicPr>
          <p:cNvPr id="17" name="img-0702-271" descr="070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681" y="3849624"/>
            <a:ext cx="2834333" cy="1581912"/>
          </a:xfrm>
          <a:prstGeom prst="rect">
            <a:avLst/>
          </a:prstGeom>
        </p:spPr>
      </p:pic>
      <p:sp>
        <p:nvSpPr>
          <p:cNvPr id="18" name="sb-caption-272"/>
          <p:cNvSpPr txBox="1"/>
          <p:nvPr/>
        </p:nvSpPr>
        <p:spPr>
          <a:xfrm>
            <a:off x="4623817" y="55778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컷7 · 씬7-B · 4초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오대오 클로즈업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없음 · 목만 스윽</a:t>
            </a:r>
            <a:endParaRPr lang="en-US" sz="1100" dirty="0"/>
          </a:p>
        </p:txBody>
      </p:sp>
      <p:sp>
        <p:nvSpPr>
          <p:cNvPr id="19" name="card-273"/>
          <p:cNvSpPr/>
          <p:nvPr/>
        </p:nvSpPr>
        <p:spPr>
          <a:xfrm>
            <a:off x="8107528" y="3794760"/>
            <a:ext cx="329184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20" name="chip-274"/>
          <p:cNvSpPr/>
          <p:nvPr/>
        </p:nvSpPr>
        <p:spPr>
          <a:xfrm>
            <a:off x="8336128" y="402336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· 3컷 · 22초</a:t>
            </a:r>
            <a:endParaRPr lang="en-US" sz="1200" dirty="0"/>
          </a:p>
        </p:txBody>
      </p:sp>
      <p:sp>
        <p:nvSpPr>
          <p:cNvPr id="21" name="text-275"/>
          <p:cNvSpPr txBox="1"/>
          <p:nvPr/>
        </p:nvSpPr>
        <p:spPr>
          <a:xfrm>
            <a:off x="8336128" y="4572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 → 폭주 → 무반응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대사는 「오대오다~」 한 줄,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동작으로 전달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스토리보드 ③ — S#3 엔딩</a:t>
            </a:r>
            <a:endParaRPr lang="en-US" sz="2800" dirty="0"/>
          </a:p>
        </p:txBody>
      </p:sp>
      <p:sp>
        <p:nvSpPr>
          <p:cNvPr id="3" name="chip-276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frame-277"/>
          <p:cNvSpPr/>
          <p:nvPr/>
        </p:nvSpPr>
        <p:spPr>
          <a:xfrm>
            <a:off x="548640" y="1251065"/>
            <a:ext cx="5394960" cy="3075710"/>
          </a:xfrm>
          <a:prstGeom prst="roundRect">
            <a:avLst>
              <a:gd name="adj" fmla="val 3568"/>
            </a:avLst>
          </a:prstGeom>
          <a:solidFill>
            <a:schemeClr val="accent5"/>
          </a:solidFill>
          <a:ln/>
        </p:spPr>
      </p:sp>
      <p:pic>
        <p:nvPicPr>
          <p:cNvPr id="5" name="img-0801-278" descr="08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24217"/>
            <a:ext cx="5248656" cy="2929406"/>
          </a:xfrm>
          <a:prstGeom prst="rect">
            <a:avLst/>
          </a:prstGeom>
        </p:spPr>
      </p:pic>
      <p:sp>
        <p:nvSpPr>
          <p:cNvPr id="6" name="sb-caption-279"/>
          <p:cNvSpPr txBox="1"/>
          <p:nvPr/>
        </p:nvSpPr>
        <p:spPr>
          <a:xfrm>
            <a:off x="548640" y="4463935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컷8 · 씬8-A · 5초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아이레벨 미디엄샷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미샤 「…그래서 뭐 먹어?」</a:t>
            </a:r>
            <a:endParaRPr lang="en-US" sz="1300" dirty="0"/>
          </a:p>
        </p:txBody>
      </p:sp>
      <p:sp>
        <p:nvSpPr>
          <p:cNvPr id="7" name="frame-280"/>
          <p:cNvSpPr/>
          <p:nvPr/>
        </p:nvSpPr>
        <p:spPr>
          <a:xfrm>
            <a:off x="6245352" y="1251027"/>
            <a:ext cx="5394960" cy="3075786"/>
          </a:xfrm>
          <a:prstGeom prst="roundRect">
            <a:avLst>
              <a:gd name="adj" fmla="val 3567"/>
            </a:avLst>
          </a:prstGeom>
          <a:solidFill>
            <a:schemeClr val="accent5"/>
          </a:solidFill>
          <a:ln/>
        </p:spPr>
      </p:sp>
      <p:pic>
        <p:nvPicPr>
          <p:cNvPr id="8" name="img-0802-281" descr="08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324179"/>
            <a:ext cx="5248656" cy="2929482"/>
          </a:xfrm>
          <a:prstGeom prst="rect">
            <a:avLst/>
          </a:prstGeom>
        </p:spPr>
      </p:pic>
      <p:sp>
        <p:nvSpPr>
          <p:cNvPr id="9" name="sb-caption-282"/>
          <p:cNvSpPr txBox="1"/>
          <p:nvPr/>
        </p:nvSpPr>
        <p:spPr>
          <a:xfrm>
            <a:off x="6245352" y="4463973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컷8 · 씬8-B · 5초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와이드 · 뒷모습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「근데 저녁은 뭐 먹지?」</a:t>
            </a:r>
            <a:endParaRPr lang="en-US" sz="1300" dirty="0"/>
          </a:p>
        </p:txBody>
      </p:sp>
      <p:sp>
        <p:nvSpPr>
          <p:cNvPr id="10" name="card-28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11" name="chip-284"/>
          <p:cNvSpPr/>
          <p:nvPr/>
        </p:nvSpPr>
        <p:spPr>
          <a:xfrm>
            <a:off x="777240" y="56418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· 1컷 · 10초</a:t>
            </a:r>
            <a:endParaRPr lang="en-US" sz="1200" dirty="0"/>
          </a:p>
        </p:txBody>
      </p:sp>
      <p:sp>
        <p:nvSpPr>
          <p:cNvPr id="12" name="text-285"/>
          <p:cNvSpPr txBox="1"/>
          <p:nvPr/>
        </p:nvSpPr>
        <p:spPr>
          <a:xfrm>
            <a:off x="2788920" y="5577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없이 끝나는 오픈 엔딩 — 다음 끼니로 이어지는 루프 구조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 설계 — 13씬 59초 타임라인</a:t>
            </a:r>
            <a:endParaRPr lang="en-US" sz="2800" dirty="0"/>
          </a:p>
        </p:txBody>
      </p:sp>
      <p:sp>
        <p:nvSpPr>
          <p:cNvPr id="3" name="chip-286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chip-287"/>
          <p:cNvSpPr/>
          <p:nvPr/>
        </p:nvSpPr>
        <p:spPr>
          <a:xfrm>
            <a:off x="576072" y="1325880"/>
            <a:ext cx="502098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배고픔 · 27초</a:t>
            </a:r>
            <a:endParaRPr lang="en-US" sz="1200" dirty="0"/>
          </a:p>
        </p:txBody>
      </p:sp>
      <p:sp>
        <p:nvSpPr>
          <p:cNvPr id="5" name="chip-288"/>
          <p:cNvSpPr/>
          <p:nvPr/>
        </p:nvSpPr>
        <p:spPr>
          <a:xfrm>
            <a:off x="5651922" y="1325880"/>
            <a:ext cx="4081014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오대오 · 22초</a:t>
            </a:r>
            <a:endParaRPr lang="en-US" sz="1200" dirty="0"/>
          </a:p>
        </p:txBody>
      </p:sp>
      <p:sp>
        <p:nvSpPr>
          <p:cNvPr id="6" name="chip-289"/>
          <p:cNvSpPr/>
          <p:nvPr/>
        </p:nvSpPr>
        <p:spPr>
          <a:xfrm>
            <a:off x="9787800" y="1325880"/>
            <a:ext cx="182508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엔딩 · 10초</a:t>
            </a:r>
            <a:endParaRPr lang="en-US" sz="1200" dirty="0"/>
          </a:p>
        </p:txBody>
      </p:sp>
      <p:sp>
        <p:nvSpPr>
          <p:cNvPr id="7" name="scene-bar-290"/>
          <p:cNvSpPr/>
          <p:nvPr/>
        </p:nvSpPr>
        <p:spPr>
          <a:xfrm>
            <a:off x="576072" y="1920240"/>
            <a:ext cx="509119" cy="1143000"/>
          </a:xfrm>
          <a:prstGeom prst="roundRect">
            <a:avLst>
              <a:gd name="adj" fmla="val 14368"/>
            </a:avLst>
          </a:prstGeom>
          <a:solidFill>
            <a:schemeClr val="accent5"/>
          </a:solidFill>
          <a:ln/>
        </p:spPr>
      </p:sp>
      <p:sp>
        <p:nvSpPr>
          <p:cNvPr id="8" name="text-291"/>
          <p:cNvSpPr txBox="1"/>
          <p:nvPr/>
        </p:nvSpPr>
        <p:spPr>
          <a:xfrm>
            <a:off x="576072" y="1920240"/>
            <a:ext cx="5091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</a:t>
            </a:r>
            <a:endParaRPr lang="en-US" sz="1200" dirty="0"/>
          </a:p>
        </p:txBody>
      </p:sp>
      <p:sp>
        <p:nvSpPr>
          <p:cNvPr id="9" name="scene-bar-292"/>
          <p:cNvSpPr/>
          <p:nvPr/>
        </p:nvSpPr>
        <p:spPr>
          <a:xfrm>
            <a:off x="1140055" y="1920240"/>
            <a:ext cx="697114" cy="1143000"/>
          </a:xfrm>
          <a:prstGeom prst="roundRect">
            <a:avLst>
              <a:gd name="adj" fmla="val 10494"/>
            </a:avLst>
          </a:prstGeom>
          <a:solidFill>
            <a:schemeClr val="accent5"/>
          </a:solidFill>
          <a:ln/>
        </p:spPr>
      </p:sp>
      <p:sp>
        <p:nvSpPr>
          <p:cNvPr id="10" name="text-293"/>
          <p:cNvSpPr txBox="1"/>
          <p:nvPr/>
        </p:nvSpPr>
        <p:spPr>
          <a:xfrm>
            <a:off x="1140055" y="1920240"/>
            <a:ext cx="6971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1-B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1200" dirty="0"/>
          </a:p>
        </p:txBody>
      </p:sp>
      <p:sp>
        <p:nvSpPr>
          <p:cNvPr id="11" name="scene-bar-294"/>
          <p:cNvSpPr/>
          <p:nvPr/>
        </p:nvSpPr>
        <p:spPr>
          <a:xfrm>
            <a:off x="1892033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chemeClr val="accent5"/>
          </a:solidFill>
          <a:ln/>
        </p:spPr>
      </p:sp>
      <p:sp>
        <p:nvSpPr>
          <p:cNvPr id="12" name="text-295"/>
          <p:cNvSpPr txBox="1"/>
          <p:nvPr/>
        </p:nvSpPr>
        <p:spPr>
          <a:xfrm>
            <a:off x="1892033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13" name="scene-bar-296"/>
          <p:cNvSpPr/>
          <p:nvPr/>
        </p:nvSpPr>
        <p:spPr>
          <a:xfrm>
            <a:off x="2832005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chemeClr val="accent5"/>
          </a:solidFill>
          <a:ln/>
        </p:spPr>
      </p:sp>
      <p:sp>
        <p:nvSpPr>
          <p:cNvPr id="14" name="text-297"/>
          <p:cNvSpPr txBox="1"/>
          <p:nvPr/>
        </p:nvSpPr>
        <p:spPr>
          <a:xfrm>
            <a:off x="2832005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2-B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15" name="scene-bar-298"/>
          <p:cNvSpPr/>
          <p:nvPr/>
        </p:nvSpPr>
        <p:spPr>
          <a:xfrm>
            <a:off x="3771977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chemeClr val="accent5"/>
          </a:solidFill>
          <a:ln/>
        </p:spPr>
      </p:sp>
      <p:sp>
        <p:nvSpPr>
          <p:cNvPr id="16" name="text-299"/>
          <p:cNvSpPr txBox="1"/>
          <p:nvPr/>
        </p:nvSpPr>
        <p:spPr>
          <a:xfrm>
            <a:off x="3771977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17" name="scene-bar-300"/>
          <p:cNvSpPr/>
          <p:nvPr/>
        </p:nvSpPr>
        <p:spPr>
          <a:xfrm>
            <a:off x="4711950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chemeClr val="accent5"/>
          </a:solidFill>
          <a:ln/>
        </p:spPr>
      </p:sp>
      <p:sp>
        <p:nvSpPr>
          <p:cNvPr id="18" name="text-301"/>
          <p:cNvSpPr txBox="1"/>
          <p:nvPr/>
        </p:nvSpPr>
        <p:spPr>
          <a:xfrm>
            <a:off x="4711950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19" name="scene-bar-302"/>
          <p:cNvSpPr/>
          <p:nvPr/>
        </p:nvSpPr>
        <p:spPr>
          <a:xfrm>
            <a:off x="5651922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rgbClr val="FBD3E1"/>
          </a:solidFill>
          <a:ln/>
        </p:spPr>
      </p:sp>
      <p:sp>
        <p:nvSpPr>
          <p:cNvPr id="20" name="text-303"/>
          <p:cNvSpPr txBox="1"/>
          <p:nvPr/>
        </p:nvSpPr>
        <p:spPr>
          <a:xfrm>
            <a:off x="5651922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21" name="scene-bar-304"/>
          <p:cNvSpPr/>
          <p:nvPr/>
        </p:nvSpPr>
        <p:spPr>
          <a:xfrm>
            <a:off x="6591894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rgbClr val="FBD3E1"/>
          </a:solidFill>
          <a:ln/>
        </p:spPr>
      </p:sp>
      <p:sp>
        <p:nvSpPr>
          <p:cNvPr id="22" name="text-305"/>
          <p:cNvSpPr txBox="1"/>
          <p:nvPr/>
        </p:nvSpPr>
        <p:spPr>
          <a:xfrm>
            <a:off x="6591894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23" name="scene-bar-306"/>
          <p:cNvSpPr/>
          <p:nvPr/>
        </p:nvSpPr>
        <p:spPr>
          <a:xfrm>
            <a:off x="7531866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rgbClr val="FBD3E1"/>
          </a:solidFill>
          <a:ln/>
        </p:spPr>
      </p:sp>
      <p:sp>
        <p:nvSpPr>
          <p:cNvPr id="24" name="text-307"/>
          <p:cNvSpPr txBox="1"/>
          <p:nvPr/>
        </p:nvSpPr>
        <p:spPr>
          <a:xfrm>
            <a:off x="7531866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6-B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25" name="scene-bar-308"/>
          <p:cNvSpPr/>
          <p:nvPr/>
        </p:nvSpPr>
        <p:spPr>
          <a:xfrm>
            <a:off x="8471839" y="1920240"/>
            <a:ext cx="509119" cy="1143000"/>
          </a:xfrm>
          <a:prstGeom prst="roundRect">
            <a:avLst>
              <a:gd name="adj" fmla="val 14368"/>
            </a:avLst>
          </a:prstGeom>
          <a:solidFill>
            <a:srgbClr val="FBD3E1"/>
          </a:solidFill>
          <a:ln/>
        </p:spPr>
      </p:sp>
      <p:sp>
        <p:nvSpPr>
          <p:cNvPr id="26" name="text-309"/>
          <p:cNvSpPr txBox="1"/>
          <p:nvPr/>
        </p:nvSpPr>
        <p:spPr>
          <a:xfrm>
            <a:off x="8471839" y="1920240"/>
            <a:ext cx="5091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</a:t>
            </a:r>
            <a:endParaRPr lang="en-US" sz="1200" dirty="0"/>
          </a:p>
        </p:txBody>
      </p:sp>
      <p:sp>
        <p:nvSpPr>
          <p:cNvPr id="27" name="scene-bar-310"/>
          <p:cNvSpPr/>
          <p:nvPr/>
        </p:nvSpPr>
        <p:spPr>
          <a:xfrm>
            <a:off x="9035822" y="1920240"/>
            <a:ext cx="697114" cy="1143000"/>
          </a:xfrm>
          <a:prstGeom prst="roundRect">
            <a:avLst>
              <a:gd name="adj" fmla="val 10494"/>
            </a:avLst>
          </a:prstGeom>
          <a:solidFill>
            <a:srgbClr val="FBD3E1"/>
          </a:solidFill>
          <a:ln/>
        </p:spPr>
      </p:sp>
      <p:sp>
        <p:nvSpPr>
          <p:cNvPr id="28" name="text-311"/>
          <p:cNvSpPr txBox="1"/>
          <p:nvPr/>
        </p:nvSpPr>
        <p:spPr>
          <a:xfrm>
            <a:off x="9035822" y="1920240"/>
            <a:ext cx="6971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7-B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1200" dirty="0"/>
          </a:p>
        </p:txBody>
      </p:sp>
      <p:sp>
        <p:nvSpPr>
          <p:cNvPr id="29" name="scene-bar-312"/>
          <p:cNvSpPr/>
          <p:nvPr/>
        </p:nvSpPr>
        <p:spPr>
          <a:xfrm>
            <a:off x="9787800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rgbClr val="CDE9C4"/>
          </a:solidFill>
          <a:ln/>
        </p:spPr>
      </p:sp>
      <p:sp>
        <p:nvSpPr>
          <p:cNvPr id="30" name="text-313"/>
          <p:cNvSpPr txBox="1"/>
          <p:nvPr/>
        </p:nvSpPr>
        <p:spPr>
          <a:xfrm>
            <a:off x="9787800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31" name="scene-bar-314"/>
          <p:cNvSpPr/>
          <p:nvPr/>
        </p:nvSpPr>
        <p:spPr>
          <a:xfrm>
            <a:off x="10727772" y="1920240"/>
            <a:ext cx="885108" cy="1143000"/>
          </a:xfrm>
          <a:prstGeom prst="roundRect">
            <a:avLst>
              <a:gd name="adj" fmla="val 8265"/>
            </a:avLst>
          </a:prstGeom>
          <a:solidFill>
            <a:srgbClr val="CDE9C4"/>
          </a:solidFill>
          <a:ln/>
        </p:spPr>
      </p:sp>
      <p:sp>
        <p:nvSpPr>
          <p:cNvPr id="32" name="text-315"/>
          <p:cNvSpPr txBox="1"/>
          <p:nvPr/>
        </p:nvSpPr>
        <p:spPr>
          <a:xfrm>
            <a:off x="10727772" y="1920240"/>
            <a:ext cx="8851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1200" dirty="0"/>
          </a:p>
        </p:txBody>
      </p:sp>
      <p:sp>
        <p:nvSpPr>
          <p:cNvPr id="33" name="cut-bar-316"/>
          <p:cNvSpPr/>
          <p:nvPr/>
        </p:nvSpPr>
        <p:spPr>
          <a:xfrm>
            <a:off x="576072" y="3200400"/>
            <a:ext cx="1261097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-317"/>
          <p:cNvSpPr txBox="1"/>
          <p:nvPr/>
        </p:nvSpPr>
        <p:spPr>
          <a:xfrm>
            <a:off x="576072" y="3200400"/>
            <a:ext cx="12610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컷1 · 7초</a:t>
            </a:r>
            <a:endParaRPr lang="en-US" sz="1100" dirty="0"/>
          </a:p>
        </p:txBody>
      </p:sp>
      <p:sp>
        <p:nvSpPr>
          <p:cNvPr id="35" name="cut-bar-318"/>
          <p:cNvSpPr/>
          <p:nvPr/>
        </p:nvSpPr>
        <p:spPr>
          <a:xfrm>
            <a:off x="1892033" y="3200400"/>
            <a:ext cx="1825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-319"/>
          <p:cNvSpPr txBox="1"/>
          <p:nvPr/>
        </p:nvSpPr>
        <p:spPr>
          <a:xfrm>
            <a:off x="1892033" y="3200400"/>
            <a:ext cx="182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컷2 · 10초</a:t>
            </a:r>
            <a:endParaRPr lang="en-US" sz="1100" dirty="0"/>
          </a:p>
        </p:txBody>
      </p:sp>
      <p:sp>
        <p:nvSpPr>
          <p:cNvPr id="37" name="cut-bar-320"/>
          <p:cNvSpPr/>
          <p:nvPr/>
        </p:nvSpPr>
        <p:spPr>
          <a:xfrm>
            <a:off x="3771977" y="3200400"/>
            <a:ext cx="88510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-321"/>
          <p:cNvSpPr txBox="1"/>
          <p:nvPr/>
        </p:nvSpPr>
        <p:spPr>
          <a:xfrm>
            <a:off x="3771977" y="3200400"/>
            <a:ext cx="885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컷3 · 5초</a:t>
            </a:r>
            <a:endParaRPr lang="en-US" sz="1100" dirty="0"/>
          </a:p>
        </p:txBody>
      </p:sp>
      <p:sp>
        <p:nvSpPr>
          <p:cNvPr id="39" name="cut-bar-322"/>
          <p:cNvSpPr/>
          <p:nvPr/>
        </p:nvSpPr>
        <p:spPr>
          <a:xfrm>
            <a:off x="4711950" y="3200400"/>
            <a:ext cx="88510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-323"/>
          <p:cNvSpPr txBox="1"/>
          <p:nvPr/>
        </p:nvSpPr>
        <p:spPr>
          <a:xfrm>
            <a:off x="4711950" y="3200400"/>
            <a:ext cx="885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컷4 · 5초</a:t>
            </a:r>
            <a:endParaRPr lang="en-US" sz="1100" dirty="0"/>
          </a:p>
        </p:txBody>
      </p:sp>
      <p:sp>
        <p:nvSpPr>
          <p:cNvPr id="41" name="cut-bar-324"/>
          <p:cNvSpPr/>
          <p:nvPr/>
        </p:nvSpPr>
        <p:spPr>
          <a:xfrm>
            <a:off x="5651922" y="3200400"/>
            <a:ext cx="88510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-325"/>
          <p:cNvSpPr txBox="1"/>
          <p:nvPr/>
        </p:nvSpPr>
        <p:spPr>
          <a:xfrm>
            <a:off x="5651922" y="3200400"/>
            <a:ext cx="885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컷5 · 5초</a:t>
            </a:r>
            <a:endParaRPr lang="en-US" sz="1100" dirty="0"/>
          </a:p>
        </p:txBody>
      </p:sp>
      <p:sp>
        <p:nvSpPr>
          <p:cNvPr id="43" name="cut-bar-326"/>
          <p:cNvSpPr/>
          <p:nvPr/>
        </p:nvSpPr>
        <p:spPr>
          <a:xfrm>
            <a:off x="6591894" y="3200400"/>
            <a:ext cx="1825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text-327"/>
          <p:cNvSpPr txBox="1"/>
          <p:nvPr/>
        </p:nvSpPr>
        <p:spPr>
          <a:xfrm>
            <a:off x="6591894" y="3200400"/>
            <a:ext cx="182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컷6 · 10초</a:t>
            </a:r>
            <a:endParaRPr lang="en-US" sz="1100" dirty="0"/>
          </a:p>
        </p:txBody>
      </p:sp>
      <p:sp>
        <p:nvSpPr>
          <p:cNvPr id="45" name="cut-bar-328"/>
          <p:cNvSpPr/>
          <p:nvPr/>
        </p:nvSpPr>
        <p:spPr>
          <a:xfrm>
            <a:off x="8471839" y="3200400"/>
            <a:ext cx="1261097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text-329"/>
          <p:cNvSpPr txBox="1"/>
          <p:nvPr/>
        </p:nvSpPr>
        <p:spPr>
          <a:xfrm>
            <a:off x="8471839" y="3200400"/>
            <a:ext cx="12610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컷7 · 7초</a:t>
            </a:r>
            <a:endParaRPr lang="en-US" sz="1100" dirty="0"/>
          </a:p>
        </p:txBody>
      </p:sp>
      <p:sp>
        <p:nvSpPr>
          <p:cNvPr id="47" name="cut-bar-330"/>
          <p:cNvSpPr/>
          <p:nvPr/>
        </p:nvSpPr>
        <p:spPr>
          <a:xfrm>
            <a:off x="9787800" y="3200400"/>
            <a:ext cx="1825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text-331"/>
          <p:cNvSpPr txBox="1"/>
          <p:nvPr/>
        </p:nvSpPr>
        <p:spPr>
          <a:xfrm>
            <a:off x="9787800" y="3200400"/>
            <a:ext cx="182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컷8 · 10초</a:t>
            </a:r>
            <a:endParaRPr lang="en-US" sz="1100" dirty="0"/>
          </a:p>
        </p:txBody>
      </p:sp>
      <p:sp>
        <p:nvSpPr>
          <p:cNvPr id="49" name="text-332"/>
          <p:cNvSpPr txBox="1"/>
          <p:nvPr/>
        </p:nvSpPr>
        <p:spPr>
          <a:xfrm>
            <a:off x="5486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0초</a:t>
            </a:r>
            <a:endParaRPr lang="en-US" sz="1000" dirty="0"/>
          </a:p>
        </p:txBody>
      </p:sp>
      <p:sp>
        <p:nvSpPr>
          <p:cNvPr id="50" name="text-333"/>
          <p:cNvSpPr txBox="1"/>
          <p:nvPr/>
        </p:nvSpPr>
        <p:spPr>
          <a:xfrm>
            <a:off x="10725912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</a:t>
            </a:r>
            <a:endParaRPr lang="en-US" sz="1000" dirty="0"/>
          </a:p>
        </p:txBody>
      </p:sp>
      <p:sp>
        <p:nvSpPr>
          <p:cNvPr id="51" name="card-334"/>
          <p:cNvSpPr/>
          <p:nvPr/>
        </p:nvSpPr>
        <p:spPr>
          <a:xfrm>
            <a:off x="548640" y="4251960"/>
            <a:ext cx="3566160" cy="1920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2" name="text-335"/>
          <p:cNvSpPr txBox="1"/>
          <p:nvPr/>
        </p:nvSpPr>
        <p:spPr>
          <a:xfrm>
            <a:off x="82296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3~4초</a:t>
            </a:r>
            <a:endParaRPr lang="en-US" sz="3000" dirty="0"/>
          </a:p>
        </p:txBody>
      </p:sp>
      <p:sp>
        <p:nvSpPr>
          <p:cNvPr id="53" name="text-336"/>
          <p:cNvSpPr txBox="1"/>
          <p:nvPr/>
        </p:nvSpPr>
        <p:spPr>
          <a:xfrm>
            <a:off x="82296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(1-A · 1-B)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무반응 (7-A · 7-B)</a:t>
            </a:r>
            <a:endParaRPr lang="en-US" sz="1300" dirty="0"/>
          </a:p>
        </p:txBody>
      </p:sp>
      <p:sp>
        <p:nvSpPr>
          <p:cNvPr id="54" name="card-337"/>
          <p:cNvSpPr/>
          <p:nvPr/>
        </p:nvSpPr>
        <p:spPr>
          <a:xfrm>
            <a:off x="4311396" y="4251960"/>
            <a:ext cx="3566160" cy="1920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5" name="text-338"/>
          <p:cNvSpPr txBox="1"/>
          <p:nvPr/>
        </p:nvSpPr>
        <p:spPr>
          <a:xfrm>
            <a:off x="4585716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3000" dirty="0"/>
          </a:p>
        </p:txBody>
      </p:sp>
      <p:sp>
        <p:nvSpPr>
          <p:cNvPr id="56" name="text-339"/>
          <p:cNvSpPr txBox="1"/>
          <p:nvPr/>
        </p:nvSpPr>
        <p:spPr>
          <a:xfrm>
            <a:off x="4585716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· 액션 씬의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단위</a:t>
            </a:r>
            <a:endParaRPr lang="en-US" sz="1300" dirty="0"/>
          </a:p>
        </p:txBody>
      </p:sp>
      <p:sp>
        <p:nvSpPr>
          <p:cNvPr id="57" name="card-340"/>
          <p:cNvSpPr/>
          <p:nvPr/>
        </p:nvSpPr>
        <p:spPr>
          <a:xfrm>
            <a:off x="8074152" y="4251960"/>
            <a:ext cx="3566160" cy="1920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8" name="text-341"/>
          <p:cNvSpPr txBox="1"/>
          <p:nvPr/>
        </p:nvSpPr>
        <p:spPr>
          <a:xfrm>
            <a:off x="8348472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</a:t>
            </a:r>
            <a:endParaRPr lang="en-US" sz="3000" dirty="0"/>
          </a:p>
        </p:txBody>
      </p:sp>
      <p:sp>
        <p:nvSpPr>
          <p:cNvPr id="59" name="text-342"/>
          <p:cNvSpPr txBox="1"/>
          <p:nvPr/>
        </p:nvSpPr>
        <p:spPr>
          <a:xfrm>
            <a:off x="8348472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13씬 합계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이내 숏폼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공정 6단계</a:t>
            </a:r>
            <a:endParaRPr lang="en-US" sz="2800" dirty="0"/>
          </a:p>
        </p:txBody>
      </p:sp>
      <p:sp>
        <p:nvSpPr>
          <p:cNvPr id="3" name="chip-343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card-344"/>
          <p:cNvSpPr/>
          <p:nvPr/>
        </p:nvSpPr>
        <p:spPr>
          <a:xfrm>
            <a:off x="548640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5" name="step-num-345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-346"/>
          <p:cNvSpPr txBox="1"/>
          <p:nvPr/>
        </p:nvSpPr>
        <p:spPr>
          <a:xfrm>
            <a:off x="731520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시나리오</a:t>
            </a:r>
            <a:endParaRPr lang="en-US" sz="1300" dirty="0"/>
          </a:p>
        </p:txBody>
      </p:sp>
      <p:sp>
        <p:nvSpPr>
          <p:cNvPr id="7" name="text-347"/>
          <p:cNvSpPr txBox="1"/>
          <p:nvPr/>
        </p:nvSpPr>
        <p:spPr>
          <a:xfrm>
            <a:off x="731520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작품개요 · 8컷 13씬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기술 5항목</a:t>
            </a:r>
            <a:endParaRPr lang="en-US" sz="1100" dirty="0"/>
          </a:p>
        </p:txBody>
      </p:sp>
      <p:sp>
        <p:nvSpPr>
          <p:cNvPr id="8" name="text-348"/>
          <p:cNvSpPr txBox="1"/>
          <p:nvPr/>
        </p:nvSpPr>
        <p:spPr>
          <a:xfrm>
            <a:off x="731520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9" name="card-349"/>
          <p:cNvSpPr/>
          <p:nvPr/>
        </p:nvSpPr>
        <p:spPr>
          <a:xfrm>
            <a:off x="2426818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10" name="step-num-350"/>
          <p:cNvSpPr/>
          <p:nvPr/>
        </p:nvSpPr>
        <p:spPr>
          <a:xfrm>
            <a:off x="2609698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-351"/>
          <p:cNvSpPr txBox="1"/>
          <p:nvPr/>
        </p:nvSpPr>
        <p:spPr>
          <a:xfrm>
            <a:off x="2609698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· 배경 시트</a:t>
            </a:r>
            <a:endParaRPr lang="en-US" sz="1300" dirty="0"/>
          </a:p>
        </p:txBody>
      </p:sp>
      <p:sp>
        <p:nvSpPr>
          <p:cNvPr id="12" name="text-352"/>
          <p:cNvSpPr txBox="1"/>
          <p:nvPr/>
        </p:nvSpPr>
        <p:spPr>
          <a:xfrm>
            <a:off x="2609698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턴어라운드 · 표정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고고산 배경</a:t>
            </a:r>
            <a:endParaRPr lang="en-US" sz="1100" dirty="0"/>
          </a:p>
        </p:txBody>
      </p:sp>
      <p:sp>
        <p:nvSpPr>
          <p:cNvPr id="13" name="text-353"/>
          <p:cNvSpPr txBox="1"/>
          <p:nvPr/>
        </p:nvSpPr>
        <p:spPr>
          <a:xfrm>
            <a:off x="2609698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14" name="card-354"/>
          <p:cNvSpPr/>
          <p:nvPr/>
        </p:nvSpPr>
        <p:spPr>
          <a:xfrm>
            <a:off x="4304995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15" name="step-num-355"/>
          <p:cNvSpPr/>
          <p:nvPr/>
        </p:nvSpPr>
        <p:spPr>
          <a:xfrm>
            <a:off x="4487875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-356"/>
          <p:cNvSpPr txBox="1"/>
          <p:nvPr/>
        </p:nvSpPr>
        <p:spPr>
          <a:xfrm>
            <a:off x="4487875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 생성</a:t>
            </a:r>
            <a:endParaRPr lang="en-US" sz="1300" dirty="0"/>
          </a:p>
        </p:txBody>
      </p:sp>
      <p:sp>
        <p:nvSpPr>
          <p:cNvPr id="17" name="text-357"/>
          <p:cNvSpPr txBox="1"/>
          <p:nvPr/>
        </p:nvSpPr>
        <p:spPr>
          <a:xfrm>
            <a:off x="4487875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씬별 정지 이미지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무브 없음</a:t>
            </a:r>
            <a:endParaRPr lang="en-US" sz="1100" dirty="0"/>
          </a:p>
        </p:txBody>
      </p:sp>
      <p:sp>
        <p:nvSpPr>
          <p:cNvPr id="18" name="text-358"/>
          <p:cNvSpPr txBox="1"/>
          <p:nvPr/>
        </p:nvSpPr>
        <p:spPr>
          <a:xfrm>
            <a:off x="4487875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19" name="card-359"/>
          <p:cNvSpPr/>
          <p:nvPr/>
        </p:nvSpPr>
        <p:spPr>
          <a:xfrm>
            <a:off x="6183173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20" name="step-num-360"/>
          <p:cNvSpPr/>
          <p:nvPr/>
        </p:nvSpPr>
        <p:spPr>
          <a:xfrm>
            <a:off x="6366053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-361"/>
          <p:cNvSpPr txBox="1"/>
          <p:nvPr/>
        </p:nvSpPr>
        <p:spPr>
          <a:xfrm>
            <a:off x="6366053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영상화</a:t>
            </a:r>
            <a:endParaRPr lang="en-US" sz="1300" dirty="0"/>
          </a:p>
        </p:txBody>
      </p:sp>
      <p:sp>
        <p:nvSpPr>
          <p:cNvPr id="22" name="text-362"/>
          <p:cNvSpPr txBox="1"/>
          <p:nvPr/>
        </p:nvSpPr>
        <p:spPr>
          <a:xfrm>
            <a:off x="6366053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 지정</a:t>
            </a:r>
            <a:endParaRPr lang="en-US" sz="1100" dirty="0"/>
          </a:p>
        </p:txBody>
      </p:sp>
      <p:sp>
        <p:nvSpPr>
          <p:cNvPr id="23" name="text-363"/>
          <p:cNvSpPr txBox="1"/>
          <p:nvPr/>
        </p:nvSpPr>
        <p:spPr>
          <a:xfrm>
            <a:off x="6366053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24" name="card-364"/>
          <p:cNvSpPr/>
          <p:nvPr/>
        </p:nvSpPr>
        <p:spPr>
          <a:xfrm>
            <a:off x="8061350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25" name="step-num-365"/>
          <p:cNvSpPr/>
          <p:nvPr/>
        </p:nvSpPr>
        <p:spPr>
          <a:xfrm>
            <a:off x="824423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-366"/>
          <p:cNvSpPr txBox="1"/>
          <p:nvPr/>
        </p:nvSpPr>
        <p:spPr>
          <a:xfrm>
            <a:off x="8244230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</a:t>
            </a:r>
            <a:endParaRPr lang="en-US" sz="1300" dirty="0"/>
          </a:p>
        </p:txBody>
      </p:sp>
      <p:sp>
        <p:nvSpPr>
          <p:cNvPr id="27" name="text-367"/>
          <p:cNvSpPr txBox="1"/>
          <p:nvPr/>
        </p:nvSpPr>
        <p:spPr>
          <a:xfrm>
            <a:off x="8244230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경쾌한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CM송 느낌 BGM</a:t>
            </a:r>
            <a:endParaRPr lang="en-US" sz="1100" dirty="0"/>
          </a:p>
        </p:txBody>
      </p:sp>
      <p:sp>
        <p:nvSpPr>
          <p:cNvPr id="28" name="text-368"/>
          <p:cNvSpPr txBox="1"/>
          <p:nvPr/>
        </p:nvSpPr>
        <p:spPr>
          <a:xfrm>
            <a:off x="8244230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29" name="card-369"/>
          <p:cNvSpPr/>
          <p:nvPr/>
        </p:nvSpPr>
        <p:spPr>
          <a:xfrm>
            <a:off x="9939528" y="1280160"/>
            <a:ext cx="1700784" cy="2514600"/>
          </a:xfrm>
          <a:prstGeom prst="roundRect">
            <a:avLst>
              <a:gd name="adj" fmla="val 7527"/>
            </a:avLst>
          </a:prstGeom>
          <a:solidFill>
            <a:schemeClr val="bg2"/>
          </a:solidFill>
          <a:ln/>
        </p:spPr>
      </p:sp>
      <p:sp>
        <p:nvSpPr>
          <p:cNvPr id="30" name="step-num-370"/>
          <p:cNvSpPr/>
          <p:nvPr/>
        </p:nvSpPr>
        <p:spPr>
          <a:xfrm>
            <a:off x="10122408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-371"/>
          <p:cNvSpPr txBox="1"/>
          <p:nvPr/>
        </p:nvSpPr>
        <p:spPr>
          <a:xfrm>
            <a:off x="10122408" y="2057400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endParaRPr lang="en-US" sz="1300" dirty="0"/>
          </a:p>
        </p:txBody>
      </p:sp>
      <p:sp>
        <p:nvSpPr>
          <p:cNvPr id="32" name="text-372"/>
          <p:cNvSpPr txBox="1"/>
          <p:nvPr/>
        </p:nvSpPr>
        <p:spPr>
          <a:xfrm>
            <a:off x="10122408" y="2651760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</a:t>
            </a:r>
            <a:endParaRPr lang="en-US" sz="1100" dirty="0"/>
          </a:p>
        </p:txBody>
      </p:sp>
      <p:sp>
        <p:nvSpPr>
          <p:cNvPr id="33" name="text-373"/>
          <p:cNvSpPr txBox="1"/>
          <p:nvPr/>
        </p:nvSpPr>
        <p:spPr>
          <a:xfrm>
            <a:off x="10122408" y="33832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[툴 기입]</a:t>
            </a:r>
            <a:endParaRPr lang="en-US" sz="1000" dirty="0"/>
          </a:p>
        </p:txBody>
      </p:sp>
      <p:sp>
        <p:nvSpPr>
          <p:cNvPr id="34" name="frame-374"/>
          <p:cNvSpPr/>
          <p:nvPr/>
        </p:nvSpPr>
        <p:spPr>
          <a:xfrm>
            <a:off x="585953" y="4114800"/>
            <a:ext cx="3354373" cy="192024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</p:sp>
      <p:pic>
        <p:nvPicPr>
          <p:cNvPr id="35" name="img-JIni-375" descr="지니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7" y="4169664"/>
            <a:ext cx="3244645" cy="1810512"/>
          </a:xfrm>
          <a:prstGeom prst="rect">
            <a:avLst/>
          </a:prstGeom>
        </p:spPr>
      </p:pic>
      <p:sp>
        <p:nvSpPr>
          <p:cNvPr id="36" name="text-376"/>
          <p:cNvSpPr txBox="1"/>
          <p:nvPr/>
        </p:nvSpPr>
        <p:spPr>
          <a:xfrm>
            <a:off x="585953" y="6080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캐릭터 시트</a:t>
            </a:r>
            <a:endParaRPr lang="en-US" sz="1000" dirty="0"/>
          </a:p>
        </p:txBody>
      </p:sp>
      <p:sp>
        <p:nvSpPr>
          <p:cNvPr id="37" name="text-377"/>
          <p:cNvSpPr txBox="1"/>
          <p:nvPr/>
        </p:nvSpPr>
        <p:spPr>
          <a:xfrm>
            <a:off x="3977640" y="48463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frame-378"/>
          <p:cNvSpPr/>
          <p:nvPr/>
        </p:nvSpPr>
        <p:spPr>
          <a:xfrm>
            <a:off x="4417653" y="4114800"/>
            <a:ext cx="3353646" cy="192024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</p:sp>
      <p:pic>
        <p:nvPicPr>
          <p:cNvPr id="39" name="img-0202-379" descr="스틸컷 02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517" y="4169664"/>
            <a:ext cx="3243918" cy="1810512"/>
          </a:xfrm>
          <a:prstGeom prst="rect">
            <a:avLst/>
          </a:prstGeom>
        </p:spPr>
      </p:pic>
      <p:sp>
        <p:nvSpPr>
          <p:cNvPr id="40" name="text-380"/>
          <p:cNvSpPr txBox="1"/>
          <p:nvPr/>
        </p:nvSpPr>
        <p:spPr>
          <a:xfrm>
            <a:off x="4417653" y="6080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스틸컷</a:t>
            </a:r>
            <a:endParaRPr lang="en-US" sz="1000" dirty="0"/>
          </a:p>
        </p:txBody>
      </p:sp>
      <p:sp>
        <p:nvSpPr>
          <p:cNvPr id="41" name="text-381"/>
          <p:cNvSpPr txBox="1"/>
          <p:nvPr/>
        </p:nvSpPr>
        <p:spPr>
          <a:xfrm>
            <a:off x="7808976" y="48463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frame-382"/>
          <p:cNvSpPr/>
          <p:nvPr/>
        </p:nvSpPr>
        <p:spPr>
          <a:xfrm>
            <a:off x="8261604" y="4114800"/>
            <a:ext cx="3328416" cy="192024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</p:sp>
      <p:pic>
        <p:nvPicPr>
          <p:cNvPr id="43" name="img-poster_lunch-383" descr="점심메뉴 영상 대표 이미지 — 클릭하면 영상 열림">
            <a:hlinkClick r:id="rId4" tooltip="영상 보기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68" y="4169664"/>
            <a:ext cx="3218688" cy="1810512"/>
          </a:xfrm>
          <a:prstGeom prst="rect">
            <a:avLst/>
          </a:prstGeom>
        </p:spPr>
      </p:pic>
      <p:sp>
        <p:nvSpPr>
          <p:cNvPr id="44" name="text-384"/>
          <p:cNvSpPr txBox="1"/>
          <p:nvPr/>
        </p:nvSpPr>
        <p:spPr>
          <a:xfrm>
            <a:off x="8261604" y="6080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영상화 (제작 진행 중) — 클릭하면 영상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디렉터의 결정 vs AI의 생성</a:t>
            </a:r>
            <a:endParaRPr lang="en-US" sz="2800" dirty="0"/>
          </a:p>
        </p:txBody>
      </p:sp>
      <p:sp>
        <p:nvSpPr>
          <p:cNvPr id="3" name="chip-385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card-386"/>
          <p:cNvSpPr/>
          <p:nvPr/>
        </p:nvSpPr>
        <p:spPr>
          <a:xfrm>
            <a:off x="548640" y="1234440"/>
            <a:ext cx="5943600" cy="4983480"/>
          </a:xfrm>
          <a:prstGeom prst="roundRect">
            <a:avLst>
              <a:gd name="adj" fmla="val 2569"/>
            </a:avLst>
          </a:prstGeom>
          <a:solidFill>
            <a:schemeClr val="tx1"/>
          </a:solidFill>
          <a:ln/>
        </p:spPr>
      </p:sp>
      <p:sp>
        <p:nvSpPr>
          <p:cNvPr id="5" name="text-387"/>
          <p:cNvSpPr txBox="1"/>
          <p:nvPr/>
        </p:nvSpPr>
        <p:spPr>
          <a:xfrm>
            <a:off x="8686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결정한 것</a:t>
            </a:r>
            <a:endParaRPr lang="en-US" sz="2000" dirty="0"/>
          </a:p>
        </p:txBody>
      </p:sp>
      <p:sp>
        <p:nvSpPr>
          <p:cNvPr id="6" name="decision-388"/>
          <p:cNvSpPr/>
          <p:nvPr/>
        </p:nvSpPr>
        <p:spPr>
          <a:xfrm>
            <a:off x="868680" y="214884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7" name="text-389"/>
          <p:cNvSpPr txBox="1"/>
          <p:nvPr/>
        </p:nvSpPr>
        <p:spPr>
          <a:xfrm>
            <a:off x="10515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설정</a:t>
            </a:r>
            <a:endParaRPr lang="en-US" sz="1500" dirty="0"/>
          </a:p>
        </p:txBody>
      </p:sp>
      <p:sp>
        <p:nvSpPr>
          <p:cNvPr id="8" name="text-390"/>
          <p:cNvSpPr txBox="1"/>
          <p:nvPr/>
        </p:nvSpPr>
        <p:spPr>
          <a:xfrm>
            <a:off x="10515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· 취향 · 소품 · 관계</a:t>
            </a:r>
            <a:endParaRPr lang="en-US" sz="1100" dirty="0"/>
          </a:p>
        </p:txBody>
      </p:sp>
      <p:sp>
        <p:nvSpPr>
          <p:cNvPr id="9" name="decision-391"/>
          <p:cNvSpPr/>
          <p:nvPr/>
        </p:nvSpPr>
        <p:spPr>
          <a:xfrm>
            <a:off x="3611880" y="214884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10" name="text-392"/>
          <p:cNvSpPr txBox="1"/>
          <p:nvPr/>
        </p:nvSpPr>
        <p:spPr>
          <a:xfrm>
            <a:off x="37947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구성</a:t>
            </a:r>
            <a:endParaRPr lang="en-US" sz="1500" dirty="0"/>
          </a:p>
        </p:txBody>
      </p:sp>
      <p:sp>
        <p:nvSpPr>
          <p:cNvPr id="11" name="text-393"/>
          <p:cNvSpPr txBox="1"/>
          <p:nvPr/>
        </p:nvSpPr>
        <p:spPr>
          <a:xfrm>
            <a:off x="37947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 / 13씬</a:t>
            </a:r>
            <a:endParaRPr lang="en-US" sz="1100" dirty="0"/>
          </a:p>
        </p:txBody>
      </p:sp>
      <p:sp>
        <p:nvSpPr>
          <p:cNvPr id="12" name="decision-394"/>
          <p:cNvSpPr/>
          <p:nvPr/>
        </p:nvSpPr>
        <p:spPr>
          <a:xfrm>
            <a:off x="868680" y="3447288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13" name="text-395"/>
          <p:cNvSpPr txBox="1"/>
          <p:nvPr/>
        </p:nvSpPr>
        <p:spPr>
          <a:xfrm>
            <a:off x="105156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· 앵글</a:t>
            </a:r>
            <a:endParaRPr lang="en-US" sz="1500" dirty="0"/>
          </a:p>
        </p:txBody>
      </p:sp>
      <p:sp>
        <p:nvSpPr>
          <p:cNvPr id="14" name="text-396"/>
          <p:cNvSpPr txBox="1"/>
          <p:nvPr/>
        </p:nvSpPr>
        <p:spPr>
          <a:xfrm>
            <a:off x="1051560" y="3995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감정별 카메라 설계</a:t>
            </a:r>
            <a:endParaRPr lang="en-US" sz="1100" dirty="0"/>
          </a:p>
        </p:txBody>
      </p:sp>
      <p:sp>
        <p:nvSpPr>
          <p:cNvPr id="15" name="decision-397"/>
          <p:cNvSpPr/>
          <p:nvPr/>
        </p:nvSpPr>
        <p:spPr>
          <a:xfrm>
            <a:off x="3611880" y="3447288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16" name="text-398"/>
          <p:cNvSpPr txBox="1"/>
          <p:nvPr/>
        </p:nvSpPr>
        <p:spPr>
          <a:xfrm>
            <a:off x="379476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</a:t>
            </a:r>
            <a:endParaRPr lang="en-US" sz="1500" dirty="0"/>
          </a:p>
        </p:txBody>
      </p:sp>
      <p:sp>
        <p:nvSpPr>
          <p:cNvPr id="17" name="text-399"/>
          <p:cNvSpPr txBox="1"/>
          <p:nvPr/>
        </p:nvSpPr>
        <p:spPr>
          <a:xfrm>
            <a:off x="3794760" y="3995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· 톤까지 지정</a:t>
            </a:r>
            <a:endParaRPr lang="en-US" sz="1100" dirty="0"/>
          </a:p>
        </p:txBody>
      </p:sp>
      <p:sp>
        <p:nvSpPr>
          <p:cNvPr id="18" name="decision-400"/>
          <p:cNvSpPr/>
          <p:nvPr/>
        </p:nvSpPr>
        <p:spPr>
          <a:xfrm>
            <a:off x="868680" y="4745736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19" name="text-401"/>
          <p:cNvSpPr txBox="1"/>
          <p:nvPr/>
        </p:nvSpPr>
        <p:spPr>
          <a:xfrm>
            <a:off x="1051560" y="4882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길이</a:t>
            </a:r>
            <a:endParaRPr lang="en-US" sz="1500" dirty="0"/>
          </a:p>
        </p:txBody>
      </p:sp>
      <p:sp>
        <p:nvSpPr>
          <p:cNvPr id="20" name="text-402"/>
          <p:cNvSpPr txBox="1"/>
          <p:nvPr/>
        </p:nvSpPr>
        <p:spPr>
          <a:xfrm>
            <a:off x="1051560" y="52943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3~5초 단위, 합계 59초</a:t>
            </a:r>
            <a:endParaRPr lang="en-US" sz="1100" dirty="0"/>
          </a:p>
        </p:txBody>
      </p:sp>
      <p:sp>
        <p:nvSpPr>
          <p:cNvPr id="21" name="decision-403"/>
          <p:cNvSpPr/>
          <p:nvPr/>
        </p:nvSpPr>
        <p:spPr>
          <a:xfrm>
            <a:off x="3611880" y="4745736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2C3A4B"/>
          </a:solidFill>
          <a:ln/>
        </p:spPr>
      </p:sp>
      <p:sp>
        <p:nvSpPr>
          <p:cNvPr id="22" name="text-404"/>
          <p:cNvSpPr txBox="1"/>
          <p:nvPr/>
        </p:nvSpPr>
        <p:spPr>
          <a:xfrm>
            <a:off x="3794760" y="4882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비주얼 사양</a:t>
            </a:r>
            <a:endParaRPr lang="en-US" sz="1500" dirty="0"/>
          </a:p>
        </p:txBody>
      </p:sp>
      <p:sp>
        <p:nvSpPr>
          <p:cNvPr id="23" name="text-405"/>
          <p:cNvSpPr txBox="1"/>
          <p:nvPr/>
        </p:nvSpPr>
        <p:spPr>
          <a:xfrm>
            <a:off x="3794760" y="52943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· 색감 · 시간대 고정</a:t>
            </a:r>
            <a:endParaRPr lang="en-US" sz="1100" dirty="0"/>
          </a:p>
        </p:txBody>
      </p:sp>
      <p:sp>
        <p:nvSpPr>
          <p:cNvPr id="24" name="card-406"/>
          <p:cNvSpPr/>
          <p:nvPr/>
        </p:nvSpPr>
        <p:spPr>
          <a:xfrm>
            <a:off x="6766560" y="1234440"/>
            <a:ext cx="4876495" cy="4983480"/>
          </a:xfrm>
          <a:prstGeom prst="roundRect">
            <a:avLst>
              <a:gd name="adj" fmla="val 2625"/>
            </a:avLst>
          </a:prstGeom>
          <a:solidFill>
            <a:schemeClr val="bg2"/>
          </a:solidFill>
          <a:ln/>
        </p:spPr>
      </p:sp>
      <p:sp>
        <p:nvSpPr>
          <p:cNvPr id="25" name="text-407"/>
          <p:cNvSpPr txBox="1"/>
          <p:nvPr/>
        </p:nvSpPr>
        <p:spPr>
          <a:xfrm>
            <a:off x="70866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생성한 것</a:t>
            </a:r>
            <a:endParaRPr lang="en-US" sz="2000" dirty="0"/>
          </a:p>
        </p:txBody>
      </p:sp>
      <p:sp>
        <p:nvSpPr>
          <p:cNvPr id="26" name="chip-408"/>
          <p:cNvSpPr/>
          <p:nvPr/>
        </p:nvSpPr>
        <p:spPr>
          <a:xfrm>
            <a:off x="7086600" y="2148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00" dirty="0"/>
          </a:p>
        </p:txBody>
      </p:sp>
      <p:sp>
        <p:nvSpPr>
          <p:cNvPr id="27" name="text-409"/>
          <p:cNvSpPr txBox="1"/>
          <p:nvPr/>
        </p:nvSpPr>
        <p:spPr>
          <a:xfrm>
            <a:off x="8458200" y="214884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 · 배경 · 스틸컷</a:t>
            </a:r>
            <a:endParaRPr lang="en-US" sz="1300" dirty="0"/>
          </a:p>
        </p:txBody>
      </p:sp>
      <p:sp>
        <p:nvSpPr>
          <p:cNvPr id="28" name="chip-410"/>
          <p:cNvSpPr/>
          <p:nvPr/>
        </p:nvSpPr>
        <p:spPr>
          <a:xfrm>
            <a:off x="7086600" y="28346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소스</a:t>
            </a:r>
            <a:endParaRPr lang="en-US" sz="1200" dirty="0"/>
          </a:p>
        </p:txBody>
      </p:sp>
      <p:sp>
        <p:nvSpPr>
          <p:cNvPr id="29" name="text-411"/>
          <p:cNvSpPr txBox="1"/>
          <p:nvPr/>
        </p:nvSpPr>
        <p:spPr>
          <a:xfrm>
            <a:off x="8458200" y="283464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스틸컷 기반 영상화</a:t>
            </a:r>
            <a:endParaRPr lang="en-US" sz="1300" dirty="0"/>
          </a:p>
        </p:txBody>
      </p:sp>
      <p:sp>
        <p:nvSpPr>
          <p:cNvPr id="30" name="frame-412"/>
          <p:cNvSpPr/>
          <p:nvPr/>
        </p:nvSpPr>
        <p:spPr>
          <a:xfrm>
            <a:off x="7086600" y="3757724"/>
            <a:ext cx="2026768" cy="1171353"/>
          </a:xfrm>
          <a:prstGeom prst="roundRect">
            <a:avLst>
              <a:gd name="adj" fmla="val 9368"/>
            </a:avLst>
          </a:prstGeom>
          <a:solidFill>
            <a:schemeClr val="accent5"/>
          </a:solidFill>
          <a:ln/>
        </p:spPr>
      </p:sp>
      <p:pic>
        <p:nvPicPr>
          <p:cNvPr id="31" name="img-Misha-413" descr="미샤 캐릭터 시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803444"/>
            <a:ext cx="1935328" cy="1079913"/>
          </a:xfrm>
          <a:prstGeom prst="rect">
            <a:avLst/>
          </a:prstGeom>
        </p:spPr>
      </p:pic>
      <p:sp>
        <p:nvSpPr>
          <p:cNvPr id="32" name="frame-414"/>
          <p:cNvSpPr/>
          <p:nvPr/>
        </p:nvSpPr>
        <p:spPr>
          <a:xfrm>
            <a:off x="9296248" y="3757603"/>
            <a:ext cx="2026768" cy="1171595"/>
          </a:xfrm>
          <a:prstGeom prst="roundRect">
            <a:avLst>
              <a:gd name="adj" fmla="val 9366"/>
            </a:avLst>
          </a:prstGeom>
          <a:solidFill>
            <a:schemeClr val="accent5"/>
          </a:solidFill>
          <a:ln/>
        </p:spPr>
      </p:sp>
      <p:pic>
        <p:nvPicPr>
          <p:cNvPr id="33" name="img-0602-415" descr="스틸컷 06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968" y="3803323"/>
            <a:ext cx="1935328" cy="1080155"/>
          </a:xfrm>
          <a:prstGeom prst="rect">
            <a:avLst/>
          </a:prstGeom>
        </p:spPr>
      </p:pic>
      <p:sp>
        <p:nvSpPr>
          <p:cNvPr id="34" name="text-416"/>
          <p:cNvSpPr txBox="1"/>
          <p:nvPr/>
        </p:nvSpPr>
        <p:spPr>
          <a:xfrm>
            <a:off x="7086600" y="5440680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입력값은 왼쪽의 결정으로 구성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결과물 — 점심메뉴 대소동</a:t>
            </a:r>
            <a:endParaRPr lang="en-US" sz="2800" dirty="0"/>
          </a:p>
        </p:txBody>
      </p:sp>
      <p:sp>
        <p:nvSpPr>
          <p:cNvPr id="3" name="chip-417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500" dirty="0"/>
          </a:p>
        </p:txBody>
      </p:sp>
      <p:sp>
        <p:nvSpPr>
          <p:cNvPr id="4" name="frame-418"/>
          <p:cNvSpPr/>
          <p:nvPr/>
        </p:nvSpPr>
        <p:spPr>
          <a:xfrm>
            <a:off x="605536" y="1280160"/>
            <a:ext cx="6835648" cy="390906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/>
        </p:spPr>
      </p:sp>
      <p:pic>
        <p:nvPicPr>
          <p:cNvPr id="5" name="img-poster_lunch-419" descr="점심메뉴 영상 대표 이미지 — 클릭하면 영상 열림">
            <a:hlinkClick r:id="rId2" tooltip="영상 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88" y="1353312"/>
            <a:ext cx="6689344" cy="3762756"/>
          </a:xfrm>
          <a:prstGeom prst="rect">
            <a:avLst/>
          </a:prstGeom>
        </p:spPr>
      </p:pic>
      <p:sp>
        <p:nvSpPr>
          <p:cNvPr id="6" name="card-420"/>
          <p:cNvSpPr/>
          <p:nvPr/>
        </p:nvSpPr>
        <p:spPr>
          <a:xfrm>
            <a:off x="7818120" y="1280160"/>
            <a:ext cx="3824935" cy="3909060"/>
          </a:xfrm>
          <a:prstGeom prst="roundRect">
            <a:avLst>
              <a:gd name="adj" fmla="val 3347"/>
            </a:avLst>
          </a:prstGeom>
          <a:solidFill>
            <a:schemeClr val="bg2"/>
          </a:solidFill>
          <a:ln/>
        </p:spPr>
      </p:sp>
      <p:sp>
        <p:nvSpPr>
          <p:cNvPr id="7" name="chip-421"/>
          <p:cNvSpPr/>
          <p:nvPr/>
        </p:nvSpPr>
        <p:spPr>
          <a:xfrm>
            <a:off x="8092440" y="155448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진행 중</a:t>
            </a:r>
            <a:endParaRPr lang="en-US" sz="1200" dirty="0"/>
          </a:p>
        </p:txBody>
      </p:sp>
      <p:sp>
        <p:nvSpPr>
          <p:cNvPr id="8" name="text-422"/>
          <p:cNvSpPr txBox="1"/>
          <p:nvPr/>
        </p:nvSpPr>
        <p:spPr>
          <a:xfrm>
            <a:off x="8092440" y="219456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러닝타임</a:t>
            </a:r>
            <a:endParaRPr lang="en-US" sz="1100" dirty="0"/>
          </a:p>
        </p:txBody>
      </p:sp>
      <p:sp>
        <p:nvSpPr>
          <p:cNvPr id="9" name="text-423"/>
          <p:cNvSpPr txBox="1"/>
          <p:nvPr/>
        </p:nvSpPr>
        <p:spPr>
          <a:xfrm>
            <a:off x="8092440" y="2468880"/>
            <a:ext cx="3276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59초 · 16:9</a:t>
            </a:r>
            <a:endParaRPr lang="en-US" sz="1400" dirty="0"/>
          </a:p>
        </p:txBody>
      </p:sp>
      <p:sp>
        <p:nvSpPr>
          <p:cNvPr id="10" name="text-424"/>
          <p:cNvSpPr txBox="1"/>
          <p:nvPr/>
        </p:nvSpPr>
        <p:spPr>
          <a:xfrm>
            <a:off x="8092440" y="288036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100" dirty="0"/>
          </a:p>
        </p:txBody>
      </p:sp>
      <p:sp>
        <p:nvSpPr>
          <p:cNvPr id="11" name="text-425"/>
          <p:cNvSpPr txBox="1"/>
          <p:nvPr/>
        </p:nvSpPr>
        <p:spPr>
          <a:xfrm>
            <a:off x="8092440" y="3154680"/>
            <a:ext cx="3276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 / 13씬</a:t>
            </a:r>
            <a:endParaRPr lang="en-US" sz="1400" dirty="0"/>
          </a:p>
        </p:txBody>
      </p:sp>
      <p:sp>
        <p:nvSpPr>
          <p:cNvPr id="12" name="text-426"/>
          <p:cNvSpPr txBox="1"/>
          <p:nvPr/>
        </p:nvSpPr>
        <p:spPr>
          <a:xfrm>
            <a:off x="8092440" y="356616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영상 길이</a:t>
            </a:r>
            <a:endParaRPr lang="en-US" sz="1100" dirty="0"/>
          </a:p>
        </p:txBody>
      </p:sp>
      <p:sp>
        <p:nvSpPr>
          <p:cNvPr id="13" name="text-427"/>
          <p:cNvSpPr txBox="1"/>
          <p:nvPr/>
        </p:nvSpPr>
        <p:spPr>
          <a:xfrm>
            <a:off x="8092440" y="3840480"/>
            <a:ext cx="3276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4" name="text-428"/>
          <p:cNvSpPr txBox="1"/>
          <p:nvPr/>
        </p:nvSpPr>
        <p:spPr>
          <a:xfrm>
            <a:off x="8092440" y="425196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100" dirty="0"/>
          </a:p>
        </p:txBody>
      </p:sp>
      <p:sp>
        <p:nvSpPr>
          <p:cNvPr id="15" name="text-429"/>
          <p:cNvSpPr txBox="1"/>
          <p:nvPr/>
        </p:nvSpPr>
        <p:spPr>
          <a:xfrm>
            <a:off x="8092440" y="4526280"/>
            <a:ext cx="3276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6" name="text-430"/>
          <p:cNvSpPr txBox="1"/>
          <p:nvPr/>
        </p:nvSpPr>
        <p:spPr>
          <a:xfrm>
            <a:off x="605536" y="52989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클릭하면 영상이 열립니다 (Google Drive) · 대표 이미지는 스틸컷 0601</a:t>
            </a:r>
            <a:endParaRPr lang="en-US" sz="1000" dirty="0"/>
          </a:p>
        </p:txBody>
      </p:sp>
      <p:sp>
        <p:nvSpPr>
          <p:cNvPr id="17" name="link-button-431"/>
          <p:cNvSpPr/>
          <p:nvPr/>
        </p:nvSpPr>
        <p:spPr>
          <a:xfrm>
            <a:off x="7818120" y="5486400"/>
            <a:ext cx="3824935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https://drive.google.com/file/d/1kwQ9-Hc1DLFkLV5Mx-d7NjC70e1IsnNo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확장 ① — 브랜드 로고</a:t>
            </a:r>
            <a:endParaRPr lang="en-US" sz="2800" dirty="0"/>
          </a:p>
        </p:txBody>
      </p:sp>
      <p:sp>
        <p:nvSpPr>
          <p:cNvPr id="3" name="chip-432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card-433"/>
          <p:cNvSpPr/>
          <p:nvPr/>
        </p:nvSpPr>
        <p:spPr>
          <a:xfrm>
            <a:off x="548640" y="1280160"/>
            <a:ext cx="6949440" cy="4892040"/>
          </a:xfrm>
          <a:prstGeom prst="roundRect">
            <a:avLst>
              <a:gd name="adj" fmla="val 3738"/>
            </a:avLst>
          </a:prstGeom>
          <a:solidFill>
            <a:schemeClr val="accent1"/>
          </a:solidFill>
          <a:ln/>
        </p:spPr>
      </p:sp>
      <p:pic>
        <p:nvPicPr>
          <p:cNvPr id="5" name="img-logo-434" descr="곰나나 로고 — 곰내 나는 나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54280"/>
            <a:ext cx="6217920" cy="4143800"/>
          </a:xfrm>
          <a:prstGeom prst="rect">
            <a:avLst/>
          </a:prstGeom>
        </p:spPr>
      </p:pic>
      <p:sp>
        <p:nvSpPr>
          <p:cNvPr id="6" name="text-435"/>
          <p:cNvSpPr txBox="1"/>
          <p:nvPr/>
        </p:nvSpPr>
        <p:spPr>
          <a:xfrm>
            <a:off x="786384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곰나나</a:t>
            </a:r>
            <a:endParaRPr lang="en-US" sz="3200" dirty="0"/>
          </a:p>
        </p:txBody>
      </p:sp>
      <p:sp>
        <p:nvSpPr>
          <p:cNvPr id="7" name="text-436"/>
          <p:cNvSpPr txBox="1"/>
          <p:nvPr/>
        </p:nvSpPr>
        <p:spPr>
          <a:xfrm>
            <a:off x="786384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곰내 나는 나라</a:t>
            </a:r>
            <a:endParaRPr lang="en-US" sz="1800" dirty="0"/>
          </a:p>
        </p:txBody>
      </p:sp>
      <p:sp>
        <p:nvSpPr>
          <p:cNvPr id="8" name="dot-437"/>
          <p:cNvSpPr/>
          <p:nvPr/>
        </p:nvSpPr>
        <p:spPr>
          <a:xfrm>
            <a:off x="7863840" y="30632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-438"/>
          <p:cNvSpPr txBox="1"/>
          <p:nvPr/>
        </p:nvSpPr>
        <p:spPr>
          <a:xfrm>
            <a:off x="8229600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글자 + 초록 외곽선</a:t>
            </a:r>
            <a:endParaRPr lang="en-US" sz="1500" dirty="0"/>
          </a:p>
        </p:txBody>
      </p:sp>
      <p:sp>
        <p:nvSpPr>
          <p:cNvPr id="10" name="text-439"/>
          <p:cNvSpPr txBox="1"/>
          <p:nvPr/>
        </p:nvSpPr>
        <p:spPr>
          <a:xfrm>
            <a:off x="822960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순백 캐릭터 · 초원 톤과 연결</a:t>
            </a:r>
            <a:endParaRPr lang="en-US" sz="1200" dirty="0"/>
          </a:p>
        </p:txBody>
      </p:sp>
      <p:sp>
        <p:nvSpPr>
          <p:cNvPr id="11" name="dot-440"/>
          <p:cNvSpPr/>
          <p:nvPr/>
        </p:nvSpPr>
        <p:spPr>
          <a:xfrm>
            <a:off x="7863840" y="4087368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-441"/>
          <p:cNvSpPr txBox="1"/>
          <p:nvPr/>
        </p:nvSpPr>
        <p:spPr>
          <a:xfrm>
            <a:off x="8229600" y="3995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· 나뭇잎 장식</a:t>
            </a:r>
            <a:endParaRPr lang="en-US" sz="1500" dirty="0"/>
          </a:p>
        </p:txBody>
      </p:sp>
      <p:sp>
        <p:nvSpPr>
          <p:cNvPr id="13" name="text-442"/>
          <p:cNvSpPr txBox="1"/>
          <p:nvPr/>
        </p:nvSpPr>
        <p:spPr>
          <a:xfrm>
            <a:off x="8229600" y="4407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고고산 언덕의 자연 이미지</a:t>
            </a:r>
            <a:endParaRPr lang="en-US" sz="1200" dirty="0"/>
          </a:p>
        </p:txBody>
      </p:sp>
      <p:sp>
        <p:nvSpPr>
          <p:cNvPr id="14" name="dot-443"/>
          <p:cNvSpPr/>
          <p:nvPr/>
        </p:nvSpPr>
        <p:spPr>
          <a:xfrm>
            <a:off x="7863840" y="511149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-444"/>
          <p:cNvSpPr txBox="1"/>
          <p:nvPr/>
        </p:nvSpPr>
        <p:spPr>
          <a:xfrm>
            <a:off x="8229600" y="50200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 현판 서브 타이틀</a:t>
            </a:r>
            <a:endParaRPr lang="en-US" sz="1500" dirty="0"/>
          </a:p>
        </p:txBody>
      </p:sp>
      <p:sp>
        <p:nvSpPr>
          <p:cNvPr id="16" name="text-445"/>
          <p:cNvSpPr txBox="1"/>
          <p:nvPr/>
        </p:nvSpPr>
        <p:spPr>
          <a:xfrm>
            <a:off x="8229600" y="5431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산동네 공터의 소박한 분위기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확장 ② — 이모티콘 · 굿즈</a:t>
            </a:r>
            <a:endParaRPr lang="en-US" sz="2800" dirty="0"/>
          </a:p>
        </p:txBody>
      </p:sp>
      <p:sp>
        <p:nvSpPr>
          <p:cNvPr id="3" name="chip-446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card-447"/>
          <p:cNvSpPr/>
          <p:nvPr/>
        </p:nvSpPr>
        <p:spPr>
          <a:xfrm>
            <a:off x="548640" y="123444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/>
        </p:spPr>
      </p:sp>
      <p:sp>
        <p:nvSpPr>
          <p:cNvPr id="5" name="frame-448"/>
          <p:cNvSpPr/>
          <p:nvPr/>
        </p:nvSpPr>
        <p:spPr>
          <a:xfrm>
            <a:off x="777240" y="1489227"/>
            <a:ext cx="4983480" cy="2827986"/>
          </a:xfrm>
          <a:prstGeom prst="roundRect">
            <a:avLst>
              <a:gd name="adj" fmla="val 3880"/>
            </a:avLst>
          </a:prstGeom>
          <a:solidFill>
            <a:schemeClr val="accent5"/>
          </a:solidFill>
          <a:ln/>
        </p:spPr>
      </p:sp>
      <p:pic>
        <p:nvPicPr>
          <p:cNvPr id="6" name="img-emoticon-449" descr="이모티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44091"/>
            <a:ext cx="4873752" cy="2718258"/>
          </a:xfrm>
          <a:prstGeom prst="rect">
            <a:avLst/>
          </a:prstGeom>
        </p:spPr>
      </p:pic>
      <p:sp>
        <p:nvSpPr>
          <p:cNvPr id="7" name="text-450"/>
          <p:cNvSpPr txBox="1"/>
          <p:nvPr/>
        </p:nvSpPr>
        <p:spPr>
          <a:xfrm>
            <a:off x="82296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이모티콘</a:t>
            </a:r>
            <a:endParaRPr lang="en-US" sz="1800" dirty="0"/>
          </a:p>
        </p:txBody>
      </p:sp>
      <p:sp>
        <p:nvSpPr>
          <p:cNvPr id="8" name="text-451"/>
          <p:cNvSpPr txBox="1"/>
          <p:nvPr/>
        </p:nvSpPr>
        <p:spPr>
          <a:xfrm>
            <a:off x="2468880" y="4526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15종 · 지니 · 미샤 · 오대오</a:t>
            </a:r>
            <a:endParaRPr lang="en-US" sz="1200" dirty="0"/>
          </a:p>
        </p:txBody>
      </p:sp>
      <p:sp>
        <p:nvSpPr>
          <p:cNvPr id="9" name="ip-lines-452"/>
          <p:cNvSpPr txBox="1"/>
          <p:nvPr/>
        </p:nvSpPr>
        <p:spPr>
          <a:xfrm>
            <a:off x="82296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성격을 표정 · 동작으로 압축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콩가리니쿠 · 금방울 등 소품도 등장</a:t>
            </a:r>
            <a:endParaRPr lang="en-US" sz="1200" dirty="0"/>
          </a:p>
        </p:txBody>
      </p:sp>
      <p:sp>
        <p:nvSpPr>
          <p:cNvPr id="10" name="card-453"/>
          <p:cNvSpPr/>
          <p:nvPr/>
        </p:nvSpPr>
        <p:spPr>
          <a:xfrm>
            <a:off x="6199632" y="123444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/>
        </p:spPr>
      </p:sp>
      <p:sp>
        <p:nvSpPr>
          <p:cNvPr id="11" name="frame-454"/>
          <p:cNvSpPr/>
          <p:nvPr/>
        </p:nvSpPr>
        <p:spPr>
          <a:xfrm>
            <a:off x="6428232" y="1488239"/>
            <a:ext cx="4983480" cy="2829962"/>
          </a:xfrm>
          <a:prstGeom prst="roundRect">
            <a:avLst>
              <a:gd name="adj" fmla="val 3877"/>
            </a:avLst>
          </a:prstGeom>
          <a:solidFill>
            <a:schemeClr val="accent5"/>
          </a:solidFill>
          <a:ln/>
        </p:spPr>
      </p:sp>
      <p:pic>
        <p:nvPicPr>
          <p:cNvPr id="12" name="img-Goods-455" descr="상품 굿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543103"/>
            <a:ext cx="4873752" cy="2720234"/>
          </a:xfrm>
          <a:prstGeom prst="rect">
            <a:avLst/>
          </a:prstGeom>
        </p:spPr>
      </p:pic>
      <p:sp>
        <p:nvSpPr>
          <p:cNvPr id="13" name="text-456"/>
          <p:cNvSpPr txBox="1"/>
          <p:nvPr/>
        </p:nvSpPr>
        <p:spPr>
          <a:xfrm>
            <a:off x="6473952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굿즈</a:t>
            </a:r>
            <a:endParaRPr lang="en-US" sz="1800" dirty="0"/>
          </a:p>
        </p:txBody>
      </p:sp>
      <p:sp>
        <p:nvSpPr>
          <p:cNvPr id="14" name="text-457"/>
          <p:cNvSpPr txBox="1"/>
          <p:nvPr/>
        </p:nvSpPr>
        <p:spPr>
          <a:xfrm>
            <a:off x="8119872" y="4526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속 소품을 그대로 상품화</a:t>
            </a:r>
            <a:endParaRPr lang="en-US" sz="1200" dirty="0"/>
          </a:p>
        </p:txBody>
      </p:sp>
      <p:sp>
        <p:nvSpPr>
          <p:cNvPr id="15" name="ip-lines-458"/>
          <p:cNvSpPr txBox="1"/>
          <p:nvPr/>
        </p:nvSpPr>
        <p:spPr>
          <a:xfrm>
            <a:off x="6473952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콩가리니쿠 봉제 인형 · 대형 쿠션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지니 스카프 브로치 뱃지 · 오대오 금방울 키링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— 당근 15초 광고</a:t>
            </a:r>
            <a:endParaRPr lang="en-US" sz="2800" dirty="0"/>
          </a:p>
        </p:txBody>
      </p:sp>
      <p:sp>
        <p:nvSpPr>
          <p:cNvPr id="3" name="chip-459"/>
          <p:cNvSpPr/>
          <p:nvPr/>
        </p:nvSpPr>
        <p:spPr>
          <a:xfrm>
            <a:off x="548640" y="457200"/>
            <a:ext cx="64008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frame-460"/>
          <p:cNvSpPr/>
          <p:nvPr/>
        </p:nvSpPr>
        <p:spPr>
          <a:xfrm>
            <a:off x="605536" y="1280160"/>
            <a:ext cx="6835648" cy="390906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/>
        </p:spPr>
      </p:sp>
      <p:pic>
        <p:nvPicPr>
          <p:cNvPr id="5" name="img-poster_ad-461" descr="당근 15초 광고 대표 이미지 — 클릭하면 영상 열림">
            <a:hlinkClick r:id="rId2" tooltip="영상 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88" y="1353312"/>
            <a:ext cx="6689344" cy="3762756"/>
          </a:xfrm>
          <a:prstGeom prst="rect">
            <a:avLst/>
          </a:prstGeom>
        </p:spPr>
      </p:pic>
      <p:sp>
        <p:nvSpPr>
          <p:cNvPr id="6" name="text-462"/>
          <p:cNvSpPr txBox="1"/>
          <p:nvPr/>
        </p:nvSpPr>
        <p:spPr>
          <a:xfrm>
            <a:off x="605536" y="52989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클릭하면 영상이 열립니다 (Google Drive)</a:t>
            </a:r>
            <a:endParaRPr lang="en-US" sz="1000" dirty="0"/>
          </a:p>
        </p:txBody>
      </p:sp>
      <p:sp>
        <p:nvSpPr>
          <p:cNvPr id="7" name="video-placeholder-463"/>
          <p:cNvSpPr/>
          <p:nvPr/>
        </p:nvSpPr>
        <p:spPr>
          <a:xfrm>
            <a:off x="605536" y="553212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1</a:t>
            </a:r>
            <a:endParaRPr lang="en-US" sz="1200" dirty="0"/>
          </a:p>
        </p:txBody>
      </p:sp>
      <p:sp>
        <p:nvSpPr>
          <p:cNvPr id="8" name="video-placeholder-464"/>
          <p:cNvSpPr/>
          <p:nvPr/>
        </p:nvSpPr>
        <p:spPr>
          <a:xfrm>
            <a:off x="2350685" y="553212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2</a:t>
            </a:r>
            <a:endParaRPr lang="en-US" sz="1200" dirty="0"/>
          </a:p>
        </p:txBody>
      </p:sp>
      <p:sp>
        <p:nvSpPr>
          <p:cNvPr id="9" name="video-placeholder-465"/>
          <p:cNvSpPr/>
          <p:nvPr/>
        </p:nvSpPr>
        <p:spPr>
          <a:xfrm>
            <a:off x="4095835" y="553212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3</a:t>
            </a:r>
            <a:endParaRPr lang="en-US" sz="1200" dirty="0"/>
          </a:p>
        </p:txBody>
      </p:sp>
      <p:sp>
        <p:nvSpPr>
          <p:cNvPr id="10" name="video-placeholder-466"/>
          <p:cNvSpPr/>
          <p:nvPr/>
        </p:nvSpPr>
        <p:spPr>
          <a:xfrm>
            <a:off x="5840984" y="553212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4</a:t>
            </a:r>
            <a:endParaRPr lang="en-US" sz="1200" dirty="0"/>
          </a:p>
        </p:txBody>
      </p:sp>
      <p:sp>
        <p:nvSpPr>
          <p:cNvPr id="11" name="card-467"/>
          <p:cNvSpPr/>
          <p:nvPr/>
        </p:nvSpPr>
        <p:spPr>
          <a:xfrm>
            <a:off x="7818120" y="1280160"/>
            <a:ext cx="3824935" cy="3909060"/>
          </a:xfrm>
          <a:prstGeom prst="roundRect">
            <a:avLst>
              <a:gd name="adj" fmla="val 3347"/>
            </a:avLst>
          </a:prstGeom>
          <a:solidFill>
            <a:schemeClr val="bg2"/>
          </a:solidFill>
          <a:ln/>
        </p:spPr>
      </p:sp>
      <p:sp>
        <p:nvSpPr>
          <p:cNvPr id="12" name="text-468"/>
          <p:cNvSpPr txBox="1"/>
          <p:nvPr/>
        </p:nvSpPr>
        <p:spPr>
          <a:xfrm>
            <a:off x="8092440" y="155448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</a:t>
            </a:r>
            <a:endParaRPr lang="en-US" sz="1100" dirty="0"/>
          </a:p>
        </p:txBody>
      </p:sp>
      <p:sp>
        <p:nvSpPr>
          <p:cNvPr id="13" name="text-469"/>
          <p:cNvSpPr txBox="1"/>
          <p:nvPr/>
        </p:nvSpPr>
        <p:spPr>
          <a:xfrm>
            <a:off x="8092440" y="184708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15초</a:t>
            </a:r>
            <a:endParaRPr lang="en-US" sz="1400" dirty="0"/>
          </a:p>
        </p:txBody>
      </p:sp>
      <p:sp>
        <p:nvSpPr>
          <p:cNvPr id="14" name="text-470"/>
          <p:cNvSpPr txBox="1"/>
          <p:nvPr/>
        </p:nvSpPr>
        <p:spPr>
          <a:xfrm>
            <a:off x="8092440" y="242316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대상</a:t>
            </a:r>
            <a:endParaRPr lang="en-US" sz="1100" dirty="0"/>
          </a:p>
        </p:txBody>
      </p:sp>
      <p:sp>
        <p:nvSpPr>
          <p:cNvPr id="15" name="text-471"/>
          <p:cNvSpPr txBox="1"/>
          <p:nvPr/>
        </p:nvSpPr>
        <p:spPr>
          <a:xfrm>
            <a:off x="8092440" y="271576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6" name="text-472"/>
          <p:cNvSpPr txBox="1"/>
          <p:nvPr/>
        </p:nvSpPr>
        <p:spPr>
          <a:xfrm>
            <a:off x="8092440" y="329184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등장</a:t>
            </a:r>
            <a:endParaRPr lang="en-US" sz="1100" dirty="0"/>
          </a:p>
        </p:txBody>
      </p:sp>
      <p:sp>
        <p:nvSpPr>
          <p:cNvPr id="17" name="text-473"/>
          <p:cNvSpPr txBox="1"/>
          <p:nvPr/>
        </p:nvSpPr>
        <p:spPr>
          <a:xfrm>
            <a:off x="8092440" y="358444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18" name="text-474"/>
          <p:cNvSpPr txBox="1"/>
          <p:nvPr/>
        </p:nvSpPr>
        <p:spPr>
          <a:xfrm>
            <a:off x="8092440" y="416052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흐름</a:t>
            </a:r>
            <a:endParaRPr lang="en-US" sz="1100" dirty="0"/>
          </a:p>
        </p:txBody>
      </p:sp>
      <p:sp>
        <p:nvSpPr>
          <p:cNvPr id="19" name="text-475"/>
          <p:cNvSpPr txBox="1"/>
          <p:nvPr/>
        </p:nvSpPr>
        <p:spPr>
          <a:xfrm>
            <a:off x="8092440" y="445312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[영상 확인 후 기입]</a:t>
            </a:r>
            <a:endParaRPr lang="en-US" sz="1400" dirty="0"/>
          </a:p>
        </p:txBody>
      </p:sp>
      <p:sp>
        <p:nvSpPr>
          <p:cNvPr id="20" name="link-button-476"/>
          <p:cNvSpPr/>
          <p:nvPr/>
        </p:nvSpPr>
        <p:spPr>
          <a:xfrm>
            <a:off x="7818120" y="5486400"/>
            <a:ext cx="3824935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https://drive.google.com/file/d/1QdZ01a6mN7L7mlONQdThAWSbANCpgrNe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광고 영상 보기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77"/>
          <p:cNvSpPr txBox="1"/>
          <p:nvPr/>
        </p:nvSpPr>
        <p:spPr>
          <a:xfrm>
            <a:off x="548640" y="685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「근데 저녁은 뭐 먹지?」</a:t>
            </a:r>
            <a:endParaRPr lang="en-US" sz="3600" dirty="0"/>
          </a:p>
        </p:txBody>
      </p:sp>
      <p:sp>
        <p:nvSpPr>
          <p:cNvPr id="3" name="text-478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루프형 엔딩 — 다음 끼니, 다음 에피소드로</a:t>
            </a:r>
            <a:endParaRPr lang="en-US" sz="1400" dirty="0"/>
          </a:p>
        </p:txBody>
      </p:sp>
      <p:sp>
        <p:nvSpPr>
          <p:cNvPr id="4" name="frame-479"/>
          <p:cNvSpPr/>
          <p:nvPr/>
        </p:nvSpPr>
        <p:spPr>
          <a:xfrm>
            <a:off x="7498080" y="686225"/>
            <a:ext cx="4142232" cy="2376589"/>
          </a:xfrm>
          <a:prstGeom prst="roundRect">
            <a:avLst>
              <a:gd name="adj" fmla="val 4617"/>
            </a:avLst>
          </a:prstGeom>
          <a:solidFill>
            <a:schemeClr val="accent5"/>
          </a:solidFill>
          <a:ln/>
        </p:spPr>
      </p:sp>
      <p:pic>
        <p:nvPicPr>
          <p:cNvPr id="5" name="img-0802-480" descr="뒷모습 와이드 엔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759377"/>
            <a:ext cx="3995928" cy="2230285"/>
          </a:xfrm>
          <a:prstGeom prst="rect">
            <a:avLst/>
          </a:prstGeom>
        </p:spPr>
      </p:pic>
      <p:sp>
        <p:nvSpPr>
          <p:cNvPr id="6" name="chip-481"/>
          <p:cNvSpPr/>
          <p:nvPr/>
        </p:nvSpPr>
        <p:spPr>
          <a:xfrm>
            <a:off x="548640" y="251460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설계</a:t>
            </a:r>
            <a:endParaRPr lang="en-US" sz="1300" dirty="0"/>
          </a:p>
        </p:txBody>
      </p:sp>
      <p:sp>
        <p:nvSpPr>
          <p:cNvPr id="7" name="text-482"/>
          <p:cNvSpPr txBox="1"/>
          <p:nvPr/>
        </p:nvSpPr>
        <p:spPr>
          <a:xfrm>
            <a:off x="301752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감정을 샷 · 앵글로 번역</a:t>
            </a:r>
            <a:endParaRPr lang="en-US" sz="1500" dirty="0"/>
          </a:p>
        </p:txBody>
      </p:sp>
      <p:sp>
        <p:nvSpPr>
          <p:cNvPr id="8" name="chip-483"/>
          <p:cNvSpPr/>
          <p:nvPr/>
        </p:nvSpPr>
        <p:spPr>
          <a:xfrm>
            <a:off x="548640" y="329184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프롬프트 설계</a:t>
            </a:r>
            <a:endParaRPr lang="en-US" sz="1300" dirty="0"/>
          </a:p>
        </p:txBody>
      </p:sp>
      <p:sp>
        <p:nvSpPr>
          <p:cNvPr id="9" name="text-484"/>
          <p:cNvSpPr txBox="1"/>
          <p:nvPr/>
        </p:nvSpPr>
        <p:spPr>
          <a:xfrm>
            <a:off x="301752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비주얼 사양 + 컷 기술 5항목</a:t>
            </a:r>
            <a:endParaRPr lang="en-US" sz="1500" dirty="0"/>
          </a:p>
        </p:txBody>
      </p:sp>
      <p:sp>
        <p:nvSpPr>
          <p:cNvPr id="10" name="chip-485"/>
          <p:cNvSpPr/>
          <p:nvPr/>
        </p:nvSpPr>
        <p:spPr>
          <a:xfrm>
            <a:off x="548640" y="406908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확장</a:t>
            </a:r>
            <a:endParaRPr lang="en-US" sz="1300" dirty="0"/>
          </a:p>
        </p:txBody>
      </p:sp>
      <p:sp>
        <p:nvSpPr>
          <p:cNvPr id="11" name="text-486"/>
          <p:cNvSpPr txBox="1"/>
          <p:nvPr/>
        </p:nvSpPr>
        <p:spPr>
          <a:xfrm>
            <a:off x="301752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→ 로고 · 이모티콘 · 굿즈 · 광고</a:t>
            </a:r>
            <a:endParaRPr lang="en-US" sz="1500" dirty="0"/>
          </a:p>
        </p:txBody>
      </p:sp>
      <p:sp>
        <p:nvSpPr>
          <p:cNvPr id="12" name="contact-48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11200"/>
            </a:avLst>
          </a:prstGeom>
          <a:solidFill>
            <a:srgbClr val="2C3A4B"/>
          </a:solidFill>
          <a:ln/>
        </p:spPr>
      </p:sp>
      <p:sp>
        <p:nvSpPr>
          <p:cNvPr id="13" name="text-488"/>
          <p:cNvSpPr txBox="1"/>
          <p:nvPr/>
        </p:nvSpPr>
        <p:spPr>
          <a:xfrm>
            <a:off x="86868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이민상</a:t>
            </a:r>
            <a:endParaRPr lang="en-US" sz="2000" dirty="0"/>
          </a:p>
        </p:txBody>
      </p:sp>
      <p:sp>
        <p:nvSpPr>
          <p:cNvPr id="14" name="text-489"/>
          <p:cNvSpPr txBox="1"/>
          <p:nvPr/>
        </p:nvSpPr>
        <p:spPr>
          <a:xfrm>
            <a:off x="2926080" y="5230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15" name="blank-line-490"/>
          <p:cNvSpPr/>
          <p:nvPr/>
        </p:nvSpPr>
        <p:spPr>
          <a:xfrm>
            <a:off x="2926080" y="5897880"/>
            <a:ext cx="2468880" cy="0"/>
          </a:xfrm>
          <a:prstGeom prst="line">
            <a:avLst/>
          </a:prstGeom>
          <a:noFill/>
          <a:ln w="12700">
            <a:solidFill>
              <a:srgbClr val="5B6B7C"/>
            </a:solidFill>
            <a:prstDash val="solid"/>
          </a:ln>
        </p:spPr>
      </p:sp>
      <p:sp>
        <p:nvSpPr>
          <p:cNvPr id="16" name="text-491"/>
          <p:cNvSpPr txBox="1"/>
          <p:nvPr/>
        </p:nvSpPr>
        <p:spPr>
          <a:xfrm>
            <a:off x="6035040" y="5230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100" dirty="0"/>
          </a:p>
        </p:txBody>
      </p:sp>
      <p:sp>
        <p:nvSpPr>
          <p:cNvPr id="17" name="blank-line-492"/>
          <p:cNvSpPr/>
          <p:nvPr/>
        </p:nvSpPr>
        <p:spPr>
          <a:xfrm>
            <a:off x="6035040" y="5897880"/>
            <a:ext cx="2468880" cy="0"/>
          </a:xfrm>
          <a:prstGeom prst="line">
            <a:avLst/>
          </a:prstGeom>
          <a:noFill/>
          <a:ln w="12700">
            <a:solidFill>
              <a:srgbClr val="5B6B7C"/>
            </a:solidFill>
            <a:prstDash val="solid"/>
          </a:ln>
        </p:spPr>
      </p:sp>
      <p:sp>
        <p:nvSpPr>
          <p:cNvPr id="18" name="text-493"/>
          <p:cNvSpPr txBox="1"/>
          <p:nvPr/>
        </p:nvSpPr>
        <p:spPr>
          <a:xfrm>
            <a:off x="8869680" y="5230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링크</a:t>
            </a:r>
            <a:endParaRPr lang="en-US" sz="1100" dirty="0"/>
          </a:p>
        </p:txBody>
      </p:sp>
      <p:sp>
        <p:nvSpPr>
          <p:cNvPr id="19" name="blank-line-494"/>
          <p:cNvSpPr/>
          <p:nvPr/>
        </p:nvSpPr>
        <p:spPr>
          <a:xfrm>
            <a:off x="8869680" y="5897880"/>
            <a:ext cx="2468880" cy="0"/>
          </a:xfrm>
          <a:prstGeom prst="line">
            <a:avLst/>
          </a:prstGeom>
          <a:noFill/>
          <a:ln w="12700">
            <a:solidFill>
              <a:srgbClr val="5B6B7C"/>
            </a:solidFill>
            <a:prstDash val="solid"/>
          </a:ln>
        </p:spPr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mnana">
  <a:themeElements>
    <a:clrScheme name="Gomnana">
      <a:dk1>
        <a:srgbClr val="1F2A37"/>
      </a:dk1>
      <a:lt1>
        <a:srgbClr val="FFFFFF"/>
      </a:lt1>
      <a:dk2>
        <a:srgbClr val="5B6B7C"/>
      </a:dk2>
      <a:lt2>
        <a:srgbClr val="F5FAFD"/>
      </a:lt2>
      <a:accent1>
        <a:srgbClr val="4FA3D9"/>
      </a:accent1>
      <a:accent2>
        <a:srgbClr val="7CC36B"/>
      </a:accent2>
      <a:accent3>
        <a:srgbClr val="F49AB8"/>
      </a:accent3>
      <a:accent4>
        <a:srgbClr val="E8B931"/>
      </a:accent4>
      <a:accent5>
        <a:srgbClr val="BFE3F7"/>
      </a:accent5>
      <a:accent6>
        <a:srgbClr val="2E7FB8"/>
      </a:accent6>
      <a:hlink>
        <a:srgbClr val="2E7FB8"/>
      </a:hlink>
      <a:folHlink>
        <a:srgbClr val="2E7FB8"/>
      </a:folHlink>
    </a:clrScheme>
    <a:fontScheme name="Gomnan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곰나나 「점심메뉴 대소동」 — 이민상 포트폴리오</dc:title>
  <dc:subject>PptxGenJS Presentation</dc:subject>
  <dc:creator>이민상</dc:creator>
  <cp:lastModifiedBy>이민상</cp:lastModifiedBy>
  <cp:revision>1</cp:revision>
  <dcterms:created xsi:type="dcterms:W3CDTF">2026-10-02T00:46:17Z</dcterms:created>
  <dcterms:modified xsi:type="dcterms:W3CDTF">2026-10-02T00:46:17Z</dcterms:modified>
</cp:coreProperties>
</file>