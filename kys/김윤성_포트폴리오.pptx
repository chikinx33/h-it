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작품" id="{4dfb9d5d-3d8c-4b22-f08b-7de98efe3db5}">
          <p14:sldIdLst>
            <p14:sldId id="256"/>
            <p14:sldId id="257"/>
          </p14:sldIdLst>
        </p14:section>
        <p14:section name="인물 · 공간" id="{5a8060f5-9bdc-d1d7-2386-4b2489ec34a7}">
          <p14:sldIdLst>
            <p14:sldId id="258"/>
            <p14:sldId id="259"/>
          </p14:sldIdLst>
        </p14:section>
        <p14:section name="연출" id="{f09692e9-c574-63f2-acfd-c943ac2264d4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스토리보드" id="{b585a780-ab99-22cd-2b0c-1740797b1260}">
          <p14:sldIdLst>
            <p14:sldId id="266"/>
            <p14:sldId id="267"/>
            <p14:sldId id="268"/>
            <p14:sldId id="269"/>
            <p14:sldId id="270"/>
          </p14:sldIdLst>
        </p14:section>
        <p14:section name="결과물 · IP" id="{1d9b1950-b92d-f5b0-331c-69b9dc7f5c38}">
          <p14:sldIdLst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D">
    <p:bg>
      <p:bgPr>
        <a:solidFill>
          <a:srgbClr val="1E2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김윤성  ·  지금이라는 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9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RD">
    <p:bg>
      <p:bgPr>
        <a:solidFill>
          <a:srgbClr val="14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김윤성  ·  지금이라는 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9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">
    <p:bg>
      <p:bgPr>
        <a:solidFill>
          <a:srgbClr val="2A2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6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김윤성  ·  지금이라는 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A6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">
    <p:bg>
      <p:bgPr>
        <a:solidFill>
          <a:srgbClr val="2A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B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김윤성  ·  지금이라는 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1B2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P">
    <p:bg>
      <p:bgPr>
        <a:solidFill>
          <a:srgbClr val="FC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4A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김윤성  ·  지금이라는 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7D7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9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image" Target="../media/image-5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image" Target="../media/image-11-5.jpg"/><Relationship Id="rId6" Type="http://schemas.openxmlformats.org/officeDocument/2006/relationships/image" Target="../media/image-11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image" Target="../media/image-13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image" Target="../media/image-14-5.jpg"/><Relationship Id="rId6" Type="http://schemas.openxmlformats.org/officeDocument/2006/relationships/image" Target="../media/image-14-6.jp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image" Target="../media/image-15-5.jp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MyGeTKwiceS10SmJRmEL3EWLXy3p9L3t/view" TargetMode="External"/><Relationship Id="rId3" Type="http://schemas.openxmlformats.org/officeDocument/2006/relationships/hyperlink" Target="https://drive.google.com/file/d/1MyGeTKwiceS10SmJRmEL3EWLXy3p9L3t/view" TargetMode="External"/><Relationship Id="rId1" Type="http://schemas.openxmlformats.org/officeDocument/2006/relationships/image" Target="../media/image-17-1.jp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hyperlink" Target="https://drive.google.com/file/d/1IdLq_u1jngfyKZQjePuPLi2wdwnOzN5D/view" TargetMode="External"/><Relationship Id="rId6" Type="http://schemas.openxmlformats.org/officeDocument/2006/relationships/hyperlink" Target="https://drive.google.com/file/d/1IdLq_u1jngfyKZQjePuPLi2wdwnOzN5D/view" TargetMode="External"/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image" Target="../media/image-19-4.jp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cold-1" descr="출근길 지하철의 수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5848" cy="6858000"/>
          </a:xfrm>
          <a:prstGeom prst="rect">
            <a:avLst/>
          </a:prstGeom>
        </p:spPr>
      </p:pic>
      <p:pic>
        <p:nvPicPr>
          <p:cNvPr id="3" name="cover-warm-2" descr="노을 속 수현의 미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  <p:sp>
        <p:nvSpPr>
          <p:cNvPr id="4" name="cover-band-3"/>
          <p:cNvSpPr/>
          <p:nvPr/>
        </p:nvSpPr>
        <p:spPr>
          <a:xfrm>
            <a:off x="0" y="2331720"/>
            <a:ext cx="12191695" cy="233172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pic>
        <p:nvPicPr>
          <p:cNvPr id="5" name="img-title-4" descr="지금이라는 문 제목 캘리그라피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615297"/>
            <a:ext cx="5029200" cy="1124487"/>
          </a:xfrm>
          <a:prstGeom prst="rect">
            <a:avLst/>
          </a:prstGeom>
        </p:spPr>
      </p:pic>
      <p:sp>
        <p:nvSpPr>
          <p:cNvPr id="6" name="text-5"/>
          <p:cNvSpPr txBox="1"/>
          <p:nvPr/>
        </p:nvSpPr>
        <p:spPr>
          <a:xfrm>
            <a:off x="640080" y="3977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애니메이션 포트폴리오 2026</a:t>
            </a:r>
            <a:endParaRPr lang="en-US" sz="1300" dirty="0"/>
          </a:p>
        </p:txBody>
      </p:sp>
      <p:sp>
        <p:nvSpPr>
          <p:cNvPr id="7" name="text-6"/>
          <p:cNvSpPr txBox="1"/>
          <p:nvPr/>
        </p:nvSpPr>
        <p:spPr>
          <a:xfrm>
            <a:off x="640080" y="429768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김윤성</a:t>
            </a:r>
            <a:endParaRPr lang="en-US" sz="2000" dirty="0"/>
          </a:p>
        </p:txBody>
      </p:sp>
      <p:sp>
        <p:nvSpPr>
          <p:cNvPr id="8" name="text-7"/>
          <p:cNvSpPr txBox="1"/>
          <p:nvPr/>
        </p:nvSpPr>
        <p:spPr>
          <a:xfrm>
            <a:off x="32004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C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00:00:00</a:t>
            </a:r>
            <a:endParaRPr lang="en-US" sz="1100" dirty="0"/>
          </a:p>
        </p:txBody>
      </p:sp>
      <p:sp>
        <p:nvSpPr>
          <p:cNvPr id="9" name="text-8"/>
          <p:cNvSpPr txBox="1"/>
          <p:nvPr/>
        </p:nvSpPr>
        <p:spPr>
          <a:xfrm>
            <a:off x="100428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00:02:07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code-9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작품 소개</a:t>
            </a:r>
            <a:endParaRPr lang="en-US" sz="2600" dirty="0"/>
          </a:p>
        </p:txBody>
      </p:sp>
      <p:sp>
        <p:nvSpPr>
          <p:cNvPr id="4" name="text-10"/>
          <p:cNvSpPr txBox="1"/>
          <p:nvPr/>
        </p:nvSpPr>
        <p:spPr>
          <a:xfrm>
            <a:off x="640080" y="160020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불안한 생각에 갇힌 중년 직장인 수현이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 도윤을 만나 생각과 자신을 분리하고,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퇴근길에서 '지금 이 순간'의 감각을 되찾는 이야기</a:t>
            </a:r>
            <a:endParaRPr lang="en-US" sz="1900" dirty="0"/>
          </a:p>
        </p:txBody>
      </p:sp>
      <p:sp>
        <p:nvSpPr>
          <p:cNvPr id="5" name="rect-11"/>
          <p:cNvSpPr/>
          <p:nvPr/>
        </p:nvSpPr>
        <p:spPr>
          <a:xfrm>
            <a:off x="640080" y="3520440"/>
            <a:ext cx="1874520" cy="1234440"/>
          </a:xfrm>
          <a:prstGeom prst="rect">
            <a:avLst/>
          </a:prstGeom>
          <a:solidFill>
            <a:srgbClr val="2A333D"/>
          </a:solidFill>
          <a:ln/>
        </p:spPr>
      </p:sp>
      <p:sp>
        <p:nvSpPr>
          <p:cNvPr id="6" name="text-12"/>
          <p:cNvSpPr txBox="1"/>
          <p:nvPr/>
        </p:nvSpPr>
        <p:spPr>
          <a:xfrm>
            <a:off x="868680" y="363931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127초</a:t>
            </a:r>
            <a:endParaRPr lang="en-US" sz="2800" dirty="0"/>
          </a:p>
        </p:txBody>
      </p:sp>
      <p:sp>
        <p:nvSpPr>
          <p:cNvPr id="7" name="text-13"/>
          <p:cNvSpPr txBox="1"/>
          <p:nvPr/>
        </p:nvSpPr>
        <p:spPr>
          <a:xfrm>
            <a:off x="868680" y="42793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러닝타임</a:t>
            </a:r>
            <a:endParaRPr lang="en-US" sz="1200" dirty="0"/>
          </a:p>
        </p:txBody>
      </p:sp>
      <p:sp>
        <p:nvSpPr>
          <p:cNvPr id="8" name="rect-14"/>
          <p:cNvSpPr/>
          <p:nvPr/>
        </p:nvSpPr>
        <p:spPr>
          <a:xfrm>
            <a:off x="2697480" y="3520440"/>
            <a:ext cx="1874520" cy="1234440"/>
          </a:xfrm>
          <a:prstGeom prst="rect">
            <a:avLst/>
          </a:prstGeom>
          <a:solidFill>
            <a:srgbClr val="2A333D"/>
          </a:solidFill>
          <a:ln/>
        </p:spPr>
      </p:sp>
      <p:sp>
        <p:nvSpPr>
          <p:cNvPr id="9" name="text-15"/>
          <p:cNvSpPr txBox="1"/>
          <p:nvPr/>
        </p:nvSpPr>
        <p:spPr>
          <a:xfrm>
            <a:off x="2926080" y="363931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6씬</a:t>
            </a:r>
            <a:endParaRPr lang="en-US" sz="2800" dirty="0"/>
          </a:p>
        </p:txBody>
      </p:sp>
      <p:sp>
        <p:nvSpPr>
          <p:cNvPr id="10" name="text-16"/>
          <p:cNvSpPr txBox="1"/>
          <p:nvPr/>
        </p:nvSpPr>
        <p:spPr>
          <a:xfrm>
            <a:off x="2926080" y="42793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1200" dirty="0"/>
          </a:p>
        </p:txBody>
      </p:sp>
      <p:sp>
        <p:nvSpPr>
          <p:cNvPr id="11" name="rect-17"/>
          <p:cNvSpPr/>
          <p:nvPr/>
        </p:nvSpPr>
        <p:spPr>
          <a:xfrm>
            <a:off x="4754880" y="3520440"/>
            <a:ext cx="1874520" cy="1234440"/>
          </a:xfrm>
          <a:prstGeom prst="rect">
            <a:avLst/>
          </a:prstGeom>
          <a:solidFill>
            <a:srgbClr val="2A333D"/>
          </a:solidFill>
          <a:ln/>
        </p:spPr>
      </p:sp>
      <p:sp>
        <p:nvSpPr>
          <p:cNvPr id="12" name="text-18"/>
          <p:cNvSpPr txBox="1"/>
          <p:nvPr/>
        </p:nvSpPr>
        <p:spPr>
          <a:xfrm>
            <a:off x="4983480" y="363931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24컷</a:t>
            </a:r>
            <a:endParaRPr lang="en-US" sz="2800" dirty="0"/>
          </a:p>
        </p:txBody>
      </p:sp>
      <p:sp>
        <p:nvSpPr>
          <p:cNvPr id="13" name="text-19"/>
          <p:cNvSpPr txBox="1"/>
          <p:nvPr/>
        </p:nvSpPr>
        <p:spPr>
          <a:xfrm>
            <a:off x="4983480" y="42793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기준</a:t>
            </a:r>
            <a:endParaRPr lang="en-US" sz="1200" dirty="0"/>
          </a:p>
        </p:txBody>
      </p:sp>
      <p:sp>
        <p:nvSpPr>
          <p:cNvPr id="14" name="rect-20"/>
          <p:cNvSpPr/>
          <p:nvPr/>
        </p:nvSpPr>
        <p:spPr>
          <a:xfrm>
            <a:off x="640080" y="5029200"/>
            <a:ext cx="5989320" cy="1097280"/>
          </a:xfrm>
          <a:prstGeom prst="rect">
            <a:avLst/>
          </a:prstGeom>
          <a:solidFill>
            <a:srgbClr val="2A333D"/>
          </a:solidFill>
          <a:ln/>
        </p:spPr>
      </p:sp>
      <p:sp>
        <p:nvSpPr>
          <p:cNvPr id="15" name="text-21"/>
          <p:cNvSpPr txBox="1"/>
          <p:nvPr/>
        </p:nvSpPr>
        <p:spPr>
          <a:xfrm>
            <a:off x="914400" y="5166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6C4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엔딩 대사</a:t>
            </a:r>
            <a:endParaRPr lang="en-US" sz="1100" dirty="0"/>
          </a:p>
        </p:txBody>
      </p:sp>
      <p:sp>
        <p:nvSpPr>
          <p:cNvPr id="16" name="text-22"/>
          <p:cNvSpPr txBox="1"/>
          <p:nvPr/>
        </p:nvSpPr>
        <p:spPr>
          <a:xfrm>
            <a:off x="914400" y="5486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수현 (V.O.)  「지금... 이 순간.」</a:t>
            </a:r>
            <a:endParaRPr lang="en-US" sz="1700" dirty="0"/>
          </a:p>
        </p:txBody>
      </p:sp>
      <p:sp>
        <p:nvSpPr>
          <p:cNvPr id="17" name="border-23"/>
          <p:cNvSpPr/>
          <p:nvPr/>
        </p:nvSpPr>
        <p:spPr>
          <a:xfrm>
            <a:off x="6996224" y="1572768"/>
            <a:ext cx="4551584" cy="2615184"/>
          </a:xfrm>
          <a:prstGeom prst="rect">
            <a:avLst/>
          </a:prstGeom>
          <a:solidFill>
            <a:srgbClr val="3A4652"/>
          </a:solidFill>
          <a:ln/>
        </p:spPr>
      </p:sp>
      <p:pic>
        <p:nvPicPr>
          <p:cNvPr id="18" name="img-s3-1-24" descr="지금이라는 문 심리치료실 외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3656" y="1600200"/>
            <a:ext cx="4496720" cy="2560320"/>
          </a:xfrm>
          <a:prstGeom prst="rect">
            <a:avLst/>
          </a:prstGeom>
        </p:spPr>
      </p:pic>
      <p:sp>
        <p:nvSpPr>
          <p:cNvPr id="19" name="border-25"/>
          <p:cNvSpPr/>
          <p:nvPr/>
        </p:nvSpPr>
        <p:spPr>
          <a:xfrm>
            <a:off x="7659624" y="4315968"/>
            <a:ext cx="3224784" cy="1837944"/>
          </a:xfrm>
          <a:prstGeom prst="rect">
            <a:avLst/>
          </a:prstGeom>
          <a:solidFill>
            <a:srgbClr val="3A4652"/>
          </a:solidFill>
          <a:ln/>
        </p:spPr>
      </p:sp>
      <p:pic>
        <p:nvPicPr>
          <p:cNvPr id="20" name="img-s6-1-26" descr="노을 진 퇴근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7056" y="4343400"/>
            <a:ext cx="3169920" cy="1783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9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code-27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등장인물</a:t>
            </a:r>
            <a:endParaRPr lang="en-US" sz="2600" dirty="0"/>
          </a:p>
        </p:txBody>
      </p:sp>
      <p:sp>
        <p:nvSpPr>
          <p:cNvPr id="4" name="rect-28"/>
          <p:cNvSpPr/>
          <p:nvPr/>
        </p:nvSpPr>
        <p:spPr>
          <a:xfrm>
            <a:off x="640080" y="1554480"/>
            <a:ext cx="3520440" cy="4663440"/>
          </a:xfrm>
          <a:prstGeom prst="rect">
            <a:avLst/>
          </a:prstGeom>
          <a:solidFill>
            <a:srgbClr val="2A333D"/>
          </a:solidFill>
          <a:ln/>
        </p:spPr>
      </p:sp>
      <p:sp>
        <p:nvSpPr>
          <p:cNvPr id="5" name="rect-29"/>
          <p:cNvSpPr/>
          <p:nvPr/>
        </p:nvSpPr>
        <p:spPr>
          <a:xfrm>
            <a:off x="777240" y="1691640"/>
            <a:ext cx="3246120" cy="2423160"/>
          </a:xfrm>
          <a:prstGeom prst="rect">
            <a:avLst/>
          </a:prstGeom>
          <a:solidFill>
            <a:srgbClr val="F4F4F2"/>
          </a:solidFill>
          <a:ln/>
        </p:spPr>
      </p:sp>
      <p:pic>
        <p:nvPicPr>
          <p:cNvPr id="6" name="img-char_suhyun-30" descr="김수현 캐릭터 시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8933"/>
            <a:ext cx="3154680" cy="2228574"/>
          </a:xfrm>
          <a:prstGeom prst="rect">
            <a:avLst/>
          </a:prstGeom>
        </p:spPr>
      </p:pic>
      <p:sp>
        <p:nvSpPr>
          <p:cNvPr id="7" name="text-31"/>
          <p:cNvSpPr txBox="1"/>
          <p:nvPr/>
        </p:nvSpPr>
        <p:spPr>
          <a:xfrm>
            <a:off x="914400" y="43159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김수현</a:t>
            </a:r>
            <a:endParaRPr lang="en-US" sz="2000" dirty="0"/>
          </a:p>
        </p:txBody>
      </p:sp>
      <p:sp>
        <p:nvSpPr>
          <p:cNvPr id="8" name="text-32"/>
          <p:cNvSpPr txBox="1"/>
          <p:nvPr/>
        </p:nvSpPr>
        <p:spPr>
          <a:xfrm>
            <a:off x="2331720" y="43159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F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주인공 · 부장</a:t>
            </a:r>
            <a:endParaRPr lang="en-US" sz="1200" dirty="0"/>
          </a:p>
        </p:txBody>
      </p:sp>
      <p:sp>
        <p:nvSpPr>
          <p:cNvPr id="9" name="text-33"/>
          <p:cNvSpPr txBox="1"/>
          <p:nvPr/>
        </p:nvSpPr>
        <p:spPr>
          <a:xfrm>
            <a:off x="914400" y="48920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압박과 퇴직 후 걱정에 갇힌 중년 직장인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생각과 자신의 분리를 통한 감각의 회복</a:t>
            </a:r>
            <a:endParaRPr lang="en-US" sz="1200" dirty="0"/>
          </a:p>
        </p:txBody>
      </p:sp>
      <p:sp>
        <p:nvSpPr>
          <p:cNvPr id="10" name="rect-34"/>
          <p:cNvSpPr/>
          <p:nvPr/>
        </p:nvSpPr>
        <p:spPr>
          <a:xfrm>
            <a:off x="4325112" y="1554480"/>
            <a:ext cx="3520440" cy="4663440"/>
          </a:xfrm>
          <a:prstGeom prst="rect">
            <a:avLst/>
          </a:prstGeom>
          <a:solidFill>
            <a:srgbClr val="2A333D"/>
          </a:solidFill>
          <a:ln/>
        </p:spPr>
      </p:sp>
      <p:sp>
        <p:nvSpPr>
          <p:cNvPr id="11" name="rect-35"/>
          <p:cNvSpPr/>
          <p:nvPr/>
        </p:nvSpPr>
        <p:spPr>
          <a:xfrm>
            <a:off x="4462272" y="1691640"/>
            <a:ext cx="3246120" cy="2423160"/>
          </a:xfrm>
          <a:prstGeom prst="rect">
            <a:avLst/>
          </a:prstGeom>
          <a:solidFill>
            <a:srgbClr val="F4F4F2"/>
          </a:solidFill>
          <a:ln/>
        </p:spPr>
      </p:sp>
      <p:pic>
        <p:nvPicPr>
          <p:cNvPr id="12" name="img-char_doyun-36" descr="이도윤 캐릭터 시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1851660"/>
            <a:ext cx="3154680" cy="2103120"/>
          </a:xfrm>
          <a:prstGeom prst="rect">
            <a:avLst/>
          </a:prstGeom>
        </p:spPr>
      </p:pic>
      <p:sp>
        <p:nvSpPr>
          <p:cNvPr id="13" name="text-37"/>
          <p:cNvSpPr txBox="1"/>
          <p:nvPr/>
        </p:nvSpPr>
        <p:spPr>
          <a:xfrm>
            <a:off x="4599432" y="43159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이도윤</a:t>
            </a:r>
            <a:endParaRPr lang="en-US" sz="2000" dirty="0"/>
          </a:p>
        </p:txBody>
      </p:sp>
      <p:sp>
        <p:nvSpPr>
          <p:cNvPr id="14" name="text-38"/>
          <p:cNvSpPr txBox="1"/>
          <p:nvPr/>
        </p:nvSpPr>
        <p:spPr>
          <a:xfrm>
            <a:off x="6016752" y="43159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F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</a:t>
            </a:r>
            <a:endParaRPr lang="en-US" sz="1200" dirty="0"/>
          </a:p>
        </p:txBody>
      </p:sp>
      <p:sp>
        <p:nvSpPr>
          <p:cNvPr id="15" name="text-39"/>
          <p:cNvSpPr txBox="1"/>
          <p:nvPr/>
        </p:nvSpPr>
        <p:spPr>
          <a:xfrm>
            <a:off x="4599432" y="48920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'지금이라는 문' 심리치료실의 상담사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담담한 질문과 숙제로 수현을 이끄는 인물</a:t>
            </a:r>
            <a:endParaRPr lang="en-US" sz="1200" dirty="0"/>
          </a:p>
        </p:txBody>
      </p:sp>
      <p:sp>
        <p:nvSpPr>
          <p:cNvPr id="16" name="rect-40"/>
          <p:cNvSpPr/>
          <p:nvPr/>
        </p:nvSpPr>
        <p:spPr>
          <a:xfrm>
            <a:off x="8010144" y="1554480"/>
            <a:ext cx="3520440" cy="4663440"/>
          </a:xfrm>
          <a:prstGeom prst="rect">
            <a:avLst/>
          </a:prstGeom>
          <a:solidFill>
            <a:srgbClr val="2A333D"/>
          </a:solidFill>
          <a:ln/>
        </p:spPr>
      </p:sp>
      <p:sp>
        <p:nvSpPr>
          <p:cNvPr id="17" name="rect-41"/>
          <p:cNvSpPr/>
          <p:nvPr/>
        </p:nvSpPr>
        <p:spPr>
          <a:xfrm>
            <a:off x="8147304" y="1691640"/>
            <a:ext cx="3246120" cy="2423160"/>
          </a:xfrm>
          <a:prstGeom prst="rect">
            <a:avLst/>
          </a:prstGeom>
          <a:solidFill>
            <a:srgbClr val="F4F4F2"/>
          </a:solidFill>
          <a:ln/>
        </p:spPr>
      </p:sp>
      <p:pic>
        <p:nvPicPr>
          <p:cNvPr id="18" name="img-char_taejun-42" descr="박태준 캐릭터 시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631" y="1737360"/>
            <a:ext cx="2955466" cy="2331720"/>
          </a:xfrm>
          <a:prstGeom prst="rect">
            <a:avLst/>
          </a:prstGeom>
        </p:spPr>
      </p:pic>
      <p:sp>
        <p:nvSpPr>
          <p:cNvPr id="19" name="text-43"/>
          <p:cNvSpPr txBox="1"/>
          <p:nvPr/>
        </p:nvSpPr>
        <p:spPr>
          <a:xfrm>
            <a:off x="8284464" y="43159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박태준</a:t>
            </a:r>
            <a:endParaRPr lang="en-US" sz="2000" dirty="0"/>
          </a:p>
        </p:txBody>
      </p:sp>
      <p:sp>
        <p:nvSpPr>
          <p:cNvPr id="20" name="text-44"/>
          <p:cNvSpPr txBox="1"/>
          <p:nvPr/>
        </p:nvSpPr>
        <p:spPr>
          <a:xfrm>
            <a:off x="9701784" y="43159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F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상사</a:t>
            </a:r>
            <a:endParaRPr lang="en-US" sz="1200" dirty="0"/>
          </a:p>
        </p:txBody>
      </p:sp>
      <p:sp>
        <p:nvSpPr>
          <p:cNvPr id="21" name="text-45"/>
          <p:cNvSpPr txBox="1"/>
          <p:nvPr/>
        </p:nvSpPr>
        <p:spPr>
          <a:xfrm>
            <a:off x="8284464" y="48920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책임을 매섭게 묻는 상사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수현의 패닉을 촉발하는 인물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9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code-46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공간: 심리치료실 '지금이라는 문'</a:t>
            </a:r>
            <a:endParaRPr lang="en-US" sz="2600" dirty="0"/>
          </a:p>
        </p:txBody>
      </p:sp>
      <p:sp>
        <p:nvSpPr>
          <p:cNvPr id="4" name="border-47"/>
          <p:cNvSpPr/>
          <p:nvPr/>
        </p:nvSpPr>
        <p:spPr>
          <a:xfrm>
            <a:off x="612648" y="1573082"/>
            <a:ext cx="5449824" cy="3126619"/>
          </a:xfrm>
          <a:prstGeom prst="rect">
            <a:avLst/>
          </a:prstGeom>
          <a:solidFill>
            <a:srgbClr val="3A4652"/>
          </a:solidFill>
          <a:ln/>
        </p:spPr>
      </p:sp>
      <p:pic>
        <p:nvPicPr>
          <p:cNvPr id="5" name="img-bg_day-48" descr="배경 설정: 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514"/>
            <a:ext cx="5394960" cy="3071755"/>
          </a:xfrm>
          <a:prstGeom prst="rect">
            <a:avLst/>
          </a:prstGeom>
        </p:spPr>
      </p:pic>
      <p:sp>
        <p:nvSpPr>
          <p:cNvPr id="6" name="border-49"/>
          <p:cNvSpPr/>
          <p:nvPr/>
        </p:nvSpPr>
        <p:spPr>
          <a:xfrm>
            <a:off x="6129223" y="1573082"/>
            <a:ext cx="5449824" cy="3126619"/>
          </a:xfrm>
          <a:prstGeom prst="rect">
            <a:avLst/>
          </a:prstGeom>
          <a:solidFill>
            <a:srgbClr val="3A4652"/>
          </a:solidFill>
          <a:ln/>
        </p:spPr>
      </p:sp>
      <p:pic>
        <p:nvPicPr>
          <p:cNvPr id="7" name="img-bg_night-50" descr="배경 설정: 밤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655" y="1600514"/>
            <a:ext cx="5394960" cy="3071755"/>
          </a:xfrm>
          <a:prstGeom prst="rect">
            <a:avLst/>
          </a:prstGeom>
        </p:spPr>
      </p:pic>
      <p:sp>
        <p:nvSpPr>
          <p:cNvPr id="8" name="text-51"/>
          <p:cNvSpPr txBox="1"/>
          <p:nvPr/>
        </p:nvSpPr>
        <p:spPr>
          <a:xfrm>
            <a:off x="640080" y="480943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F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설정 · 낮</a:t>
            </a:r>
            <a:endParaRPr lang="en-US" sz="1200" dirty="0"/>
          </a:p>
        </p:txBody>
      </p:sp>
      <p:sp>
        <p:nvSpPr>
          <p:cNvPr id="9" name="text-52"/>
          <p:cNvSpPr txBox="1"/>
          <p:nvPr/>
        </p:nvSpPr>
        <p:spPr>
          <a:xfrm>
            <a:off x="6156655" y="480943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6C4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설정 · 밤</a:t>
            </a:r>
            <a:endParaRPr lang="en-US" sz="1200" dirty="0"/>
          </a:p>
        </p:txBody>
      </p:sp>
      <p:sp>
        <p:nvSpPr>
          <p:cNvPr id="10" name="text-53"/>
          <p:cNvSpPr txBox="1"/>
          <p:nvPr/>
        </p:nvSpPr>
        <p:spPr>
          <a:xfrm>
            <a:off x="640080" y="5257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작품 제목과 같은 이름의 상담실 간판</a:t>
            </a:r>
            <a:endParaRPr lang="en-US" sz="1500" dirty="0"/>
          </a:p>
        </p:txBody>
      </p:sp>
      <p:sp>
        <p:nvSpPr>
          <p:cNvPr id="11" name="text-54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화려하지 않은 빌딩 3층의 평범한 상담실, 초록 외벽과 따뜻한 실내등으로 차가운 도시와 구분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9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code-55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SCRIPT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색의 설계: 청회색에서 노을빛으로</a:t>
            </a:r>
            <a:endParaRPr lang="en-US" sz="2600" dirty="0"/>
          </a:p>
        </p:txBody>
      </p:sp>
      <p:pic>
        <p:nvPicPr>
          <p:cNvPr id="4" name="img-s1-1-56" descr="s1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1755648" cy="987552"/>
          </a:xfrm>
          <a:prstGeom prst="rect">
            <a:avLst/>
          </a:prstGeom>
        </p:spPr>
      </p:pic>
      <p:sp>
        <p:nvSpPr>
          <p:cNvPr id="5" name="rect-57"/>
          <p:cNvSpPr/>
          <p:nvPr/>
        </p:nvSpPr>
        <p:spPr>
          <a:xfrm>
            <a:off x="640080" y="2743200"/>
            <a:ext cx="1755648" cy="685800"/>
          </a:xfrm>
          <a:prstGeom prst="rect">
            <a:avLst/>
          </a:prstGeom>
          <a:solidFill>
            <a:srgbClr val="31404B"/>
          </a:solidFill>
          <a:ln w="9525">
            <a:solidFill>
              <a:srgbClr val="3A4652"/>
            </a:solidFill>
            <a:prstDash val="solid"/>
          </a:ln>
        </p:spPr>
      </p:sp>
      <p:sp>
        <p:nvSpPr>
          <p:cNvPr id="6" name="text-58"/>
          <p:cNvSpPr txBox="1"/>
          <p:nvPr/>
        </p:nvSpPr>
        <p:spPr>
          <a:xfrm>
            <a:off x="640080" y="274320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#31404B</a:t>
            </a:r>
            <a:endParaRPr lang="en-US" sz="1100" dirty="0"/>
          </a:p>
        </p:txBody>
      </p:sp>
      <p:sp>
        <p:nvSpPr>
          <p:cNvPr id="7" name="text-59"/>
          <p:cNvSpPr txBox="1"/>
          <p:nvPr/>
        </p:nvSpPr>
        <p:spPr>
          <a:xfrm>
            <a:off x="640080" y="361188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S#1</a:t>
            </a:r>
            <a:endParaRPr lang="en-US" sz="1200" dirty="0"/>
          </a:p>
        </p:txBody>
      </p:sp>
      <p:sp>
        <p:nvSpPr>
          <p:cNvPr id="8" name="text-60"/>
          <p:cNvSpPr txBox="1"/>
          <p:nvPr/>
        </p:nvSpPr>
        <p:spPr>
          <a:xfrm>
            <a:off x="640080" y="393192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차갑고 탁한 청회색</a:t>
            </a:r>
            <a:endParaRPr lang="en-US" sz="1100" dirty="0"/>
          </a:p>
        </p:txBody>
      </p:sp>
      <p:pic>
        <p:nvPicPr>
          <p:cNvPr id="9" name="img-s2-1-61" descr="s2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456" y="1600200"/>
            <a:ext cx="1755648" cy="987552"/>
          </a:xfrm>
          <a:prstGeom prst="rect">
            <a:avLst/>
          </a:prstGeom>
        </p:spPr>
      </p:pic>
      <p:sp>
        <p:nvSpPr>
          <p:cNvPr id="10" name="rect-62"/>
          <p:cNvSpPr/>
          <p:nvPr/>
        </p:nvSpPr>
        <p:spPr>
          <a:xfrm>
            <a:off x="2505456" y="2743200"/>
            <a:ext cx="1755648" cy="685800"/>
          </a:xfrm>
          <a:prstGeom prst="rect">
            <a:avLst/>
          </a:prstGeom>
          <a:solidFill>
            <a:srgbClr val="3C494F"/>
          </a:solidFill>
          <a:ln w="9525">
            <a:solidFill>
              <a:srgbClr val="3A4652"/>
            </a:solidFill>
            <a:prstDash val="solid"/>
          </a:ln>
        </p:spPr>
      </p:sp>
      <p:sp>
        <p:nvSpPr>
          <p:cNvPr id="11" name="text-63"/>
          <p:cNvSpPr txBox="1"/>
          <p:nvPr/>
        </p:nvSpPr>
        <p:spPr>
          <a:xfrm>
            <a:off x="2505456" y="274320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#3C494F</a:t>
            </a:r>
            <a:endParaRPr lang="en-US" sz="1100" dirty="0"/>
          </a:p>
        </p:txBody>
      </p:sp>
      <p:sp>
        <p:nvSpPr>
          <p:cNvPr id="12" name="text-64"/>
          <p:cNvSpPr txBox="1"/>
          <p:nvPr/>
        </p:nvSpPr>
        <p:spPr>
          <a:xfrm>
            <a:off x="2505456" y="361188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S#2</a:t>
            </a:r>
            <a:endParaRPr lang="en-US" sz="1200" dirty="0"/>
          </a:p>
        </p:txBody>
      </p:sp>
      <p:sp>
        <p:nvSpPr>
          <p:cNvPr id="13" name="text-65"/>
          <p:cNvSpPr txBox="1"/>
          <p:nvPr/>
        </p:nvSpPr>
        <p:spPr>
          <a:xfrm>
            <a:off x="2505456" y="393192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무채색, 낮은 채도</a:t>
            </a:r>
            <a:endParaRPr lang="en-US" sz="1100" dirty="0"/>
          </a:p>
        </p:txBody>
      </p:sp>
      <p:pic>
        <p:nvPicPr>
          <p:cNvPr id="14" name="img-s3-3-66" descr="s3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600200"/>
            <a:ext cx="1755648" cy="987552"/>
          </a:xfrm>
          <a:prstGeom prst="rect">
            <a:avLst/>
          </a:prstGeom>
        </p:spPr>
      </p:pic>
      <p:sp>
        <p:nvSpPr>
          <p:cNvPr id="15" name="rect-67"/>
          <p:cNvSpPr/>
          <p:nvPr/>
        </p:nvSpPr>
        <p:spPr>
          <a:xfrm>
            <a:off x="4370832" y="2743200"/>
            <a:ext cx="1755648" cy="685800"/>
          </a:xfrm>
          <a:prstGeom prst="rect">
            <a:avLst/>
          </a:prstGeom>
          <a:solidFill>
            <a:srgbClr val="4A4F4F"/>
          </a:solidFill>
          <a:ln w="9525">
            <a:solidFill>
              <a:srgbClr val="3A4652"/>
            </a:solidFill>
            <a:prstDash val="solid"/>
          </a:ln>
        </p:spPr>
      </p:sp>
      <p:sp>
        <p:nvSpPr>
          <p:cNvPr id="16" name="text-68"/>
          <p:cNvSpPr txBox="1"/>
          <p:nvPr/>
        </p:nvSpPr>
        <p:spPr>
          <a:xfrm>
            <a:off x="4370832" y="274320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#4A4F4F</a:t>
            </a:r>
            <a:endParaRPr lang="en-US" sz="1100" dirty="0"/>
          </a:p>
        </p:txBody>
      </p:sp>
      <p:sp>
        <p:nvSpPr>
          <p:cNvPr id="17" name="text-69"/>
          <p:cNvSpPr txBox="1"/>
          <p:nvPr/>
        </p:nvSpPr>
        <p:spPr>
          <a:xfrm>
            <a:off x="4370832" y="361188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S#3</a:t>
            </a:r>
            <a:endParaRPr lang="en-US" sz="1200" dirty="0"/>
          </a:p>
        </p:txBody>
      </p:sp>
      <p:sp>
        <p:nvSpPr>
          <p:cNvPr id="18" name="text-70"/>
          <p:cNvSpPr txBox="1"/>
          <p:nvPr/>
        </p:nvSpPr>
        <p:spPr>
          <a:xfrm>
            <a:off x="4370832" y="393192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차분하고 탁한 실내광</a:t>
            </a:r>
            <a:endParaRPr lang="en-US" sz="1100" dirty="0"/>
          </a:p>
        </p:txBody>
      </p:sp>
      <p:pic>
        <p:nvPicPr>
          <p:cNvPr id="19" name="img-s4-2-71" descr="s4-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600200"/>
            <a:ext cx="1755648" cy="987552"/>
          </a:xfrm>
          <a:prstGeom prst="rect">
            <a:avLst/>
          </a:prstGeom>
        </p:spPr>
      </p:pic>
      <p:sp>
        <p:nvSpPr>
          <p:cNvPr id="20" name="rect-72"/>
          <p:cNvSpPr/>
          <p:nvPr/>
        </p:nvSpPr>
        <p:spPr>
          <a:xfrm>
            <a:off x="6236208" y="2743200"/>
            <a:ext cx="1755648" cy="685800"/>
          </a:xfrm>
          <a:prstGeom prst="rect">
            <a:avLst/>
          </a:prstGeom>
          <a:solidFill>
            <a:srgbClr val="262D33"/>
          </a:solidFill>
          <a:ln w="9525">
            <a:solidFill>
              <a:srgbClr val="3A4652"/>
            </a:solidFill>
            <a:prstDash val="solid"/>
          </a:ln>
        </p:spPr>
      </p:sp>
      <p:sp>
        <p:nvSpPr>
          <p:cNvPr id="21" name="text-73"/>
          <p:cNvSpPr txBox="1"/>
          <p:nvPr/>
        </p:nvSpPr>
        <p:spPr>
          <a:xfrm>
            <a:off x="6236208" y="274320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#262D33</a:t>
            </a:r>
            <a:endParaRPr lang="en-US" sz="1100" dirty="0"/>
          </a:p>
        </p:txBody>
      </p:sp>
      <p:sp>
        <p:nvSpPr>
          <p:cNvPr id="22" name="text-74"/>
          <p:cNvSpPr txBox="1"/>
          <p:nvPr/>
        </p:nvSpPr>
        <p:spPr>
          <a:xfrm>
            <a:off x="6236208" y="361188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S#4</a:t>
            </a:r>
            <a:endParaRPr lang="en-US" sz="1200" dirty="0"/>
          </a:p>
        </p:txBody>
      </p:sp>
      <p:sp>
        <p:nvSpPr>
          <p:cNvPr id="23" name="text-75"/>
          <p:cNvSpPr txBox="1"/>
          <p:nvPr/>
        </p:nvSpPr>
        <p:spPr>
          <a:xfrm>
            <a:off x="6236208" y="393192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차갑고 대비 강한 하드라이트</a:t>
            </a:r>
            <a:endParaRPr lang="en-US" sz="1100" dirty="0"/>
          </a:p>
        </p:txBody>
      </p:sp>
      <p:pic>
        <p:nvPicPr>
          <p:cNvPr id="24" name="img-s5-3-76" descr="s5-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4" y="1600200"/>
            <a:ext cx="1755648" cy="987552"/>
          </a:xfrm>
          <a:prstGeom prst="rect">
            <a:avLst/>
          </a:prstGeom>
        </p:spPr>
      </p:pic>
      <p:sp>
        <p:nvSpPr>
          <p:cNvPr id="25" name="rect-77"/>
          <p:cNvSpPr/>
          <p:nvPr/>
        </p:nvSpPr>
        <p:spPr>
          <a:xfrm>
            <a:off x="8101584" y="2743200"/>
            <a:ext cx="1755648" cy="685800"/>
          </a:xfrm>
          <a:prstGeom prst="rect">
            <a:avLst/>
          </a:prstGeom>
          <a:solidFill>
            <a:srgbClr val="493E30"/>
          </a:solidFill>
          <a:ln w="9525">
            <a:solidFill>
              <a:srgbClr val="3A4652"/>
            </a:solidFill>
            <a:prstDash val="solid"/>
          </a:ln>
        </p:spPr>
      </p:sp>
      <p:sp>
        <p:nvSpPr>
          <p:cNvPr id="26" name="text-78"/>
          <p:cNvSpPr txBox="1"/>
          <p:nvPr/>
        </p:nvSpPr>
        <p:spPr>
          <a:xfrm>
            <a:off x="8101584" y="274320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#493E30</a:t>
            </a:r>
            <a:endParaRPr lang="en-US" sz="1100" dirty="0"/>
          </a:p>
        </p:txBody>
      </p:sp>
      <p:sp>
        <p:nvSpPr>
          <p:cNvPr id="27" name="text-79"/>
          <p:cNvSpPr txBox="1"/>
          <p:nvPr/>
        </p:nvSpPr>
        <p:spPr>
          <a:xfrm>
            <a:off x="8101584" y="361188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S#5</a:t>
            </a:r>
            <a:endParaRPr lang="en-US" sz="1200" dirty="0"/>
          </a:p>
        </p:txBody>
      </p:sp>
      <p:sp>
        <p:nvSpPr>
          <p:cNvPr id="28" name="text-80"/>
          <p:cNvSpPr txBox="1"/>
          <p:nvPr/>
        </p:nvSpPr>
        <p:spPr>
          <a:xfrm>
            <a:off x="8101584" y="393192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채도가 서서히 오르는 전환</a:t>
            </a:r>
            <a:endParaRPr lang="en-US" sz="1100" dirty="0"/>
          </a:p>
        </p:txBody>
      </p:sp>
      <p:pic>
        <p:nvPicPr>
          <p:cNvPr id="29" name="img-s6-1-81" descr="s6-1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0" y="1600200"/>
            <a:ext cx="1755648" cy="987552"/>
          </a:xfrm>
          <a:prstGeom prst="rect">
            <a:avLst/>
          </a:prstGeom>
        </p:spPr>
      </p:pic>
      <p:sp>
        <p:nvSpPr>
          <p:cNvPr id="30" name="rect-82"/>
          <p:cNvSpPr/>
          <p:nvPr/>
        </p:nvSpPr>
        <p:spPr>
          <a:xfrm>
            <a:off x="9966960" y="2743200"/>
            <a:ext cx="1755648" cy="685800"/>
          </a:xfrm>
          <a:prstGeom prst="rect">
            <a:avLst/>
          </a:prstGeom>
          <a:solidFill>
            <a:srgbClr val="4B3429"/>
          </a:solidFill>
          <a:ln w="9525">
            <a:solidFill>
              <a:srgbClr val="3A4652"/>
            </a:solidFill>
            <a:prstDash val="solid"/>
          </a:ln>
        </p:spPr>
      </p:sp>
      <p:sp>
        <p:nvSpPr>
          <p:cNvPr id="31" name="text-83"/>
          <p:cNvSpPr txBox="1"/>
          <p:nvPr/>
        </p:nvSpPr>
        <p:spPr>
          <a:xfrm>
            <a:off x="9966960" y="274320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#4B3429</a:t>
            </a:r>
            <a:endParaRPr lang="en-US" sz="1100" dirty="0"/>
          </a:p>
        </p:txBody>
      </p:sp>
      <p:sp>
        <p:nvSpPr>
          <p:cNvPr id="32" name="text-84"/>
          <p:cNvSpPr txBox="1"/>
          <p:nvPr/>
        </p:nvSpPr>
        <p:spPr>
          <a:xfrm>
            <a:off x="9966960" y="361188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S#6</a:t>
            </a:r>
            <a:endParaRPr lang="en-US" sz="1200" dirty="0"/>
          </a:p>
        </p:txBody>
      </p:sp>
      <p:sp>
        <p:nvSpPr>
          <p:cNvPr id="33" name="text-85"/>
          <p:cNvSpPr txBox="1"/>
          <p:nvPr/>
        </p:nvSpPr>
        <p:spPr>
          <a:xfrm>
            <a:off x="9966960" y="393192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노을빛 · 신록 · 햇살, 높은 채도</a:t>
            </a:r>
            <a:endParaRPr lang="en-US" sz="1100" dirty="0"/>
          </a:p>
        </p:txBody>
      </p:sp>
      <p:sp>
        <p:nvSpPr>
          <p:cNvPr id="34" name="text-86"/>
          <p:cNvSpPr txBox="1"/>
          <p:nvPr/>
        </p:nvSpPr>
        <p:spPr>
          <a:xfrm>
            <a:off x="64008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장면별 평균 색 (스틸컷 실측)</a:t>
            </a:r>
            <a:endParaRPr lang="en-US" sz="1000" dirty="0"/>
          </a:p>
        </p:txBody>
      </p:sp>
      <p:sp>
        <p:nvSpPr>
          <p:cNvPr id="35" name="rect-87"/>
          <p:cNvSpPr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solidFill>
            <a:srgbClr val="2A333D"/>
          </a:solidFill>
          <a:ln/>
        </p:spPr>
      </p:sp>
      <p:sp>
        <p:nvSpPr>
          <p:cNvPr id="36" name="text-88"/>
          <p:cNvSpPr txBox="1"/>
          <p:nvPr/>
        </p:nvSpPr>
        <p:spPr>
          <a:xfrm>
            <a:off x="914400" y="52120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S#5 상담실 2차 방문을 색조 전환점으로 설정, 인물의 심리 변화를 화면의 채도와 색온도로 표현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9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code-89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B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/ AFTER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전반부와 후반부의 연출 대비</a:t>
            </a:r>
            <a:endParaRPr lang="en-US" sz="2600" dirty="0"/>
          </a:p>
        </p:txBody>
      </p:sp>
      <p:sp>
        <p:nvSpPr>
          <p:cNvPr id="4" name="border-90"/>
          <p:cNvSpPr/>
          <p:nvPr/>
        </p:nvSpPr>
        <p:spPr>
          <a:xfrm>
            <a:off x="612648" y="1572768"/>
            <a:ext cx="3712464" cy="2112264"/>
          </a:xfrm>
          <a:prstGeom prst="rect">
            <a:avLst/>
          </a:prstGeom>
          <a:solidFill>
            <a:srgbClr val="8C99A6"/>
          </a:solidFill>
          <a:ln/>
        </p:spPr>
      </p:sp>
      <p:pic>
        <p:nvPicPr>
          <p:cNvPr id="5" name="img-s2-1-91" descr="전반부: 파티션 사이의 수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3657600" cy="2057400"/>
          </a:xfrm>
          <a:prstGeom prst="rect">
            <a:avLst/>
          </a:prstGeom>
        </p:spPr>
      </p:pic>
      <p:sp>
        <p:nvSpPr>
          <p:cNvPr id="6" name="border-92"/>
          <p:cNvSpPr/>
          <p:nvPr/>
        </p:nvSpPr>
        <p:spPr>
          <a:xfrm>
            <a:off x="7866583" y="1572768"/>
            <a:ext cx="3712464" cy="2112264"/>
          </a:xfrm>
          <a:prstGeom prst="rect">
            <a:avLst/>
          </a:prstGeom>
          <a:solidFill>
            <a:srgbClr val="F28C4B"/>
          </a:solidFill>
          <a:ln/>
        </p:spPr>
      </p:sp>
      <p:pic>
        <p:nvPicPr>
          <p:cNvPr id="7" name="img-s6-2-93" descr="후반부: 노을 속 수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015" y="1600200"/>
            <a:ext cx="3657600" cy="2057400"/>
          </a:xfrm>
          <a:prstGeom prst="rect">
            <a:avLst/>
          </a:prstGeom>
        </p:spPr>
      </p:pic>
      <p:sp>
        <p:nvSpPr>
          <p:cNvPr id="8" name="text-94"/>
          <p:cNvSpPr txBox="1"/>
          <p:nvPr/>
        </p:nvSpPr>
        <p:spPr>
          <a:xfrm>
            <a:off x="640080" y="37673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C4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전반부</a:t>
            </a:r>
            <a:endParaRPr lang="en-US" sz="1300" dirty="0"/>
          </a:p>
        </p:txBody>
      </p:sp>
      <p:sp>
        <p:nvSpPr>
          <p:cNvPr id="9" name="text-95"/>
          <p:cNvSpPr txBox="1"/>
          <p:nvPr/>
        </p:nvSpPr>
        <p:spPr>
          <a:xfrm>
            <a:off x="7894015" y="37673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후반부</a:t>
            </a:r>
            <a:endParaRPr lang="en-US" sz="1300" dirty="0"/>
          </a:p>
        </p:txBody>
      </p:sp>
      <p:sp>
        <p:nvSpPr>
          <p:cNvPr id="10" name="rect-96"/>
          <p:cNvSpPr/>
          <p:nvPr/>
        </p:nvSpPr>
        <p:spPr>
          <a:xfrm>
            <a:off x="4526280" y="1600200"/>
            <a:ext cx="3139135" cy="1005840"/>
          </a:xfrm>
          <a:prstGeom prst="rect">
            <a:avLst/>
          </a:prstGeom>
          <a:solidFill>
            <a:srgbClr val="3A3633"/>
          </a:solidFill>
          <a:ln/>
        </p:spPr>
      </p:sp>
      <p:sp>
        <p:nvSpPr>
          <p:cNvPr id="11" name="text-97"/>
          <p:cNvSpPr txBox="1"/>
          <p:nvPr/>
        </p:nvSpPr>
        <p:spPr>
          <a:xfrm>
            <a:off x="4526280" y="1673352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B4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</a:t>
            </a:r>
            <a:endParaRPr lang="en-US" sz="1200" dirty="0"/>
          </a:p>
        </p:txBody>
      </p:sp>
      <p:sp>
        <p:nvSpPr>
          <p:cNvPr id="12" name="text-98"/>
          <p:cNvSpPr txBox="1"/>
          <p:nvPr/>
        </p:nvSpPr>
        <p:spPr>
          <a:xfrm>
            <a:off x="4663440" y="1984248"/>
            <a:ext cx="2864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4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청회색 · 무채색 · 낮은 채도</a:t>
            </a:r>
            <a:endParaRPr lang="en-US" sz="1050" dirty="0"/>
          </a:p>
        </p:txBody>
      </p:sp>
      <p:sp>
        <p:nvSpPr>
          <p:cNvPr id="13" name="text-99"/>
          <p:cNvSpPr txBox="1"/>
          <p:nvPr/>
        </p:nvSpPr>
        <p:spPr>
          <a:xfrm>
            <a:off x="4663440" y="2258568"/>
            <a:ext cx="2864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A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노을빛 · 신록 · 햇살, 높은 채도</a:t>
            </a:r>
            <a:endParaRPr lang="en-US" sz="1050" dirty="0"/>
          </a:p>
        </p:txBody>
      </p:sp>
      <p:sp>
        <p:nvSpPr>
          <p:cNvPr id="14" name="rect-100"/>
          <p:cNvSpPr/>
          <p:nvPr/>
        </p:nvSpPr>
        <p:spPr>
          <a:xfrm>
            <a:off x="4526280" y="2715768"/>
            <a:ext cx="3139135" cy="1005840"/>
          </a:xfrm>
          <a:prstGeom prst="rect">
            <a:avLst/>
          </a:prstGeom>
          <a:solidFill>
            <a:srgbClr val="3A3633"/>
          </a:solidFill>
          <a:ln/>
        </p:spPr>
      </p:sp>
      <p:sp>
        <p:nvSpPr>
          <p:cNvPr id="15" name="text-101"/>
          <p:cNvSpPr txBox="1"/>
          <p:nvPr/>
        </p:nvSpPr>
        <p:spPr>
          <a:xfrm>
            <a:off x="4526280" y="2788920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B4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</a:t>
            </a:r>
            <a:endParaRPr lang="en-US" sz="1200" dirty="0"/>
          </a:p>
        </p:txBody>
      </p:sp>
      <p:sp>
        <p:nvSpPr>
          <p:cNvPr id="16" name="text-102"/>
          <p:cNvSpPr txBox="1"/>
          <p:nvPr/>
        </p:nvSpPr>
        <p:spPr>
          <a:xfrm>
            <a:off x="4663440" y="3099816"/>
            <a:ext cx="2864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4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형광등 하드라이트, 차가운 인공광</a:t>
            </a:r>
            <a:endParaRPr lang="en-US" sz="1050" dirty="0"/>
          </a:p>
        </p:txBody>
      </p:sp>
      <p:sp>
        <p:nvSpPr>
          <p:cNvPr id="17" name="text-103"/>
          <p:cNvSpPr txBox="1"/>
          <p:nvPr/>
        </p:nvSpPr>
        <p:spPr>
          <a:xfrm>
            <a:off x="4663440" y="3374136"/>
            <a:ext cx="2864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A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역광 산란광, 소프트라이트</a:t>
            </a:r>
            <a:endParaRPr lang="en-US" sz="1050" dirty="0"/>
          </a:p>
        </p:txBody>
      </p:sp>
      <p:sp>
        <p:nvSpPr>
          <p:cNvPr id="18" name="rect-104"/>
          <p:cNvSpPr/>
          <p:nvPr/>
        </p:nvSpPr>
        <p:spPr>
          <a:xfrm>
            <a:off x="4526280" y="3831336"/>
            <a:ext cx="3139135" cy="1005840"/>
          </a:xfrm>
          <a:prstGeom prst="rect">
            <a:avLst/>
          </a:prstGeom>
          <a:solidFill>
            <a:srgbClr val="3A3633"/>
          </a:solidFill>
          <a:ln/>
        </p:spPr>
      </p:sp>
      <p:sp>
        <p:nvSpPr>
          <p:cNvPr id="19" name="text-105"/>
          <p:cNvSpPr txBox="1"/>
          <p:nvPr/>
        </p:nvSpPr>
        <p:spPr>
          <a:xfrm>
            <a:off x="4526280" y="3904488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B4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endParaRPr lang="en-US" sz="1200" dirty="0"/>
          </a:p>
        </p:txBody>
      </p:sp>
      <p:sp>
        <p:nvSpPr>
          <p:cNvPr id="20" name="text-106"/>
          <p:cNvSpPr txBox="1"/>
          <p:nvPr/>
        </p:nvSpPr>
        <p:spPr>
          <a:xfrm>
            <a:off x="4663440" y="4215384"/>
            <a:ext cx="2864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4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핸드헬드의 미세한 흔들림</a:t>
            </a:r>
            <a:endParaRPr lang="en-US" sz="1050" dirty="0"/>
          </a:p>
        </p:txBody>
      </p:sp>
      <p:sp>
        <p:nvSpPr>
          <p:cNvPr id="21" name="text-107"/>
          <p:cNvSpPr txBox="1"/>
          <p:nvPr/>
        </p:nvSpPr>
        <p:spPr>
          <a:xfrm>
            <a:off x="4663440" y="4489704"/>
            <a:ext cx="2864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A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안정적인 카메라 무브</a:t>
            </a:r>
            <a:endParaRPr lang="en-US" sz="1050" dirty="0"/>
          </a:p>
        </p:txBody>
      </p:sp>
      <p:sp>
        <p:nvSpPr>
          <p:cNvPr id="22" name="rect-108"/>
          <p:cNvSpPr/>
          <p:nvPr/>
        </p:nvSpPr>
        <p:spPr>
          <a:xfrm>
            <a:off x="4526280" y="4946904"/>
            <a:ext cx="3139135" cy="1005840"/>
          </a:xfrm>
          <a:prstGeom prst="rect">
            <a:avLst/>
          </a:prstGeom>
          <a:solidFill>
            <a:srgbClr val="3A3633"/>
          </a:solidFill>
          <a:ln/>
        </p:spPr>
      </p:sp>
      <p:sp>
        <p:nvSpPr>
          <p:cNvPr id="23" name="text-109"/>
          <p:cNvSpPr txBox="1"/>
          <p:nvPr/>
        </p:nvSpPr>
        <p:spPr>
          <a:xfrm>
            <a:off x="4526280" y="5020056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B4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구도</a:t>
            </a:r>
            <a:endParaRPr lang="en-US" sz="1200" dirty="0"/>
          </a:p>
        </p:txBody>
      </p:sp>
      <p:sp>
        <p:nvSpPr>
          <p:cNvPr id="24" name="text-110"/>
          <p:cNvSpPr txBox="1"/>
          <p:nvPr/>
        </p:nvSpPr>
        <p:spPr>
          <a:xfrm>
            <a:off x="4663440" y="5330952"/>
            <a:ext cx="2864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4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손잡이 · 창틀 · 파티션에 갇힌 구도</a:t>
            </a:r>
            <a:endParaRPr lang="en-US" sz="1050" dirty="0"/>
          </a:p>
        </p:txBody>
      </p:sp>
      <p:sp>
        <p:nvSpPr>
          <p:cNvPr id="25" name="text-111"/>
          <p:cNvSpPr txBox="1"/>
          <p:nvPr/>
        </p:nvSpPr>
        <p:spPr>
          <a:xfrm>
            <a:off x="4663440" y="5605272"/>
            <a:ext cx="2864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A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오픈된 거리, 열린 구도</a:t>
            </a:r>
            <a:endParaRPr lang="en-US" sz="1050" dirty="0"/>
          </a:p>
        </p:txBody>
      </p:sp>
      <p:sp>
        <p:nvSpPr>
          <p:cNvPr id="26" name="text-112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· 조명 · 카메라 · 구도의 동시 전환을 통한 해방감 표현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A6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code-113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B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VISUALIZING THOUGHT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생각의 시각화</a:t>
            </a:r>
            <a:endParaRPr lang="en-US" sz="2600" dirty="0"/>
          </a:p>
        </p:txBody>
      </p:sp>
      <p:pic>
        <p:nvPicPr>
          <p:cNvPr id="4" name="img-s1-3-114" descr="s1-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3566160" cy="2005965"/>
          </a:xfrm>
          <a:prstGeom prst="rect">
            <a:avLst/>
          </a:prstGeom>
        </p:spPr>
      </p:pic>
      <p:sp>
        <p:nvSpPr>
          <p:cNvPr id="5" name="text-115"/>
          <p:cNvSpPr txBox="1"/>
          <p:nvPr/>
        </p:nvSpPr>
        <p:spPr>
          <a:xfrm>
            <a:off x="640080" y="3743325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B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S#1 컷03</a:t>
            </a:r>
            <a:endParaRPr lang="en-US" sz="1100" dirty="0"/>
          </a:p>
        </p:txBody>
      </p:sp>
      <p:sp>
        <p:nvSpPr>
          <p:cNvPr id="6" name="text-116"/>
          <p:cNvSpPr txBox="1"/>
          <p:nvPr/>
        </p:nvSpPr>
        <p:spPr>
          <a:xfrm>
            <a:off x="640080" y="406336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창에 비친 얼굴과 도시 풍경의 오버랩</a:t>
            </a:r>
            <a:endParaRPr lang="en-US" sz="1300" dirty="0"/>
          </a:p>
        </p:txBody>
      </p:sp>
      <p:sp>
        <p:nvSpPr>
          <p:cNvPr id="7" name="text-117"/>
          <p:cNvSpPr txBox="1"/>
          <p:nvPr/>
        </p:nvSpPr>
        <p:spPr>
          <a:xfrm>
            <a:off x="640080" y="4410837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A6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멈추지 않는 불안한 생각</a:t>
            </a:r>
            <a:endParaRPr lang="en-US" sz="1100" dirty="0"/>
          </a:p>
        </p:txBody>
      </p:sp>
      <p:pic>
        <p:nvPicPr>
          <p:cNvPr id="8" name="img-s5-4-118" descr="s5-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00200"/>
            <a:ext cx="3566160" cy="2005965"/>
          </a:xfrm>
          <a:prstGeom prst="rect">
            <a:avLst/>
          </a:prstGeom>
        </p:spPr>
      </p:pic>
      <p:sp>
        <p:nvSpPr>
          <p:cNvPr id="9" name="text-119"/>
          <p:cNvSpPr txBox="1"/>
          <p:nvPr/>
        </p:nvSpPr>
        <p:spPr>
          <a:xfrm>
            <a:off x="4343400" y="3743325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B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S#5 컷04</a:t>
            </a:r>
            <a:endParaRPr lang="en-US" sz="1100" dirty="0"/>
          </a:p>
        </p:txBody>
      </p:sp>
      <p:sp>
        <p:nvSpPr>
          <p:cNvPr id="10" name="text-120"/>
          <p:cNvSpPr txBox="1"/>
          <p:nvPr/>
        </p:nvSpPr>
        <p:spPr>
          <a:xfrm>
            <a:off x="4343400" y="406336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먹구름으로 표현한 머릿속 소음</a:t>
            </a:r>
            <a:endParaRPr lang="en-US" sz="1300" dirty="0"/>
          </a:p>
        </p:txBody>
      </p:sp>
      <p:sp>
        <p:nvSpPr>
          <p:cNvPr id="11" name="text-121"/>
          <p:cNvSpPr txBox="1"/>
          <p:nvPr/>
        </p:nvSpPr>
        <p:spPr>
          <a:xfrm>
            <a:off x="4343400" y="4410837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A6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에고가 만든 소음</a:t>
            </a:r>
            <a:endParaRPr lang="en-US" sz="1100" dirty="0"/>
          </a:p>
        </p:txBody>
      </p:sp>
      <p:pic>
        <p:nvPicPr>
          <p:cNvPr id="12" name="img-s5-2-1-122" descr="s5-2-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600200"/>
            <a:ext cx="3566160" cy="2005965"/>
          </a:xfrm>
          <a:prstGeom prst="rect">
            <a:avLst/>
          </a:prstGeom>
        </p:spPr>
      </p:pic>
      <p:sp>
        <p:nvSpPr>
          <p:cNvPr id="13" name="text-123"/>
          <p:cNvSpPr txBox="1"/>
          <p:nvPr/>
        </p:nvSpPr>
        <p:spPr>
          <a:xfrm>
            <a:off x="8046720" y="3743325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B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S#5 심상 인서트</a:t>
            </a:r>
            <a:endParaRPr lang="en-US" sz="1100" dirty="0"/>
          </a:p>
        </p:txBody>
      </p:sp>
      <p:sp>
        <p:nvSpPr>
          <p:cNvPr id="14" name="text-124"/>
          <p:cNvSpPr txBox="1"/>
          <p:nvPr/>
        </p:nvSpPr>
        <p:spPr>
          <a:xfrm>
            <a:off x="8046720" y="406336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구름이 걷힌 맑은 도시 하늘</a:t>
            </a:r>
            <a:endParaRPr lang="en-US" sz="1300" dirty="0"/>
          </a:p>
        </p:txBody>
      </p:sp>
      <p:sp>
        <p:nvSpPr>
          <p:cNvPr id="15" name="text-125"/>
          <p:cNvSpPr txBox="1"/>
          <p:nvPr/>
        </p:nvSpPr>
        <p:spPr>
          <a:xfrm>
            <a:off x="8046720" y="4410837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A6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생각과 자신의 분리</a:t>
            </a:r>
            <a:endParaRPr lang="en-US" sz="1100" dirty="0"/>
          </a:p>
        </p:txBody>
      </p:sp>
      <p:sp>
        <p:nvSpPr>
          <p:cNvPr id="16" name="rect-126"/>
          <p:cNvSpPr/>
          <p:nvPr/>
        </p:nvSpPr>
        <p:spPr>
          <a:xfrm>
            <a:off x="640080" y="5120640"/>
            <a:ext cx="10972800" cy="960120"/>
          </a:xfrm>
          <a:prstGeom prst="rect">
            <a:avLst/>
          </a:prstGeom>
          <a:solidFill>
            <a:srgbClr val="3A3633"/>
          </a:solidFill>
          <a:ln/>
        </p:spPr>
      </p:sp>
      <p:sp>
        <p:nvSpPr>
          <p:cNvPr id="17" name="text-127"/>
          <p:cNvSpPr txBox="1"/>
          <p:nvPr/>
        </p:nvSpPr>
        <p:spPr>
          <a:xfrm>
            <a:off x="914400" y="51206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「생각을 바꾸려 싸우지 말고, 그냥 가만히 바라보세요. 생각과 자신을 분리하는 겁니다.」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A6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code-128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B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대사 설계: 내면의 목소리 변화</a:t>
            </a:r>
            <a:endParaRPr lang="en-US" sz="2600" dirty="0"/>
          </a:p>
        </p:txBody>
      </p:sp>
      <p:sp>
        <p:nvSpPr>
          <p:cNvPr id="4" name="rect-129"/>
          <p:cNvSpPr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solidFill>
            <a:srgbClr val="3A3633"/>
          </a:solidFill>
          <a:ln/>
        </p:spPr>
      </p:sp>
      <p:sp>
        <p:nvSpPr>
          <p:cNvPr id="5" name="text-130"/>
          <p:cNvSpPr txBox="1"/>
          <p:nvPr/>
        </p:nvSpPr>
        <p:spPr>
          <a:xfrm>
            <a:off x="868680" y="15544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C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S#1</a:t>
            </a:r>
            <a:endParaRPr lang="en-US" sz="1200" dirty="0"/>
          </a:p>
        </p:txBody>
      </p:sp>
      <p:sp>
        <p:nvSpPr>
          <p:cNvPr id="6" name="text-131"/>
          <p:cNvSpPr txBox="1"/>
          <p:nvPr/>
        </p:nvSpPr>
        <p:spPr>
          <a:xfrm>
            <a:off x="1645920" y="1554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A6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수현 (V.O.)</a:t>
            </a:r>
            <a:endParaRPr lang="en-US" sz="1200" dirty="0"/>
          </a:p>
        </p:txBody>
      </p:sp>
      <p:sp>
        <p:nvSpPr>
          <p:cNvPr id="7" name="text-132"/>
          <p:cNvSpPr txBox="1"/>
          <p:nvPr/>
        </p:nvSpPr>
        <p:spPr>
          <a:xfrm>
            <a:off x="3017520" y="15544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「그때 이직을 했어야 했나...」</a:t>
            </a:r>
            <a:endParaRPr lang="en-US" sz="1350" dirty="0"/>
          </a:p>
        </p:txBody>
      </p:sp>
      <p:sp>
        <p:nvSpPr>
          <p:cNvPr id="8" name="rect-133"/>
          <p:cNvSpPr/>
          <p:nvPr/>
        </p:nvSpPr>
        <p:spPr>
          <a:xfrm>
            <a:off x="640080" y="2313432"/>
            <a:ext cx="10972800" cy="640080"/>
          </a:xfrm>
          <a:prstGeom prst="rect">
            <a:avLst/>
          </a:prstGeom>
          <a:solidFill>
            <a:srgbClr val="3A3633"/>
          </a:solidFill>
          <a:ln/>
        </p:spPr>
      </p:sp>
      <p:sp>
        <p:nvSpPr>
          <p:cNvPr id="9" name="text-134"/>
          <p:cNvSpPr txBox="1"/>
          <p:nvPr/>
        </p:nvSpPr>
        <p:spPr>
          <a:xfrm>
            <a:off x="868680" y="231343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C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S#1</a:t>
            </a:r>
            <a:endParaRPr lang="en-US" sz="1200" dirty="0"/>
          </a:p>
        </p:txBody>
      </p:sp>
      <p:sp>
        <p:nvSpPr>
          <p:cNvPr id="10" name="text-135"/>
          <p:cNvSpPr txBox="1"/>
          <p:nvPr/>
        </p:nvSpPr>
        <p:spPr>
          <a:xfrm>
            <a:off x="1645920" y="231343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A6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수현 (V.O.)</a:t>
            </a:r>
            <a:endParaRPr lang="en-US" sz="1200" dirty="0"/>
          </a:p>
        </p:txBody>
      </p:sp>
      <p:sp>
        <p:nvSpPr>
          <p:cNvPr id="11" name="text-136"/>
          <p:cNvSpPr txBox="1"/>
          <p:nvPr/>
        </p:nvSpPr>
        <p:spPr>
          <a:xfrm>
            <a:off x="3017520" y="23134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「요즘 젊은 애들한테 밀리면... 퇴직 후엔 어쩌지?」</a:t>
            </a:r>
            <a:endParaRPr lang="en-US" sz="1350" dirty="0"/>
          </a:p>
        </p:txBody>
      </p:sp>
      <p:sp>
        <p:nvSpPr>
          <p:cNvPr id="12" name="rect-137"/>
          <p:cNvSpPr/>
          <p:nvPr/>
        </p:nvSpPr>
        <p:spPr>
          <a:xfrm>
            <a:off x="640080" y="3072384"/>
            <a:ext cx="10972800" cy="640080"/>
          </a:xfrm>
          <a:prstGeom prst="rect">
            <a:avLst/>
          </a:prstGeom>
          <a:solidFill>
            <a:srgbClr val="3A3633"/>
          </a:solidFill>
          <a:ln/>
        </p:spPr>
      </p:sp>
      <p:sp>
        <p:nvSpPr>
          <p:cNvPr id="13" name="text-138"/>
          <p:cNvSpPr txBox="1"/>
          <p:nvPr/>
        </p:nvSpPr>
        <p:spPr>
          <a:xfrm>
            <a:off x="868680" y="307238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B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S#3</a:t>
            </a:r>
            <a:endParaRPr lang="en-US" sz="1200" dirty="0"/>
          </a:p>
        </p:txBody>
      </p:sp>
      <p:sp>
        <p:nvSpPr>
          <p:cNvPr id="14" name="text-139"/>
          <p:cNvSpPr txBox="1"/>
          <p:nvPr/>
        </p:nvSpPr>
        <p:spPr>
          <a:xfrm>
            <a:off x="1645920" y="307238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A6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</a:t>
            </a:r>
            <a:endParaRPr lang="en-US" sz="1200" dirty="0"/>
          </a:p>
        </p:txBody>
      </p:sp>
      <p:sp>
        <p:nvSpPr>
          <p:cNvPr id="15" name="text-140"/>
          <p:cNvSpPr txBox="1"/>
          <p:nvPr/>
        </p:nvSpPr>
        <p:spPr>
          <a:xfrm>
            <a:off x="3017520" y="3072384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「부장님, 방금 마신 차의 온도와 향은 어땠나요?」</a:t>
            </a:r>
            <a:endParaRPr lang="en-US" sz="1350" dirty="0"/>
          </a:p>
        </p:txBody>
      </p:sp>
      <p:sp>
        <p:nvSpPr>
          <p:cNvPr id="16" name="rect-141"/>
          <p:cNvSpPr/>
          <p:nvPr/>
        </p:nvSpPr>
        <p:spPr>
          <a:xfrm>
            <a:off x="640080" y="3831336"/>
            <a:ext cx="10972800" cy="640080"/>
          </a:xfrm>
          <a:prstGeom prst="rect">
            <a:avLst/>
          </a:prstGeom>
          <a:solidFill>
            <a:srgbClr val="3A3633"/>
          </a:solidFill>
          <a:ln/>
        </p:spPr>
      </p:sp>
      <p:sp>
        <p:nvSpPr>
          <p:cNvPr id="17" name="text-142"/>
          <p:cNvSpPr txBox="1"/>
          <p:nvPr/>
        </p:nvSpPr>
        <p:spPr>
          <a:xfrm>
            <a:off x="868680" y="383133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S#4</a:t>
            </a:r>
            <a:endParaRPr lang="en-US" sz="1200" dirty="0"/>
          </a:p>
        </p:txBody>
      </p:sp>
      <p:sp>
        <p:nvSpPr>
          <p:cNvPr id="18" name="text-143"/>
          <p:cNvSpPr txBox="1"/>
          <p:nvPr/>
        </p:nvSpPr>
        <p:spPr>
          <a:xfrm>
            <a:off x="1645920" y="383133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A6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수현 (V.O.)</a:t>
            </a:r>
            <a:endParaRPr lang="en-US" sz="1200" dirty="0"/>
          </a:p>
        </p:txBody>
      </p:sp>
      <p:sp>
        <p:nvSpPr>
          <p:cNvPr id="19" name="text-144"/>
          <p:cNvSpPr txBox="1"/>
          <p:nvPr/>
        </p:nvSpPr>
        <p:spPr>
          <a:xfrm>
            <a:off x="3017520" y="3831336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「나 이제... 끝났어.」</a:t>
            </a:r>
            <a:endParaRPr lang="en-US" sz="1350" dirty="0"/>
          </a:p>
        </p:txBody>
      </p:sp>
      <p:sp>
        <p:nvSpPr>
          <p:cNvPr id="20" name="rect-145"/>
          <p:cNvSpPr/>
          <p:nvPr/>
        </p:nvSpPr>
        <p:spPr>
          <a:xfrm>
            <a:off x="640080" y="4590288"/>
            <a:ext cx="10972800" cy="640080"/>
          </a:xfrm>
          <a:prstGeom prst="rect">
            <a:avLst/>
          </a:prstGeom>
          <a:solidFill>
            <a:srgbClr val="3A3633"/>
          </a:solidFill>
          <a:ln/>
        </p:spPr>
      </p:sp>
      <p:sp>
        <p:nvSpPr>
          <p:cNvPr id="21" name="text-146"/>
          <p:cNvSpPr txBox="1"/>
          <p:nvPr/>
        </p:nvSpPr>
        <p:spPr>
          <a:xfrm>
            <a:off x="868680" y="459028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B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S#5</a:t>
            </a:r>
            <a:endParaRPr lang="en-US" sz="1200" dirty="0"/>
          </a:p>
        </p:txBody>
      </p:sp>
      <p:sp>
        <p:nvSpPr>
          <p:cNvPr id="22" name="text-147"/>
          <p:cNvSpPr txBox="1"/>
          <p:nvPr/>
        </p:nvSpPr>
        <p:spPr>
          <a:xfrm>
            <a:off x="1645920" y="459028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A6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</a:t>
            </a:r>
            <a:endParaRPr lang="en-US" sz="1200" dirty="0"/>
          </a:p>
        </p:txBody>
      </p:sp>
      <p:sp>
        <p:nvSpPr>
          <p:cNvPr id="23" name="text-148"/>
          <p:cNvSpPr txBox="1"/>
          <p:nvPr/>
        </p:nvSpPr>
        <p:spPr>
          <a:xfrm>
            <a:off x="3017520" y="45902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「'난 끝장이야'라는 그 생각은 진짜 상황이 아니라 에고가 만든 소음일 뿐이에요.」</a:t>
            </a:r>
            <a:endParaRPr lang="en-US" sz="1350" dirty="0"/>
          </a:p>
        </p:txBody>
      </p:sp>
      <p:sp>
        <p:nvSpPr>
          <p:cNvPr id="24" name="rect-149"/>
          <p:cNvSpPr/>
          <p:nvPr/>
        </p:nvSpPr>
        <p:spPr>
          <a:xfrm>
            <a:off x="640080" y="5349240"/>
            <a:ext cx="10972800" cy="640080"/>
          </a:xfrm>
          <a:prstGeom prst="rect">
            <a:avLst/>
          </a:prstGeom>
          <a:solidFill>
            <a:srgbClr val="3A3633"/>
          </a:solidFill>
          <a:ln/>
        </p:spPr>
      </p:sp>
      <p:sp>
        <p:nvSpPr>
          <p:cNvPr id="25" name="text-150"/>
          <p:cNvSpPr txBox="1"/>
          <p:nvPr/>
        </p:nvSpPr>
        <p:spPr>
          <a:xfrm>
            <a:off x="868680" y="5349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S#6</a:t>
            </a:r>
            <a:endParaRPr lang="en-US" sz="1200" dirty="0"/>
          </a:p>
        </p:txBody>
      </p:sp>
      <p:sp>
        <p:nvSpPr>
          <p:cNvPr id="26" name="text-151"/>
          <p:cNvSpPr txBox="1"/>
          <p:nvPr/>
        </p:nvSpPr>
        <p:spPr>
          <a:xfrm>
            <a:off x="1645920" y="5349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A6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수현 (V.O.)</a:t>
            </a:r>
            <a:endParaRPr lang="en-US" sz="1200" dirty="0"/>
          </a:p>
        </p:txBody>
      </p:sp>
      <p:sp>
        <p:nvSpPr>
          <p:cNvPr id="27" name="text-152"/>
          <p:cNvSpPr txBox="1"/>
          <p:nvPr/>
        </p:nvSpPr>
        <p:spPr>
          <a:xfrm>
            <a:off x="3017520" y="53492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C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「지금... 이 순간.」</a:t>
            </a:r>
            <a:endParaRPr lang="en-US" sz="1700" dirty="0"/>
          </a:p>
        </p:txBody>
      </p:sp>
      <p:sp>
        <p:nvSpPr>
          <p:cNvPr id="28" name="text-153"/>
          <p:cNvSpPr txBox="1"/>
          <p:nvPr/>
        </p:nvSpPr>
        <p:spPr>
          <a:xfrm>
            <a:off x="640080" y="6126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B4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과거와 미래에 대한 독백에서 현재 감각의 한마디로 수렴하는 대사 구조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A6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code-154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B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TIMELINE  00:00 - 02:07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127초 타임라인</a:t>
            </a:r>
            <a:endParaRPr lang="en-US" sz="2600" dirty="0"/>
          </a:p>
        </p:txBody>
      </p:sp>
      <p:sp>
        <p:nvSpPr>
          <p:cNvPr id="4" name="rect-155"/>
          <p:cNvSpPr/>
          <p:nvPr/>
        </p:nvSpPr>
        <p:spPr>
          <a:xfrm>
            <a:off x="658368" y="2011680"/>
            <a:ext cx="1432224" cy="1280160"/>
          </a:xfrm>
          <a:prstGeom prst="rect">
            <a:avLst/>
          </a:prstGeom>
          <a:solidFill>
            <a:srgbClr val="31404B"/>
          </a:solidFill>
          <a:ln w="9525">
            <a:solidFill>
              <a:srgbClr val="4A443F"/>
            </a:solidFill>
            <a:prstDash val="solid"/>
          </a:ln>
        </p:spPr>
      </p:sp>
      <p:sp>
        <p:nvSpPr>
          <p:cNvPr id="5" name="text-156"/>
          <p:cNvSpPr txBox="1"/>
          <p:nvPr/>
        </p:nvSpPr>
        <p:spPr>
          <a:xfrm>
            <a:off x="777240" y="2121408"/>
            <a:ext cx="119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S#1</a:t>
            </a:r>
            <a:endParaRPr lang="en-US" sz="1200" dirty="0"/>
          </a:p>
        </p:txBody>
      </p:sp>
      <p:sp>
        <p:nvSpPr>
          <p:cNvPr id="6" name="text-157"/>
          <p:cNvSpPr txBox="1"/>
          <p:nvPr/>
        </p:nvSpPr>
        <p:spPr>
          <a:xfrm>
            <a:off x="777240" y="2450592"/>
            <a:ext cx="119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 출근길</a:t>
            </a:r>
            <a:endParaRPr lang="en-US" sz="1100" dirty="0"/>
          </a:p>
        </p:txBody>
      </p:sp>
      <p:sp>
        <p:nvSpPr>
          <p:cNvPr id="7" name="text-158"/>
          <p:cNvSpPr txBox="1"/>
          <p:nvPr/>
        </p:nvSpPr>
        <p:spPr>
          <a:xfrm>
            <a:off x="777240" y="2907792"/>
            <a:ext cx="119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17초</a:t>
            </a:r>
            <a:endParaRPr lang="en-US" sz="1100" dirty="0"/>
          </a:p>
        </p:txBody>
      </p:sp>
      <p:sp>
        <p:nvSpPr>
          <p:cNvPr id="8" name="text-159"/>
          <p:cNvSpPr txBox="1"/>
          <p:nvPr/>
        </p:nvSpPr>
        <p:spPr>
          <a:xfrm>
            <a:off x="640080" y="1691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A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00:00:00</a:t>
            </a:r>
            <a:endParaRPr lang="en-US" sz="950" dirty="0"/>
          </a:p>
        </p:txBody>
      </p:sp>
      <p:sp>
        <p:nvSpPr>
          <p:cNvPr id="9" name="rect-160"/>
          <p:cNvSpPr/>
          <p:nvPr/>
        </p:nvSpPr>
        <p:spPr>
          <a:xfrm>
            <a:off x="2127168" y="2011680"/>
            <a:ext cx="1345824" cy="1280160"/>
          </a:xfrm>
          <a:prstGeom prst="rect">
            <a:avLst/>
          </a:prstGeom>
          <a:solidFill>
            <a:srgbClr val="3C494F"/>
          </a:solidFill>
          <a:ln w="9525">
            <a:solidFill>
              <a:srgbClr val="4A443F"/>
            </a:solidFill>
            <a:prstDash val="solid"/>
          </a:ln>
        </p:spPr>
      </p:sp>
      <p:sp>
        <p:nvSpPr>
          <p:cNvPr id="10" name="text-161"/>
          <p:cNvSpPr txBox="1"/>
          <p:nvPr/>
        </p:nvSpPr>
        <p:spPr>
          <a:xfrm>
            <a:off x="2246040" y="2121408"/>
            <a:ext cx="110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S#2</a:t>
            </a:r>
            <a:endParaRPr lang="en-US" sz="1200" dirty="0"/>
          </a:p>
        </p:txBody>
      </p:sp>
      <p:sp>
        <p:nvSpPr>
          <p:cNvPr id="11" name="text-162"/>
          <p:cNvSpPr txBox="1"/>
          <p:nvPr/>
        </p:nvSpPr>
        <p:spPr>
          <a:xfrm>
            <a:off x="2246040" y="2450592"/>
            <a:ext cx="110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몽타주</a:t>
            </a:r>
            <a:endParaRPr lang="en-US" sz="1100" dirty="0"/>
          </a:p>
        </p:txBody>
      </p:sp>
      <p:sp>
        <p:nvSpPr>
          <p:cNvPr id="12" name="text-163"/>
          <p:cNvSpPr txBox="1"/>
          <p:nvPr/>
        </p:nvSpPr>
        <p:spPr>
          <a:xfrm>
            <a:off x="2246040" y="2907792"/>
            <a:ext cx="110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16초</a:t>
            </a:r>
            <a:endParaRPr lang="en-US" sz="1100" dirty="0"/>
          </a:p>
        </p:txBody>
      </p:sp>
      <p:sp>
        <p:nvSpPr>
          <p:cNvPr id="13" name="text-164"/>
          <p:cNvSpPr txBox="1"/>
          <p:nvPr/>
        </p:nvSpPr>
        <p:spPr>
          <a:xfrm>
            <a:off x="2108880" y="1691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A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00:00:17</a:t>
            </a:r>
            <a:endParaRPr lang="en-US" sz="950" dirty="0"/>
          </a:p>
        </p:txBody>
      </p:sp>
      <p:sp>
        <p:nvSpPr>
          <p:cNvPr id="14" name="rect-165"/>
          <p:cNvSpPr/>
          <p:nvPr/>
        </p:nvSpPr>
        <p:spPr>
          <a:xfrm>
            <a:off x="3509568" y="2011680"/>
            <a:ext cx="1605024" cy="1280160"/>
          </a:xfrm>
          <a:prstGeom prst="rect">
            <a:avLst/>
          </a:prstGeom>
          <a:solidFill>
            <a:srgbClr val="4A4F4F"/>
          </a:solidFill>
          <a:ln w="9525">
            <a:solidFill>
              <a:srgbClr val="4A443F"/>
            </a:solidFill>
            <a:prstDash val="solid"/>
          </a:ln>
        </p:spPr>
      </p:sp>
      <p:sp>
        <p:nvSpPr>
          <p:cNvPr id="15" name="text-166"/>
          <p:cNvSpPr txBox="1"/>
          <p:nvPr/>
        </p:nvSpPr>
        <p:spPr>
          <a:xfrm>
            <a:off x="3628440" y="2121408"/>
            <a:ext cx="136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S#3</a:t>
            </a:r>
            <a:endParaRPr lang="en-US" sz="1200" dirty="0"/>
          </a:p>
        </p:txBody>
      </p:sp>
      <p:sp>
        <p:nvSpPr>
          <p:cNvPr id="16" name="text-167"/>
          <p:cNvSpPr txBox="1"/>
          <p:nvPr/>
        </p:nvSpPr>
        <p:spPr>
          <a:xfrm>
            <a:off x="3628440" y="2450592"/>
            <a:ext cx="136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상담실 1차</a:t>
            </a:r>
            <a:endParaRPr lang="en-US" sz="1100" dirty="0"/>
          </a:p>
        </p:txBody>
      </p:sp>
      <p:sp>
        <p:nvSpPr>
          <p:cNvPr id="17" name="text-168"/>
          <p:cNvSpPr txBox="1"/>
          <p:nvPr/>
        </p:nvSpPr>
        <p:spPr>
          <a:xfrm>
            <a:off x="3628440" y="2907792"/>
            <a:ext cx="136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19초</a:t>
            </a:r>
            <a:endParaRPr lang="en-US" sz="1100" dirty="0"/>
          </a:p>
        </p:txBody>
      </p:sp>
      <p:sp>
        <p:nvSpPr>
          <p:cNvPr id="18" name="text-169"/>
          <p:cNvSpPr txBox="1"/>
          <p:nvPr/>
        </p:nvSpPr>
        <p:spPr>
          <a:xfrm>
            <a:off x="3491280" y="1691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A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00:00:33</a:t>
            </a:r>
            <a:endParaRPr lang="en-US" sz="950" dirty="0"/>
          </a:p>
        </p:txBody>
      </p:sp>
      <p:sp>
        <p:nvSpPr>
          <p:cNvPr id="19" name="rect-170"/>
          <p:cNvSpPr/>
          <p:nvPr/>
        </p:nvSpPr>
        <p:spPr>
          <a:xfrm>
            <a:off x="5151168" y="2011680"/>
            <a:ext cx="1345824" cy="1280160"/>
          </a:xfrm>
          <a:prstGeom prst="rect">
            <a:avLst/>
          </a:prstGeom>
          <a:solidFill>
            <a:srgbClr val="262D33"/>
          </a:solidFill>
          <a:ln w="9525">
            <a:solidFill>
              <a:srgbClr val="4A443F"/>
            </a:solidFill>
            <a:prstDash val="solid"/>
          </a:ln>
        </p:spPr>
      </p:sp>
      <p:sp>
        <p:nvSpPr>
          <p:cNvPr id="20" name="text-171"/>
          <p:cNvSpPr txBox="1"/>
          <p:nvPr/>
        </p:nvSpPr>
        <p:spPr>
          <a:xfrm>
            <a:off x="5270040" y="2121408"/>
            <a:ext cx="110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S#4</a:t>
            </a:r>
            <a:endParaRPr lang="en-US" sz="1200" dirty="0"/>
          </a:p>
        </p:txBody>
      </p:sp>
      <p:sp>
        <p:nvSpPr>
          <p:cNvPr id="21" name="text-172"/>
          <p:cNvSpPr txBox="1"/>
          <p:nvPr/>
        </p:nvSpPr>
        <p:spPr>
          <a:xfrm>
            <a:off x="5270040" y="2450592"/>
            <a:ext cx="110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질책과 패닉</a:t>
            </a:r>
            <a:endParaRPr lang="en-US" sz="1100" dirty="0"/>
          </a:p>
        </p:txBody>
      </p:sp>
      <p:sp>
        <p:nvSpPr>
          <p:cNvPr id="22" name="text-173"/>
          <p:cNvSpPr txBox="1"/>
          <p:nvPr/>
        </p:nvSpPr>
        <p:spPr>
          <a:xfrm>
            <a:off x="5270040" y="2907792"/>
            <a:ext cx="110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16초</a:t>
            </a:r>
            <a:endParaRPr lang="en-US" sz="1100" dirty="0"/>
          </a:p>
        </p:txBody>
      </p:sp>
      <p:sp>
        <p:nvSpPr>
          <p:cNvPr id="23" name="text-174"/>
          <p:cNvSpPr txBox="1"/>
          <p:nvPr/>
        </p:nvSpPr>
        <p:spPr>
          <a:xfrm>
            <a:off x="5132880" y="1691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A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00:00:52</a:t>
            </a:r>
            <a:endParaRPr lang="en-US" sz="950" dirty="0"/>
          </a:p>
        </p:txBody>
      </p:sp>
      <p:sp>
        <p:nvSpPr>
          <p:cNvPr id="24" name="rect-175"/>
          <p:cNvSpPr/>
          <p:nvPr/>
        </p:nvSpPr>
        <p:spPr>
          <a:xfrm>
            <a:off x="6533568" y="2011680"/>
            <a:ext cx="2469024" cy="1280160"/>
          </a:xfrm>
          <a:prstGeom prst="rect">
            <a:avLst/>
          </a:prstGeom>
          <a:solidFill>
            <a:srgbClr val="8A6A45"/>
          </a:solidFill>
          <a:ln w="9525">
            <a:solidFill>
              <a:srgbClr val="4A443F"/>
            </a:solidFill>
            <a:prstDash val="solid"/>
          </a:ln>
        </p:spPr>
      </p:sp>
      <p:sp>
        <p:nvSpPr>
          <p:cNvPr id="25" name="text-176"/>
          <p:cNvSpPr txBox="1"/>
          <p:nvPr/>
        </p:nvSpPr>
        <p:spPr>
          <a:xfrm>
            <a:off x="6652440" y="2121408"/>
            <a:ext cx="223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S#5</a:t>
            </a:r>
            <a:endParaRPr lang="en-US" sz="1200" dirty="0"/>
          </a:p>
        </p:txBody>
      </p:sp>
      <p:sp>
        <p:nvSpPr>
          <p:cNvPr id="26" name="text-177"/>
          <p:cNvSpPr txBox="1"/>
          <p:nvPr/>
        </p:nvSpPr>
        <p:spPr>
          <a:xfrm>
            <a:off x="6652440" y="2450592"/>
            <a:ext cx="223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상담실 2차 · 전환</a:t>
            </a:r>
            <a:endParaRPr lang="en-US" sz="1100" dirty="0"/>
          </a:p>
        </p:txBody>
      </p:sp>
      <p:sp>
        <p:nvSpPr>
          <p:cNvPr id="27" name="text-178"/>
          <p:cNvSpPr txBox="1"/>
          <p:nvPr/>
        </p:nvSpPr>
        <p:spPr>
          <a:xfrm>
            <a:off x="6652440" y="2907792"/>
            <a:ext cx="223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29초</a:t>
            </a:r>
            <a:endParaRPr lang="en-US" sz="1100" dirty="0"/>
          </a:p>
        </p:txBody>
      </p:sp>
      <p:sp>
        <p:nvSpPr>
          <p:cNvPr id="28" name="text-179"/>
          <p:cNvSpPr txBox="1"/>
          <p:nvPr/>
        </p:nvSpPr>
        <p:spPr>
          <a:xfrm>
            <a:off x="6515280" y="1691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A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00:01:08</a:t>
            </a:r>
            <a:endParaRPr lang="en-US" sz="950" dirty="0"/>
          </a:p>
        </p:txBody>
      </p:sp>
      <p:sp>
        <p:nvSpPr>
          <p:cNvPr id="29" name="rect-180"/>
          <p:cNvSpPr/>
          <p:nvPr/>
        </p:nvSpPr>
        <p:spPr>
          <a:xfrm>
            <a:off x="9039168" y="2011680"/>
            <a:ext cx="2555424" cy="1280160"/>
          </a:xfrm>
          <a:prstGeom prst="rect">
            <a:avLst/>
          </a:prstGeom>
          <a:solidFill>
            <a:srgbClr val="C8673A"/>
          </a:solidFill>
          <a:ln w="9525">
            <a:solidFill>
              <a:srgbClr val="4A443F"/>
            </a:solidFill>
            <a:prstDash val="solid"/>
          </a:ln>
        </p:spPr>
      </p:sp>
      <p:sp>
        <p:nvSpPr>
          <p:cNvPr id="30" name="text-181"/>
          <p:cNvSpPr txBox="1"/>
          <p:nvPr/>
        </p:nvSpPr>
        <p:spPr>
          <a:xfrm>
            <a:off x="9158040" y="2121408"/>
            <a:ext cx="231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S#6</a:t>
            </a:r>
            <a:endParaRPr lang="en-US" sz="1200" dirty="0"/>
          </a:p>
        </p:txBody>
      </p:sp>
      <p:sp>
        <p:nvSpPr>
          <p:cNvPr id="31" name="text-182"/>
          <p:cNvSpPr txBox="1"/>
          <p:nvPr/>
        </p:nvSpPr>
        <p:spPr>
          <a:xfrm>
            <a:off x="9158040" y="2450592"/>
            <a:ext cx="231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퇴근길 · 감각의 회복</a:t>
            </a:r>
            <a:endParaRPr lang="en-US" sz="1100" dirty="0"/>
          </a:p>
        </p:txBody>
      </p:sp>
      <p:sp>
        <p:nvSpPr>
          <p:cNvPr id="32" name="text-183"/>
          <p:cNvSpPr txBox="1"/>
          <p:nvPr/>
        </p:nvSpPr>
        <p:spPr>
          <a:xfrm>
            <a:off x="9158040" y="2907792"/>
            <a:ext cx="231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30초</a:t>
            </a:r>
            <a:endParaRPr lang="en-US" sz="1100" dirty="0"/>
          </a:p>
        </p:txBody>
      </p:sp>
      <p:sp>
        <p:nvSpPr>
          <p:cNvPr id="33" name="text-184"/>
          <p:cNvSpPr txBox="1"/>
          <p:nvPr/>
        </p:nvSpPr>
        <p:spPr>
          <a:xfrm>
            <a:off x="9020880" y="1691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A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00:01:37</a:t>
            </a:r>
            <a:endParaRPr lang="en-US" sz="950" dirty="0"/>
          </a:p>
        </p:txBody>
      </p:sp>
      <p:sp>
        <p:nvSpPr>
          <p:cNvPr id="34" name="text-185"/>
          <p:cNvSpPr txBox="1"/>
          <p:nvPr/>
        </p:nvSpPr>
        <p:spPr>
          <a:xfrm>
            <a:off x="10515600" y="1691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B0A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00:02:07</a:t>
            </a:r>
            <a:endParaRPr lang="en-US" sz="950" dirty="0"/>
          </a:p>
        </p:txBody>
      </p:sp>
      <p:sp>
        <p:nvSpPr>
          <p:cNvPr id="35" name="rect-186"/>
          <p:cNvSpPr/>
          <p:nvPr/>
        </p:nvSpPr>
        <p:spPr>
          <a:xfrm>
            <a:off x="640080" y="3794760"/>
            <a:ext cx="3547872" cy="2103120"/>
          </a:xfrm>
          <a:prstGeom prst="rect">
            <a:avLst/>
          </a:prstGeom>
          <a:solidFill>
            <a:srgbClr val="3A3633"/>
          </a:solidFill>
          <a:ln/>
        </p:spPr>
      </p:sp>
      <p:sp>
        <p:nvSpPr>
          <p:cNvPr id="36" name="text-187"/>
          <p:cNvSpPr txBox="1"/>
          <p:nvPr/>
        </p:nvSpPr>
        <p:spPr>
          <a:xfrm>
            <a:off x="914400" y="3977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C4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16~19초</a:t>
            </a:r>
            <a:endParaRPr lang="en-US" sz="2800" dirty="0"/>
          </a:p>
        </p:txBody>
      </p:sp>
      <p:sp>
        <p:nvSpPr>
          <p:cNvPr id="37" name="text-188"/>
          <p:cNvSpPr txBox="1"/>
          <p:nvPr/>
        </p:nvSpPr>
        <p:spPr>
          <a:xfrm>
            <a:off x="914400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S#1 ~ S#4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불안과 압박의 전반부</a:t>
            </a:r>
            <a:endParaRPr lang="en-US" sz="1300" dirty="0"/>
          </a:p>
        </p:txBody>
      </p:sp>
      <p:sp>
        <p:nvSpPr>
          <p:cNvPr id="38" name="rect-189"/>
          <p:cNvSpPr/>
          <p:nvPr/>
        </p:nvSpPr>
        <p:spPr>
          <a:xfrm>
            <a:off x="4352544" y="3794760"/>
            <a:ext cx="3547872" cy="2103120"/>
          </a:xfrm>
          <a:prstGeom prst="rect">
            <a:avLst/>
          </a:prstGeom>
          <a:solidFill>
            <a:srgbClr val="3A3633"/>
          </a:solidFill>
          <a:ln/>
        </p:spPr>
      </p:sp>
      <p:sp>
        <p:nvSpPr>
          <p:cNvPr id="39" name="text-190"/>
          <p:cNvSpPr txBox="1"/>
          <p:nvPr/>
        </p:nvSpPr>
        <p:spPr>
          <a:xfrm>
            <a:off x="4626864" y="3977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B4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29초</a:t>
            </a:r>
            <a:endParaRPr lang="en-US" sz="2800" dirty="0"/>
          </a:p>
        </p:txBody>
      </p:sp>
      <p:sp>
        <p:nvSpPr>
          <p:cNvPr id="40" name="text-191"/>
          <p:cNvSpPr txBox="1"/>
          <p:nvPr/>
        </p:nvSpPr>
        <p:spPr>
          <a:xfrm>
            <a:off x="4626864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S#5 가장 긴 전환 구간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색이 풀리는 시간 확보</a:t>
            </a:r>
            <a:endParaRPr lang="en-US" sz="1300" dirty="0"/>
          </a:p>
        </p:txBody>
      </p:sp>
      <p:sp>
        <p:nvSpPr>
          <p:cNvPr id="41" name="rect-192"/>
          <p:cNvSpPr/>
          <p:nvPr/>
        </p:nvSpPr>
        <p:spPr>
          <a:xfrm>
            <a:off x="8065008" y="3794760"/>
            <a:ext cx="3547872" cy="2103120"/>
          </a:xfrm>
          <a:prstGeom prst="rect">
            <a:avLst/>
          </a:prstGeom>
          <a:solidFill>
            <a:srgbClr val="3A3633"/>
          </a:solidFill>
          <a:ln/>
        </p:spPr>
      </p:sp>
      <p:sp>
        <p:nvSpPr>
          <p:cNvPr id="42" name="text-193"/>
          <p:cNvSpPr txBox="1"/>
          <p:nvPr/>
        </p:nvSpPr>
        <p:spPr>
          <a:xfrm>
            <a:off x="8339328" y="3977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8C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30초</a:t>
            </a:r>
            <a:endParaRPr lang="en-US" sz="2800" dirty="0"/>
          </a:p>
        </p:txBody>
      </p:sp>
      <p:sp>
        <p:nvSpPr>
          <p:cNvPr id="43" name="text-194"/>
          <p:cNvSpPr txBox="1"/>
          <p:nvPr/>
        </p:nvSpPr>
        <p:spPr>
          <a:xfrm>
            <a:off x="8339328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S#6 엔딩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감각 인서트 중심의 여유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A6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code-195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B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 SHEET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 설계 방식: 6항목 기술</a:t>
            </a:r>
            <a:endParaRPr lang="en-US" sz="2600" dirty="0"/>
          </a:p>
        </p:txBody>
      </p:sp>
      <p:sp>
        <p:nvSpPr>
          <p:cNvPr id="4" name="rect-196"/>
          <p:cNvSpPr/>
          <p:nvPr/>
        </p:nvSpPr>
        <p:spPr>
          <a:xfrm>
            <a:off x="640080" y="1600200"/>
            <a:ext cx="5120640" cy="621792"/>
          </a:xfrm>
          <a:prstGeom prst="rect">
            <a:avLst/>
          </a:prstGeom>
          <a:solidFill>
            <a:srgbClr val="3A3633"/>
          </a:solidFill>
          <a:ln/>
        </p:spPr>
      </p:sp>
      <p:sp>
        <p:nvSpPr>
          <p:cNvPr id="5" name="text-197"/>
          <p:cNvSpPr txBox="1"/>
          <p:nvPr/>
        </p:nvSpPr>
        <p:spPr>
          <a:xfrm>
            <a:off x="868680" y="160020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B4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endParaRPr lang="en-US" sz="1300" dirty="0"/>
          </a:p>
        </p:txBody>
      </p:sp>
      <p:sp>
        <p:nvSpPr>
          <p:cNvPr id="6" name="text-198"/>
          <p:cNvSpPr txBox="1"/>
          <p:nvPr/>
        </p:nvSpPr>
        <p:spPr>
          <a:xfrm>
            <a:off x="2103120" y="160020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핸드헬드, 고정, 로우앵글 등 카메라 운용</a:t>
            </a:r>
            <a:endParaRPr lang="en-US" sz="1150" dirty="0"/>
          </a:p>
        </p:txBody>
      </p:sp>
      <p:sp>
        <p:nvSpPr>
          <p:cNvPr id="7" name="rect-199"/>
          <p:cNvSpPr/>
          <p:nvPr/>
        </p:nvSpPr>
        <p:spPr>
          <a:xfrm>
            <a:off x="640080" y="2331720"/>
            <a:ext cx="5120640" cy="621792"/>
          </a:xfrm>
          <a:prstGeom prst="rect">
            <a:avLst/>
          </a:prstGeom>
          <a:solidFill>
            <a:srgbClr val="3A3633"/>
          </a:solidFill>
          <a:ln/>
        </p:spPr>
      </p:sp>
      <p:sp>
        <p:nvSpPr>
          <p:cNvPr id="8" name="text-200"/>
          <p:cNvSpPr txBox="1"/>
          <p:nvPr/>
        </p:nvSpPr>
        <p:spPr>
          <a:xfrm>
            <a:off x="868680" y="233172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B4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구도</a:t>
            </a:r>
            <a:endParaRPr lang="en-US" sz="1300" dirty="0"/>
          </a:p>
        </p:txBody>
      </p:sp>
      <p:sp>
        <p:nvSpPr>
          <p:cNvPr id="9" name="text-201"/>
          <p:cNvSpPr txBox="1"/>
          <p:nvPr/>
        </p:nvSpPr>
        <p:spPr>
          <a:xfrm>
            <a:off x="2103120" y="233172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인물을 가두는 프레임, 오픈 구도 등 화면 배치</a:t>
            </a:r>
            <a:endParaRPr lang="en-US" sz="1150" dirty="0"/>
          </a:p>
        </p:txBody>
      </p:sp>
      <p:sp>
        <p:nvSpPr>
          <p:cNvPr id="10" name="rect-202"/>
          <p:cNvSpPr/>
          <p:nvPr/>
        </p:nvSpPr>
        <p:spPr>
          <a:xfrm>
            <a:off x="640080" y="3063240"/>
            <a:ext cx="5120640" cy="621792"/>
          </a:xfrm>
          <a:prstGeom prst="rect">
            <a:avLst/>
          </a:prstGeom>
          <a:solidFill>
            <a:srgbClr val="3A3633"/>
          </a:solidFill>
          <a:ln/>
        </p:spPr>
      </p:sp>
      <p:sp>
        <p:nvSpPr>
          <p:cNvPr id="11" name="text-203"/>
          <p:cNvSpPr txBox="1"/>
          <p:nvPr/>
        </p:nvSpPr>
        <p:spPr>
          <a:xfrm>
            <a:off x="868680" y="306324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B4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</a:t>
            </a:r>
            <a:endParaRPr lang="en-US" sz="1300" dirty="0"/>
          </a:p>
        </p:txBody>
      </p:sp>
      <p:sp>
        <p:nvSpPr>
          <p:cNvPr id="12" name="text-204"/>
          <p:cNvSpPr txBox="1"/>
          <p:nvPr/>
        </p:nvSpPr>
        <p:spPr>
          <a:xfrm>
            <a:off x="2103120" y="306324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형광등 하드라이트, 노을 역광 등 빛의 성격</a:t>
            </a:r>
            <a:endParaRPr lang="en-US" sz="1150" dirty="0"/>
          </a:p>
        </p:txBody>
      </p:sp>
      <p:sp>
        <p:nvSpPr>
          <p:cNvPr id="13" name="rect-205"/>
          <p:cNvSpPr/>
          <p:nvPr/>
        </p:nvSpPr>
        <p:spPr>
          <a:xfrm>
            <a:off x="640080" y="3794760"/>
            <a:ext cx="5120640" cy="621792"/>
          </a:xfrm>
          <a:prstGeom prst="rect">
            <a:avLst/>
          </a:prstGeom>
          <a:solidFill>
            <a:srgbClr val="3A3633"/>
          </a:solidFill>
          <a:ln/>
        </p:spPr>
      </p:sp>
      <p:sp>
        <p:nvSpPr>
          <p:cNvPr id="14" name="text-206"/>
          <p:cNvSpPr txBox="1"/>
          <p:nvPr/>
        </p:nvSpPr>
        <p:spPr>
          <a:xfrm>
            <a:off x="868680" y="379476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B4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재생시간</a:t>
            </a:r>
            <a:endParaRPr lang="en-US" sz="1300" dirty="0"/>
          </a:p>
        </p:txBody>
      </p:sp>
      <p:sp>
        <p:nvSpPr>
          <p:cNvPr id="15" name="text-207"/>
          <p:cNvSpPr txBox="1"/>
          <p:nvPr/>
        </p:nvSpPr>
        <p:spPr>
          <a:xfrm>
            <a:off x="2103120" y="379476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 단위 초 단위 지정, 씬 소계와 합계 관리</a:t>
            </a:r>
            <a:endParaRPr lang="en-US" sz="1150" dirty="0"/>
          </a:p>
        </p:txBody>
      </p:sp>
      <p:sp>
        <p:nvSpPr>
          <p:cNvPr id="16" name="rect-208"/>
          <p:cNvSpPr/>
          <p:nvPr/>
        </p:nvSpPr>
        <p:spPr>
          <a:xfrm>
            <a:off x="640080" y="4526280"/>
            <a:ext cx="5120640" cy="621792"/>
          </a:xfrm>
          <a:prstGeom prst="rect">
            <a:avLst/>
          </a:prstGeom>
          <a:solidFill>
            <a:srgbClr val="3A3633"/>
          </a:solidFill>
          <a:ln/>
        </p:spPr>
      </p:sp>
      <p:sp>
        <p:nvSpPr>
          <p:cNvPr id="17" name="text-209"/>
          <p:cNvSpPr txBox="1"/>
          <p:nvPr/>
        </p:nvSpPr>
        <p:spPr>
          <a:xfrm>
            <a:off x="868680" y="452628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B4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지문</a:t>
            </a:r>
            <a:endParaRPr lang="en-US" sz="1300" dirty="0"/>
          </a:p>
        </p:txBody>
      </p:sp>
      <p:sp>
        <p:nvSpPr>
          <p:cNvPr id="18" name="text-210"/>
          <p:cNvSpPr txBox="1"/>
          <p:nvPr/>
        </p:nvSpPr>
        <p:spPr>
          <a:xfrm>
            <a:off x="2103120" y="452628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인물 행동과 심리의 시각적 묘사</a:t>
            </a:r>
            <a:endParaRPr lang="en-US" sz="1150" dirty="0"/>
          </a:p>
        </p:txBody>
      </p:sp>
      <p:sp>
        <p:nvSpPr>
          <p:cNvPr id="19" name="rect-211"/>
          <p:cNvSpPr/>
          <p:nvPr/>
        </p:nvSpPr>
        <p:spPr>
          <a:xfrm>
            <a:off x="640080" y="5257800"/>
            <a:ext cx="5120640" cy="621792"/>
          </a:xfrm>
          <a:prstGeom prst="rect">
            <a:avLst/>
          </a:prstGeom>
          <a:solidFill>
            <a:srgbClr val="3A3633"/>
          </a:solidFill>
          <a:ln/>
        </p:spPr>
      </p:sp>
      <p:sp>
        <p:nvSpPr>
          <p:cNvPr id="20" name="text-212"/>
          <p:cNvSpPr txBox="1"/>
          <p:nvPr/>
        </p:nvSpPr>
        <p:spPr>
          <a:xfrm>
            <a:off x="868680" y="525780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B4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대사</a:t>
            </a:r>
            <a:endParaRPr lang="en-US" sz="1300" dirty="0"/>
          </a:p>
        </p:txBody>
      </p:sp>
      <p:sp>
        <p:nvSpPr>
          <p:cNvPr id="21" name="text-213"/>
          <p:cNvSpPr txBox="1"/>
          <p:nvPr/>
        </p:nvSpPr>
        <p:spPr>
          <a:xfrm>
            <a:off x="2103120" y="525780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화자와 V.O. 구분</a:t>
            </a:r>
            <a:endParaRPr lang="en-US" sz="1150" dirty="0"/>
          </a:p>
        </p:txBody>
      </p:sp>
      <p:pic>
        <p:nvPicPr>
          <p:cNvPr id="22" name="img-s5-4-214" descr="S#5 컷04 심상 컷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7788" y="1600200"/>
            <a:ext cx="4876800" cy="2743200"/>
          </a:xfrm>
          <a:prstGeom prst="rect">
            <a:avLst/>
          </a:prstGeom>
        </p:spPr>
      </p:pic>
      <p:sp>
        <p:nvSpPr>
          <p:cNvPr id="23" name="rect-215"/>
          <p:cNvSpPr/>
          <p:nvPr/>
        </p:nvSpPr>
        <p:spPr>
          <a:xfrm>
            <a:off x="6080760" y="4800600"/>
            <a:ext cx="5470855" cy="1325880"/>
          </a:xfrm>
          <a:prstGeom prst="rect">
            <a:avLst/>
          </a:prstGeom>
          <a:solidFill>
            <a:srgbClr val="F4EDE4"/>
          </a:solidFill>
          <a:ln/>
        </p:spPr>
      </p:sp>
      <p:sp>
        <p:nvSpPr>
          <p:cNvPr id="24" name="text-216"/>
          <p:cNvSpPr txBox="1"/>
          <p:nvPr/>
        </p:nvSpPr>
        <p:spPr>
          <a:xfrm>
            <a:off x="6355080" y="4892040"/>
            <a:ext cx="49222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A6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S#5 컷04 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A1C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추상적 인서트 몽타주 · 8초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조명: 무채색에서 옅은 색이 스며드는 그라데이션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지문: 불안한 생각들이 구름처럼 지나가는 것을 관조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A6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code-217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S#1 00:00-00:17  ·  S#2 00:17-00:33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S#1 지하철 출근길 · S#2 일상 몽타주</a:t>
            </a:r>
            <a:endParaRPr lang="en-US" sz="2600" dirty="0"/>
          </a:p>
        </p:txBody>
      </p:sp>
      <p:sp>
        <p:nvSpPr>
          <p:cNvPr id="4" name="rect-218"/>
          <p:cNvSpPr/>
          <p:nvPr/>
        </p:nvSpPr>
        <p:spPr>
          <a:xfrm>
            <a:off x="10149840" y="1508760"/>
            <a:ext cx="1463040" cy="4754880"/>
          </a:xfrm>
          <a:prstGeom prst="rect">
            <a:avLst/>
          </a:prstGeom>
          <a:solidFill>
            <a:srgbClr val="2A333D"/>
          </a:solidFill>
          <a:ln/>
        </p:spPr>
      </p:sp>
      <p:sp>
        <p:nvSpPr>
          <p:cNvPr id="5" name="text-219"/>
          <p:cNvSpPr txBox="1"/>
          <p:nvPr/>
        </p:nvSpPr>
        <p:spPr>
          <a:xfrm>
            <a:off x="10314432" y="1664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F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톤</a:t>
            </a:r>
            <a:endParaRPr lang="en-US" sz="1100" dirty="0"/>
          </a:p>
        </p:txBody>
      </p:sp>
      <p:sp>
        <p:nvSpPr>
          <p:cNvPr id="6" name="text-220"/>
          <p:cNvSpPr txBox="1"/>
          <p:nvPr/>
        </p:nvSpPr>
        <p:spPr>
          <a:xfrm>
            <a:off x="10314432" y="1993392"/>
            <a:ext cx="1143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차갑고 탁한 청회색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형광등, 차가운 인공광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무채색, 낮은 채도</a:t>
            </a:r>
            <a:endParaRPr lang="en-US" sz="1100" dirty="0"/>
          </a:p>
        </p:txBody>
      </p:sp>
      <p:pic>
        <p:nvPicPr>
          <p:cNvPr id="7" name="img-s1-1-221" descr="s1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3017520" cy="1697355"/>
          </a:xfrm>
          <a:prstGeom prst="rect">
            <a:avLst/>
          </a:prstGeom>
        </p:spPr>
      </p:pic>
      <p:sp>
        <p:nvSpPr>
          <p:cNvPr id="8" name="sb-caption-222"/>
          <p:cNvSpPr txBox="1"/>
          <p:nvPr/>
        </p:nvSpPr>
        <p:spPr>
          <a:xfrm>
            <a:off x="640080" y="327926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컷01 · 6초   </a:t>
            </a:r>
            <a:pPr indent="0" marL="0">
              <a:buNone/>
            </a:pPr>
            <a:r>
              <a:rPr lang="en-US" sz="105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핸드헬드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손잡이와 창틀에 갇힌 수현</a:t>
            </a:r>
            <a:endParaRPr lang="en-US" sz="1050" dirty="0"/>
          </a:p>
        </p:txBody>
      </p:sp>
      <p:pic>
        <p:nvPicPr>
          <p:cNvPr id="9" name="img-s1-2-223" descr="s1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508760"/>
            <a:ext cx="3017520" cy="1697355"/>
          </a:xfrm>
          <a:prstGeom prst="rect">
            <a:avLst/>
          </a:prstGeom>
        </p:spPr>
      </p:pic>
      <p:sp>
        <p:nvSpPr>
          <p:cNvPr id="10" name="sb-caption-224"/>
          <p:cNvSpPr txBox="1"/>
          <p:nvPr/>
        </p:nvSpPr>
        <p:spPr>
          <a:xfrm>
            <a:off x="3794760" y="327926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컷02 · 5초   </a:t>
            </a:r>
            <a:pPr indent="0" marL="0">
              <a:buNone/>
            </a:pPr>
            <a:r>
              <a:rPr lang="en-US" sz="105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클로즈업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초점 없는 눈동자, 「그때 이직을 했어야 했나...」</a:t>
            </a:r>
            <a:endParaRPr lang="en-US" sz="1050" dirty="0"/>
          </a:p>
        </p:txBody>
      </p:sp>
      <p:pic>
        <p:nvPicPr>
          <p:cNvPr id="11" name="img-s1-3-225" descr="s1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508760"/>
            <a:ext cx="3017520" cy="1697355"/>
          </a:xfrm>
          <a:prstGeom prst="rect">
            <a:avLst/>
          </a:prstGeom>
        </p:spPr>
      </p:pic>
      <p:sp>
        <p:nvSpPr>
          <p:cNvPr id="12" name="sb-caption-226"/>
          <p:cNvSpPr txBox="1"/>
          <p:nvPr/>
        </p:nvSpPr>
        <p:spPr>
          <a:xfrm>
            <a:off x="6949440" y="327926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컷03 · 6초   </a:t>
            </a:r>
            <a:pPr indent="0" marL="0">
              <a:buNone/>
            </a:pPr>
            <a:r>
              <a:rPr lang="en-US" sz="105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핸드헬드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창에 비친 얼굴과 도시 풍경의 오버랩</a:t>
            </a:r>
            <a:endParaRPr lang="en-US" sz="1050" dirty="0"/>
          </a:p>
        </p:txBody>
      </p:sp>
      <p:pic>
        <p:nvPicPr>
          <p:cNvPr id="13" name="img-s2-1-227" descr="s2-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20090"/>
            <a:ext cx="3017520" cy="1697355"/>
          </a:xfrm>
          <a:prstGeom prst="rect">
            <a:avLst/>
          </a:prstGeom>
        </p:spPr>
      </p:pic>
      <p:sp>
        <p:nvSpPr>
          <p:cNvPr id="14" name="sb-caption-228"/>
          <p:cNvSpPr txBox="1"/>
          <p:nvPr/>
        </p:nvSpPr>
        <p:spPr>
          <a:xfrm>
            <a:off x="640080" y="569059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컷01 · 5초   </a:t>
            </a:r>
            <a:pPr indent="0" marL="0">
              <a:buNone/>
            </a:pPr>
            <a:r>
              <a:rPr lang="en-US" sz="105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서류를 보는 굳은 표정의 수현</a:t>
            </a:r>
            <a:endParaRPr lang="en-US" sz="1050" dirty="0"/>
          </a:p>
        </p:txBody>
      </p:sp>
      <p:pic>
        <p:nvPicPr>
          <p:cNvPr id="15" name="img-s2-2-229" descr="s2-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920090"/>
            <a:ext cx="3017520" cy="1697355"/>
          </a:xfrm>
          <a:prstGeom prst="rect">
            <a:avLst/>
          </a:prstGeom>
        </p:spPr>
      </p:pic>
      <p:sp>
        <p:nvSpPr>
          <p:cNvPr id="16" name="sb-caption-230"/>
          <p:cNvSpPr txBox="1"/>
          <p:nvPr/>
        </p:nvSpPr>
        <p:spPr>
          <a:xfrm>
            <a:off x="3794760" y="569059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컷02 · 5초   </a:t>
            </a:r>
            <a:pPr indent="0" marL="0">
              <a:buNone/>
            </a:pPr>
            <a:r>
              <a:rPr lang="en-US" sz="105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핸드헬드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식당 창가, 맛을 느끼지 못하는 점심</a:t>
            </a:r>
            <a:endParaRPr lang="en-US" sz="1050" dirty="0"/>
          </a:p>
        </p:txBody>
      </p:sp>
      <p:pic>
        <p:nvPicPr>
          <p:cNvPr id="17" name="img-s2-3-231" descr="s2-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3920090"/>
            <a:ext cx="3017520" cy="1697355"/>
          </a:xfrm>
          <a:prstGeom prst="rect">
            <a:avLst/>
          </a:prstGeom>
        </p:spPr>
      </p:pic>
      <p:sp>
        <p:nvSpPr>
          <p:cNvPr id="18" name="sb-caption-232"/>
          <p:cNvSpPr txBox="1"/>
          <p:nvPr/>
        </p:nvSpPr>
        <p:spPr>
          <a:xfrm>
            <a:off x="6949440" y="569059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컷03 · 6초   </a:t>
            </a:r>
            <a:pPr indent="0" marL="0">
              <a:buNone/>
            </a:pPr>
            <a:r>
              <a:rPr lang="en-US" sz="105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롱샷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퇴근길 인파 속 무표정한 수현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9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code-233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S#3  00:33 - 00:52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S#3 상담실 1차 방문</a:t>
            </a:r>
            <a:endParaRPr lang="en-US" sz="2600" dirty="0"/>
          </a:p>
        </p:txBody>
      </p:sp>
      <p:sp>
        <p:nvSpPr>
          <p:cNvPr id="4" name="rect-234"/>
          <p:cNvSpPr/>
          <p:nvPr/>
        </p:nvSpPr>
        <p:spPr>
          <a:xfrm>
            <a:off x="10149840" y="1508760"/>
            <a:ext cx="1463040" cy="4754880"/>
          </a:xfrm>
          <a:prstGeom prst="rect">
            <a:avLst/>
          </a:prstGeom>
          <a:solidFill>
            <a:srgbClr val="2A333D"/>
          </a:solidFill>
          <a:ln/>
        </p:spPr>
      </p:sp>
      <p:sp>
        <p:nvSpPr>
          <p:cNvPr id="5" name="text-235"/>
          <p:cNvSpPr txBox="1"/>
          <p:nvPr/>
        </p:nvSpPr>
        <p:spPr>
          <a:xfrm>
            <a:off x="10314432" y="1664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F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톤</a:t>
            </a:r>
            <a:endParaRPr lang="en-US" sz="1100" dirty="0"/>
          </a:p>
        </p:txBody>
      </p:sp>
      <p:sp>
        <p:nvSpPr>
          <p:cNvPr id="6" name="text-236"/>
          <p:cNvSpPr txBox="1"/>
          <p:nvPr/>
        </p:nvSpPr>
        <p:spPr>
          <a:xfrm>
            <a:off x="10314432" y="1993392"/>
            <a:ext cx="1143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은은하나 여전히 차분하고 탁한 실내광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창가광, 차분한 톤</a:t>
            </a:r>
            <a:endParaRPr lang="en-US" sz="1100" dirty="0"/>
          </a:p>
        </p:txBody>
      </p:sp>
      <p:pic>
        <p:nvPicPr>
          <p:cNvPr id="7" name="img-s3-1-237" descr="s3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645" y="1508760"/>
            <a:ext cx="2982389" cy="1698098"/>
          </a:xfrm>
          <a:prstGeom prst="rect">
            <a:avLst/>
          </a:prstGeom>
        </p:spPr>
      </p:pic>
      <p:sp>
        <p:nvSpPr>
          <p:cNvPr id="8" name="sb-caption-238"/>
          <p:cNvSpPr txBox="1"/>
          <p:nvPr/>
        </p:nvSpPr>
        <p:spPr>
          <a:xfrm>
            <a:off x="640080" y="328001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컷01 · 4초   </a:t>
            </a:r>
            <a:pPr indent="0" marL="0">
              <a:buNone/>
            </a:pPr>
            <a:r>
              <a:rPr lang="en-US" sz="105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와이드샷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빌딩 3층 상담실 '지금이라는 문'</a:t>
            </a:r>
            <a:endParaRPr lang="en-US" sz="1050" dirty="0"/>
          </a:p>
        </p:txBody>
      </p:sp>
      <p:pic>
        <p:nvPicPr>
          <p:cNvPr id="9" name="img-s3-2-239" descr="s3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508760"/>
            <a:ext cx="3017520" cy="1697355"/>
          </a:xfrm>
          <a:prstGeom prst="rect">
            <a:avLst/>
          </a:prstGeom>
        </p:spPr>
      </p:pic>
      <p:sp>
        <p:nvSpPr>
          <p:cNvPr id="10" name="sb-caption-240"/>
          <p:cNvSpPr txBox="1"/>
          <p:nvPr/>
        </p:nvSpPr>
        <p:spPr>
          <a:xfrm>
            <a:off x="3794760" y="327926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컷01 · 4초   </a:t>
            </a:r>
            <a:pPr indent="0" marL="0">
              <a:buNone/>
            </a:pPr>
            <a:r>
              <a:rPr lang="en-US" sz="105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와이드샷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차를 우려내는 도윤, 문을 열고 들어선 수현</a:t>
            </a:r>
            <a:endParaRPr lang="en-US" sz="1050" dirty="0"/>
          </a:p>
        </p:txBody>
      </p:sp>
      <p:pic>
        <p:nvPicPr>
          <p:cNvPr id="11" name="img-s3-3-241" descr="s3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508760"/>
            <a:ext cx="3017520" cy="1697355"/>
          </a:xfrm>
          <a:prstGeom prst="rect">
            <a:avLst/>
          </a:prstGeom>
        </p:spPr>
      </p:pic>
      <p:sp>
        <p:nvSpPr>
          <p:cNvPr id="12" name="sb-caption-242"/>
          <p:cNvSpPr txBox="1"/>
          <p:nvPr/>
        </p:nvSpPr>
        <p:spPr>
          <a:xfrm>
            <a:off x="6949440" y="327926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컷02 · 5초   </a:t>
            </a:r>
            <a:pPr indent="0" marL="0">
              <a:buNone/>
            </a:pPr>
            <a:r>
              <a:rPr lang="en-US" sz="105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투샷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「방금 마신 차의 온도와 향은 어땠나요?」</a:t>
            </a:r>
            <a:endParaRPr lang="en-US" sz="1050" dirty="0"/>
          </a:p>
        </p:txBody>
      </p:sp>
      <p:pic>
        <p:nvPicPr>
          <p:cNvPr id="13" name="img-s3-4-243" descr="s3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20090"/>
            <a:ext cx="3017520" cy="1697355"/>
          </a:xfrm>
          <a:prstGeom prst="rect">
            <a:avLst/>
          </a:prstGeom>
        </p:spPr>
      </p:pic>
      <p:sp>
        <p:nvSpPr>
          <p:cNvPr id="14" name="sb-caption-244"/>
          <p:cNvSpPr txBox="1"/>
          <p:nvPr/>
        </p:nvSpPr>
        <p:spPr>
          <a:xfrm>
            <a:off x="640080" y="569059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컷03 · 4초   </a:t>
            </a:r>
            <a:pPr indent="0" marL="0">
              <a:buNone/>
            </a:pPr>
            <a:r>
              <a:rPr lang="en-US" sz="105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클로즈업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말문이 막혀 시선을 피하는 수현</a:t>
            </a:r>
            <a:endParaRPr lang="en-US" sz="1050" dirty="0"/>
          </a:p>
        </p:txBody>
      </p:sp>
      <p:pic>
        <p:nvPicPr>
          <p:cNvPr id="15" name="img-s3-5-245" descr="s3-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920090"/>
            <a:ext cx="3017520" cy="1687925"/>
          </a:xfrm>
          <a:prstGeom prst="rect">
            <a:avLst/>
          </a:prstGeom>
        </p:spPr>
      </p:pic>
      <p:sp>
        <p:nvSpPr>
          <p:cNvPr id="16" name="sb-caption-246"/>
          <p:cNvSpPr txBox="1"/>
          <p:nvPr/>
        </p:nvSpPr>
        <p:spPr>
          <a:xfrm>
            <a:off x="3794760" y="568116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컷04 · 6초   </a:t>
            </a:r>
            <a:pPr indent="0" marL="0">
              <a:buNone/>
            </a:pPr>
            <a:r>
              <a:rPr lang="en-US" sz="105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클로즈업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담담하게 숙제를 내어주는 도윤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9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code-247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C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S#4  00:52 - 01:08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S#4 회사, 질책과 패닉</a:t>
            </a:r>
            <a:endParaRPr lang="en-US" sz="2600" dirty="0"/>
          </a:p>
        </p:txBody>
      </p:sp>
      <p:sp>
        <p:nvSpPr>
          <p:cNvPr id="4" name="rect-248"/>
          <p:cNvSpPr/>
          <p:nvPr/>
        </p:nvSpPr>
        <p:spPr>
          <a:xfrm>
            <a:off x="10149840" y="1508760"/>
            <a:ext cx="1463040" cy="4754880"/>
          </a:xfrm>
          <a:prstGeom prst="rect">
            <a:avLst/>
          </a:prstGeom>
          <a:solidFill>
            <a:srgbClr val="232A31"/>
          </a:solidFill>
          <a:ln/>
        </p:spPr>
      </p:sp>
      <p:sp>
        <p:nvSpPr>
          <p:cNvPr id="5" name="text-249"/>
          <p:cNvSpPr txBox="1"/>
          <p:nvPr/>
        </p:nvSpPr>
        <p:spPr>
          <a:xfrm>
            <a:off x="10314432" y="1664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C4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톤</a:t>
            </a:r>
            <a:endParaRPr lang="en-US" sz="1100" dirty="0"/>
          </a:p>
        </p:txBody>
      </p:sp>
      <p:sp>
        <p:nvSpPr>
          <p:cNvPr id="6" name="text-250"/>
          <p:cNvSpPr txBox="1"/>
          <p:nvPr/>
        </p:nvSpPr>
        <p:spPr>
          <a:xfrm>
            <a:off x="10314432" y="1993392"/>
            <a:ext cx="1143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차갑고 대비 강한 하드라이트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형광등 깜빡임, 강한 그림자</a:t>
            </a:r>
            <a:endParaRPr lang="en-US" sz="1100" dirty="0"/>
          </a:p>
        </p:txBody>
      </p:sp>
      <p:pic>
        <p:nvPicPr>
          <p:cNvPr id="7" name="img-s4-1-251" descr="s4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3017520" cy="1697355"/>
          </a:xfrm>
          <a:prstGeom prst="rect">
            <a:avLst/>
          </a:prstGeom>
        </p:spPr>
      </p:pic>
      <p:sp>
        <p:nvSpPr>
          <p:cNvPr id="8" name="sb-caption-252"/>
          <p:cNvSpPr txBox="1"/>
          <p:nvPr/>
        </p:nvSpPr>
        <p:spPr>
          <a:xfrm>
            <a:off x="640080" y="327926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C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컷01 · 5초   </a:t>
            </a:r>
            <a:pPr indent="0" marL="0">
              <a:buNone/>
            </a:pPr>
            <a:r>
              <a:rPr lang="en-US" sz="105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로우앵글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「이 프로젝트, 대체 어떻게 책임질 겁니까?」</a:t>
            </a:r>
            <a:endParaRPr lang="en-US" sz="1050" dirty="0"/>
          </a:p>
        </p:txBody>
      </p:sp>
      <p:pic>
        <p:nvPicPr>
          <p:cNvPr id="9" name="img-s4-1-1-253" descr="s4-1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508760"/>
            <a:ext cx="3017520" cy="1697355"/>
          </a:xfrm>
          <a:prstGeom prst="rect">
            <a:avLst/>
          </a:prstGeom>
        </p:spPr>
      </p:pic>
      <p:sp>
        <p:nvSpPr>
          <p:cNvPr id="10" name="sb-caption-254"/>
          <p:cNvSpPr txBox="1"/>
          <p:nvPr/>
        </p:nvSpPr>
        <p:spPr>
          <a:xfrm>
            <a:off x="3794760" y="327926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C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추가 컷   </a:t>
            </a:r>
            <a:pPr indent="0" marL="0">
              <a:buNone/>
            </a:pPr>
            <a:r>
              <a:rPr lang="en-US" sz="105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미러샷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 앞에서 고개를 떨군 수현</a:t>
            </a:r>
            <a:endParaRPr lang="en-US" sz="1050" dirty="0"/>
          </a:p>
        </p:txBody>
      </p:sp>
      <p:pic>
        <p:nvPicPr>
          <p:cNvPr id="11" name="img-s4-2-255" descr="s4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508760"/>
            <a:ext cx="3017520" cy="1697355"/>
          </a:xfrm>
          <a:prstGeom prst="rect">
            <a:avLst/>
          </a:prstGeom>
        </p:spPr>
      </p:pic>
      <p:sp>
        <p:nvSpPr>
          <p:cNvPr id="12" name="sb-caption-256"/>
          <p:cNvSpPr txBox="1"/>
          <p:nvPr/>
        </p:nvSpPr>
        <p:spPr>
          <a:xfrm>
            <a:off x="6949440" y="327926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C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컷02 · 5초   </a:t>
            </a:r>
            <a:pPr indent="0" marL="0">
              <a:buNone/>
            </a:pPr>
            <a:r>
              <a:rPr lang="en-US" sz="105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클로즈업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하얗게 질린 얼굴, 「나 이제... 끝났어.」</a:t>
            </a:r>
            <a:endParaRPr lang="en-US" sz="1050" dirty="0"/>
          </a:p>
        </p:txBody>
      </p:sp>
      <p:pic>
        <p:nvPicPr>
          <p:cNvPr id="13" name="img-s4-3-257" descr="s4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20090"/>
            <a:ext cx="3017520" cy="1697355"/>
          </a:xfrm>
          <a:prstGeom prst="rect">
            <a:avLst/>
          </a:prstGeom>
        </p:spPr>
      </p:pic>
      <p:sp>
        <p:nvSpPr>
          <p:cNvPr id="14" name="sb-caption-258"/>
          <p:cNvSpPr txBox="1"/>
          <p:nvPr/>
        </p:nvSpPr>
        <p:spPr>
          <a:xfrm>
            <a:off x="640080" y="569059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C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컷03 · 6초   </a:t>
            </a:r>
            <a:pPr indent="0" marL="0">
              <a:buNone/>
            </a:pPr>
            <a:r>
              <a:rPr lang="en-US" sz="105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핸드헬드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좁은 복도에 갇힌 패닉</a:t>
            </a:r>
            <a:endParaRPr lang="en-US" sz="1050" dirty="0"/>
          </a:p>
        </p:txBody>
      </p:sp>
      <p:pic>
        <p:nvPicPr>
          <p:cNvPr id="15" name="img-s4-3-1-259" descr="s4-3-1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5775" y="3920090"/>
            <a:ext cx="3015490" cy="1698098"/>
          </a:xfrm>
          <a:prstGeom prst="rect">
            <a:avLst/>
          </a:prstGeom>
        </p:spPr>
      </p:pic>
      <p:sp>
        <p:nvSpPr>
          <p:cNvPr id="16" name="sb-caption-260"/>
          <p:cNvSpPr txBox="1"/>
          <p:nvPr/>
        </p:nvSpPr>
        <p:spPr>
          <a:xfrm>
            <a:off x="3794760" y="56913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C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추가 컷   </a:t>
            </a:r>
            <a:pPr indent="0" marL="0">
              <a:buNone/>
            </a:pPr>
            <a:r>
              <a:rPr lang="en-US" sz="1050" b="1" dirty="0">
                <a:solidFill>
                  <a:srgbClr val="E3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미디엄샷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 밖, 가슴을 움켜쥔 수현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9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code-261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B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S#5  01:08 - 01:37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S#5 상담실 2차 방문, 색조 전환점</a:t>
            </a:r>
            <a:endParaRPr lang="en-US" sz="2600" dirty="0"/>
          </a:p>
        </p:txBody>
      </p:sp>
      <p:sp>
        <p:nvSpPr>
          <p:cNvPr id="4" name="rect-262"/>
          <p:cNvSpPr/>
          <p:nvPr/>
        </p:nvSpPr>
        <p:spPr>
          <a:xfrm>
            <a:off x="10149840" y="1508760"/>
            <a:ext cx="1463040" cy="4754880"/>
          </a:xfrm>
          <a:prstGeom prst="rect">
            <a:avLst/>
          </a:prstGeom>
          <a:solidFill>
            <a:srgbClr val="3A3633"/>
          </a:solidFill>
          <a:ln/>
        </p:spPr>
      </p:sp>
      <p:sp>
        <p:nvSpPr>
          <p:cNvPr id="5" name="text-263"/>
          <p:cNvSpPr txBox="1"/>
          <p:nvPr/>
        </p:nvSpPr>
        <p:spPr>
          <a:xfrm>
            <a:off x="10314432" y="1664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B4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톤</a:t>
            </a:r>
            <a:endParaRPr lang="en-US" sz="1100" dirty="0"/>
          </a:p>
        </p:txBody>
      </p:sp>
      <p:sp>
        <p:nvSpPr>
          <p:cNvPr id="6" name="text-264"/>
          <p:cNvSpPr txBox="1"/>
          <p:nvPr/>
        </p:nvSpPr>
        <p:spPr>
          <a:xfrm>
            <a:off x="10314432" y="1993392"/>
            <a:ext cx="1143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무채색에서 서서히 채도가 올라가는 그라데이션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부드러운 자연광으로 전환</a:t>
            </a:r>
            <a:endParaRPr lang="en-US" sz="1100" dirty="0"/>
          </a:p>
        </p:txBody>
      </p:sp>
      <p:pic>
        <p:nvPicPr>
          <p:cNvPr id="7" name="img-s5-1-265" descr="s5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095" y="1508760"/>
            <a:ext cx="3015490" cy="1698098"/>
          </a:xfrm>
          <a:prstGeom prst="rect">
            <a:avLst/>
          </a:prstGeom>
        </p:spPr>
      </p:pic>
      <p:sp>
        <p:nvSpPr>
          <p:cNvPr id="8" name="sb-caption-266"/>
          <p:cNvSpPr txBox="1"/>
          <p:nvPr/>
        </p:nvSpPr>
        <p:spPr>
          <a:xfrm>
            <a:off x="640080" y="328001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B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컷01 · 5초   </a:t>
            </a:r>
            <a:pPr indent="0" marL="0">
              <a:buNone/>
            </a:pPr>
            <a:r>
              <a:rPr lang="en-US" sz="1050" b="1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투샷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A6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따뜻한 물 한 잔을 건네는 도윤</a:t>
            </a:r>
            <a:endParaRPr lang="en-US" sz="1050" dirty="0"/>
          </a:p>
        </p:txBody>
      </p:sp>
      <p:pic>
        <p:nvPicPr>
          <p:cNvPr id="9" name="img-s5-2-267" descr="s5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775" y="1508760"/>
            <a:ext cx="3015490" cy="1698098"/>
          </a:xfrm>
          <a:prstGeom prst="rect">
            <a:avLst/>
          </a:prstGeom>
        </p:spPr>
      </p:pic>
      <p:sp>
        <p:nvSpPr>
          <p:cNvPr id="10" name="sb-caption-268"/>
          <p:cNvSpPr txBox="1"/>
          <p:nvPr/>
        </p:nvSpPr>
        <p:spPr>
          <a:xfrm>
            <a:off x="3794760" y="328001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B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컷02 · 5초   </a:t>
            </a:r>
            <a:pPr indent="0" marL="0">
              <a:buNone/>
            </a:pPr>
            <a:r>
              <a:rPr lang="en-US" sz="1050" b="1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클로즈업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A6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「생각과 자신을 분리하는 겁니다.」</a:t>
            </a:r>
            <a:endParaRPr lang="en-US" sz="1050" dirty="0"/>
          </a:p>
        </p:txBody>
      </p:sp>
      <p:pic>
        <p:nvPicPr>
          <p:cNvPr id="11" name="img-s5-3-269" descr="s5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508760"/>
            <a:ext cx="3017520" cy="1697355"/>
          </a:xfrm>
          <a:prstGeom prst="rect">
            <a:avLst/>
          </a:prstGeom>
        </p:spPr>
      </p:pic>
      <p:sp>
        <p:nvSpPr>
          <p:cNvPr id="12" name="sb-caption-270"/>
          <p:cNvSpPr txBox="1"/>
          <p:nvPr/>
        </p:nvSpPr>
        <p:spPr>
          <a:xfrm>
            <a:off x="6949440" y="327926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B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컷03 · 6초   </a:t>
            </a:r>
            <a:pPr indent="0" marL="0">
              <a:buNone/>
            </a:pPr>
            <a:r>
              <a:rPr lang="en-US" sz="1050" b="1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클로즈업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A6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눈을 감고 숨소리에 귀 기울이는 수현</a:t>
            </a:r>
            <a:endParaRPr lang="en-US" sz="1050" dirty="0"/>
          </a:p>
        </p:txBody>
      </p:sp>
      <p:pic>
        <p:nvPicPr>
          <p:cNvPr id="13" name="img-s5-4-271" descr="s5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20090"/>
            <a:ext cx="3017520" cy="1697355"/>
          </a:xfrm>
          <a:prstGeom prst="rect">
            <a:avLst/>
          </a:prstGeom>
        </p:spPr>
      </p:pic>
      <p:sp>
        <p:nvSpPr>
          <p:cNvPr id="14" name="sb-caption-272"/>
          <p:cNvSpPr txBox="1"/>
          <p:nvPr/>
        </p:nvSpPr>
        <p:spPr>
          <a:xfrm>
            <a:off x="640080" y="569059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B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컷04 · 8초   </a:t>
            </a:r>
            <a:pPr indent="0" marL="0">
              <a:buNone/>
            </a:pPr>
            <a:r>
              <a:rPr lang="en-US" sz="1050" b="1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심상 몽타주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A6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먹구름처럼 지나가는 생각</a:t>
            </a:r>
            <a:endParaRPr lang="en-US" sz="1050" dirty="0"/>
          </a:p>
        </p:txBody>
      </p:sp>
      <p:pic>
        <p:nvPicPr>
          <p:cNvPr id="15" name="img-s5-2-1-273" descr="s5-2-1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920090"/>
            <a:ext cx="3017520" cy="1697355"/>
          </a:xfrm>
          <a:prstGeom prst="rect">
            <a:avLst/>
          </a:prstGeom>
        </p:spPr>
      </p:pic>
      <p:sp>
        <p:nvSpPr>
          <p:cNvPr id="16" name="sb-caption-274"/>
          <p:cNvSpPr txBox="1"/>
          <p:nvPr/>
        </p:nvSpPr>
        <p:spPr>
          <a:xfrm>
            <a:off x="3794760" y="569059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B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심상 인서트   </a:t>
            </a:r>
            <a:pPr indent="0" marL="0">
              <a:buNone/>
            </a:pPr>
            <a:r>
              <a:rPr lang="en-US" sz="1050" b="1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A6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구름이 걷힌 도시의 하늘</a:t>
            </a:r>
            <a:endParaRPr lang="en-US" sz="1050" dirty="0"/>
          </a:p>
        </p:txBody>
      </p:sp>
      <p:pic>
        <p:nvPicPr>
          <p:cNvPr id="17" name="img-s5-5-275" descr="s5-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3920090"/>
            <a:ext cx="3017520" cy="1697355"/>
          </a:xfrm>
          <a:prstGeom prst="rect">
            <a:avLst/>
          </a:prstGeom>
        </p:spPr>
      </p:pic>
      <p:sp>
        <p:nvSpPr>
          <p:cNvPr id="18" name="sb-caption-276"/>
          <p:cNvSpPr txBox="1"/>
          <p:nvPr/>
        </p:nvSpPr>
        <p:spPr>
          <a:xfrm>
            <a:off x="6949440" y="569059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B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컷05 · 5초   </a:t>
            </a:r>
            <a:pPr indent="0" marL="0">
              <a:buNone/>
            </a:pPr>
            <a:r>
              <a:rPr lang="en-US" sz="1050" b="1" dirty="0">
                <a:solidFill>
                  <a:srgbClr val="F2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클로즈업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A6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부드러운 자연광 속 편안해진 표정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A6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code-277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S#6  01:37 - 02:07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S#6 퇴근길, 감각의 회복</a:t>
            </a:r>
            <a:endParaRPr lang="en-US" sz="2600" dirty="0"/>
          </a:p>
        </p:txBody>
      </p:sp>
      <p:sp>
        <p:nvSpPr>
          <p:cNvPr id="4" name="rect-278"/>
          <p:cNvSpPr/>
          <p:nvPr/>
        </p:nvSpPr>
        <p:spPr>
          <a:xfrm>
            <a:off x="10149840" y="1508760"/>
            <a:ext cx="1463040" cy="4754880"/>
          </a:xfrm>
          <a:prstGeom prst="rect">
            <a:avLst/>
          </a:prstGeom>
          <a:solidFill>
            <a:srgbClr val="3B2920"/>
          </a:solidFill>
          <a:ln/>
        </p:spPr>
      </p:sp>
      <p:sp>
        <p:nvSpPr>
          <p:cNvPr id="5" name="text-279"/>
          <p:cNvSpPr txBox="1"/>
          <p:nvPr/>
        </p:nvSpPr>
        <p:spPr>
          <a:xfrm>
            <a:off x="10314432" y="1664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8C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톤</a:t>
            </a:r>
            <a:endParaRPr lang="en-US" sz="1100" dirty="0"/>
          </a:p>
        </p:txBody>
      </p:sp>
      <p:sp>
        <p:nvSpPr>
          <p:cNvPr id="6" name="text-280"/>
          <p:cNvSpPr txBox="1"/>
          <p:nvPr/>
        </p:nvSpPr>
        <p:spPr>
          <a:xfrm>
            <a:off x="10314432" y="1993392"/>
            <a:ext cx="1143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붉은 노을빛, 신록의 초록, 햇살의 노란빛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채도, 소프트라이트</a:t>
            </a:r>
            <a:endParaRPr lang="en-US" sz="1100" dirty="0"/>
          </a:p>
        </p:txBody>
      </p:sp>
      <p:pic>
        <p:nvPicPr>
          <p:cNvPr id="7" name="img-s6-1-281" descr="s6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3017520" cy="1697355"/>
          </a:xfrm>
          <a:prstGeom prst="rect">
            <a:avLst/>
          </a:prstGeom>
        </p:spPr>
      </p:pic>
      <p:sp>
        <p:nvSpPr>
          <p:cNvPr id="8" name="sb-caption-282"/>
          <p:cNvSpPr txBox="1"/>
          <p:nvPr/>
        </p:nvSpPr>
        <p:spPr>
          <a:xfrm>
            <a:off x="640080" y="327926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컷01 · 6초   </a:t>
            </a:r>
            <a:pPr indent="0" marL="0">
              <a:buNone/>
            </a:pPr>
            <a:r>
              <a:rPr lang="en-US" sz="1050" b="1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롱샷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B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노을 역광의 퇴근길을 천천히 걷는 수현</a:t>
            </a:r>
            <a:endParaRPr lang="en-US" sz="1050" dirty="0"/>
          </a:p>
        </p:txBody>
      </p:sp>
      <p:pic>
        <p:nvPicPr>
          <p:cNvPr id="9" name="img-s6-2-283" descr="s6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508760"/>
            <a:ext cx="3017520" cy="1697355"/>
          </a:xfrm>
          <a:prstGeom prst="rect">
            <a:avLst/>
          </a:prstGeom>
        </p:spPr>
      </p:pic>
      <p:sp>
        <p:nvSpPr>
          <p:cNvPr id="10" name="sb-caption-284"/>
          <p:cNvSpPr txBox="1"/>
          <p:nvPr/>
        </p:nvSpPr>
        <p:spPr>
          <a:xfrm>
            <a:off x="3794760" y="327926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컷02 · 4초   </a:t>
            </a:r>
            <a:pPr indent="0" marL="0">
              <a:buNone/>
            </a:pPr>
            <a:r>
              <a:rPr lang="en-US" sz="1050" b="1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클로즈업 인서트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B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뺨을 스치는 저녁 바람</a:t>
            </a:r>
            <a:endParaRPr lang="en-US" sz="1050" dirty="0"/>
          </a:p>
        </p:txBody>
      </p:sp>
      <p:pic>
        <p:nvPicPr>
          <p:cNvPr id="11" name="img-s6-3-285" descr="s6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508760"/>
            <a:ext cx="3017520" cy="1697355"/>
          </a:xfrm>
          <a:prstGeom prst="rect">
            <a:avLst/>
          </a:prstGeom>
        </p:spPr>
      </p:pic>
      <p:sp>
        <p:nvSpPr>
          <p:cNvPr id="12" name="sb-caption-286"/>
          <p:cNvSpPr txBox="1"/>
          <p:nvPr/>
        </p:nvSpPr>
        <p:spPr>
          <a:xfrm>
            <a:off x="6949440" y="327926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인서트   </a:t>
            </a:r>
            <a:pPr indent="0" marL="0">
              <a:buNone/>
            </a:pPr>
            <a:r>
              <a:rPr lang="en-US" sz="1050" b="1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클로즈업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B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발밑 보도블록의 감촉</a:t>
            </a:r>
            <a:endParaRPr lang="en-US" sz="1050" dirty="0"/>
          </a:p>
        </p:txBody>
      </p:sp>
      <p:pic>
        <p:nvPicPr>
          <p:cNvPr id="13" name="img-s6-4-287" descr="s6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20090"/>
            <a:ext cx="3017520" cy="1697355"/>
          </a:xfrm>
          <a:prstGeom prst="rect">
            <a:avLst/>
          </a:prstGeom>
        </p:spPr>
      </p:pic>
      <p:sp>
        <p:nvSpPr>
          <p:cNvPr id="14" name="sb-caption-288"/>
          <p:cNvSpPr txBox="1"/>
          <p:nvPr/>
        </p:nvSpPr>
        <p:spPr>
          <a:xfrm>
            <a:off x="640080" y="569059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컷05 · 6초   </a:t>
            </a:r>
            <a:pPr indent="0" marL="0">
              <a:buNone/>
            </a:pPr>
            <a:r>
              <a:rPr lang="en-US" sz="1050" b="1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미디엄샷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B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깊은 숨과 미소, 「지금... 이 순간.」</a:t>
            </a:r>
            <a:endParaRPr lang="en-US" sz="1050" dirty="0"/>
          </a:p>
        </p:txBody>
      </p:sp>
      <p:pic>
        <p:nvPicPr>
          <p:cNvPr id="15" name="img-s6-5-289" descr="s6-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920090"/>
            <a:ext cx="3017520" cy="1697355"/>
          </a:xfrm>
          <a:prstGeom prst="rect">
            <a:avLst/>
          </a:prstGeom>
        </p:spPr>
      </p:pic>
      <p:sp>
        <p:nvSpPr>
          <p:cNvPr id="16" name="sb-caption-290"/>
          <p:cNvSpPr txBox="1"/>
          <p:nvPr/>
        </p:nvSpPr>
        <p:spPr>
          <a:xfrm>
            <a:off x="3794760" y="5690597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컷06 · 6초   </a:t>
            </a:r>
            <a:pPr indent="0" marL="0">
              <a:buNone/>
            </a:pPr>
            <a:r>
              <a:rPr lang="en-US" sz="1050" b="1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롱샷, 페이드아웃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B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노을 진 거리, 황금빛 엔딩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1B2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code-291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공정</a:t>
            </a:r>
            <a:endParaRPr lang="en-US" sz="2600" dirty="0"/>
          </a:p>
        </p:txBody>
      </p:sp>
      <p:sp>
        <p:nvSpPr>
          <p:cNvPr id="4" name="rect-292"/>
          <p:cNvSpPr/>
          <p:nvPr/>
        </p:nvSpPr>
        <p:spPr>
          <a:xfrm>
            <a:off x="640080" y="1600200"/>
            <a:ext cx="2103120" cy="2651760"/>
          </a:xfrm>
          <a:prstGeom prst="rect">
            <a:avLst/>
          </a:prstGeom>
          <a:solidFill>
            <a:srgbClr val="3B2920"/>
          </a:solidFill>
          <a:ln/>
        </p:spPr>
      </p:sp>
      <p:sp>
        <p:nvSpPr>
          <p:cNvPr id="5" name="text-293"/>
          <p:cNvSpPr txBox="1"/>
          <p:nvPr/>
        </p:nvSpPr>
        <p:spPr>
          <a:xfrm>
            <a:off x="86868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-294"/>
          <p:cNvSpPr txBox="1"/>
          <p:nvPr/>
        </p:nvSpPr>
        <p:spPr>
          <a:xfrm>
            <a:off x="868680" y="22860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endParaRPr lang="en-US" sz="1400" dirty="0"/>
          </a:p>
        </p:txBody>
      </p:sp>
      <p:sp>
        <p:nvSpPr>
          <p:cNvPr id="7" name="text-295"/>
          <p:cNvSpPr txBox="1"/>
          <p:nvPr/>
        </p:nvSpPr>
        <p:spPr>
          <a:xfrm>
            <a:off x="868680" y="2880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B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컷별 카메라 · 구도 · 조명 · 재생시간 설계</a:t>
            </a:r>
            <a:endParaRPr lang="en-US" sz="1100" dirty="0"/>
          </a:p>
        </p:txBody>
      </p:sp>
      <p:sp>
        <p:nvSpPr>
          <p:cNvPr id="8" name="text-296"/>
          <p:cNvSpPr txBox="1"/>
          <p:nvPr/>
        </p:nvSpPr>
        <p:spPr>
          <a:xfrm>
            <a:off x="86868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6C4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[툴 기입]</a:t>
            </a:r>
            <a:endParaRPr lang="en-US" sz="1050" dirty="0"/>
          </a:p>
        </p:txBody>
      </p:sp>
      <p:sp>
        <p:nvSpPr>
          <p:cNvPr id="9" name="rect-297"/>
          <p:cNvSpPr/>
          <p:nvPr/>
        </p:nvSpPr>
        <p:spPr>
          <a:xfrm>
            <a:off x="2857500" y="1600200"/>
            <a:ext cx="2103120" cy="2651760"/>
          </a:xfrm>
          <a:prstGeom prst="rect">
            <a:avLst/>
          </a:prstGeom>
          <a:solidFill>
            <a:srgbClr val="3B2920"/>
          </a:solidFill>
          <a:ln/>
        </p:spPr>
      </p:sp>
      <p:sp>
        <p:nvSpPr>
          <p:cNvPr id="10" name="text-298"/>
          <p:cNvSpPr txBox="1"/>
          <p:nvPr/>
        </p:nvSpPr>
        <p:spPr>
          <a:xfrm>
            <a:off x="308610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-299"/>
          <p:cNvSpPr txBox="1"/>
          <p:nvPr/>
        </p:nvSpPr>
        <p:spPr>
          <a:xfrm>
            <a:off x="3086100" y="22860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· 배경 시트</a:t>
            </a:r>
            <a:endParaRPr lang="en-US" sz="1400" dirty="0"/>
          </a:p>
        </p:txBody>
      </p:sp>
      <p:sp>
        <p:nvSpPr>
          <p:cNvPr id="12" name="text-300"/>
          <p:cNvSpPr txBox="1"/>
          <p:nvPr/>
        </p:nvSpPr>
        <p:spPr>
          <a:xfrm>
            <a:off x="3086100" y="2880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B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인물 3인 턴어라운드, 상담실 낮 · 밤 설정</a:t>
            </a:r>
            <a:endParaRPr lang="en-US" sz="1100" dirty="0"/>
          </a:p>
        </p:txBody>
      </p:sp>
      <p:sp>
        <p:nvSpPr>
          <p:cNvPr id="13" name="text-301"/>
          <p:cNvSpPr txBox="1"/>
          <p:nvPr/>
        </p:nvSpPr>
        <p:spPr>
          <a:xfrm>
            <a:off x="308610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6C4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[툴 기입]</a:t>
            </a:r>
            <a:endParaRPr lang="en-US" sz="1050" dirty="0"/>
          </a:p>
        </p:txBody>
      </p:sp>
      <p:sp>
        <p:nvSpPr>
          <p:cNvPr id="14" name="rect-302"/>
          <p:cNvSpPr/>
          <p:nvPr/>
        </p:nvSpPr>
        <p:spPr>
          <a:xfrm>
            <a:off x="5074920" y="1600200"/>
            <a:ext cx="2103120" cy="2651760"/>
          </a:xfrm>
          <a:prstGeom prst="rect">
            <a:avLst/>
          </a:prstGeom>
          <a:solidFill>
            <a:srgbClr val="3B2920"/>
          </a:solidFill>
          <a:ln/>
        </p:spPr>
      </p:sp>
      <p:sp>
        <p:nvSpPr>
          <p:cNvPr id="15" name="text-303"/>
          <p:cNvSpPr txBox="1"/>
          <p:nvPr/>
        </p:nvSpPr>
        <p:spPr>
          <a:xfrm>
            <a:off x="530352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-304"/>
          <p:cNvSpPr txBox="1"/>
          <p:nvPr/>
        </p:nvSpPr>
        <p:spPr>
          <a:xfrm>
            <a:off x="5303520" y="22860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스틸컷 생성</a:t>
            </a:r>
            <a:endParaRPr lang="en-US" sz="1400" dirty="0"/>
          </a:p>
        </p:txBody>
      </p:sp>
      <p:sp>
        <p:nvSpPr>
          <p:cNvPr id="17" name="text-305"/>
          <p:cNvSpPr txBox="1"/>
          <p:nvPr/>
        </p:nvSpPr>
        <p:spPr>
          <a:xfrm>
            <a:off x="5303520" y="2880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B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씬별 색조 지시를 반영한 장면 이미지</a:t>
            </a:r>
            <a:endParaRPr lang="en-US" sz="1100" dirty="0"/>
          </a:p>
        </p:txBody>
      </p:sp>
      <p:sp>
        <p:nvSpPr>
          <p:cNvPr id="18" name="text-306"/>
          <p:cNvSpPr txBox="1"/>
          <p:nvPr/>
        </p:nvSpPr>
        <p:spPr>
          <a:xfrm>
            <a:off x="530352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6C4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[툴 기입]</a:t>
            </a:r>
            <a:endParaRPr lang="en-US" sz="1050" dirty="0"/>
          </a:p>
        </p:txBody>
      </p:sp>
      <p:sp>
        <p:nvSpPr>
          <p:cNvPr id="19" name="rect-307"/>
          <p:cNvSpPr/>
          <p:nvPr/>
        </p:nvSpPr>
        <p:spPr>
          <a:xfrm>
            <a:off x="7292340" y="1600200"/>
            <a:ext cx="2103120" cy="2651760"/>
          </a:xfrm>
          <a:prstGeom prst="rect">
            <a:avLst/>
          </a:prstGeom>
          <a:solidFill>
            <a:srgbClr val="3B2920"/>
          </a:solidFill>
          <a:ln/>
        </p:spPr>
      </p:sp>
      <p:sp>
        <p:nvSpPr>
          <p:cNvPr id="20" name="text-308"/>
          <p:cNvSpPr txBox="1"/>
          <p:nvPr/>
        </p:nvSpPr>
        <p:spPr>
          <a:xfrm>
            <a:off x="752094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-309"/>
          <p:cNvSpPr txBox="1"/>
          <p:nvPr/>
        </p:nvSpPr>
        <p:spPr>
          <a:xfrm>
            <a:off x="7520940" y="22860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영상화</a:t>
            </a:r>
            <a:endParaRPr lang="en-US" sz="1400" dirty="0"/>
          </a:p>
        </p:txBody>
      </p:sp>
      <p:sp>
        <p:nvSpPr>
          <p:cNvPr id="22" name="text-310"/>
          <p:cNvSpPr txBox="1"/>
          <p:nvPr/>
        </p:nvSpPr>
        <p:spPr>
          <a:xfrm>
            <a:off x="7520940" y="2880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B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스틸컷 기반 움직임 부여</a:t>
            </a:r>
            <a:endParaRPr lang="en-US" sz="1100" dirty="0"/>
          </a:p>
        </p:txBody>
      </p:sp>
      <p:sp>
        <p:nvSpPr>
          <p:cNvPr id="23" name="text-311"/>
          <p:cNvSpPr txBox="1"/>
          <p:nvPr/>
        </p:nvSpPr>
        <p:spPr>
          <a:xfrm>
            <a:off x="752094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6C4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[툴 기입]</a:t>
            </a:r>
            <a:endParaRPr lang="en-US" sz="1050" dirty="0"/>
          </a:p>
        </p:txBody>
      </p:sp>
      <p:sp>
        <p:nvSpPr>
          <p:cNvPr id="24" name="rect-312"/>
          <p:cNvSpPr/>
          <p:nvPr/>
        </p:nvSpPr>
        <p:spPr>
          <a:xfrm>
            <a:off x="9509760" y="1600200"/>
            <a:ext cx="2103120" cy="2651760"/>
          </a:xfrm>
          <a:prstGeom prst="rect">
            <a:avLst/>
          </a:prstGeom>
          <a:solidFill>
            <a:srgbClr val="3B2920"/>
          </a:solidFill>
          <a:ln/>
        </p:spPr>
      </p:sp>
      <p:sp>
        <p:nvSpPr>
          <p:cNvPr id="25" name="text-313"/>
          <p:cNvSpPr txBox="1"/>
          <p:nvPr/>
        </p:nvSpPr>
        <p:spPr>
          <a:xfrm>
            <a:off x="973836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-314"/>
          <p:cNvSpPr txBox="1"/>
          <p:nvPr/>
        </p:nvSpPr>
        <p:spPr>
          <a:xfrm>
            <a:off x="9738360" y="22860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</a:t>
            </a:r>
            <a:endParaRPr lang="en-US" sz="1400" dirty="0"/>
          </a:p>
        </p:txBody>
      </p:sp>
      <p:sp>
        <p:nvSpPr>
          <p:cNvPr id="27" name="text-315"/>
          <p:cNvSpPr txBox="1"/>
          <p:nvPr/>
        </p:nvSpPr>
        <p:spPr>
          <a:xfrm>
            <a:off x="9738360" y="2880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B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127초 타임라인, 색조 전환 편집</a:t>
            </a:r>
            <a:endParaRPr lang="en-US" sz="1100" dirty="0"/>
          </a:p>
        </p:txBody>
      </p:sp>
      <p:sp>
        <p:nvSpPr>
          <p:cNvPr id="28" name="text-316"/>
          <p:cNvSpPr txBox="1"/>
          <p:nvPr/>
        </p:nvSpPr>
        <p:spPr>
          <a:xfrm>
            <a:off x="973836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6C4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[툴 기입]</a:t>
            </a:r>
            <a:endParaRPr lang="en-US" sz="1050" dirty="0"/>
          </a:p>
        </p:txBody>
      </p:sp>
      <p:sp>
        <p:nvSpPr>
          <p:cNvPr id="29" name="rect-317"/>
          <p:cNvSpPr/>
          <p:nvPr/>
        </p:nvSpPr>
        <p:spPr>
          <a:xfrm>
            <a:off x="640080" y="4526280"/>
            <a:ext cx="3547872" cy="1463040"/>
          </a:xfrm>
          <a:prstGeom prst="rect">
            <a:avLst/>
          </a:prstGeom>
          <a:solidFill>
            <a:srgbClr val="F4F4F2"/>
          </a:solidFill>
          <a:ln/>
        </p:spPr>
      </p:sp>
      <p:pic>
        <p:nvPicPr>
          <p:cNvPr id="30" name="img-char_suhyun-318" descr="char_suhyu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3225" y="4572000"/>
            <a:ext cx="1941582" cy="1371600"/>
          </a:xfrm>
          <a:prstGeom prst="rect">
            <a:avLst/>
          </a:prstGeom>
        </p:spPr>
      </p:pic>
      <p:sp>
        <p:nvSpPr>
          <p:cNvPr id="31" name="text-319"/>
          <p:cNvSpPr txBox="1"/>
          <p:nvPr/>
        </p:nvSpPr>
        <p:spPr>
          <a:xfrm>
            <a:off x="640080" y="6053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B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시트</a:t>
            </a:r>
            <a:endParaRPr lang="en-US" sz="1000" dirty="0"/>
          </a:p>
        </p:txBody>
      </p:sp>
      <p:sp>
        <p:nvSpPr>
          <p:cNvPr id="32" name="rect-320"/>
          <p:cNvSpPr/>
          <p:nvPr/>
        </p:nvSpPr>
        <p:spPr>
          <a:xfrm>
            <a:off x="4352544" y="4526280"/>
            <a:ext cx="3547872" cy="1463040"/>
          </a:xfrm>
          <a:prstGeom prst="rect">
            <a:avLst/>
          </a:prstGeom>
          <a:solidFill>
            <a:srgbClr val="3B2920"/>
          </a:solidFill>
          <a:ln/>
        </p:spPr>
      </p:sp>
      <p:pic>
        <p:nvPicPr>
          <p:cNvPr id="33" name="img-bg_night-321" descr="bg_n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001" y="4572000"/>
            <a:ext cx="2408957" cy="1371600"/>
          </a:xfrm>
          <a:prstGeom prst="rect">
            <a:avLst/>
          </a:prstGeom>
        </p:spPr>
      </p:pic>
      <p:sp>
        <p:nvSpPr>
          <p:cNvPr id="34" name="text-322"/>
          <p:cNvSpPr txBox="1"/>
          <p:nvPr/>
        </p:nvSpPr>
        <p:spPr>
          <a:xfrm>
            <a:off x="4352544" y="6053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B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설정</a:t>
            </a:r>
            <a:endParaRPr lang="en-US" sz="1000" dirty="0"/>
          </a:p>
        </p:txBody>
      </p:sp>
      <p:sp>
        <p:nvSpPr>
          <p:cNvPr id="35" name="rect-323"/>
          <p:cNvSpPr/>
          <p:nvPr/>
        </p:nvSpPr>
        <p:spPr>
          <a:xfrm>
            <a:off x="8065008" y="4526280"/>
            <a:ext cx="3547872" cy="1463040"/>
          </a:xfrm>
          <a:prstGeom prst="rect">
            <a:avLst/>
          </a:prstGeom>
          <a:solidFill>
            <a:srgbClr val="3B2920"/>
          </a:solidFill>
          <a:ln/>
        </p:spPr>
      </p:sp>
      <p:pic>
        <p:nvPicPr>
          <p:cNvPr id="36" name="img-s5-3-324" descr="s5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744" y="4572000"/>
            <a:ext cx="2438400" cy="1371600"/>
          </a:xfrm>
          <a:prstGeom prst="rect">
            <a:avLst/>
          </a:prstGeom>
        </p:spPr>
      </p:pic>
      <p:sp>
        <p:nvSpPr>
          <p:cNvPr id="37" name="text-325"/>
          <p:cNvSpPr txBox="1"/>
          <p:nvPr/>
        </p:nvSpPr>
        <p:spPr>
          <a:xfrm>
            <a:off x="8065008" y="6053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B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1B2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code-326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FILM  ver 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결과물: 지금이라는 문 ver 1</a:t>
            </a:r>
            <a:endParaRPr lang="en-US" sz="2600" dirty="0"/>
          </a:p>
        </p:txBody>
      </p:sp>
      <p:sp>
        <p:nvSpPr>
          <p:cNvPr id="4" name="border-327"/>
          <p:cNvSpPr/>
          <p:nvPr/>
        </p:nvSpPr>
        <p:spPr>
          <a:xfrm>
            <a:off x="615696" y="1527048"/>
            <a:ext cx="7272528" cy="4114800"/>
          </a:xfrm>
          <a:prstGeom prst="rect">
            <a:avLst/>
          </a:prstGeom>
          <a:solidFill>
            <a:srgbClr val="5A4033"/>
          </a:solidFill>
          <a:ln/>
        </p:spPr>
      </p:sp>
      <p:pic>
        <p:nvPicPr>
          <p:cNvPr id="5" name="img-poster_film-328" descr="영상 대표 이미지 (클릭 시 영상 재생)">
            <a:hlinkClick r:id="rId2" tooltip="영상 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128" y="1554480"/>
            <a:ext cx="7217664" cy="4059936"/>
          </a:xfrm>
          <a:prstGeom prst="rect">
            <a:avLst/>
          </a:prstGeom>
        </p:spPr>
      </p:pic>
      <p:sp>
        <p:nvSpPr>
          <p:cNvPr id="6" name="text-329"/>
          <p:cNvSpPr txBox="1"/>
          <p:nvPr/>
        </p:nvSpPr>
        <p:spPr>
          <a:xfrm>
            <a:off x="640080" y="575157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B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클릭 시 영상 재생 (Google Drive) / 대표 이미지: S#6 컷05</a:t>
            </a:r>
            <a:endParaRPr lang="en-US" sz="1000" dirty="0"/>
          </a:p>
        </p:txBody>
      </p:sp>
      <p:sp>
        <p:nvSpPr>
          <p:cNvPr id="7" name="rect-330"/>
          <p:cNvSpPr/>
          <p:nvPr/>
        </p:nvSpPr>
        <p:spPr>
          <a:xfrm>
            <a:off x="8138160" y="1554480"/>
            <a:ext cx="3413455" cy="4059936"/>
          </a:xfrm>
          <a:prstGeom prst="rect">
            <a:avLst/>
          </a:prstGeom>
          <a:solidFill>
            <a:srgbClr val="3B2920"/>
          </a:solidFill>
          <a:ln/>
        </p:spPr>
      </p:sp>
      <p:sp>
        <p:nvSpPr>
          <p:cNvPr id="8" name="text-331"/>
          <p:cNvSpPr txBox="1"/>
          <p:nvPr/>
        </p:nvSpPr>
        <p:spPr>
          <a:xfrm>
            <a:off x="8412480" y="1783080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8C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endParaRPr lang="en-US" sz="1100" dirty="0"/>
          </a:p>
        </p:txBody>
      </p:sp>
      <p:sp>
        <p:nvSpPr>
          <p:cNvPr id="9" name="text-332"/>
          <p:cNvSpPr txBox="1"/>
          <p:nvPr/>
        </p:nvSpPr>
        <p:spPr>
          <a:xfrm>
            <a:off x="8412480" y="2084832"/>
            <a:ext cx="2864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 1</a:t>
            </a:r>
            <a:endParaRPr lang="en-US" sz="1400" dirty="0"/>
          </a:p>
        </p:txBody>
      </p:sp>
      <p:sp>
        <p:nvSpPr>
          <p:cNvPr id="10" name="text-333"/>
          <p:cNvSpPr txBox="1"/>
          <p:nvPr/>
        </p:nvSpPr>
        <p:spPr>
          <a:xfrm>
            <a:off x="8412480" y="2679192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8C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러닝타임</a:t>
            </a:r>
            <a:endParaRPr lang="en-US" sz="1100" dirty="0"/>
          </a:p>
        </p:txBody>
      </p:sp>
      <p:sp>
        <p:nvSpPr>
          <p:cNvPr id="11" name="text-334"/>
          <p:cNvSpPr txBox="1"/>
          <p:nvPr/>
        </p:nvSpPr>
        <p:spPr>
          <a:xfrm>
            <a:off x="8412480" y="2980944"/>
            <a:ext cx="2864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127초 (약 2분 7초)</a:t>
            </a:r>
            <a:endParaRPr lang="en-US" sz="1400" dirty="0"/>
          </a:p>
        </p:txBody>
      </p:sp>
      <p:sp>
        <p:nvSpPr>
          <p:cNvPr id="12" name="text-335"/>
          <p:cNvSpPr txBox="1"/>
          <p:nvPr/>
        </p:nvSpPr>
        <p:spPr>
          <a:xfrm>
            <a:off x="8412480" y="3575304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8C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길이</a:t>
            </a:r>
            <a:endParaRPr lang="en-US" sz="1100" dirty="0"/>
          </a:p>
        </p:txBody>
      </p:sp>
      <p:sp>
        <p:nvSpPr>
          <p:cNvPr id="13" name="text-336"/>
          <p:cNvSpPr txBox="1"/>
          <p:nvPr/>
        </p:nvSpPr>
        <p:spPr>
          <a:xfrm>
            <a:off x="8412480" y="3877056"/>
            <a:ext cx="2864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[영상 확인 후 기입]</a:t>
            </a:r>
            <a:endParaRPr lang="en-US" sz="1400" dirty="0"/>
          </a:p>
        </p:txBody>
      </p:sp>
      <p:sp>
        <p:nvSpPr>
          <p:cNvPr id="14" name="text-337"/>
          <p:cNvSpPr txBox="1"/>
          <p:nvPr/>
        </p:nvSpPr>
        <p:spPr>
          <a:xfrm>
            <a:off x="8412480" y="4471416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8C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해상도</a:t>
            </a:r>
            <a:endParaRPr lang="en-US" sz="1100" dirty="0"/>
          </a:p>
        </p:txBody>
      </p:sp>
      <p:sp>
        <p:nvSpPr>
          <p:cNvPr id="15" name="text-338"/>
          <p:cNvSpPr txBox="1"/>
          <p:nvPr/>
        </p:nvSpPr>
        <p:spPr>
          <a:xfrm>
            <a:off x="8412480" y="4773168"/>
            <a:ext cx="2864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[영상 확인 후 기입]</a:t>
            </a:r>
            <a:endParaRPr lang="en-US" sz="1400" dirty="0"/>
          </a:p>
        </p:txBody>
      </p:sp>
      <p:sp>
        <p:nvSpPr>
          <p:cNvPr id="16" name="link-339"/>
          <p:cNvSpPr txBox="1"/>
          <p:nvPr/>
        </p:nvSpPr>
        <p:spPr>
          <a:xfrm>
            <a:off x="8138160" y="576072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6C4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https://drive.google.com/file/d/1MyGeTKwiceS10SmJRmEL3EWLXy3p9L3t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영상 보기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1B2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code-340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7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 IP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A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스피키 &amp; 포니</a:t>
            </a:r>
            <a:endParaRPr lang="en-US" sz="2600" dirty="0"/>
          </a:p>
        </p:txBody>
      </p:sp>
      <p:pic>
        <p:nvPicPr>
          <p:cNvPr id="4" name="img-sp_캐릭터_시트-341" descr="스피키 &amp; 포니 캐릭터 시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119" y="1554480"/>
            <a:ext cx="5712963" cy="4572000"/>
          </a:xfrm>
          <a:prstGeom prst="rect">
            <a:avLst/>
          </a:prstGeom>
        </p:spPr>
      </p:pic>
      <p:pic>
        <p:nvPicPr>
          <p:cNvPr id="5" name="img-sp_브랜드_로고-342" descr="스피키 &amp; 포니 브랜드 로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578" y="1554480"/>
            <a:ext cx="3771900" cy="2514600"/>
          </a:xfrm>
          <a:prstGeom prst="rect">
            <a:avLst/>
          </a:prstGeom>
        </p:spPr>
      </p:pic>
      <p:sp>
        <p:nvSpPr>
          <p:cNvPr id="6" name="rect-343"/>
          <p:cNvSpPr/>
          <p:nvPr/>
        </p:nvSpPr>
        <p:spPr>
          <a:xfrm>
            <a:off x="6949440" y="4343400"/>
            <a:ext cx="4602175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EADFD2"/>
            </a:solidFill>
            <a:prstDash val="solid"/>
          </a:ln>
        </p:spPr>
      </p:sp>
      <p:sp>
        <p:nvSpPr>
          <p:cNvPr id="7" name="dot-344"/>
          <p:cNvSpPr/>
          <p:nvPr/>
        </p:nvSpPr>
        <p:spPr>
          <a:xfrm>
            <a:off x="7150608" y="4608576"/>
            <a:ext cx="219456" cy="219456"/>
          </a:xfrm>
          <a:prstGeom prst="ellipse">
            <a:avLst/>
          </a:prstGeom>
          <a:solidFill>
            <a:srgbClr val="F2899B"/>
          </a:solidFill>
          <a:ln/>
        </p:spPr>
      </p:sp>
      <p:sp>
        <p:nvSpPr>
          <p:cNvPr id="8" name="text-345"/>
          <p:cNvSpPr txBox="1"/>
          <p:nvPr/>
        </p:nvSpPr>
        <p:spPr>
          <a:xfrm>
            <a:off x="7498080" y="44165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스피키 (Spiky)</a:t>
            </a:r>
            <a:endParaRPr lang="en-US" sz="1400" dirty="0"/>
          </a:p>
        </p:txBody>
      </p:sp>
      <p:sp>
        <p:nvSpPr>
          <p:cNvPr id="9" name="text-346"/>
          <p:cNvSpPr txBox="1"/>
          <p:nvPr/>
        </p:nvSpPr>
        <p:spPr>
          <a:xfrm>
            <a:off x="7498080" y="4736592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분위기 메이커 스피커</a:t>
            </a:r>
            <a:endParaRPr lang="en-US" sz="1100" dirty="0"/>
          </a:p>
        </p:txBody>
      </p:sp>
      <p:sp>
        <p:nvSpPr>
          <p:cNvPr id="10" name="rect-347"/>
          <p:cNvSpPr/>
          <p:nvPr/>
        </p:nvSpPr>
        <p:spPr>
          <a:xfrm>
            <a:off x="6949440" y="5212080"/>
            <a:ext cx="4602175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EADFD2"/>
            </a:solidFill>
            <a:prstDash val="solid"/>
          </a:ln>
        </p:spPr>
      </p:sp>
      <p:sp>
        <p:nvSpPr>
          <p:cNvPr id="11" name="dot-348"/>
          <p:cNvSpPr/>
          <p:nvPr/>
        </p:nvSpPr>
        <p:spPr>
          <a:xfrm>
            <a:off x="7150608" y="5477256"/>
            <a:ext cx="219456" cy="219456"/>
          </a:xfrm>
          <a:prstGeom prst="ellipse">
            <a:avLst/>
          </a:prstGeom>
          <a:solidFill>
            <a:srgbClr val="7DB4E3"/>
          </a:solidFill>
          <a:ln/>
        </p:spPr>
      </p:sp>
      <p:sp>
        <p:nvSpPr>
          <p:cNvPr id="12" name="text-349"/>
          <p:cNvSpPr txBox="1"/>
          <p:nvPr/>
        </p:nvSpPr>
        <p:spPr>
          <a:xfrm>
            <a:off x="7498080" y="5285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포니 (Pony)</a:t>
            </a:r>
            <a:endParaRPr lang="en-US" sz="1400" dirty="0"/>
          </a:p>
        </p:txBody>
      </p:sp>
      <p:sp>
        <p:nvSpPr>
          <p:cNvPr id="13" name="text-350"/>
          <p:cNvSpPr txBox="1"/>
          <p:nvPr/>
        </p:nvSpPr>
        <p:spPr>
          <a:xfrm>
            <a:off x="7498080" y="5605272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언제나 내 편 거치대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7D7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code-351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7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EXPANSION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A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확장: 이모티콘 · 웹툰 · 굿즈</a:t>
            </a:r>
            <a:endParaRPr lang="en-US" sz="2600" dirty="0"/>
          </a:p>
        </p:txBody>
      </p:sp>
      <p:pic>
        <p:nvPicPr>
          <p:cNvPr id="4" name="img-sp_이모티콘-352" descr="스피키 &amp; 포니 이모티콘 32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4572000" cy="3048000"/>
          </a:xfrm>
          <a:prstGeom prst="rect">
            <a:avLst/>
          </a:prstGeom>
        </p:spPr>
      </p:pic>
      <p:sp>
        <p:nvSpPr>
          <p:cNvPr id="5" name="text-353"/>
          <p:cNvSpPr txBox="1"/>
          <p:nvPr/>
        </p:nvSpPr>
        <p:spPr>
          <a:xfrm>
            <a:off x="640080" y="47122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이모티콘 32종</a:t>
            </a:r>
            <a:endParaRPr lang="en-US" sz="1300" dirty="0"/>
          </a:p>
        </p:txBody>
      </p:sp>
      <p:sp>
        <p:nvSpPr>
          <p:cNvPr id="6" name="text-354"/>
          <p:cNvSpPr txBox="1"/>
          <p:nvPr/>
        </p:nvSpPr>
        <p:spPr>
          <a:xfrm>
            <a:off x="640080" y="5013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말풍선 · 아이콘 · 미니 스티커 포함</a:t>
            </a:r>
            <a:endParaRPr lang="en-US" sz="1100" dirty="0"/>
          </a:p>
        </p:txBody>
      </p:sp>
      <p:pic>
        <p:nvPicPr>
          <p:cNvPr id="7" name="img-sp_웹툰-355" descr="스피키 &amp; 포니 일상툰 10컷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514" y="1554480"/>
            <a:ext cx="2238612" cy="3977640"/>
          </a:xfrm>
          <a:prstGeom prst="rect">
            <a:avLst/>
          </a:prstGeom>
        </p:spPr>
      </p:pic>
      <p:sp>
        <p:nvSpPr>
          <p:cNvPr id="8" name="text-356"/>
          <p:cNvSpPr txBox="1"/>
          <p:nvPr/>
        </p:nvSpPr>
        <p:spPr>
          <a:xfrm>
            <a:off x="5440680" y="56418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일상툰 10컷</a:t>
            </a:r>
            <a:endParaRPr lang="en-US" sz="1300" dirty="0"/>
          </a:p>
        </p:txBody>
      </p:sp>
      <p:pic>
        <p:nvPicPr>
          <p:cNvPr id="9" name="img-sp_굿즈_상품-357" descr="스피키 &amp; 포니 굿즈 가이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554480"/>
            <a:ext cx="3642055" cy="2428037"/>
          </a:xfrm>
          <a:prstGeom prst="rect">
            <a:avLst/>
          </a:prstGeom>
        </p:spPr>
      </p:pic>
      <p:sp>
        <p:nvSpPr>
          <p:cNvPr id="10" name="text-358"/>
          <p:cNvSpPr txBox="1"/>
          <p:nvPr/>
        </p:nvSpPr>
        <p:spPr>
          <a:xfrm>
            <a:off x="7909560" y="4092245"/>
            <a:ext cx="3642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굿즈 가이드 12종</a:t>
            </a:r>
            <a:endParaRPr lang="en-US" sz="1300" dirty="0"/>
          </a:p>
        </p:txBody>
      </p:sp>
      <p:sp>
        <p:nvSpPr>
          <p:cNvPr id="11" name="text-359"/>
          <p:cNvSpPr txBox="1"/>
          <p:nvPr/>
        </p:nvSpPr>
        <p:spPr>
          <a:xfrm>
            <a:off x="7909560" y="4393997"/>
            <a:ext cx="3642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봉제 인형, 키링, 머그컵, 폰케이스 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컬러 팔레트와 브랜드 패턴 정리</a:t>
            </a:r>
            <a:endParaRPr lang="en-US" sz="1100" dirty="0"/>
          </a:p>
        </p:txBody>
      </p:sp>
      <p:pic>
        <p:nvPicPr>
          <p:cNvPr id="12" name="img-poster_sp-360" descr="스피키 &amp; 포니 영상 (클릭 시 재생)">
            <a:hlinkClick r:id="rId5" tooltip="영상 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4802124"/>
            <a:ext cx="1737360" cy="1158240"/>
          </a:xfrm>
          <a:prstGeom prst="rect">
            <a:avLst/>
          </a:prstGeom>
        </p:spPr>
      </p:pic>
      <p:sp>
        <p:nvSpPr>
          <p:cNvPr id="13" name="link-361"/>
          <p:cNvSpPr txBox="1"/>
          <p:nvPr/>
        </p:nvSpPr>
        <p:spPr>
          <a:xfrm>
            <a:off x="9784080" y="5029200"/>
            <a:ext cx="1767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D958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invalidUrl="" action="" tgtFrame="" tooltip="https://drive.google.com/file/d/1IdLq_u1jngfyKZQjePuPLi2wdwnOzN5D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스피키 &amp; 포니 영상</a:t>
            </a:r>
            <a:endParaRPr lang="en-US" sz="1300" dirty="0"/>
          </a:p>
        </p:txBody>
      </p:sp>
      <p:sp>
        <p:nvSpPr>
          <p:cNvPr id="14" name="text-362"/>
          <p:cNvSpPr txBox="1"/>
          <p:nvPr/>
        </p:nvSpPr>
        <p:spPr>
          <a:xfrm>
            <a:off x="640080" y="6035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58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캐릭터의 기능 (음악 · 거치) 을 성격과 관계로 확장한 IP 설계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7D7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nding-bg-363" descr="노을 진 거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ending-shade-36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10C">
              <a:alpha val="65000"/>
            </a:srgbClr>
          </a:solidFill>
          <a:ln/>
        </p:spPr>
      </p:sp>
      <p:sp>
        <p:nvSpPr>
          <p:cNvPr id="4" name="text-365"/>
          <p:cNvSpPr txBox="1"/>
          <p:nvPr/>
        </p:nvSpPr>
        <p:spPr>
          <a:xfrm>
            <a:off x="640080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D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00:02:07</a:t>
            </a:r>
            <a:endParaRPr lang="en-US" sz="1100" dirty="0"/>
          </a:p>
        </p:txBody>
      </p:sp>
      <p:sp>
        <p:nvSpPr>
          <p:cNvPr id="5" name="text-366"/>
          <p:cNvSpPr txBox="1"/>
          <p:nvPr/>
        </p:nvSpPr>
        <p:spPr>
          <a:xfrm>
            <a:off x="640080" y="12801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「지금... 이 순간.」</a:t>
            </a:r>
            <a:endParaRPr lang="en-US" sz="4000" dirty="0"/>
          </a:p>
        </p:txBody>
      </p:sp>
      <p:sp>
        <p:nvSpPr>
          <p:cNvPr id="6" name="text-367"/>
          <p:cNvSpPr txBox="1"/>
          <p:nvPr/>
        </p:nvSpPr>
        <p:spPr>
          <a:xfrm>
            <a:off x="640080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C4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색채 설계</a:t>
            </a:r>
            <a:endParaRPr lang="en-US" sz="1400" dirty="0"/>
          </a:p>
        </p:txBody>
      </p:sp>
      <p:sp>
        <p:nvSpPr>
          <p:cNvPr id="7" name="text-368"/>
          <p:cNvSpPr txBox="1"/>
          <p:nvPr/>
        </p:nvSpPr>
        <p:spPr>
          <a:xfrm>
            <a:off x="2560320" y="2743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색온도 · 채도 변화를 통한 감정 전환</a:t>
            </a:r>
            <a:endParaRPr lang="en-US" sz="1400" dirty="0"/>
          </a:p>
        </p:txBody>
      </p:sp>
      <p:sp>
        <p:nvSpPr>
          <p:cNvPr id="8" name="text-369"/>
          <p:cNvSpPr txBox="1"/>
          <p:nvPr/>
        </p:nvSpPr>
        <p:spPr>
          <a:xfrm>
            <a:off x="640080" y="33101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C4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 설계</a:t>
            </a:r>
            <a:endParaRPr lang="en-US" sz="1400" dirty="0"/>
          </a:p>
        </p:txBody>
      </p:sp>
      <p:sp>
        <p:nvSpPr>
          <p:cNvPr id="9" name="text-370"/>
          <p:cNvSpPr txBox="1"/>
          <p:nvPr/>
        </p:nvSpPr>
        <p:spPr>
          <a:xfrm>
            <a:off x="2560320" y="331012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· 구도 · 조명 · 재생시간 명시</a:t>
            </a:r>
            <a:endParaRPr lang="en-US" sz="1400" dirty="0"/>
          </a:p>
        </p:txBody>
      </p:sp>
      <p:sp>
        <p:nvSpPr>
          <p:cNvPr id="10" name="text-371"/>
          <p:cNvSpPr txBox="1"/>
          <p:nvPr/>
        </p:nvSpPr>
        <p:spPr>
          <a:xfrm>
            <a:off x="640080" y="38770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C4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IP</a:t>
            </a:r>
            <a:endParaRPr lang="en-US" sz="1400" dirty="0"/>
          </a:p>
        </p:txBody>
      </p:sp>
      <p:sp>
        <p:nvSpPr>
          <p:cNvPr id="11" name="text-372"/>
          <p:cNvSpPr txBox="1"/>
          <p:nvPr/>
        </p:nvSpPr>
        <p:spPr>
          <a:xfrm>
            <a:off x="2560320" y="387705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· 이모티콘 · 웹툰 · 굿즈 확장</a:t>
            </a:r>
            <a:endParaRPr lang="en-US" sz="1400" dirty="0"/>
          </a:p>
        </p:txBody>
      </p:sp>
      <p:sp>
        <p:nvSpPr>
          <p:cNvPr id="12" name="contact-373"/>
          <p:cNvSpPr/>
          <p:nvPr/>
        </p:nvSpPr>
        <p:spPr>
          <a:xfrm>
            <a:off x="640080" y="4983480"/>
            <a:ext cx="10972800" cy="1188720"/>
          </a:xfrm>
          <a:prstGeom prst="rect">
            <a:avLst/>
          </a:prstGeom>
          <a:solidFill>
            <a:srgbClr val="1A110C">
              <a:alpha val="80000"/>
            </a:srgbClr>
          </a:solidFill>
          <a:ln/>
        </p:spPr>
      </p:sp>
      <p:sp>
        <p:nvSpPr>
          <p:cNvPr id="13" name="text-374"/>
          <p:cNvSpPr txBox="1"/>
          <p:nvPr/>
        </p:nvSpPr>
        <p:spPr>
          <a:xfrm>
            <a:off x="960120" y="5120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김윤성</a:t>
            </a:r>
            <a:endParaRPr lang="en-US" sz="2000" dirty="0"/>
          </a:p>
        </p:txBody>
      </p:sp>
      <p:sp>
        <p:nvSpPr>
          <p:cNvPr id="14" name="text-375"/>
          <p:cNvSpPr txBox="1"/>
          <p:nvPr/>
        </p:nvSpPr>
        <p:spPr>
          <a:xfrm>
            <a:off x="3108960" y="5138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B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1000" dirty="0"/>
          </a:p>
        </p:txBody>
      </p:sp>
      <p:sp>
        <p:nvSpPr>
          <p:cNvPr id="15" name="blank-line-376"/>
          <p:cNvSpPr/>
          <p:nvPr/>
        </p:nvSpPr>
        <p:spPr>
          <a:xfrm>
            <a:off x="3108960" y="5852160"/>
            <a:ext cx="2377440" cy="0"/>
          </a:xfrm>
          <a:prstGeom prst="line">
            <a:avLst/>
          </a:prstGeom>
          <a:noFill/>
          <a:ln w="12700">
            <a:solidFill>
              <a:srgbClr val="D1B29C"/>
            </a:solidFill>
            <a:prstDash val="solid"/>
          </a:ln>
        </p:spPr>
      </p:sp>
      <p:sp>
        <p:nvSpPr>
          <p:cNvPr id="16" name="text-377"/>
          <p:cNvSpPr txBox="1"/>
          <p:nvPr/>
        </p:nvSpPr>
        <p:spPr>
          <a:xfrm>
            <a:off x="6126480" y="5138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B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</a:t>
            </a:r>
            <a:endParaRPr lang="en-US" sz="1000" dirty="0"/>
          </a:p>
        </p:txBody>
      </p:sp>
      <p:sp>
        <p:nvSpPr>
          <p:cNvPr id="17" name="blank-line-378"/>
          <p:cNvSpPr/>
          <p:nvPr/>
        </p:nvSpPr>
        <p:spPr>
          <a:xfrm>
            <a:off x="6126480" y="5852160"/>
            <a:ext cx="2377440" cy="0"/>
          </a:xfrm>
          <a:prstGeom prst="line">
            <a:avLst/>
          </a:prstGeom>
          <a:noFill/>
          <a:ln w="12700">
            <a:solidFill>
              <a:srgbClr val="D1B29C"/>
            </a:solidFill>
            <a:prstDash val="solid"/>
          </a:ln>
        </p:spPr>
      </p:sp>
      <p:sp>
        <p:nvSpPr>
          <p:cNvPr id="18" name="text-379"/>
          <p:cNvSpPr txBox="1"/>
          <p:nvPr/>
        </p:nvSpPr>
        <p:spPr>
          <a:xfrm>
            <a:off x="8961120" y="5138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B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링크</a:t>
            </a:r>
            <a:endParaRPr lang="en-US" sz="1000" dirty="0"/>
          </a:p>
        </p:txBody>
      </p:sp>
      <p:sp>
        <p:nvSpPr>
          <p:cNvPr id="19" name="blank-line-380"/>
          <p:cNvSpPr/>
          <p:nvPr/>
        </p:nvSpPr>
        <p:spPr>
          <a:xfrm>
            <a:off x="8961120" y="5852160"/>
            <a:ext cx="2377440" cy="0"/>
          </a:xfrm>
          <a:prstGeom prst="line">
            <a:avLst/>
          </a:prstGeom>
          <a:noFill/>
          <a:ln w="12700">
            <a:solidFill>
              <a:srgbClr val="D1B29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Now Door">
  <a:themeElements>
    <a:clrScheme name="Now Door">
      <a:dk1>
        <a:srgbClr val="1E252D"/>
      </a:dk1>
      <a:lt1>
        <a:srgbClr val="FFF1E4"/>
      </a:lt1>
      <a:dk2>
        <a:srgbClr val="2A1C16"/>
      </a:dk2>
      <a:lt2>
        <a:srgbClr val="E3E8EC"/>
      </a:lt2>
      <a:accent1>
        <a:srgbClr val="7FA3B8"/>
      </a:accent1>
      <a:accent2>
        <a:srgbClr val="F28C4B"/>
      </a:accent2>
      <a:accent3>
        <a:srgbClr val="F6C45E"/>
      </a:accent3>
      <a:accent4>
        <a:srgbClr val="8DBF6A"/>
      </a:accent4>
      <a:accent5>
        <a:srgbClr val="F2899B"/>
      </a:accent5>
      <a:accent6>
        <a:srgbClr val="7DB4E3"/>
      </a:accent6>
      <a:hlink>
        <a:srgbClr val="F28C4B"/>
      </a:hlink>
      <a:folHlink>
        <a:srgbClr val="F28C4B"/>
      </a:folHlink>
    </a:clrScheme>
    <a:fontScheme name="Now Door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지금이라는 문: 김윤성 포트폴리오</dc:title>
  <dc:subject>PptxGenJS Presentation</dc:subject>
  <dc:creator>김윤성</dc:creator>
  <cp:lastModifiedBy>김윤성</cp:lastModifiedBy>
  <cp:revision>1</cp:revision>
  <dcterms:created xsi:type="dcterms:W3CDTF">2026-10-02T01:44:41Z</dcterms:created>
  <dcterms:modified xsi:type="dcterms:W3CDTF">2026-10-02T01:44:41Z</dcterms:modified>
</cp:coreProperties>
</file>