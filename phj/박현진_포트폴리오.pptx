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792ec135-31a1-c6c2-11a7-a3122755006e}">
          <p14:sldIdLst>
            <p14:sldId id="256"/>
            <p14:sldId id="257"/>
            <p14:sldId id="258"/>
          </p14:sldIdLst>
        </p14:section>
        <p14:section name="01 아이돌, 출발" id="{1fff774f-efa0-8ae6-fabb-9d14dc5df57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2 너무 좋아 1000%" id="{85688da7-bc99-0815-a319-0ec53900e7ed}">
          <p14:sldIdLst>
            <p14:sldId id="269"/>
            <p14:sldId id="270"/>
            <p14:sldId id="271"/>
            <p14:sldId id="272"/>
          </p14:sldIdLst>
        </p14:section>
        <p14:section name="03 일렁이는 뻄씨" id="{bc8cb5cb-c570-40e2-065c-2aa6d4803144}">
          <p14:sldIdLst>
            <p14:sldId id="273"/>
            <p14:sldId id="274"/>
            <p14:sldId id="275"/>
            <p14:sldId id="276"/>
            <p14:sldId id="277"/>
          </p14:sldIdLst>
        </p14:section>
        <p14:section name="04 숏폼 광고" id="{b9489f35-3526-8fc8-1c78-a5bfbf1dcad0}">
          <p14:sldIdLst>
            <p14:sldId id="278"/>
            <p14:sldId id="279"/>
            <p14:sldId id="280"/>
          </p14:sldIdLst>
        </p14:section>
        <p14:section name="마무리" id="{f32f1dda-e274-15b0-93a9-a2f963a33eaa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TTER">
    <p:bg>
      <p:bgPr>
        <a:solidFill>
          <a:srgbClr val="FF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4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박현진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GE">
    <p:bg>
      <p:bgPr>
        <a:solidFill>
          <a:srgbClr val="24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0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박현진  ·  AI 콘텐츠 크리에이터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69CFF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24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image" Target="../media/image-10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Z0WyQogL-lNrDR5xIX4TQRBBudd0MGz/view" TargetMode="External"/><Relationship Id="rId4" Type="http://schemas.openxmlformats.org/officeDocument/2006/relationships/hyperlink" Target="https://drive.google.com/file/d/17Z0WyQogL-lNrDR5xIX4TQRBBudd0MGz/view" TargetMode="External"/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image" Target="../media/image-16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gif"/><Relationship Id="rId6" Type="http://schemas.openxmlformats.org/officeDocument/2006/relationships/image" Target="../media/image-20-6.gif"/><Relationship Id="rId7" Type="http://schemas.openxmlformats.org/officeDocument/2006/relationships/image" Target="../media/image-20-7.gif"/><Relationship Id="rId8" Type="http://schemas.openxmlformats.org/officeDocument/2006/relationships/image" Target="../media/image-20-8.gif"/><Relationship Id="rId9" Type="http://schemas.openxmlformats.org/officeDocument/2006/relationships/image" Target="../media/image-20-9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hyperlink" Target="https://drive.google.com/file/d/1FefrZd72wzog5w2L43n1-h5u9knYitG-/view" TargetMode="External"/><Relationship Id="rId7" Type="http://schemas.openxmlformats.org/officeDocument/2006/relationships/hyperlink" Target="https://drive.google.com/file/d/1s-JXzPu1EC2nhFelQepjlmBFu1Ptx7IT/view" TargetMode="External"/><Relationship Id="rId10" Type="http://schemas.openxmlformats.org/officeDocument/2006/relationships/hyperlink" Target="https://drive.google.com/file/d/1J_nYql8gBW3Kp7d5poH8K72Mv7EYwD8t/view" TargetMode="External"/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5" Type="http://schemas.openxmlformats.org/officeDocument/2006/relationships/image" Target="../media/image-21-4.jpg"/><Relationship Id="rId6" Type="http://schemas.openxmlformats.org/officeDocument/2006/relationships/image" Target="../media/image-21-5.jpg"/><Relationship Id="rId8" Type="http://schemas.openxmlformats.org/officeDocument/2006/relationships/image" Target="../media/image-21-6.jpg"/><Relationship Id="rId9" Type="http://schemas.openxmlformats.org/officeDocument/2006/relationships/image" Target="../media/image-21-7.jp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cN0moZzlcjhu3kQcTy5YQjEjh3OqM4XU/view" TargetMode="External"/><Relationship Id="rId4" Type="http://schemas.openxmlformats.org/officeDocument/2006/relationships/hyperlink" Target="https://drive.google.com/file/d/1cN0moZzlcjhu3kQcTy5YQjEjh3OqM4XU/view" TargetMode="External"/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5" Type="http://schemas.openxmlformats.org/officeDocument/2006/relationships/image" Target="../media/image-22-3.jpg"/><Relationship Id="rId6" Type="http://schemas.openxmlformats.org/officeDocument/2006/relationships/image" Target="../media/image-22-4.jpg"/><Relationship Id="rId7" Type="http://schemas.openxmlformats.org/officeDocument/2006/relationships/image" Target="../media/image-22-5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KHFpEc7DSNOmQ0AThXyHrO0jktwjwlx/view" TargetMode="External"/><Relationship Id="rId4" Type="http://schemas.openxmlformats.org/officeDocument/2006/relationships/hyperlink" Target="https://drive.google.com/file/d/1KKHFpEc7DSNOmQ0AThXyHrO0jktwjwlx/view" TargetMode="External"/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5" Type="http://schemas.openxmlformats.org/officeDocument/2006/relationships/image" Target="../media/image-24-3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hyperlink" Target="https://drive.google.com/file/d/17-MGQA1YUiZOZXjLN2MosLBWYy1VwaZy/view" TargetMode="External"/><Relationship Id="rId7" Type="http://schemas.openxmlformats.org/officeDocument/2006/relationships/hyperlink" Target="https://drive.google.com/file/d/17-MGQA1YUiZOZXjLN2MosLBWYy1VwaZy/view" TargetMode="External"/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5" Type="http://schemas.openxmlformats.org/officeDocument/2006/relationships/image" Target="../media/image-25-4.jpg"/><Relationship Id="rId6" Type="http://schemas.openxmlformats.org/officeDocument/2006/relationships/image" Target="../media/image-25-5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over-1" descr="무대 위에서 노래하는 박수아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"/>
          <p:cNvSpPr/>
          <p:nvPr/>
        </p:nvSpPr>
        <p:spPr>
          <a:xfrm>
            <a:off x="7690104" y="802509"/>
            <a:ext cx="4005072" cy="5252982"/>
          </a:xfrm>
          <a:prstGeom prst="roundRect">
            <a:avLst>
              <a:gd name="adj" fmla="val 1370"/>
            </a:avLst>
          </a:prstGeom>
          <a:solidFill>
            <a:srgbClr val="B69CFF">
              <a:alpha val="45000"/>
            </a:srgbClr>
          </a:solidFill>
          <a:ln/>
        </p:spPr>
      </p:sp>
      <p:sp>
        <p:nvSpPr>
          <p:cNvPr id="4" name="rect-3"/>
          <p:cNvSpPr/>
          <p:nvPr/>
        </p:nvSpPr>
        <p:spPr>
          <a:xfrm>
            <a:off x="7763256" y="875661"/>
            <a:ext cx="3858768" cy="5106678"/>
          </a:xfrm>
          <a:prstGeom prst="roundRect">
            <a:avLst>
              <a:gd name="adj" fmla="val 948"/>
            </a:avLst>
          </a:prstGeom>
          <a:solidFill>
            <a:srgbClr val="FFFFFF"/>
          </a:solidFill>
          <a:ln/>
        </p:spPr>
      </p:sp>
      <p:pic>
        <p:nvPicPr>
          <p:cNvPr id="5" name="cover-card-4" descr="마이크를 들고 무대에서 노래하는 박수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930525"/>
            <a:ext cx="3749040" cy="4996950"/>
          </a:xfrm>
          <a:prstGeom prst="rect">
            <a:avLst/>
          </a:prstGeom>
        </p:spPr>
      </p:pic>
      <p:sp>
        <p:nvSpPr>
          <p:cNvPr id="6" name="oval-5"/>
          <p:cNvSpPr/>
          <p:nvPr/>
        </p:nvSpPr>
        <p:spPr>
          <a:xfrm>
            <a:off x="11064240" y="5424555"/>
            <a:ext cx="822960" cy="8229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7" name="star-6"/>
          <p:cNvSpPr/>
          <p:nvPr/>
        </p:nvSpPr>
        <p:spPr>
          <a:xfrm>
            <a:off x="11292840" y="5653155"/>
            <a:ext cx="365760" cy="365760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8" name="tag-7"/>
          <p:cNvSpPr txBox="1"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CONTENT CREATOR PORTFOLIO</a:t>
            </a:r>
            <a:endParaRPr lang="en-US" sz="1100" dirty="0"/>
          </a:p>
        </p:txBody>
      </p:sp>
      <p:sp>
        <p:nvSpPr>
          <p:cNvPr id="9" name="text-8"/>
          <p:cNvSpPr txBox="1"/>
          <p:nvPr/>
        </p:nvSpPr>
        <p:spPr>
          <a:xfrm>
            <a:off x="640080" y="16002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박현진</a:t>
            </a:r>
            <a:endParaRPr lang="en-US" sz="6000" dirty="0"/>
          </a:p>
        </p:txBody>
      </p:sp>
      <p:sp>
        <p:nvSpPr>
          <p:cNvPr id="10" name="text-9"/>
          <p:cNvSpPr txBox="1"/>
          <p:nvPr/>
        </p:nvSpPr>
        <p:spPr>
          <a:xfrm>
            <a:off x="640080" y="27432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2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설렘과 응원의 순간을 장면으로 설계하는 크리에이터</a:t>
            </a:r>
            <a:endParaRPr lang="en-US" sz="1800" dirty="0"/>
          </a:p>
        </p:txBody>
      </p:sp>
      <p:sp>
        <p:nvSpPr>
          <p:cNvPr id="11" name="star-10"/>
          <p:cNvSpPr/>
          <p:nvPr/>
        </p:nvSpPr>
        <p:spPr>
          <a:xfrm>
            <a:off x="640080" y="3621024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2" name="text-11"/>
          <p:cNvSpPr txBox="1"/>
          <p:nvPr/>
        </p:nvSpPr>
        <p:spPr>
          <a:xfrm>
            <a:off x="960120" y="3520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No.01</a:t>
            </a:r>
            <a:endParaRPr lang="en-US" sz="1300" dirty="0"/>
          </a:p>
        </p:txBody>
      </p:sp>
      <p:sp>
        <p:nvSpPr>
          <p:cNvPr id="13" name="text-12"/>
          <p:cNvSpPr txBox="1"/>
          <p:nvPr/>
        </p:nvSpPr>
        <p:spPr>
          <a:xfrm>
            <a:off x="1783080" y="35204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 애니메이션 「아이돌, 출발」</a:t>
            </a:r>
            <a:endParaRPr lang="en-US" sz="1500" dirty="0"/>
          </a:p>
        </p:txBody>
      </p:sp>
      <p:sp>
        <p:nvSpPr>
          <p:cNvPr id="14" name="star-13"/>
          <p:cNvSpPr/>
          <p:nvPr/>
        </p:nvSpPr>
        <p:spPr>
          <a:xfrm>
            <a:off x="640080" y="4096512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5" name="text-14"/>
          <p:cNvSpPr txBox="1"/>
          <p:nvPr/>
        </p:nvSpPr>
        <p:spPr>
          <a:xfrm>
            <a:off x="960120" y="39959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No.02</a:t>
            </a:r>
            <a:endParaRPr lang="en-US" sz="1300" dirty="0"/>
          </a:p>
        </p:txBody>
      </p:sp>
      <p:sp>
        <p:nvSpPr>
          <p:cNvPr id="16" name="text-15"/>
          <p:cNvSpPr txBox="1"/>
          <p:nvPr/>
        </p:nvSpPr>
        <p:spPr>
          <a:xfrm>
            <a:off x="1783080" y="399592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순정 숏폼 애니메이션 「너무 좋아 1000%」</a:t>
            </a:r>
            <a:endParaRPr lang="en-US" sz="1500" dirty="0"/>
          </a:p>
        </p:txBody>
      </p:sp>
      <p:sp>
        <p:nvSpPr>
          <p:cNvPr id="17" name="star-16"/>
          <p:cNvSpPr/>
          <p:nvPr/>
        </p:nvSpPr>
        <p:spPr>
          <a:xfrm>
            <a:off x="640080" y="4572000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8" name="text-17"/>
          <p:cNvSpPr txBox="1"/>
          <p:nvPr/>
        </p:nvSpPr>
        <p:spPr>
          <a:xfrm>
            <a:off x="960120" y="44714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No.03</a:t>
            </a:r>
            <a:endParaRPr lang="en-US" sz="1300" dirty="0"/>
          </a:p>
        </p:txBody>
      </p:sp>
      <p:sp>
        <p:nvSpPr>
          <p:cNvPr id="19" name="text-18"/>
          <p:cNvSpPr txBox="1"/>
          <p:nvPr/>
        </p:nvSpPr>
        <p:spPr>
          <a:xfrm>
            <a:off x="1783080" y="447141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「일렁이는 뻄씨」</a:t>
            </a:r>
            <a:endParaRPr lang="en-US" sz="1500" dirty="0"/>
          </a:p>
        </p:txBody>
      </p:sp>
      <p:sp>
        <p:nvSpPr>
          <p:cNvPr id="20" name="star-19"/>
          <p:cNvSpPr/>
          <p:nvPr/>
        </p:nvSpPr>
        <p:spPr>
          <a:xfrm>
            <a:off x="640080" y="5047488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21" name="text-20"/>
          <p:cNvSpPr txBox="1"/>
          <p:nvPr/>
        </p:nvSpPr>
        <p:spPr>
          <a:xfrm>
            <a:off x="960120" y="494690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No.04</a:t>
            </a:r>
            <a:endParaRPr lang="en-US" sz="1300" dirty="0"/>
          </a:p>
        </p:txBody>
      </p:sp>
      <p:sp>
        <p:nvSpPr>
          <p:cNvPr id="22" name="text-21"/>
          <p:cNvSpPr txBox="1"/>
          <p:nvPr/>
        </p:nvSpPr>
        <p:spPr>
          <a:xfrm>
            <a:off x="1783080" y="494690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광고 「3초매직」 / 「확빠져」</a:t>
            </a:r>
            <a:endParaRPr lang="en-US" sz="1500" dirty="0"/>
          </a:p>
        </p:txBody>
      </p:sp>
      <p:sp>
        <p:nvSpPr>
          <p:cNvPr id="23" name="text-22"/>
          <p:cNvSpPr txBox="1"/>
          <p:nvPr/>
        </p:nvSpPr>
        <p:spPr>
          <a:xfrm>
            <a:off x="64008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9D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매력일자리 AI 콘텐츠 크리에이터 양성과정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23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4"/>
          <p:cNvSpPr/>
          <p:nvPr/>
        </p:nvSpPr>
        <p:spPr>
          <a:xfrm>
            <a:off x="640080" y="329184"/>
            <a:ext cx="1453896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25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26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27"/>
          <p:cNvSpPr txBox="1"/>
          <p:nvPr/>
        </p:nvSpPr>
        <p:spPr>
          <a:xfrm>
            <a:off x="1097280" y="329184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8" name="rect-28"/>
          <p:cNvSpPr/>
          <p:nvPr/>
        </p:nvSpPr>
        <p:spPr>
          <a:xfrm>
            <a:off x="640080" y="169164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BF8"/>
          </a:solidFill>
          <a:ln/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9" name="rect-29"/>
          <p:cNvSpPr/>
          <p:nvPr/>
        </p:nvSpPr>
        <p:spPr>
          <a:xfrm>
            <a:off x="822960" y="1874520"/>
            <a:ext cx="2240280" cy="1737360"/>
          </a:xfrm>
          <a:prstGeom prst="rect">
            <a:avLst/>
          </a:prstGeom>
          <a:solidFill>
            <a:srgbClr val="36235C"/>
          </a:solidFill>
          <a:ln/>
        </p:spPr>
      </p:sp>
      <p:pic>
        <p:nvPicPr>
          <p:cNvPr id="10" name="ticket-toc1-30" descr="무대에서 노래하는 박수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03318"/>
            <a:ext cx="2240280" cy="1679764"/>
          </a:xfrm>
          <a:prstGeom prst="rect">
            <a:avLst/>
          </a:prstGeom>
        </p:spPr>
      </p:pic>
      <p:sp>
        <p:nvSpPr>
          <p:cNvPr id="11" name="perforation-31"/>
          <p:cNvSpPr/>
          <p:nvPr/>
        </p:nvSpPr>
        <p:spPr>
          <a:xfrm>
            <a:off x="3246120" y="1914754"/>
            <a:ext cx="0" cy="1656893"/>
          </a:xfrm>
          <a:prstGeom prst="line">
            <a:avLst/>
          </a:prstGeom>
          <a:noFill/>
          <a:ln w="19050">
            <a:solidFill>
              <a:srgbClr val="B69CFF"/>
            </a:solidFill>
            <a:prstDash val="dash"/>
          </a:ln>
        </p:spPr>
      </p:sp>
      <p:sp>
        <p:nvSpPr>
          <p:cNvPr id="12" name="oval-32"/>
          <p:cNvSpPr/>
          <p:nvPr/>
        </p:nvSpPr>
        <p:spPr>
          <a:xfrm>
            <a:off x="3077870" y="1523390"/>
            <a:ext cx="336499" cy="336499"/>
          </a:xfrm>
          <a:prstGeom prst="ellipse">
            <a:avLst/>
          </a:prstGeom>
          <a:solidFill>
            <a:srgbClr val="FFF6F1"/>
          </a:solidFill>
          <a:ln/>
        </p:spPr>
      </p:sp>
      <p:sp>
        <p:nvSpPr>
          <p:cNvPr id="13" name="oval-33"/>
          <p:cNvSpPr/>
          <p:nvPr/>
        </p:nvSpPr>
        <p:spPr>
          <a:xfrm>
            <a:off x="3077870" y="3626510"/>
            <a:ext cx="336499" cy="336499"/>
          </a:xfrm>
          <a:prstGeom prst="ellipse">
            <a:avLst/>
          </a:prstGeom>
          <a:solidFill>
            <a:srgbClr val="FFF6F1"/>
          </a:solidFill>
          <a:ln/>
        </p:spPr>
      </p:sp>
      <p:sp>
        <p:nvSpPr>
          <p:cNvPr id="14" name="text-34"/>
          <p:cNvSpPr txBox="1"/>
          <p:nvPr/>
        </p:nvSpPr>
        <p:spPr>
          <a:xfrm>
            <a:off x="3502152" y="1892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No.01</a:t>
            </a:r>
            <a:endParaRPr lang="en-US" sz="2000" dirty="0"/>
          </a:p>
        </p:txBody>
      </p:sp>
      <p:sp>
        <p:nvSpPr>
          <p:cNvPr id="15" name="text-35"/>
          <p:cNvSpPr txBox="1"/>
          <p:nvPr/>
        </p:nvSpPr>
        <p:spPr>
          <a:xfrm>
            <a:off x="3502152" y="23500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아이돌, 출발</a:t>
            </a:r>
            <a:endParaRPr lang="en-US" sz="1700" dirty="0"/>
          </a:p>
        </p:txBody>
      </p:sp>
      <p:sp>
        <p:nvSpPr>
          <p:cNvPr id="16" name="text-36"/>
          <p:cNvSpPr txBox="1"/>
          <p:nvPr/>
        </p:nvSpPr>
        <p:spPr>
          <a:xfrm>
            <a:off x="3502152" y="2862072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 / 청춘 / 쌍방 성장물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장편 애니메이션 3씬</a:t>
            </a:r>
            <a:endParaRPr lang="en-US" sz="1100" dirty="0"/>
          </a:p>
        </p:txBody>
      </p:sp>
      <p:sp>
        <p:nvSpPr>
          <p:cNvPr id="17" name="rect-37"/>
          <p:cNvSpPr/>
          <p:nvPr/>
        </p:nvSpPr>
        <p:spPr>
          <a:xfrm>
            <a:off x="6217920" y="169164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BF8"/>
          </a:solidFill>
          <a:ln/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18" name="rect-38"/>
          <p:cNvSpPr/>
          <p:nvPr/>
        </p:nvSpPr>
        <p:spPr>
          <a:xfrm>
            <a:off x="6400800" y="1874520"/>
            <a:ext cx="2240280" cy="1737360"/>
          </a:xfrm>
          <a:prstGeom prst="rect">
            <a:avLst/>
          </a:prstGeom>
          <a:solidFill>
            <a:srgbClr val="36235C"/>
          </a:solidFill>
          <a:ln/>
        </p:spPr>
      </p:sp>
      <p:pic>
        <p:nvPicPr>
          <p:cNvPr id="19" name="ticket-toc2-39" descr="등굣길에서 마주친 유하나와 강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03095"/>
            <a:ext cx="2240280" cy="1680210"/>
          </a:xfrm>
          <a:prstGeom prst="rect">
            <a:avLst/>
          </a:prstGeom>
        </p:spPr>
      </p:pic>
      <p:sp>
        <p:nvSpPr>
          <p:cNvPr id="20" name="perforation-40"/>
          <p:cNvSpPr/>
          <p:nvPr/>
        </p:nvSpPr>
        <p:spPr>
          <a:xfrm>
            <a:off x="8823960" y="1914754"/>
            <a:ext cx="0" cy="1656893"/>
          </a:xfrm>
          <a:prstGeom prst="line">
            <a:avLst/>
          </a:prstGeom>
          <a:noFill/>
          <a:ln w="19050">
            <a:solidFill>
              <a:srgbClr val="B69CFF"/>
            </a:solidFill>
            <a:prstDash val="dash"/>
          </a:ln>
        </p:spPr>
      </p:sp>
      <p:sp>
        <p:nvSpPr>
          <p:cNvPr id="21" name="oval-41"/>
          <p:cNvSpPr/>
          <p:nvPr/>
        </p:nvSpPr>
        <p:spPr>
          <a:xfrm>
            <a:off x="8655710" y="1523390"/>
            <a:ext cx="336499" cy="336499"/>
          </a:xfrm>
          <a:prstGeom prst="ellipse">
            <a:avLst/>
          </a:prstGeom>
          <a:solidFill>
            <a:srgbClr val="FFF6F1"/>
          </a:solidFill>
          <a:ln/>
        </p:spPr>
      </p:sp>
      <p:sp>
        <p:nvSpPr>
          <p:cNvPr id="22" name="oval-42"/>
          <p:cNvSpPr/>
          <p:nvPr/>
        </p:nvSpPr>
        <p:spPr>
          <a:xfrm>
            <a:off x="8655710" y="3626510"/>
            <a:ext cx="336499" cy="336499"/>
          </a:xfrm>
          <a:prstGeom prst="ellipse">
            <a:avLst/>
          </a:prstGeom>
          <a:solidFill>
            <a:srgbClr val="FFF6F1"/>
          </a:solidFill>
          <a:ln/>
        </p:spPr>
      </p:sp>
      <p:sp>
        <p:nvSpPr>
          <p:cNvPr id="23" name="text-43"/>
          <p:cNvSpPr txBox="1"/>
          <p:nvPr/>
        </p:nvSpPr>
        <p:spPr>
          <a:xfrm>
            <a:off x="9079992" y="1892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No.02</a:t>
            </a:r>
            <a:endParaRPr lang="en-US" sz="2000" dirty="0"/>
          </a:p>
        </p:txBody>
      </p:sp>
      <p:sp>
        <p:nvSpPr>
          <p:cNvPr id="24" name="text-44"/>
          <p:cNvSpPr txBox="1"/>
          <p:nvPr/>
        </p:nvSpPr>
        <p:spPr>
          <a:xfrm>
            <a:off x="9079992" y="23500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좋아 1000%</a:t>
            </a:r>
            <a:endParaRPr lang="en-US" sz="1700" dirty="0"/>
          </a:p>
        </p:txBody>
      </p:sp>
      <p:sp>
        <p:nvSpPr>
          <p:cNvPr id="25" name="text-45"/>
          <p:cNvSpPr txBox="1"/>
          <p:nvPr/>
        </p:nvSpPr>
        <p:spPr>
          <a:xfrm>
            <a:off x="9079992" y="2862072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순정 학원물 로맨스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9:16 숏폼 애니메이션</a:t>
            </a:r>
            <a:endParaRPr lang="en-US" sz="1100" dirty="0"/>
          </a:p>
        </p:txBody>
      </p:sp>
      <p:sp>
        <p:nvSpPr>
          <p:cNvPr id="26" name="rect-46"/>
          <p:cNvSpPr/>
          <p:nvPr/>
        </p:nvSpPr>
        <p:spPr>
          <a:xfrm>
            <a:off x="640080" y="40233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BF8"/>
          </a:solidFill>
          <a:ln/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27" name="rect-47"/>
          <p:cNvSpPr/>
          <p:nvPr/>
        </p:nvSpPr>
        <p:spPr>
          <a:xfrm>
            <a:off x="822960" y="4206240"/>
            <a:ext cx="2240280" cy="1737360"/>
          </a:xfrm>
          <a:prstGeom prst="rect">
            <a:avLst/>
          </a:prstGeom>
          <a:solidFill>
            <a:srgbClr val="36235C"/>
          </a:solidFill>
          <a:ln/>
        </p:spPr>
      </p:sp>
      <p:pic>
        <p:nvPicPr>
          <p:cNvPr id="28" name="ticket-toc3-48" descr="꽃밭 속 뻄씨와 똘랑뻄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34815"/>
            <a:ext cx="2240280" cy="1680210"/>
          </a:xfrm>
          <a:prstGeom prst="rect">
            <a:avLst/>
          </a:prstGeom>
        </p:spPr>
      </p:pic>
      <p:sp>
        <p:nvSpPr>
          <p:cNvPr id="29" name="perforation-49"/>
          <p:cNvSpPr/>
          <p:nvPr/>
        </p:nvSpPr>
        <p:spPr>
          <a:xfrm>
            <a:off x="3246120" y="4246474"/>
            <a:ext cx="0" cy="1656893"/>
          </a:xfrm>
          <a:prstGeom prst="line">
            <a:avLst/>
          </a:prstGeom>
          <a:noFill/>
          <a:ln w="19050">
            <a:solidFill>
              <a:srgbClr val="B69CFF"/>
            </a:solidFill>
            <a:prstDash val="dash"/>
          </a:ln>
        </p:spPr>
      </p:sp>
      <p:sp>
        <p:nvSpPr>
          <p:cNvPr id="30" name="oval-50"/>
          <p:cNvSpPr/>
          <p:nvPr/>
        </p:nvSpPr>
        <p:spPr>
          <a:xfrm>
            <a:off x="3077870" y="3855110"/>
            <a:ext cx="336499" cy="336499"/>
          </a:xfrm>
          <a:prstGeom prst="ellipse">
            <a:avLst/>
          </a:prstGeom>
          <a:solidFill>
            <a:srgbClr val="FFF6F1"/>
          </a:solidFill>
          <a:ln/>
        </p:spPr>
      </p:sp>
      <p:sp>
        <p:nvSpPr>
          <p:cNvPr id="31" name="oval-51"/>
          <p:cNvSpPr/>
          <p:nvPr/>
        </p:nvSpPr>
        <p:spPr>
          <a:xfrm>
            <a:off x="3077870" y="5958230"/>
            <a:ext cx="336499" cy="336499"/>
          </a:xfrm>
          <a:prstGeom prst="ellipse">
            <a:avLst/>
          </a:prstGeom>
          <a:solidFill>
            <a:srgbClr val="FFF6F1"/>
          </a:solidFill>
          <a:ln/>
        </p:spPr>
      </p:sp>
      <p:sp>
        <p:nvSpPr>
          <p:cNvPr id="32" name="text-52"/>
          <p:cNvSpPr txBox="1"/>
          <p:nvPr/>
        </p:nvSpPr>
        <p:spPr>
          <a:xfrm>
            <a:off x="3502152" y="4224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No.03</a:t>
            </a:r>
            <a:endParaRPr lang="en-US" sz="2000" dirty="0"/>
          </a:p>
        </p:txBody>
      </p:sp>
      <p:sp>
        <p:nvSpPr>
          <p:cNvPr id="33" name="text-53"/>
          <p:cNvSpPr txBox="1"/>
          <p:nvPr/>
        </p:nvSpPr>
        <p:spPr>
          <a:xfrm>
            <a:off x="3502152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일렁이는 뻄씨</a:t>
            </a:r>
            <a:endParaRPr lang="en-US" sz="1700" dirty="0"/>
          </a:p>
        </p:txBody>
      </p:sp>
      <p:sp>
        <p:nvSpPr>
          <p:cNvPr id="34" name="text-54"/>
          <p:cNvSpPr txBox="1"/>
          <p:nvPr/>
        </p:nvSpPr>
        <p:spPr>
          <a:xfrm>
            <a:off x="3502152" y="5193792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일상툰 / 이모티콘 / 굿즈</a:t>
            </a:r>
            <a:endParaRPr lang="en-US" sz="1100" dirty="0"/>
          </a:p>
        </p:txBody>
      </p:sp>
      <p:sp>
        <p:nvSpPr>
          <p:cNvPr id="35" name="rect-55"/>
          <p:cNvSpPr/>
          <p:nvPr/>
        </p:nvSpPr>
        <p:spPr>
          <a:xfrm>
            <a:off x="6217920" y="402336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BF8"/>
          </a:solidFill>
          <a:ln/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36" name="rect-56"/>
          <p:cNvSpPr/>
          <p:nvPr/>
        </p:nvSpPr>
        <p:spPr>
          <a:xfrm>
            <a:off x="6400800" y="4206240"/>
            <a:ext cx="2240280" cy="1737360"/>
          </a:xfrm>
          <a:prstGeom prst="rect">
            <a:avLst/>
          </a:prstGeom>
          <a:solidFill>
            <a:srgbClr val="36235C"/>
          </a:solidFill>
          <a:ln/>
        </p:spPr>
      </p:sp>
      <p:pic>
        <p:nvPicPr>
          <p:cNvPr id="37" name="ticket-toc4-57" descr="트리트먼트와 다이어트 보조제 제품 컨셉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34605"/>
            <a:ext cx="2240280" cy="1680630"/>
          </a:xfrm>
          <a:prstGeom prst="rect">
            <a:avLst/>
          </a:prstGeom>
        </p:spPr>
      </p:pic>
      <p:sp>
        <p:nvSpPr>
          <p:cNvPr id="38" name="perforation-58"/>
          <p:cNvSpPr/>
          <p:nvPr/>
        </p:nvSpPr>
        <p:spPr>
          <a:xfrm>
            <a:off x="8823960" y="4246474"/>
            <a:ext cx="0" cy="1656893"/>
          </a:xfrm>
          <a:prstGeom prst="line">
            <a:avLst/>
          </a:prstGeom>
          <a:noFill/>
          <a:ln w="19050">
            <a:solidFill>
              <a:srgbClr val="B69CFF"/>
            </a:solidFill>
            <a:prstDash val="dash"/>
          </a:ln>
        </p:spPr>
      </p:sp>
      <p:sp>
        <p:nvSpPr>
          <p:cNvPr id="39" name="oval-59"/>
          <p:cNvSpPr/>
          <p:nvPr/>
        </p:nvSpPr>
        <p:spPr>
          <a:xfrm>
            <a:off x="8655710" y="3855110"/>
            <a:ext cx="336499" cy="336499"/>
          </a:xfrm>
          <a:prstGeom prst="ellipse">
            <a:avLst/>
          </a:prstGeom>
          <a:solidFill>
            <a:srgbClr val="FFF6F1"/>
          </a:solidFill>
          <a:ln/>
        </p:spPr>
      </p:sp>
      <p:sp>
        <p:nvSpPr>
          <p:cNvPr id="40" name="oval-60"/>
          <p:cNvSpPr/>
          <p:nvPr/>
        </p:nvSpPr>
        <p:spPr>
          <a:xfrm>
            <a:off x="8655710" y="5958230"/>
            <a:ext cx="336499" cy="336499"/>
          </a:xfrm>
          <a:prstGeom prst="ellipse">
            <a:avLst/>
          </a:prstGeom>
          <a:solidFill>
            <a:srgbClr val="FFF6F1"/>
          </a:solidFill>
          <a:ln/>
        </p:spPr>
      </p:sp>
      <p:sp>
        <p:nvSpPr>
          <p:cNvPr id="41" name="text-61"/>
          <p:cNvSpPr txBox="1"/>
          <p:nvPr/>
        </p:nvSpPr>
        <p:spPr>
          <a:xfrm>
            <a:off x="9079992" y="4224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No.04</a:t>
            </a:r>
            <a:endParaRPr lang="en-US" sz="2000" dirty="0"/>
          </a:p>
        </p:txBody>
      </p:sp>
      <p:sp>
        <p:nvSpPr>
          <p:cNvPr id="42" name="text-62"/>
          <p:cNvSpPr txBox="1"/>
          <p:nvPr/>
        </p:nvSpPr>
        <p:spPr>
          <a:xfrm>
            <a:off x="9079992" y="4681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3초매직 / 확빠져</a:t>
            </a:r>
            <a:endParaRPr lang="en-US" sz="1700" dirty="0"/>
          </a:p>
        </p:txBody>
      </p:sp>
      <p:sp>
        <p:nvSpPr>
          <p:cNvPr id="43" name="text-63"/>
          <p:cNvSpPr txBox="1"/>
          <p:nvPr/>
        </p:nvSpPr>
        <p:spPr>
          <a:xfrm>
            <a:off x="9079992" y="5193792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광고 2편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컨셉 / 스토리보드 / 완성 영상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64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65"/>
          <p:cNvSpPr/>
          <p:nvPr/>
        </p:nvSpPr>
        <p:spPr>
          <a:xfrm>
            <a:off x="640080" y="329184"/>
            <a:ext cx="1357884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66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67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68"/>
          <p:cNvSpPr txBox="1"/>
          <p:nvPr/>
        </p:nvSpPr>
        <p:spPr>
          <a:xfrm>
            <a:off x="1097280" y="329184"/>
            <a:ext cx="9006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서사 기획부터 캐릭터 IP, 광고까지 아우르는 역량</a:t>
            </a:r>
            <a:endParaRPr lang="en-US" sz="2600" dirty="0"/>
          </a:p>
        </p:txBody>
      </p:sp>
      <p:sp>
        <p:nvSpPr>
          <p:cNvPr id="8" name="rect-69"/>
          <p:cNvSpPr/>
          <p:nvPr/>
        </p:nvSpPr>
        <p:spPr>
          <a:xfrm>
            <a:off x="640080" y="1783080"/>
            <a:ext cx="2587752" cy="402336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9" name="rect-70"/>
          <p:cNvSpPr/>
          <p:nvPr/>
        </p:nvSpPr>
        <p:spPr>
          <a:xfrm>
            <a:off x="640080" y="1783080"/>
            <a:ext cx="2587752" cy="868680"/>
          </a:xfrm>
          <a:prstGeom prst="roundRect">
            <a:avLst>
              <a:gd name="adj" fmla="val 6316"/>
            </a:avLst>
          </a:prstGeom>
          <a:solidFill>
            <a:srgbClr val="FBE3E6"/>
          </a:solidFill>
          <a:ln/>
        </p:spPr>
      </p:sp>
      <p:sp>
        <p:nvSpPr>
          <p:cNvPr id="10" name="rect-71"/>
          <p:cNvSpPr/>
          <p:nvPr/>
        </p:nvSpPr>
        <p:spPr>
          <a:xfrm>
            <a:off x="640080" y="2331720"/>
            <a:ext cx="2587752" cy="320040"/>
          </a:xfrm>
          <a:prstGeom prst="rect">
            <a:avLst/>
          </a:prstGeom>
          <a:solidFill>
            <a:srgbClr val="FBE3E6"/>
          </a:solidFill>
          <a:ln/>
        </p:spPr>
      </p:sp>
      <p:sp>
        <p:nvSpPr>
          <p:cNvPr id="11" name="text-72"/>
          <p:cNvSpPr txBox="1"/>
          <p:nvPr/>
        </p:nvSpPr>
        <p:spPr>
          <a:xfrm>
            <a:off x="896112" y="19476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star-73"/>
          <p:cNvSpPr/>
          <p:nvPr/>
        </p:nvSpPr>
        <p:spPr>
          <a:xfrm>
            <a:off x="2679192" y="2075688"/>
            <a:ext cx="292608" cy="292608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3" name="perf-74"/>
          <p:cNvSpPr/>
          <p:nvPr/>
        </p:nvSpPr>
        <p:spPr>
          <a:xfrm>
            <a:off x="777240" y="2651760"/>
            <a:ext cx="2313432" cy="0"/>
          </a:xfrm>
          <a:prstGeom prst="line">
            <a:avLst/>
          </a:prstGeom>
          <a:noFill/>
          <a:ln w="15875">
            <a:solidFill>
              <a:srgbClr val="B69CFF"/>
            </a:solidFill>
            <a:prstDash val="dash"/>
          </a:ln>
        </p:spPr>
      </p:sp>
      <p:sp>
        <p:nvSpPr>
          <p:cNvPr id="14" name="text-75"/>
          <p:cNvSpPr txBox="1"/>
          <p:nvPr/>
        </p:nvSpPr>
        <p:spPr>
          <a:xfrm>
            <a:off x="896112" y="29260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청춘 성장 서사 기획</a:t>
            </a:r>
            <a:endParaRPr lang="en-US" sz="1800" dirty="0"/>
          </a:p>
        </p:txBody>
      </p:sp>
      <p:sp>
        <p:nvSpPr>
          <p:cNvPr id="15" name="text-76"/>
          <p:cNvSpPr txBox="1"/>
          <p:nvPr/>
        </p:nvSpPr>
        <p:spPr>
          <a:xfrm>
            <a:off x="896112" y="3520440"/>
            <a:ext cx="2130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E46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아이돌과 팬의 쌍방 성장을 기승전결 3씬으로 압축한 애니메이션 기획</a:t>
            </a:r>
            <a:endParaRPr lang="en-US" sz="1350" dirty="0"/>
          </a:p>
        </p:txBody>
      </p:sp>
      <p:sp>
        <p:nvSpPr>
          <p:cNvPr id="16" name="rect-77"/>
          <p:cNvSpPr/>
          <p:nvPr/>
        </p:nvSpPr>
        <p:spPr>
          <a:xfrm>
            <a:off x="3410712" y="1783080"/>
            <a:ext cx="2587752" cy="402336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17" name="rect-78"/>
          <p:cNvSpPr/>
          <p:nvPr/>
        </p:nvSpPr>
        <p:spPr>
          <a:xfrm>
            <a:off x="3410712" y="1783080"/>
            <a:ext cx="2587752" cy="868680"/>
          </a:xfrm>
          <a:prstGeom prst="roundRect">
            <a:avLst>
              <a:gd name="adj" fmla="val 6316"/>
            </a:avLst>
          </a:prstGeom>
          <a:solidFill>
            <a:srgbClr val="ECE4FF"/>
          </a:solidFill>
          <a:ln/>
        </p:spPr>
      </p:sp>
      <p:sp>
        <p:nvSpPr>
          <p:cNvPr id="18" name="rect-79"/>
          <p:cNvSpPr/>
          <p:nvPr/>
        </p:nvSpPr>
        <p:spPr>
          <a:xfrm>
            <a:off x="3410712" y="2331720"/>
            <a:ext cx="2587752" cy="320040"/>
          </a:xfrm>
          <a:prstGeom prst="rect">
            <a:avLst/>
          </a:prstGeom>
          <a:solidFill>
            <a:srgbClr val="ECE4FF"/>
          </a:solidFill>
          <a:ln/>
        </p:spPr>
      </p:sp>
      <p:sp>
        <p:nvSpPr>
          <p:cNvPr id="19" name="text-80"/>
          <p:cNvSpPr txBox="1"/>
          <p:nvPr/>
        </p:nvSpPr>
        <p:spPr>
          <a:xfrm>
            <a:off x="3666744" y="19476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5C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star-81"/>
          <p:cNvSpPr/>
          <p:nvPr/>
        </p:nvSpPr>
        <p:spPr>
          <a:xfrm>
            <a:off x="5449824" y="2075688"/>
            <a:ext cx="292608" cy="292608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21" name="perf-82"/>
          <p:cNvSpPr/>
          <p:nvPr/>
        </p:nvSpPr>
        <p:spPr>
          <a:xfrm>
            <a:off x="3547872" y="2651760"/>
            <a:ext cx="2313432" cy="0"/>
          </a:xfrm>
          <a:prstGeom prst="line">
            <a:avLst/>
          </a:prstGeom>
          <a:noFill/>
          <a:ln w="15875">
            <a:solidFill>
              <a:srgbClr val="B69CFF"/>
            </a:solidFill>
            <a:prstDash val="dash"/>
          </a:ln>
        </p:spPr>
      </p:sp>
      <p:sp>
        <p:nvSpPr>
          <p:cNvPr id="22" name="text-83"/>
          <p:cNvSpPr txBox="1"/>
          <p:nvPr/>
        </p:nvSpPr>
        <p:spPr>
          <a:xfrm>
            <a:off x="3666744" y="29260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설계</a:t>
            </a:r>
            <a:endParaRPr lang="en-US" sz="1800" dirty="0"/>
          </a:p>
        </p:txBody>
      </p:sp>
      <p:sp>
        <p:nvSpPr>
          <p:cNvPr id="23" name="text-84"/>
          <p:cNvSpPr txBox="1"/>
          <p:nvPr/>
        </p:nvSpPr>
        <p:spPr>
          <a:xfrm>
            <a:off x="3666744" y="3520440"/>
            <a:ext cx="2130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E46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AI툴을 활용한 인물별 프로필 / 의상 / 포인트 컬러 설계로 캐릭터 일관성 확보</a:t>
            </a:r>
            <a:endParaRPr lang="en-US" sz="1350" dirty="0"/>
          </a:p>
        </p:txBody>
      </p:sp>
      <p:sp>
        <p:nvSpPr>
          <p:cNvPr id="24" name="rect-85"/>
          <p:cNvSpPr/>
          <p:nvPr/>
        </p:nvSpPr>
        <p:spPr>
          <a:xfrm>
            <a:off x="6181344" y="1783080"/>
            <a:ext cx="2587752" cy="402336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25" name="rect-86"/>
          <p:cNvSpPr/>
          <p:nvPr/>
        </p:nvSpPr>
        <p:spPr>
          <a:xfrm>
            <a:off x="6181344" y="1783080"/>
            <a:ext cx="2587752" cy="868680"/>
          </a:xfrm>
          <a:prstGeom prst="roundRect">
            <a:avLst>
              <a:gd name="adj" fmla="val 6316"/>
            </a:avLst>
          </a:prstGeom>
          <a:solidFill>
            <a:srgbClr val="FBE3E6"/>
          </a:solidFill>
          <a:ln/>
        </p:spPr>
      </p:sp>
      <p:sp>
        <p:nvSpPr>
          <p:cNvPr id="26" name="rect-87"/>
          <p:cNvSpPr/>
          <p:nvPr/>
        </p:nvSpPr>
        <p:spPr>
          <a:xfrm>
            <a:off x="6181344" y="2331720"/>
            <a:ext cx="2587752" cy="320040"/>
          </a:xfrm>
          <a:prstGeom prst="rect">
            <a:avLst/>
          </a:prstGeom>
          <a:solidFill>
            <a:srgbClr val="FBE3E6"/>
          </a:solidFill>
          <a:ln/>
        </p:spPr>
      </p:sp>
      <p:sp>
        <p:nvSpPr>
          <p:cNvPr id="27" name="text-88"/>
          <p:cNvSpPr txBox="1"/>
          <p:nvPr/>
        </p:nvSpPr>
        <p:spPr>
          <a:xfrm>
            <a:off x="6437376" y="19476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8" name="star-89"/>
          <p:cNvSpPr/>
          <p:nvPr/>
        </p:nvSpPr>
        <p:spPr>
          <a:xfrm>
            <a:off x="8220456" y="2075688"/>
            <a:ext cx="292608" cy="292608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9" name="perf-90"/>
          <p:cNvSpPr/>
          <p:nvPr/>
        </p:nvSpPr>
        <p:spPr>
          <a:xfrm>
            <a:off x="6318504" y="2651760"/>
            <a:ext cx="2313432" cy="0"/>
          </a:xfrm>
          <a:prstGeom prst="line">
            <a:avLst/>
          </a:prstGeom>
          <a:noFill/>
          <a:ln w="15875">
            <a:solidFill>
              <a:srgbClr val="B69CFF"/>
            </a:solidFill>
            <a:prstDash val="dash"/>
          </a:ln>
        </p:spPr>
      </p:sp>
      <p:sp>
        <p:nvSpPr>
          <p:cNvPr id="30" name="text-91"/>
          <p:cNvSpPr txBox="1"/>
          <p:nvPr/>
        </p:nvSpPr>
        <p:spPr>
          <a:xfrm>
            <a:off x="6437376" y="29260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연출 / 사운드</a:t>
            </a:r>
            <a:endParaRPr lang="en-US" sz="1800" dirty="0"/>
          </a:p>
        </p:txBody>
      </p:sp>
      <p:sp>
        <p:nvSpPr>
          <p:cNvPr id="31" name="text-92"/>
          <p:cNvSpPr txBox="1"/>
          <p:nvPr/>
        </p:nvSpPr>
        <p:spPr>
          <a:xfrm>
            <a:off x="6437376" y="3520440"/>
            <a:ext cx="2130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E46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색보정 / 소품 / 시선 규칙과 컷별 보이스 / BGM / 현장음으로 몰입감 극대화</a:t>
            </a:r>
            <a:endParaRPr lang="en-US" sz="1350" dirty="0"/>
          </a:p>
        </p:txBody>
      </p:sp>
      <p:sp>
        <p:nvSpPr>
          <p:cNvPr id="32" name="rect-93"/>
          <p:cNvSpPr/>
          <p:nvPr/>
        </p:nvSpPr>
        <p:spPr>
          <a:xfrm>
            <a:off x="8951976" y="1783080"/>
            <a:ext cx="2587752" cy="402336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33" name="rect-94"/>
          <p:cNvSpPr/>
          <p:nvPr/>
        </p:nvSpPr>
        <p:spPr>
          <a:xfrm>
            <a:off x="8951976" y="1783080"/>
            <a:ext cx="2587752" cy="868680"/>
          </a:xfrm>
          <a:prstGeom prst="roundRect">
            <a:avLst>
              <a:gd name="adj" fmla="val 6316"/>
            </a:avLst>
          </a:prstGeom>
          <a:solidFill>
            <a:srgbClr val="ECE4FF"/>
          </a:solidFill>
          <a:ln/>
        </p:spPr>
      </p:sp>
      <p:sp>
        <p:nvSpPr>
          <p:cNvPr id="34" name="rect-95"/>
          <p:cNvSpPr/>
          <p:nvPr/>
        </p:nvSpPr>
        <p:spPr>
          <a:xfrm>
            <a:off x="8951976" y="2331720"/>
            <a:ext cx="2587752" cy="320040"/>
          </a:xfrm>
          <a:prstGeom prst="rect">
            <a:avLst/>
          </a:prstGeom>
          <a:solidFill>
            <a:srgbClr val="ECE4FF"/>
          </a:solidFill>
          <a:ln/>
        </p:spPr>
      </p:sp>
      <p:sp>
        <p:nvSpPr>
          <p:cNvPr id="35" name="text-96"/>
          <p:cNvSpPr txBox="1"/>
          <p:nvPr/>
        </p:nvSpPr>
        <p:spPr>
          <a:xfrm>
            <a:off x="9208008" y="19476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5C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36" name="star-97"/>
          <p:cNvSpPr/>
          <p:nvPr/>
        </p:nvSpPr>
        <p:spPr>
          <a:xfrm>
            <a:off x="10991088" y="2075688"/>
            <a:ext cx="292608" cy="292608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37" name="perf-98"/>
          <p:cNvSpPr/>
          <p:nvPr/>
        </p:nvSpPr>
        <p:spPr>
          <a:xfrm>
            <a:off x="9089136" y="2651760"/>
            <a:ext cx="2313432" cy="0"/>
          </a:xfrm>
          <a:prstGeom prst="line">
            <a:avLst/>
          </a:prstGeom>
          <a:noFill/>
          <a:ln w="15875">
            <a:solidFill>
              <a:srgbClr val="B69CFF"/>
            </a:solidFill>
            <a:prstDash val="dash"/>
          </a:ln>
        </p:spPr>
      </p:sp>
      <p:sp>
        <p:nvSpPr>
          <p:cNvPr id="38" name="text-99"/>
          <p:cNvSpPr txBox="1"/>
          <p:nvPr/>
        </p:nvSpPr>
        <p:spPr>
          <a:xfrm>
            <a:off x="9208008" y="292608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/ 광고 확장</a:t>
            </a:r>
            <a:endParaRPr lang="en-US" sz="1800" dirty="0"/>
          </a:p>
        </p:txBody>
      </p:sp>
      <p:sp>
        <p:nvSpPr>
          <p:cNvPr id="39" name="text-100"/>
          <p:cNvSpPr txBox="1"/>
          <p:nvPr/>
        </p:nvSpPr>
        <p:spPr>
          <a:xfrm>
            <a:off x="9208008" y="3520440"/>
            <a:ext cx="21305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E46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굿즈 상세페이지와 9:16 숏폼 광고로 상품성 있는 콘텐츠 기획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1_bg-101" descr="챕터 대표 장면을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-102"/>
          <p:cNvSpPr txBox="1"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 HYUNJIN  PORTFOLIO TOUR 2026</a:t>
            </a:r>
            <a:endParaRPr lang="en-US" sz="1200" dirty="0"/>
          </a:p>
        </p:txBody>
      </p:sp>
      <p:sp>
        <p:nvSpPr>
          <p:cNvPr id="4" name="rect-103"/>
          <p:cNvSpPr/>
          <p:nvPr/>
        </p:nvSpPr>
        <p:spPr>
          <a:xfrm>
            <a:off x="777240" y="1097280"/>
            <a:ext cx="10634472" cy="4663440"/>
          </a:xfrm>
          <a:prstGeom prst="roundRect">
            <a:avLst>
              <a:gd name="adj" fmla="val 1176"/>
            </a:avLst>
          </a:prstGeom>
          <a:solidFill>
            <a:srgbClr val="FFFBF8"/>
          </a:solidFill>
          <a:ln/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5" name="rect-104"/>
          <p:cNvSpPr/>
          <p:nvPr/>
        </p:nvSpPr>
        <p:spPr>
          <a:xfrm>
            <a:off x="960120" y="1280160"/>
            <a:ext cx="6839712" cy="4297680"/>
          </a:xfrm>
          <a:prstGeom prst="rect">
            <a:avLst/>
          </a:prstGeom>
          <a:solidFill>
            <a:srgbClr val="36235C"/>
          </a:solidFill>
          <a:ln/>
        </p:spPr>
      </p:sp>
      <p:pic>
        <p:nvPicPr>
          <p:cNvPr id="6" name="ticket-tk_ch1-105" descr="박수아와 백설하가 함께 선 데뷔 무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39335"/>
            <a:ext cx="6839712" cy="4179331"/>
          </a:xfrm>
          <a:prstGeom prst="rect">
            <a:avLst/>
          </a:prstGeom>
        </p:spPr>
      </p:pic>
      <p:sp>
        <p:nvSpPr>
          <p:cNvPr id="7" name="perforation-106"/>
          <p:cNvSpPr/>
          <p:nvPr/>
        </p:nvSpPr>
        <p:spPr>
          <a:xfrm>
            <a:off x="7982712" y="1344168"/>
            <a:ext cx="0" cy="4169664"/>
          </a:xfrm>
          <a:prstGeom prst="line">
            <a:avLst/>
          </a:prstGeom>
          <a:noFill/>
          <a:ln w="19050">
            <a:solidFill>
              <a:srgbClr val="B69CFF"/>
            </a:solidFill>
            <a:prstDash val="dash"/>
          </a:ln>
        </p:spPr>
      </p:sp>
      <p:sp>
        <p:nvSpPr>
          <p:cNvPr id="8" name="oval-107"/>
          <p:cNvSpPr/>
          <p:nvPr/>
        </p:nvSpPr>
        <p:spPr>
          <a:xfrm>
            <a:off x="7790688" y="905256"/>
            <a:ext cx="384048" cy="384048"/>
          </a:xfrm>
          <a:prstGeom prst="ellipse">
            <a:avLst/>
          </a:prstGeom>
          <a:solidFill>
            <a:srgbClr val="2A1A48"/>
          </a:solidFill>
          <a:ln/>
        </p:spPr>
      </p:sp>
      <p:sp>
        <p:nvSpPr>
          <p:cNvPr id="9" name="oval-108"/>
          <p:cNvSpPr/>
          <p:nvPr/>
        </p:nvSpPr>
        <p:spPr>
          <a:xfrm>
            <a:off x="7790688" y="5568696"/>
            <a:ext cx="384048" cy="384048"/>
          </a:xfrm>
          <a:prstGeom prst="ellipse">
            <a:avLst/>
          </a:prstGeom>
          <a:solidFill>
            <a:srgbClr val="2A1A48"/>
          </a:solidFill>
          <a:ln/>
        </p:spPr>
      </p:sp>
      <p:sp>
        <p:nvSpPr>
          <p:cNvPr id="10" name="text-109"/>
          <p:cNvSpPr txBox="1"/>
          <p:nvPr/>
        </p:nvSpPr>
        <p:spPr>
          <a:xfrm>
            <a:off x="8257032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A5C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 ONE</a:t>
            </a:r>
            <a:endParaRPr lang="en-US" sz="1100" dirty="0"/>
          </a:p>
        </p:txBody>
      </p:sp>
      <p:sp>
        <p:nvSpPr>
          <p:cNvPr id="11" name="text-110"/>
          <p:cNvSpPr txBox="1"/>
          <p:nvPr/>
        </p:nvSpPr>
        <p:spPr>
          <a:xfrm>
            <a:off x="8257032" y="16916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CH.</a:t>
            </a:r>
            <a:pPr indent="0" marL="0">
              <a:buNone/>
            </a:pPr>
            <a:r>
              <a:rPr lang="en-US" sz="60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-111"/>
          <p:cNvSpPr txBox="1"/>
          <p:nvPr/>
        </p:nvSpPr>
        <p:spPr>
          <a:xfrm>
            <a:off x="8257032" y="27889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아이돌, 출발</a:t>
            </a:r>
            <a:endParaRPr lang="en-US" sz="2400" dirty="0"/>
          </a:p>
        </p:txBody>
      </p:sp>
      <p:sp>
        <p:nvSpPr>
          <p:cNvPr id="13" name="text-112"/>
          <p:cNvSpPr txBox="1"/>
          <p:nvPr/>
        </p:nvSpPr>
        <p:spPr>
          <a:xfrm>
            <a:off x="8257032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평범한 소녀가 팬의 응원으로 정상의 무대에 서기까지</a:t>
            </a:r>
            <a:endParaRPr lang="en-US" sz="1300" dirty="0"/>
          </a:p>
        </p:txBody>
      </p:sp>
      <p:sp>
        <p:nvSpPr>
          <p:cNvPr id="14" name="star-113"/>
          <p:cNvSpPr/>
          <p:nvPr/>
        </p:nvSpPr>
        <p:spPr>
          <a:xfrm>
            <a:off x="8257032" y="4983480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5" name="star-114"/>
          <p:cNvSpPr/>
          <p:nvPr/>
        </p:nvSpPr>
        <p:spPr>
          <a:xfrm>
            <a:off x="8549640" y="4983480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6" name="star-115"/>
          <p:cNvSpPr/>
          <p:nvPr/>
        </p:nvSpPr>
        <p:spPr>
          <a:xfrm>
            <a:off x="8842248" y="4983480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7" name="text-116"/>
          <p:cNvSpPr txBox="1"/>
          <p:nvPr/>
        </p:nvSpPr>
        <p:spPr>
          <a:xfrm>
            <a:off x="8257032" y="5230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 / 청춘 / 쌍방 성장물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tage-117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18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6235C"/>
          </a:solidFill>
          <a:ln/>
        </p:spPr>
      </p:sp>
      <p:sp>
        <p:nvSpPr>
          <p:cNvPr id="4" name="star-119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120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7A5CD6"/>
            </a:solidFill>
            <a:prstDash val="dash"/>
          </a:ln>
        </p:spPr>
      </p:sp>
      <p:sp>
        <p:nvSpPr>
          <p:cNvPr id="6" name="label-121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D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아이돌, 출발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평범한 소녀가 팬의 응원으로 무대에 서는 쌍방 성장물</a:t>
            </a:r>
            <a:endParaRPr lang="en-US" sz="2600" dirty="0"/>
          </a:p>
        </p:txBody>
      </p:sp>
      <p:sp>
        <p:nvSpPr>
          <p:cNvPr id="8" name="rect-122"/>
          <p:cNvSpPr/>
          <p:nvPr/>
        </p:nvSpPr>
        <p:spPr>
          <a:xfrm>
            <a:off x="585216" y="1683639"/>
            <a:ext cx="5047488" cy="2887218"/>
          </a:xfrm>
          <a:prstGeom prst="roundRect">
            <a:avLst>
              <a:gd name="adj" fmla="val 1584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i42-123" descr="응원봉 물결 앞에서 노래하는 박수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8503"/>
            <a:ext cx="4937760" cy="2777490"/>
          </a:xfrm>
          <a:prstGeom prst="rect">
            <a:avLst/>
          </a:prstGeom>
        </p:spPr>
      </p:pic>
      <p:sp>
        <p:nvSpPr>
          <p:cNvPr id="10" name="text-124"/>
          <p:cNvSpPr txBox="1"/>
          <p:nvPr/>
        </p:nvSpPr>
        <p:spPr>
          <a:xfrm>
            <a:off x="640080" y="4709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AF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16:9 FHD / 일본 아이돌 애니메이션 화풍 / 시네마틱 연출</a:t>
            </a:r>
            <a:endParaRPr lang="en-US" sz="1100" dirty="0"/>
          </a:p>
        </p:txBody>
      </p:sp>
      <p:sp>
        <p:nvSpPr>
          <p:cNvPr id="11" name="tag-125"/>
          <p:cNvSpPr txBox="1"/>
          <p:nvPr/>
        </p:nvSpPr>
        <p:spPr>
          <a:xfrm>
            <a:off x="5989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LOGLINE</a:t>
            </a:r>
            <a:endParaRPr lang="en-US" sz="1100" dirty="0"/>
          </a:p>
        </p:txBody>
      </p:sp>
      <p:sp>
        <p:nvSpPr>
          <p:cNvPr id="12" name="text-126"/>
          <p:cNvSpPr txBox="1"/>
          <p:nvPr/>
        </p:nvSpPr>
        <p:spPr>
          <a:xfrm>
            <a:off x="5989320" y="196596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평범한 여중생 A가 우연히 본 아이돌 무대에 반해 아이돌을 꿈꾸고, 갖은 노력 끝에 정상에 오르는 이야기</a:t>
            </a:r>
            <a:endParaRPr lang="en-US" sz="1500" dirty="0"/>
          </a:p>
        </p:txBody>
      </p:sp>
      <p:sp>
        <p:nvSpPr>
          <p:cNvPr id="13" name="text-127"/>
          <p:cNvSpPr txBox="1"/>
          <p:nvPr/>
        </p:nvSpPr>
        <p:spPr>
          <a:xfrm>
            <a:off x="5989320" y="29260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9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200" dirty="0"/>
          </a:p>
        </p:txBody>
      </p:sp>
      <p:sp>
        <p:nvSpPr>
          <p:cNvPr id="14" name="text-128"/>
          <p:cNvSpPr txBox="1"/>
          <p:nvPr/>
        </p:nvSpPr>
        <p:spPr>
          <a:xfrm>
            <a:off x="6995160" y="29260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 / 청춘 / 쌍방(팬, 아이돌) 성장물</a:t>
            </a:r>
            <a:endParaRPr lang="en-US" sz="1300" dirty="0"/>
          </a:p>
        </p:txBody>
      </p:sp>
      <p:sp>
        <p:nvSpPr>
          <p:cNvPr id="15" name="rule-129"/>
          <p:cNvSpPr/>
          <p:nvPr/>
        </p:nvSpPr>
        <p:spPr>
          <a:xfrm>
            <a:off x="5989320" y="3300984"/>
            <a:ext cx="5532120" cy="0"/>
          </a:xfrm>
          <a:prstGeom prst="line">
            <a:avLst/>
          </a:prstGeom>
          <a:noFill/>
          <a:ln w="9525">
            <a:solidFill>
              <a:srgbClr val="4A3A70"/>
            </a:solidFill>
            <a:prstDash val="solid"/>
          </a:ln>
        </p:spPr>
      </p:sp>
      <p:sp>
        <p:nvSpPr>
          <p:cNvPr id="16" name="text-130"/>
          <p:cNvSpPr txBox="1"/>
          <p:nvPr/>
        </p:nvSpPr>
        <p:spPr>
          <a:xfrm>
            <a:off x="5989320" y="332841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9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7" name="text-131"/>
          <p:cNvSpPr txBox="1"/>
          <p:nvPr/>
        </p:nvSpPr>
        <p:spPr>
          <a:xfrm>
            <a:off x="6995160" y="332841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/ 네이버</a:t>
            </a:r>
            <a:endParaRPr lang="en-US" sz="1300" dirty="0"/>
          </a:p>
        </p:txBody>
      </p:sp>
      <p:sp>
        <p:nvSpPr>
          <p:cNvPr id="18" name="rule-132"/>
          <p:cNvSpPr/>
          <p:nvPr/>
        </p:nvSpPr>
        <p:spPr>
          <a:xfrm>
            <a:off x="5989320" y="3703320"/>
            <a:ext cx="5532120" cy="0"/>
          </a:xfrm>
          <a:prstGeom prst="line">
            <a:avLst/>
          </a:prstGeom>
          <a:noFill/>
          <a:ln w="9525">
            <a:solidFill>
              <a:srgbClr val="4A3A70"/>
            </a:solidFill>
            <a:prstDash val="solid"/>
          </a:ln>
        </p:spPr>
      </p:sp>
      <p:sp>
        <p:nvSpPr>
          <p:cNvPr id="19" name="text-133"/>
          <p:cNvSpPr txBox="1"/>
          <p:nvPr/>
        </p:nvSpPr>
        <p:spPr>
          <a:xfrm>
            <a:off x="5989320" y="373075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9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200" dirty="0"/>
          </a:p>
        </p:txBody>
      </p:sp>
      <p:sp>
        <p:nvSpPr>
          <p:cNvPr id="20" name="text-134"/>
          <p:cNvSpPr txBox="1"/>
          <p:nvPr/>
        </p:nvSpPr>
        <p:spPr>
          <a:xfrm>
            <a:off x="6995160" y="373075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10~30대 여성 / 남성</a:t>
            </a:r>
            <a:endParaRPr lang="en-US" sz="1300" dirty="0"/>
          </a:p>
        </p:txBody>
      </p:sp>
      <p:sp>
        <p:nvSpPr>
          <p:cNvPr id="21" name="rule-135"/>
          <p:cNvSpPr/>
          <p:nvPr/>
        </p:nvSpPr>
        <p:spPr>
          <a:xfrm>
            <a:off x="5989320" y="4105656"/>
            <a:ext cx="5532120" cy="0"/>
          </a:xfrm>
          <a:prstGeom prst="line">
            <a:avLst/>
          </a:prstGeom>
          <a:noFill/>
          <a:ln w="9525">
            <a:solidFill>
              <a:srgbClr val="4A3A70"/>
            </a:solidFill>
            <a:prstDash val="solid"/>
          </a:ln>
        </p:spPr>
      </p:sp>
      <p:sp>
        <p:nvSpPr>
          <p:cNvPr id="22" name="tag-136"/>
          <p:cNvSpPr txBox="1"/>
          <p:nvPr/>
        </p:nvSpPr>
        <p:spPr>
          <a:xfrm>
            <a:off x="598932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</a:t>
            </a:r>
            <a:endParaRPr lang="en-US" sz="1100" dirty="0"/>
          </a:p>
        </p:txBody>
      </p:sp>
      <p:sp>
        <p:nvSpPr>
          <p:cNvPr id="23" name="star-137"/>
          <p:cNvSpPr/>
          <p:nvPr/>
        </p:nvSpPr>
        <p:spPr>
          <a:xfrm>
            <a:off x="5989320" y="4644009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4" name="bullet-138"/>
          <p:cNvSpPr txBox="1"/>
          <p:nvPr/>
        </p:nvSpPr>
        <p:spPr>
          <a:xfrm>
            <a:off x="6281928" y="4572000"/>
            <a:ext cx="5239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동경을 넘어 확고한 꿈을 향해 나아가는 청춘의 성장통 표현</a:t>
            </a:r>
            <a:endParaRPr lang="en-US" sz="1350" dirty="0"/>
          </a:p>
        </p:txBody>
      </p:sp>
      <p:sp>
        <p:nvSpPr>
          <p:cNvPr id="25" name="star-139"/>
          <p:cNvSpPr/>
          <p:nvPr/>
        </p:nvSpPr>
        <p:spPr>
          <a:xfrm>
            <a:off x="5989320" y="5247513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6" name="bullet-140"/>
          <p:cNvSpPr txBox="1"/>
          <p:nvPr/>
        </p:nvSpPr>
        <p:spPr>
          <a:xfrm>
            <a:off x="6281928" y="5175504"/>
            <a:ext cx="5239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팬과 아이돌이 서로를 비추는 등대처럼 함께 역경을 넘는 과정 연결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69CFF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141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42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143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144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145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아이돌, 출발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 / 승 / 전 / 결, 4단계로 설계한 성장 서사</a:t>
            </a:r>
            <a:endParaRPr lang="en-US" sz="2600" dirty="0"/>
          </a:p>
        </p:txBody>
      </p:sp>
      <p:sp>
        <p:nvSpPr>
          <p:cNvPr id="8" name="oval-146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7A5CD6"/>
          </a:solidFill>
          <a:ln/>
        </p:spPr>
      </p:sp>
      <p:sp>
        <p:nvSpPr>
          <p:cNvPr id="9" name="text-147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endParaRPr lang="en-US" sz="1600" dirty="0"/>
          </a:p>
        </p:txBody>
      </p:sp>
      <p:sp>
        <p:nvSpPr>
          <p:cNvPr id="10" name="text-148"/>
          <p:cNvSpPr txBox="1"/>
          <p:nvPr/>
        </p:nvSpPr>
        <p:spPr>
          <a:xfrm>
            <a:off x="118872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운명적인 끌림</a:t>
            </a:r>
            <a:endParaRPr lang="en-US" sz="1300" dirty="0"/>
          </a:p>
        </p:txBody>
      </p:sp>
      <p:sp>
        <p:nvSpPr>
          <p:cNvPr id="11" name="rect-149"/>
          <p:cNvSpPr/>
          <p:nvPr/>
        </p:nvSpPr>
        <p:spPr>
          <a:xfrm>
            <a:off x="587756" y="2322576"/>
            <a:ext cx="271068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2" name="img-i18-150" descr="운명적인 끌림 대표 장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" y="2377440"/>
            <a:ext cx="2600960" cy="1463040"/>
          </a:xfrm>
          <a:prstGeom prst="rect">
            <a:avLst/>
          </a:prstGeom>
        </p:spPr>
      </p:pic>
      <p:sp>
        <p:nvSpPr>
          <p:cNvPr id="13" name="text-151"/>
          <p:cNvSpPr txBox="1"/>
          <p:nvPr/>
        </p:nvSpPr>
        <p:spPr>
          <a:xfrm>
            <a:off x="64008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하굣길 야외 무대에서 아이돌의 꿈을 품고 소속사의 문을 두드림</a:t>
            </a:r>
            <a:endParaRPr lang="en-US" sz="1300" dirty="0"/>
          </a:p>
        </p:txBody>
      </p:sp>
      <p:sp>
        <p:nvSpPr>
          <p:cNvPr id="14" name="text-152"/>
          <p:cNvSpPr txBox="1"/>
          <p:nvPr/>
        </p:nvSpPr>
        <p:spPr>
          <a:xfrm>
            <a:off x="3227832" y="2926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oval-153"/>
          <p:cNvSpPr/>
          <p:nvPr/>
        </p:nvSpPr>
        <p:spPr>
          <a:xfrm>
            <a:off x="3429000" y="1691640"/>
            <a:ext cx="457200" cy="457200"/>
          </a:xfrm>
          <a:prstGeom prst="ellipse">
            <a:avLst/>
          </a:prstGeom>
          <a:solidFill>
            <a:srgbClr val="7A5CD6"/>
          </a:solidFill>
          <a:ln/>
        </p:spPr>
      </p:sp>
      <p:sp>
        <p:nvSpPr>
          <p:cNvPr id="16" name="text-154"/>
          <p:cNvSpPr txBox="1"/>
          <p:nvPr/>
        </p:nvSpPr>
        <p:spPr>
          <a:xfrm>
            <a:off x="3429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</a:t>
            </a:r>
            <a:endParaRPr lang="en-US" sz="1600" dirty="0"/>
          </a:p>
        </p:txBody>
      </p:sp>
      <p:sp>
        <p:nvSpPr>
          <p:cNvPr id="17" name="text-155"/>
          <p:cNvSpPr txBox="1"/>
          <p:nvPr/>
        </p:nvSpPr>
        <p:spPr>
          <a:xfrm>
            <a:off x="39776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녹록지 않은 현실, 뜻밖의 위로</a:t>
            </a:r>
            <a:endParaRPr lang="en-US" sz="1300" dirty="0"/>
          </a:p>
        </p:txBody>
      </p:sp>
      <p:sp>
        <p:nvSpPr>
          <p:cNvPr id="18" name="rect-156"/>
          <p:cNvSpPr/>
          <p:nvPr/>
        </p:nvSpPr>
        <p:spPr>
          <a:xfrm>
            <a:off x="3376676" y="2322576"/>
            <a:ext cx="271068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9" name="img-i29-157" descr="녹록지 않은 현실, 뜻밖의 위로 대표 장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1540" y="2377440"/>
            <a:ext cx="2600960" cy="1463040"/>
          </a:xfrm>
          <a:prstGeom prst="rect">
            <a:avLst/>
          </a:prstGeom>
        </p:spPr>
      </p:pic>
      <p:sp>
        <p:nvSpPr>
          <p:cNvPr id="20" name="text-158"/>
          <p:cNvSpPr txBox="1"/>
          <p:nvPr/>
        </p:nvSpPr>
        <p:spPr>
          <a:xfrm>
            <a:off x="342900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천재들 사이의 비교와 무명의 설움 속 팬레터와 선물로 다시 일어섬</a:t>
            </a:r>
            <a:endParaRPr lang="en-US" sz="1300" dirty="0"/>
          </a:p>
        </p:txBody>
      </p:sp>
      <p:sp>
        <p:nvSpPr>
          <p:cNvPr id="21" name="text-159"/>
          <p:cNvSpPr txBox="1"/>
          <p:nvPr/>
        </p:nvSpPr>
        <p:spPr>
          <a:xfrm>
            <a:off x="6016752" y="2926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oval-160"/>
          <p:cNvSpPr/>
          <p:nvPr/>
        </p:nvSpPr>
        <p:spPr>
          <a:xfrm>
            <a:off x="6217920" y="1691640"/>
            <a:ext cx="457200" cy="457200"/>
          </a:xfrm>
          <a:prstGeom prst="ellipse">
            <a:avLst/>
          </a:prstGeom>
          <a:solidFill>
            <a:srgbClr val="7A5CD6"/>
          </a:solidFill>
          <a:ln/>
        </p:spPr>
      </p:sp>
      <p:sp>
        <p:nvSpPr>
          <p:cNvPr id="23" name="text-161"/>
          <p:cNvSpPr txBox="1"/>
          <p:nvPr/>
        </p:nvSpPr>
        <p:spPr>
          <a:xfrm>
            <a:off x="6217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endParaRPr lang="en-US" sz="1600" dirty="0"/>
          </a:p>
        </p:txBody>
      </p:sp>
      <p:sp>
        <p:nvSpPr>
          <p:cNvPr id="24" name="text-162"/>
          <p:cNvSpPr txBox="1"/>
          <p:nvPr/>
        </p:nvSpPr>
        <p:spPr>
          <a:xfrm>
            <a:off x="676656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편지가 노래가 되던 날</a:t>
            </a:r>
            <a:endParaRPr lang="en-US" sz="1300" dirty="0"/>
          </a:p>
        </p:txBody>
      </p:sp>
      <p:sp>
        <p:nvSpPr>
          <p:cNvPr id="25" name="rect-163"/>
          <p:cNvSpPr/>
          <p:nvPr/>
        </p:nvSpPr>
        <p:spPr>
          <a:xfrm>
            <a:off x="6165596" y="2322576"/>
            <a:ext cx="271068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6" name="img-i39a-164" descr="편지가 노래가 되던 날 대표 장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460" y="2377440"/>
            <a:ext cx="2600960" cy="1463040"/>
          </a:xfrm>
          <a:prstGeom prst="rect">
            <a:avLst/>
          </a:prstGeom>
        </p:spPr>
      </p:pic>
      <p:sp>
        <p:nvSpPr>
          <p:cNvPr id="27" name="text-165"/>
          <p:cNvSpPr txBox="1"/>
          <p:nvPr/>
        </p:nvSpPr>
        <p:spPr>
          <a:xfrm>
            <a:off x="621792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팬의 편지 문장을 가사로 옮겨 데뷔곡 완성</a:t>
            </a:r>
            <a:endParaRPr lang="en-US" sz="1300" dirty="0"/>
          </a:p>
        </p:txBody>
      </p:sp>
      <p:sp>
        <p:nvSpPr>
          <p:cNvPr id="28" name="text-166"/>
          <p:cNvSpPr txBox="1"/>
          <p:nvPr/>
        </p:nvSpPr>
        <p:spPr>
          <a:xfrm>
            <a:off x="8805672" y="2926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oval-167"/>
          <p:cNvSpPr/>
          <p:nvPr/>
        </p:nvSpPr>
        <p:spPr>
          <a:xfrm>
            <a:off x="9006840" y="1691640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30" name="text-168"/>
          <p:cNvSpPr txBox="1"/>
          <p:nvPr/>
        </p:nvSpPr>
        <p:spPr>
          <a:xfrm>
            <a:off x="90068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</a:t>
            </a:r>
            <a:endParaRPr lang="en-US" sz="1600" dirty="0"/>
          </a:p>
        </p:txBody>
      </p:sp>
      <p:sp>
        <p:nvSpPr>
          <p:cNvPr id="31" name="text-169"/>
          <p:cNvSpPr txBox="1"/>
          <p:nvPr/>
        </p:nvSpPr>
        <p:spPr>
          <a:xfrm>
            <a:off x="955548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비추는 등대</a:t>
            </a:r>
            <a:endParaRPr lang="en-US" sz="1300" dirty="0"/>
          </a:p>
        </p:txBody>
      </p:sp>
      <p:sp>
        <p:nvSpPr>
          <p:cNvPr id="32" name="rect-170"/>
          <p:cNvSpPr/>
          <p:nvPr/>
        </p:nvSpPr>
        <p:spPr>
          <a:xfrm>
            <a:off x="8954516" y="2322576"/>
            <a:ext cx="271068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33" name="img-i411-171" descr="함께 비추는 등대 대표 장면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380" y="2377440"/>
            <a:ext cx="2600960" cy="1463040"/>
          </a:xfrm>
          <a:prstGeom prst="rect">
            <a:avLst/>
          </a:prstGeom>
        </p:spPr>
      </p:pic>
      <p:sp>
        <p:nvSpPr>
          <p:cNvPr id="34" name="text-172"/>
          <p:cNvSpPr txBox="1"/>
          <p:nvPr/>
        </p:nvSpPr>
        <p:spPr>
          <a:xfrm>
            <a:off x="9006840" y="4069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데뷔 무대 객석에서 같은 액세서리를 한 팬을 발견하고 전속 작곡가로 제안</a:t>
            </a:r>
            <a:endParaRPr lang="en-US" sz="1300" dirty="0"/>
          </a:p>
        </p:txBody>
      </p:sp>
      <p:sp>
        <p:nvSpPr>
          <p:cNvPr id="35" name="rect-173"/>
          <p:cNvSpPr/>
          <p:nvPr/>
        </p:nvSpPr>
        <p:spPr>
          <a:xfrm>
            <a:off x="640080" y="5440680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ECE4FF"/>
          </a:solidFill>
          <a:ln/>
        </p:spPr>
      </p:sp>
      <p:sp>
        <p:nvSpPr>
          <p:cNvPr id="36" name="text-174"/>
          <p:cNvSpPr txBox="1"/>
          <p:nvPr/>
        </p:nvSpPr>
        <p:spPr>
          <a:xfrm>
            <a:off x="914400" y="54406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"모든 걸 포기하고 싶어질 무렵, A를 다시 일으켜 세운 것은 묵묵히 곁을 지켜준 팬들의 믿음 어린 응원"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175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176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177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178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179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아이돌, 출발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컬러와 의상으로 역할을 구분한 캐릭터 설계</a:t>
            </a:r>
            <a:endParaRPr lang="en-US" sz="2600" dirty="0"/>
          </a:p>
        </p:txBody>
      </p:sp>
      <p:sp>
        <p:nvSpPr>
          <p:cNvPr id="8" name="rect-180"/>
          <p:cNvSpPr/>
          <p:nvPr/>
        </p:nvSpPr>
        <p:spPr>
          <a:xfrm>
            <a:off x="620776" y="1591056"/>
            <a:ext cx="3604768" cy="2075688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sheet_sua-181" descr="박수아  ·  16세 주인공, 검정 / 은색 / 흰색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0" y="1645920"/>
            <a:ext cx="3495040" cy="1965960"/>
          </a:xfrm>
          <a:prstGeom prst="rect">
            <a:avLst/>
          </a:prstGeom>
        </p:spPr>
      </p:pic>
      <p:sp>
        <p:nvSpPr>
          <p:cNvPr id="10" name="caption-182"/>
          <p:cNvSpPr txBox="1"/>
          <p:nvPr/>
        </p:nvSpPr>
        <p:spPr>
          <a:xfrm>
            <a:off x="584200" y="3712464"/>
            <a:ext cx="367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박수아  ·  16세 주인공, 검정 / 은색 / 흰색</a:t>
            </a:r>
            <a:endParaRPr lang="en-US" sz="1050" dirty="0"/>
          </a:p>
        </p:txBody>
      </p:sp>
      <p:sp>
        <p:nvSpPr>
          <p:cNvPr id="11" name="rect-183"/>
          <p:cNvSpPr/>
          <p:nvPr/>
        </p:nvSpPr>
        <p:spPr>
          <a:xfrm>
            <a:off x="4806696" y="1591056"/>
            <a:ext cx="2731008" cy="2075688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2" name="img-sheet_sua2-184" descr="박수아 연습복  ·  연습생 시절 의상 변형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60" y="1645920"/>
            <a:ext cx="2621280" cy="1965960"/>
          </a:xfrm>
          <a:prstGeom prst="rect">
            <a:avLst/>
          </a:prstGeom>
        </p:spPr>
      </p:pic>
      <p:sp>
        <p:nvSpPr>
          <p:cNvPr id="13" name="caption-185"/>
          <p:cNvSpPr txBox="1"/>
          <p:nvPr/>
        </p:nvSpPr>
        <p:spPr>
          <a:xfrm>
            <a:off x="4770120" y="3712464"/>
            <a:ext cx="280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박수아 연습복  ·  연습생 시절 의상 변형</a:t>
            </a:r>
            <a:endParaRPr lang="en-US" sz="1050" dirty="0"/>
          </a:p>
        </p:txBody>
      </p:sp>
      <p:sp>
        <p:nvSpPr>
          <p:cNvPr id="14" name="rect-186"/>
          <p:cNvSpPr/>
          <p:nvPr/>
        </p:nvSpPr>
        <p:spPr>
          <a:xfrm>
            <a:off x="1057656" y="3922776"/>
            <a:ext cx="2731008" cy="2075688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5" name="img-sheet_yujin-187" descr="이유진  ·  수아가 동경하게 된 아이돌, 연보라 캐릭터 시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20" y="3977640"/>
            <a:ext cx="2621280" cy="1965960"/>
          </a:xfrm>
          <a:prstGeom prst="rect">
            <a:avLst/>
          </a:prstGeom>
        </p:spPr>
      </p:pic>
      <p:sp>
        <p:nvSpPr>
          <p:cNvPr id="16" name="caption-188"/>
          <p:cNvSpPr txBox="1"/>
          <p:nvPr/>
        </p:nvSpPr>
        <p:spPr>
          <a:xfrm>
            <a:off x="1021080" y="6044184"/>
            <a:ext cx="280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이유진  ·  수아가 동경하게 된 아이돌, 연보라</a:t>
            </a:r>
            <a:endParaRPr lang="en-US" sz="1050" dirty="0"/>
          </a:p>
        </p:txBody>
      </p:sp>
      <p:sp>
        <p:nvSpPr>
          <p:cNvPr id="17" name="rect-189"/>
          <p:cNvSpPr/>
          <p:nvPr/>
        </p:nvSpPr>
        <p:spPr>
          <a:xfrm>
            <a:off x="4369816" y="3922776"/>
            <a:ext cx="3604768" cy="2075688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8" name="img-sheet_jinwoo-190" descr="김진우  ·  팬 출신 프로듀서, 청자색 캐릭터 시트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80" y="3977640"/>
            <a:ext cx="3495040" cy="1965960"/>
          </a:xfrm>
          <a:prstGeom prst="rect">
            <a:avLst/>
          </a:prstGeom>
        </p:spPr>
      </p:pic>
      <p:sp>
        <p:nvSpPr>
          <p:cNvPr id="19" name="caption-191"/>
          <p:cNvSpPr txBox="1"/>
          <p:nvPr/>
        </p:nvSpPr>
        <p:spPr>
          <a:xfrm>
            <a:off x="4333240" y="6044184"/>
            <a:ext cx="367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김진우  ·  팬 출신 프로듀서, 청자색</a:t>
            </a:r>
            <a:endParaRPr lang="en-US" sz="1050" dirty="0"/>
          </a:p>
        </p:txBody>
      </p:sp>
      <p:sp>
        <p:nvSpPr>
          <p:cNvPr id="20" name="tag-192"/>
          <p:cNvSpPr txBox="1"/>
          <p:nvPr/>
        </p:nvSpPr>
        <p:spPr>
          <a:xfrm>
            <a:off x="8366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</a:t>
            </a:r>
            <a:endParaRPr lang="en-US" sz="1100" dirty="0"/>
          </a:p>
        </p:txBody>
      </p:sp>
      <p:sp>
        <p:nvSpPr>
          <p:cNvPr id="21" name="text-193"/>
          <p:cNvSpPr txBox="1"/>
          <p:nvPr/>
        </p:nvSpPr>
        <p:spPr>
          <a:xfrm>
            <a:off x="836676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박수아</a:t>
            </a:r>
            <a:endParaRPr lang="en-US" sz="2400" dirty="0"/>
          </a:p>
        </p:txBody>
      </p:sp>
      <p:sp>
        <p:nvSpPr>
          <p:cNvPr id="22" name="text-194"/>
          <p:cNvSpPr txBox="1"/>
          <p:nvPr/>
        </p:nvSpPr>
        <p:spPr>
          <a:xfrm>
            <a:off x="8366760" y="2560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밝고 당찬 노력파, 은빛 눈동자와 삼지창 앞머리 포니테일</a:t>
            </a:r>
            <a:endParaRPr lang="en-US" sz="1250" dirty="0"/>
          </a:p>
        </p:txBody>
      </p:sp>
      <p:sp>
        <p:nvSpPr>
          <p:cNvPr id="23" name="star-195"/>
          <p:cNvSpPr/>
          <p:nvPr/>
        </p:nvSpPr>
        <p:spPr>
          <a:xfrm>
            <a:off x="8366760" y="3589782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4" name="bullet-196"/>
          <p:cNvSpPr txBox="1"/>
          <p:nvPr/>
        </p:nvSpPr>
        <p:spPr>
          <a:xfrm>
            <a:off x="8659368" y="352044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인물마다 포인트 컬러를 지정해 화면 속 역할 구분 강화</a:t>
            </a:r>
            <a:endParaRPr lang="en-US" sz="1300" dirty="0"/>
          </a:p>
        </p:txBody>
      </p:sp>
      <p:sp>
        <p:nvSpPr>
          <p:cNvPr id="25" name="star-197"/>
          <p:cNvSpPr/>
          <p:nvPr/>
        </p:nvSpPr>
        <p:spPr>
          <a:xfrm>
            <a:off x="8366760" y="4549902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6" name="bullet-198"/>
          <p:cNvSpPr txBox="1"/>
          <p:nvPr/>
        </p:nvSpPr>
        <p:spPr>
          <a:xfrm>
            <a:off x="8659368" y="4480560"/>
            <a:ext cx="2907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턴어라운드 / 표정 / 의상 변형 시트로 컷 간 인물 일관성 확보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tage-199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00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6235C"/>
          </a:solidFill>
          <a:ln/>
        </p:spPr>
      </p:sp>
      <p:sp>
        <p:nvSpPr>
          <p:cNvPr id="4" name="star-201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202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7A5CD6"/>
            </a:solidFill>
            <a:prstDash val="dash"/>
          </a:ln>
        </p:spPr>
      </p:sp>
      <p:sp>
        <p:nvSpPr>
          <p:cNvPr id="6" name="label-203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D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아이돌, 출발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라이벌 백설하와 무명팬 송아연, 주인공을 비추는 두 인물</a:t>
            </a:r>
            <a:endParaRPr lang="en-US" sz="2600" dirty="0"/>
          </a:p>
        </p:txBody>
      </p:sp>
      <p:sp>
        <p:nvSpPr>
          <p:cNvPr id="8" name="rect-204"/>
          <p:cNvSpPr/>
          <p:nvPr/>
        </p:nvSpPr>
        <p:spPr>
          <a:xfrm>
            <a:off x="586232" y="1682496"/>
            <a:ext cx="3490976" cy="2011680"/>
          </a:xfrm>
          <a:prstGeom prst="roundRect">
            <a:avLst>
              <a:gd name="adj" fmla="val 2273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i210-205" descr="백설하 클로즈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96" y="1737360"/>
            <a:ext cx="3381248" cy="1901952"/>
          </a:xfrm>
          <a:prstGeom prst="rect">
            <a:avLst/>
          </a:prstGeom>
        </p:spPr>
      </p:pic>
      <p:sp>
        <p:nvSpPr>
          <p:cNvPr id="10" name="rect-206"/>
          <p:cNvSpPr/>
          <p:nvPr/>
        </p:nvSpPr>
        <p:spPr>
          <a:xfrm>
            <a:off x="4152392" y="1682496"/>
            <a:ext cx="3490976" cy="2011680"/>
          </a:xfrm>
          <a:prstGeom prst="roundRect">
            <a:avLst>
              <a:gd name="adj" fmla="val 2273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1" name="img-i45f-207" descr="제복풍 무대 의상의 백설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256" y="1737360"/>
            <a:ext cx="3381248" cy="1901952"/>
          </a:xfrm>
          <a:prstGeom prst="rect">
            <a:avLst/>
          </a:prstGeom>
        </p:spPr>
      </p:pic>
      <p:sp>
        <p:nvSpPr>
          <p:cNvPr id="12" name="rect-208"/>
          <p:cNvSpPr/>
          <p:nvPr/>
        </p:nvSpPr>
        <p:spPr>
          <a:xfrm>
            <a:off x="2271776" y="3922776"/>
            <a:ext cx="3686048" cy="2121408"/>
          </a:xfrm>
          <a:prstGeom prst="roundRect">
            <a:avLst>
              <a:gd name="adj" fmla="val 2155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3" name="img-i411-209" descr="객석에서 휠체어에 앉아 무대를 바라보는 송아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640" y="3977640"/>
            <a:ext cx="3576320" cy="2011680"/>
          </a:xfrm>
          <a:prstGeom prst="rect">
            <a:avLst/>
          </a:prstGeom>
        </p:spPr>
      </p:pic>
      <p:sp>
        <p:nvSpPr>
          <p:cNvPr id="14" name="tag-210"/>
          <p:cNvSpPr txBox="1"/>
          <p:nvPr/>
        </p:nvSpPr>
        <p:spPr>
          <a:xfrm>
            <a:off x="80010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RIVAL</a:t>
            </a:r>
            <a:endParaRPr lang="en-US" sz="1100" dirty="0"/>
          </a:p>
        </p:txBody>
      </p:sp>
      <p:sp>
        <p:nvSpPr>
          <p:cNvPr id="15" name="text-211"/>
          <p:cNvSpPr txBox="1"/>
          <p:nvPr/>
        </p:nvSpPr>
        <p:spPr>
          <a:xfrm>
            <a:off x="800100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백설하  ·  17세 톱 아이돌</a:t>
            </a:r>
            <a:endParaRPr lang="en-US" sz="1600" dirty="0"/>
          </a:p>
        </p:txBody>
      </p:sp>
      <p:sp>
        <p:nvSpPr>
          <p:cNvPr id="16" name="text-212"/>
          <p:cNvSpPr txBox="1"/>
          <p:nvPr/>
        </p:nvSpPr>
        <p:spPr>
          <a:xfrm>
            <a:off x="8001000" y="2423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천재성과 자존심의 라이벌, 수아의 진심과 노력을 보고 동반자로 인정</a:t>
            </a:r>
            <a:endParaRPr lang="en-US" sz="1250" dirty="0"/>
          </a:p>
        </p:txBody>
      </p:sp>
      <p:sp>
        <p:nvSpPr>
          <p:cNvPr id="17" name="tag-213"/>
          <p:cNvSpPr txBox="1"/>
          <p:nvPr/>
        </p:nvSpPr>
        <p:spPr>
          <a:xfrm>
            <a:off x="800100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FAN</a:t>
            </a:r>
            <a:endParaRPr lang="en-US" sz="1100" dirty="0"/>
          </a:p>
        </p:txBody>
      </p:sp>
      <p:sp>
        <p:nvSpPr>
          <p:cNvPr id="18" name="text-214"/>
          <p:cNvSpPr txBox="1"/>
          <p:nvPr/>
        </p:nvSpPr>
        <p:spPr>
          <a:xfrm>
            <a:off x="8001000" y="4251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송아연  ·  16세 무명팬</a:t>
            </a:r>
            <a:endParaRPr lang="en-US" sz="1600" dirty="0"/>
          </a:p>
        </p:txBody>
      </p:sp>
      <p:sp>
        <p:nvSpPr>
          <p:cNvPr id="19" name="text-215"/>
          <p:cNvSpPr txBox="1"/>
          <p:nvPr/>
        </p:nvSpPr>
        <p:spPr>
          <a:xfrm>
            <a:off x="8001000" y="4663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사고로 아이돌의 꿈을 접은 소녀, 무명 시절부터 편지와 선물로 응원하다 수아의 전속 작곡가로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69CFF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216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17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218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219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220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아이돌, 출발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씬1 하굣길에서 되찾은 꿈, 색과 소품 규칙으로 설계한 연속성</a:t>
            </a:r>
            <a:endParaRPr lang="en-US" sz="2600" dirty="0"/>
          </a:p>
        </p:txBody>
      </p:sp>
      <p:sp>
        <p:nvSpPr>
          <p:cNvPr id="8" name="rect-221"/>
          <p:cNvSpPr/>
          <p:nvPr/>
        </p:nvSpPr>
        <p:spPr>
          <a:xfrm>
            <a:off x="585216" y="1637919"/>
            <a:ext cx="5779008" cy="3298698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i18-222" descr="하굣길에 드러나는 대형 야외 무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783"/>
            <a:ext cx="5669280" cy="3188970"/>
          </a:xfrm>
          <a:prstGeom prst="rect">
            <a:avLst/>
          </a:prstGeom>
        </p:spPr>
      </p:pic>
      <p:sp>
        <p:nvSpPr>
          <p:cNvPr id="10" name="rect-223"/>
          <p:cNvSpPr/>
          <p:nvPr/>
        </p:nvSpPr>
        <p:spPr>
          <a:xfrm>
            <a:off x="6485636" y="1636776"/>
            <a:ext cx="2564384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1" name="img-i12-224" descr="인파 속 하굣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1691640"/>
            <a:ext cx="2454656" cy="1380744"/>
          </a:xfrm>
          <a:prstGeom prst="rect">
            <a:avLst/>
          </a:prstGeom>
        </p:spPr>
      </p:pic>
      <p:sp>
        <p:nvSpPr>
          <p:cNvPr id="12" name="rect-225"/>
          <p:cNvSpPr/>
          <p:nvPr/>
        </p:nvSpPr>
        <p:spPr>
          <a:xfrm>
            <a:off x="9036812" y="1636776"/>
            <a:ext cx="2564384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3" name="img-i16-226" descr="응원봉 빛에 물든 얼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676" y="1691640"/>
            <a:ext cx="2454656" cy="1380744"/>
          </a:xfrm>
          <a:prstGeom prst="rect">
            <a:avLst/>
          </a:prstGeom>
        </p:spPr>
      </p:pic>
      <p:sp>
        <p:nvSpPr>
          <p:cNvPr id="14" name="rect-227"/>
          <p:cNvSpPr/>
          <p:nvPr/>
        </p:nvSpPr>
        <p:spPr>
          <a:xfrm>
            <a:off x="6485636" y="3236976"/>
            <a:ext cx="2564384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5" name="img-i112-228" descr="눈동자 위 겹치는 잔상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00" y="3291840"/>
            <a:ext cx="2454656" cy="1380744"/>
          </a:xfrm>
          <a:prstGeom prst="rect">
            <a:avLst/>
          </a:prstGeom>
        </p:spPr>
      </p:pic>
      <p:sp>
        <p:nvSpPr>
          <p:cNvPr id="16" name="rect-229"/>
          <p:cNvSpPr/>
          <p:nvPr/>
        </p:nvSpPr>
        <p:spPr>
          <a:xfrm>
            <a:off x="9038174" y="3236976"/>
            <a:ext cx="2561660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7" name="img-i114-230" descr="나도 저렇게 되고 싶어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3038" y="3291840"/>
            <a:ext cx="2451932" cy="1380744"/>
          </a:xfrm>
          <a:prstGeom prst="rect">
            <a:avLst/>
          </a:prstGeom>
        </p:spPr>
      </p:pic>
      <p:sp>
        <p:nvSpPr>
          <p:cNvPr id="18" name="star-231"/>
          <p:cNvSpPr/>
          <p:nvPr/>
        </p:nvSpPr>
        <p:spPr>
          <a:xfrm>
            <a:off x="640080" y="5192649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9" name="bullet-232"/>
          <p:cNvSpPr txBox="1"/>
          <p:nvPr/>
        </p:nvSpPr>
        <p:spPr>
          <a:xfrm>
            <a:off x="932688" y="5120640"/>
            <a:ext cx="10588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회상은 황금빛 / 세피아, 현재는 청록빛으로 색보정을 규칙화해 시간대 구분</a:t>
            </a:r>
            <a:endParaRPr lang="en-US" sz="1350" dirty="0"/>
          </a:p>
        </p:txBody>
      </p:sp>
      <p:sp>
        <p:nvSpPr>
          <p:cNvPr id="20" name="star-233"/>
          <p:cNvSpPr/>
          <p:nvPr/>
        </p:nvSpPr>
        <p:spPr>
          <a:xfrm>
            <a:off x="640080" y="5613273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1" name="bullet-234"/>
          <p:cNvSpPr txBox="1"/>
          <p:nvPr/>
        </p:nvSpPr>
        <p:spPr>
          <a:xfrm>
            <a:off x="932688" y="5541264"/>
            <a:ext cx="10588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이어폰 착용 / 제거와 은빛 눈동자 고정 규칙으로 컷 간 연속성 확보</a:t>
            </a:r>
            <a:endParaRPr lang="en-US" sz="1350" dirty="0"/>
          </a:p>
        </p:txBody>
      </p:sp>
      <p:sp>
        <p:nvSpPr>
          <p:cNvPr id="22" name="star-235"/>
          <p:cNvSpPr/>
          <p:nvPr/>
        </p:nvSpPr>
        <p:spPr>
          <a:xfrm>
            <a:off x="640080" y="6033897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3" name="bullet-236"/>
          <p:cNvSpPr txBox="1"/>
          <p:nvPr/>
        </p:nvSpPr>
        <p:spPr>
          <a:xfrm>
            <a:off x="932688" y="5961888"/>
            <a:ext cx="10588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익스트림 클로즈업과 이중노출로 꿈을 되찾는 순간의 감정 극대화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tage-237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38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6235C"/>
          </a:solidFill>
          <a:ln/>
        </p:spPr>
      </p:sp>
      <p:sp>
        <p:nvSpPr>
          <p:cNvPr id="4" name="star-239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240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7A5CD6"/>
            </a:solidFill>
            <a:prstDash val="dash"/>
          </a:ln>
        </p:spPr>
      </p:sp>
      <p:sp>
        <p:nvSpPr>
          <p:cNvPr id="6" name="label-241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D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아이돌, 출발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씬2 연습생의 벽, 청록 톤으로 그린 무명의 시간</a:t>
            </a:r>
            <a:endParaRPr lang="en-US" sz="2600" dirty="0"/>
          </a:p>
        </p:txBody>
      </p:sp>
      <p:sp>
        <p:nvSpPr>
          <p:cNvPr id="8" name="rect-242"/>
          <p:cNvSpPr/>
          <p:nvPr/>
        </p:nvSpPr>
        <p:spPr>
          <a:xfrm>
            <a:off x="662940" y="1636776"/>
            <a:ext cx="3474720" cy="2002536"/>
          </a:xfrm>
          <a:prstGeom prst="roundRect">
            <a:avLst>
              <a:gd name="adj" fmla="val 2283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i22b-243" descr="월말 평가 심사석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1691640"/>
            <a:ext cx="3364992" cy="1892808"/>
          </a:xfrm>
          <a:prstGeom prst="rect">
            <a:avLst/>
          </a:prstGeom>
        </p:spPr>
      </p:pic>
      <p:sp>
        <p:nvSpPr>
          <p:cNvPr id="10" name="caption-244"/>
          <p:cNvSpPr txBox="1"/>
          <p:nvPr/>
        </p:nvSpPr>
        <p:spPr>
          <a:xfrm>
            <a:off x="626364" y="36850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월말 평가 심사석</a:t>
            </a:r>
            <a:endParaRPr lang="en-US" sz="1050" dirty="0"/>
          </a:p>
        </p:txBody>
      </p:sp>
      <p:sp>
        <p:nvSpPr>
          <p:cNvPr id="11" name="rect-245"/>
          <p:cNvSpPr/>
          <p:nvPr/>
        </p:nvSpPr>
        <p:spPr>
          <a:xfrm>
            <a:off x="4338828" y="1636776"/>
            <a:ext cx="3474720" cy="2002536"/>
          </a:xfrm>
          <a:prstGeom prst="roundRect">
            <a:avLst>
              <a:gd name="adj" fmla="val 2283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2" name="img-i23d-246" descr="프로듀서 김진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2" y="1691640"/>
            <a:ext cx="3364992" cy="1892808"/>
          </a:xfrm>
          <a:prstGeom prst="rect">
            <a:avLst/>
          </a:prstGeom>
        </p:spPr>
      </p:pic>
      <p:sp>
        <p:nvSpPr>
          <p:cNvPr id="13" name="caption-247"/>
          <p:cNvSpPr txBox="1"/>
          <p:nvPr/>
        </p:nvSpPr>
        <p:spPr>
          <a:xfrm>
            <a:off x="4302252" y="36850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프로듀서 김진우</a:t>
            </a:r>
            <a:endParaRPr lang="en-US" sz="1050" dirty="0"/>
          </a:p>
        </p:txBody>
      </p:sp>
      <p:sp>
        <p:nvSpPr>
          <p:cNvPr id="14" name="rect-248"/>
          <p:cNvSpPr/>
          <p:nvPr/>
        </p:nvSpPr>
        <p:spPr>
          <a:xfrm>
            <a:off x="8014716" y="1636776"/>
            <a:ext cx="3474720" cy="2002536"/>
          </a:xfrm>
          <a:prstGeom prst="roundRect">
            <a:avLst>
              <a:gd name="adj" fmla="val 2283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5" name="img-i24-249" descr="트레이닝 평가 결과 공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580" y="1691640"/>
            <a:ext cx="3364992" cy="1892808"/>
          </a:xfrm>
          <a:prstGeom prst="rect">
            <a:avLst/>
          </a:prstGeom>
        </p:spPr>
      </p:pic>
      <p:sp>
        <p:nvSpPr>
          <p:cNvPr id="16" name="caption-250"/>
          <p:cNvSpPr txBox="1"/>
          <p:nvPr/>
        </p:nvSpPr>
        <p:spPr>
          <a:xfrm>
            <a:off x="7978140" y="36850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트레이닝 평가 결과 공지</a:t>
            </a:r>
            <a:endParaRPr lang="en-US" sz="1050" dirty="0"/>
          </a:p>
        </p:txBody>
      </p:sp>
      <p:sp>
        <p:nvSpPr>
          <p:cNvPr id="17" name="rect-251"/>
          <p:cNvSpPr/>
          <p:nvPr/>
        </p:nvSpPr>
        <p:spPr>
          <a:xfrm>
            <a:off x="662940" y="3712464"/>
            <a:ext cx="3474720" cy="2002536"/>
          </a:xfrm>
          <a:prstGeom prst="roundRect">
            <a:avLst>
              <a:gd name="adj" fmla="val 2283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8" name="img-i28-252" descr="우편함 앞의 수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3767328"/>
            <a:ext cx="3364992" cy="1892808"/>
          </a:xfrm>
          <a:prstGeom prst="rect">
            <a:avLst/>
          </a:prstGeom>
        </p:spPr>
      </p:pic>
      <p:sp>
        <p:nvSpPr>
          <p:cNvPr id="19" name="caption-253"/>
          <p:cNvSpPr txBox="1"/>
          <p:nvPr/>
        </p:nvSpPr>
        <p:spPr>
          <a:xfrm>
            <a:off x="626364" y="57607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우편함 앞의 수아</a:t>
            </a:r>
            <a:endParaRPr lang="en-US" sz="1050" dirty="0"/>
          </a:p>
        </p:txBody>
      </p:sp>
      <p:sp>
        <p:nvSpPr>
          <p:cNvPr id="20" name="rect-254"/>
          <p:cNvSpPr/>
          <p:nvPr/>
        </p:nvSpPr>
        <p:spPr>
          <a:xfrm>
            <a:off x="4338828" y="3712464"/>
            <a:ext cx="3474720" cy="2002536"/>
          </a:xfrm>
          <a:prstGeom prst="roundRect">
            <a:avLst>
              <a:gd name="adj" fmla="val 2283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1" name="img-i29-255" descr="편지와 체리 손뜨개 키링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3692" y="3767328"/>
            <a:ext cx="3364992" cy="1892808"/>
          </a:xfrm>
          <a:prstGeom prst="rect">
            <a:avLst/>
          </a:prstGeom>
        </p:spPr>
      </p:pic>
      <p:sp>
        <p:nvSpPr>
          <p:cNvPr id="22" name="caption-256"/>
          <p:cNvSpPr txBox="1"/>
          <p:nvPr/>
        </p:nvSpPr>
        <p:spPr>
          <a:xfrm>
            <a:off x="4302252" y="57607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편지와 체리 손뜨개 키링</a:t>
            </a:r>
            <a:endParaRPr lang="en-US" sz="1050" dirty="0"/>
          </a:p>
        </p:txBody>
      </p:sp>
      <p:sp>
        <p:nvSpPr>
          <p:cNvPr id="23" name="rect-257"/>
          <p:cNvSpPr/>
          <p:nvPr/>
        </p:nvSpPr>
        <p:spPr>
          <a:xfrm>
            <a:off x="8014716" y="3712464"/>
            <a:ext cx="3474720" cy="2002536"/>
          </a:xfrm>
          <a:prstGeom prst="roundRect">
            <a:avLst>
              <a:gd name="adj" fmla="val 2283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4" name="img-i211-258" descr="편지를 가슴에 안은 수아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9580" y="3767328"/>
            <a:ext cx="3364992" cy="1892808"/>
          </a:xfrm>
          <a:prstGeom prst="rect">
            <a:avLst/>
          </a:prstGeom>
        </p:spPr>
      </p:pic>
      <p:sp>
        <p:nvSpPr>
          <p:cNvPr id="25" name="caption-259"/>
          <p:cNvSpPr txBox="1"/>
          <p:nvPr/>
        </p:nvSpPr>
        <p:spPr>
          <a:xfrm>
            <a:off x="7978140" y="57607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편지를 가슴에 안은 수아</a:t>
            </a:r>
            <a:endParaRPr lang="en-US" sz="1050" dirty="0"/>
          </a:p>
        </p:txBody>
      </p:sp>
      <p:sp>
        <p:nvSpPr>
          <p:cNvPr id="26" name="text-260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69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평가표 / 순위 명단 / 우편함 인서트로 경쟁과 좌절, 위로의 흐름을 대사 없이 전달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69CFF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aper-261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62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263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264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265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아이돌, 출발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씬3 편지가 노래가 되던 날, 청록에서 따뜻한 톤으로</a:t>
            </a:r>
            <a:endParaRPr lang="en-US" sz="2600" dirty="0"/>
          </a:p>
        </p:txBody>
      </p:sp>
      <p:sp>
        <p:nvSpPr>
          <p:cNvPr id="8" name="rect-266"/>
          <p:cNvSpPr/>
          <p:nvPr/>
        </p:nvSpPr>
        <p:spPr>
          <a:xfrm>
            <a:off x="585216" y="1637919"/>
            <a:ext cx="5779008" cy="3298698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i314-267" descr="수아와 백설하의 데뷔 무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783"/>
            <a:ext cx="5669280" cy="3188970"/>
          </a:xfrm>
          <a:prstGeom prst="rect">
            <a:avLst/>
          </a:prstGeom>
        </p:spPr>
      </p:pic>
      <p:sp>
        <p:nvSpPr>
          <p:cNvPr id="10" name="rect-268"/>
          <p:cNvSpPr/>
          <p:nvPr/>
        </p:nvSpPr>
        <p:spPr>
          <a:xfrm>
            <a:off x="6485636" y="1636776"/>
            <a:ext cx="2564384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1" name="img-i34a-269" descr="팔로워 상승 SNS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1691640"/>
            <a:ext cx="2454656" cy="1380744"/>
          </a:xfrm>
          <a:prstGeom prst="rect">
            <a:avLst/>
          </a:prstGeom>
        </p:spPr>
      </p:pic>
      <p:sp>
        <p:nvSpPr>
          <p:cNvPr id="12" name="rect-270"/>
          <p:cNvSpPr/>
          <p:nvPr/>
        </p:nvSpPr>
        <p:spPr>
          <a:xfrm>
            <a:off x="9036812" y="1636776"/>
            <a:ext cx="2564384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3" name="img-i34d-271" descr="연습생 월간 평가 순위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1676" y="1691640"/>
            <a:ext cx="2454656" cy="1380744"/>
          </a:xfrm>
          <a:prstGeom prst="rect">
            <a:avLst/>
          </a:prstGeom>
        </p:spPr>
      </p:pic>
      <p:sp>
        <p:nvSpPr>
          <p:cNvPr id="14" name="rect-272"/>
          <p:cNvSpPr/>
          <p:nvPr/>
        </p:nvSpPr>
        <p:spPr>
          <a:xfrm>
            <a:off x="6485636" y="3236976"/>
            <a:ext cx="2564384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5" name="img-i34f-273" descr="데뷔조가 된 세 사람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00" y="3291840"/>
            <a:ext cx="2454656" cy="1380744"/>
          </a:xfrm>
          <a:prstGeom prst="rect">
            <a:avLst/>
          </a:prstGeom>
        </p:spPr>
      </p:pic>
      <p:sp>
        <p:nvSpPr>
          <p:cNvPr id="16" name="rect-274"/>
          <p:cNvSpPr/>
          <p:nvPr/>
        </p:nvSpPr>
        <p:spPr>
          <a:xfrm>
            <a:off x="9036812" y="3236976"/>
            <a:ext cx="2564384" cy="1490472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7" name="img-i39a-275" descr="녹음 부스의 수아와 설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1676" y="3291840"/>
            <a:ext cx="2454656" cy="1380744"/>
          </a:xfrm>
          <a:prstGeom prst="rect">
            <a:avLst/>
          </a:prstGeom>
        </p:spPr>
      </p:pic>
      <p:sp>
        <p:nvSpPr>
          <p:cNvPr id="18" name="star-276"/>
          <p:cNvSpPr/>
          <p:nvPr/>
        </p:nvSpPr>
        <p:spPr>
          <a:xfrm>
            <a:off x="640080" y="5192649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9" name="bullet-277"/>
          <p:cNvSpPr txBox="1"/>
          <p:nvPr/>
        </p:nvSpPr>
        <p:spPr>
          <a:xfrm>
            <a:off x="932688" y="5120640"/>
            <a:ext cx="10588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후반부로 갈수록 따뜻해지는 색보정으로 감정의 해소 시각화</a:t>
            </a:r>
            <a:endParaRPr lang="en-US" sz="1350" dirty="0"/>
          </a:p>
        </p:txBody>
      </p:sp>
      <p:sp>
        <p:nvSpPr>
          <p:cNvPr id="20" name="star-278"/>
          <p:cNvSpPr/>
          <p:nvPr/>
        </p:nvSpPr>
        <p:spPr>
          <a:xfrm>
            <a:off x="640080" y="5613273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1" name="bullet-279"/>
          <p:cNvSpPr txBox="1"/>
          <p:nvPr/>
        </p:nvSpPr>
        <p:spPr>
          <a:xfrm>
            <a:off x="932688" y="5541264"/>
            <a:ext cx="10588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팔로워 / 순위표 인서트로 인지도 상승을 한눈에 전달</a:t>
            </a:r>
            <a:endParaRPr lang="en-US" sz="1350" dirty="0"/>
          </a:p>
        </p:txBody>
      </p:sp>
      <p:sp>
        <p:nvSpPr>
          <p:cNvPr id="22" name="star-280"/>
          <p:cNvSpPr/>
          <p:nvPr/>
        </p:nvSpPr>
        <p:spPr>
          <a:xfrm>
            <a:off x="640080" y="6033897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3" name="bullet-281"/>
          <p:cNvSpPr txBox="1"/>
          <p:nvPr/>
        </p:nvSpPr>
        <p:spPr>
          <a:xfrm>
            <a:off x="932688" y="5961888"/>
            <a:ext cx="10588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씬1의 객석 시점과 대구를 이루는 데뷔 무대 연출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tage-282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83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6235C"/>
          </a:solidFill>
          <a:ln/>
        </p:spPr>
      </p:sp>
      <p:sp>
        <p:nvSpPr>
          <p:cNvPr id="4" name="star-284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285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7A5CD6"/>
            </a:solidFill>
            <a:prstDash val="dash"/>
          </a:ln>
        </p:spPr>
      </p:sp>
      <p:sp>
        <p:nvSpPr>
          <p:cNvPr id="6" name="label-286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D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아이돌, 출발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체리 키링과 팬레터, 팬과 아이돌을 잇는 반복 모티프</a:t>
            </a:r>
            <a:endParaRPr lang="en-US" sz="2600" dirty="0"/>
          </a:p>
        </p:txBody>
      </p:sp>
      <p:sp>
        <p:nvSpPr>
          <p:cNvPr id="8" name="rect-287"/>
          <p:cNvSpPr/>
          <p:nvPr/>
        </p:nvSpPr>
        <p:spPr>
          <a:xfrm>
            <a:off x="587756" y="1682496"/>
            <a:ext cx="2710688" cy="1572768"/>
          </a:xfrm>
          <a:prstGeom prst="roundRect">
            <a:avLst>
              <a:gd name="adj" fmla="val 2907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i29-288" descr="편지와 체리 키링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" y="1737360"/>
            <a:ext cx="2600960" cy="1463040"/>
          </a:xfrm>
          <a:prstGeom prst="rect">
            <a:avLst/>
          </a:prstGeom>
        </p:spPr>
      </p:pic>
      <p:sp>
        <p:nvSpPr>
          <p:cNvPr id="10" name="caption-289"/>
          <p:cNvSpPr txBox="1"/>
          <p:nvPr/>
        </p:nvSpPr>
        <p:spPr>
          <a:xfrm>
            <a:off x="551180" y="3300984"/>
            <a:ext cx="278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편지와 체리 키링</a:t>
            </a:r>
            <a:endParaRPr lang="en-US" sz="1050" dirty="0"/>
          </a:p>
        </p:txBody>
      </p:sp>
      <p:sp>
        <p:nvSpPr>
          <p:cNvPr id="11" name="rect-290"/>
          <p:cNvSpPr/>
          <p:nvPr/>
        </p:nvSpPr>
        <p:spPr>
          <a:xfrm>
            <a:off x="3358388" y="1682496"/>
            <a:ext cx="2710688" cy="1572768"/>
          </a:xfrm>
          <a:prstGeom prst="roundRect">
            <a:avLst>
              <a:gd name="adj" fmla="val 2907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2" name="img-i32-291" descr="키링을 단 첫 거리 무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252" y="1737360"/>
            <a:ext cx="2600960" cy="1463040"/>
          </a:xfrm>
          <a:prstGeom prst="rect">
            <a:avLst/>
          </a:prstGeom>
        </p:spPr>
      </p:pic>
      <p:sp>
        <p:nvSpPr>
          <p:cNvPr id="13" name="caption-292"/>
          <p:cNvSpPr txBox="1"/>
          <p:nvPr/>
        </p:nvSpPr>
        <p:spPr>
          <a:xfrm>
            <a:off x="3321812" y="3300984"/>
            <a:ext cx="278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키링을 단 첫 거리 무대</a:t>
            </a:r>
            <a:endParaRPr lang="en-US" sz="1050" dirty="0"/>
          </a:p>
        </p:txBody>
      </p:sp>
      <p:sp>
        <p:nvSpPr>
          <p:cNvPr id="14" name="rect-293"/>
          <p:cNvSpPr/>
          <p:nvPr/>
        </p:nvSpPr>
        <p:spPr>
          <a:xfrm>
            <a:off x="6129020" y="1682496"/>
            <a:ext cx="2710688" cy="1572768"/>
          </a:xfrm>
          <a:prstGeom prst="roundRect">
            <a:avLst>
              <a:gd name="adj" fmla="val 2907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5" name="img-i42-294" descr="데뷔 무대 위 체리 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884" y="1737360"/>
            <a:ext cx="2600960" cy="1463040"/>
          </a:xfrm>
          <a:prstGeom prst="rect">
            <a:avLst/>
          </a:prstGeom>
        </p:spPr>
      </p:pic>
      <p:sp>
        <p:nvSpPr>
          <p:cNvPr id="16" name="caption-295"/>
          <p:cNvSpPr txBox="1"/>
          <p:nvPr/>
        </p:nvSpPr>
        <p:spPr>
          <a:xfrm>
            <a:off x="6092444" y="3300984"/>
            <a:ext cx="278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데뷔 무대 위 체리 참</a:t>
            </a:r>
            <a:endParaRPr lang="en-US" sz="1050" dirty="0"/>
          </a:p>
        </p:txBody>
      </p:sp>
      <p:sp>
        <p:nvSpPr>
          <p:cNvPr id="17" name="rect-296"/>
          <p:cNvSpPr/>
          <p:nvPr/>
        </p:nvSpPr>
        <p:spPr>
          <a:xfrm>
            <a:off x="8899652" y="1682496"/>
            <a:ext cx="2710688" cy="1572768"/>
          </a:xfrm>
          <a:prstGeom prst="roundRect">
            <a:avLst>
              <a:gd name="adj" fmla="val 2907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8" name="img-i44-297" descr="응원봉 물결 속 팬들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4516" y="1737360"/>
            <a:ext cx="2600960" cy="1463040"/>
          </a:xfrm>
          <a:prstGeom prst="rect">
            <a:avLst/>
          </a:prstGeom>
        </p:spPr>
      </p:pic>
      <p:sp>
        <p:nvSpPr>
          <p:cNvPr id="19" name="caption-298"/>
          <p:cNvSpPr txBox="1"/>
          <p:nvPr/>
        </p:nvSpPr>
        <p:spPr>
          <a:xfrm>
            <a:off x="8863076" y="3300984"/>
            <a:ext cx="278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응원봉 물결 속 팬들</a:t>
            </a:r>
            <a:endParaRPr lang="en-US" sz="1050" dirty="0"/>
          </a:p>
        </p:txBody>
      </p:sp>
      <p:sp>
        <p:nvSpPr>
          <p:cNvPr id="20" name="star-299"/>
          <p:cNvSpPr/>
          <p:nvPr/>
        </p:nvSpPr>
        <p:spPr>
          <a:xfrm>
            <a:off x="640080" y="3966210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1" name="bullet-300"/>
          <p:cNvSpPr txBox="1"/>
          <p:nvPr/>
        </p:nvSpPr>
        <p:spPr>
          <a:xfrm>
            <a:off x="932688" y="3886200"/>
            <a:ext cx="10588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팬이 보낸 체리 손뜨개 키링을 무대 의상 액세서리로 이어 응원의 흔적 시각화</a:t>
            </a:r>
            <a:endParaRPr lang="en-US" sz="1500" dirty="0"/>
          </a:p>
        </p:txBody>
      </p:sp>
      <p:sp>
        <p:nvSpPr>
          <p:cNvPr id="22" name="star-301"/>
          <p:cNvSpPr/>
          <p:nvPr/>
        </p:nvSpPr>
        <p:spPr>
          <a:xfrm>
            <a:off x="640080" y="4606290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3" name="bullet-302"/>
          <p:cNvSpPr txBox="1"/>
          <p:nvPr/>
        </p:nvSpPr>
        <p:spPr>
          <a:xfrm>
            <a:off x="932688" y="4526280"/>
            <a:ext cx="10588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편지 문장이 데뷔곡 가사가 되는 구조로 팬과 아이돌의 쌍방 성장 완성</a:t>
            </a:r>
            <a:endParaRPr lang="en-US" sz="1500" dirty="0"/>
          </a:p>
        </p:txBody>
      </p:sp>
      <p:sp>
        <p:nvSpPr>
          <p:cNvPr id="24" name="star-303"/>
          <p:cNvSpPr/>
          <p:nvPr/>
        </p:nvSpPr>
        <p:spPr>
          <a:xfrm>
            <a:off x="640080" y="5246370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5" name="bullet-304"/>
          <p:cNvSpPr txBox="1"/>
          <p:nvPr/>
        </p:nvSpPr>
        <p:spPr>
          <a:xfrm>
            <a:off x="932688" y="5166360"/>
            <a:ext cx="10588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체리 굿즈를 든 팬을 객석에서 발견하는 엔딩으로 감동 극대화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69CFF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tage-305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06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6235C"/>
          </a:solidFill>
          <a:ln/>
        </p:spPr>
      </p:sp>
      <p:sp>
        <p:nvSpPr>
          <p:cNvPr id="4" name="star-307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308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7A5CD6"/>
            </a:solidFill>
            <a:prstDash val="dash"/>
          </a:ln>
        </p:spPr>
      </p:sp>
      <p:sp>
        <p:nvSpPr>
          <p:cNvPr id="6" name="label-309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D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CH.01  아이돌, 출발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편집본과 사운드 설계</a:t>
            </a:r>
            <a:endParaRPr lang="en-US" sz="2600" dirty="0"/>
          </a:p>
        </p:txBody>
      </p:sp>
      <p:sp>
        <p:nvSpPr>
          <p:cNvPr id="8" name="rect-310"/>
          <p:cNvSpPr/>
          <p:nvPr/>
        </p:nvSpPr>
        <p:spPr>
          <a:xfrm>
            <a:off x="585216" y="1683067"/>
            <a:ext cx="6236208" cy="3555873"/>
          </a:xfrm>
          <a:prstGeom prst="roundRect">
            <a:avLst>
              <a:gd name="adj" fmla="val 1286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poster_idol-311" descr="아이돌, 출발 편집본 영상 보기">
            <a:hlinkClick r:id="rId3" tooltip="영상 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931"/>
            <a:ext cx="6126480" cy="3446145"/>
          </a:xfrm>
          <a:prstGeom prst="rect">
            <a:avLst/>
          </a:prstGeom>
        </p:spPr>
      </p:pic>
      <p:sp>
        <p:nvSpPr>
          <p:cNvPr id="10" name="rect-312"/>
          <p:cNvSpPr/>
          <p:nvPr/>
        </p:nvSpPr>
        <p:spPr>
          <a:xfrm>
            <a:off x="640080" y="544068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1" name="link-313"/>
          <p:cNvSpPr txBox="1"/>
          <p:nvPr/>
        </p:nvSpPr>
        <p:spPr>
          <a:xfrm>
            <a:off x="640080" y="544068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7Z0WyQogL-lNrDR5xIX4TQRBBudd0MGz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편집본 보기</a:t>
            </a:r>
            <a:endParaRPr lang="en-US" sz="1200" dirty="0"/>
          </a:p>
        </p:txBody>
      </p:sp>
      <p:sp>
        <p:nvSpPr>
          <p:cNvPr id="12" name="tag-314"/>
          <p:cNvSpPr txBox="1"/>
          <p:nvPr/>
        </p:nvSpPr>
        <p:spPr>
          <a:xfrm>
            <a:off x="72237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 DESIGN</a:t>
            </a:r>
            <a:endParaRPr lang="en-US" sz="1100" dirty="0"/>
          </a:p>
        </p:txBody>
      </p:sp>
      <p:sp>
        <p:nvSpPr>
          <p:cNvPr id="13" name="rect-315"/>
          <p:cNvSpPr/>
          <p:nvPr/>
        </p:nvSpPr>
        <p:spPr>
          <a:xfrm>
            <a:off x="7223760" y="2103120"/>
            <a:ext cx="4325112" cy="731520"/>
          </a:xfrm>
          <a:prstGeom prst="roundRect">
            <a:avLst>
              <a:gd name="adj" fmla="val 10000"/>
            </a:avLst>
          </a:prstGeom>
          <a:solidFill>
            <a:srgbClr val="36235C"/>
          </a:solidFill>
          <a:ln w="9525">
            <a:solidFill>
              <a:srgbClr val="4A3A70"/>
            </a:solidFill>
            <a:prstDash val="solid"/>
          </a:ln>
        </p:spPr>
      </p:sp>
      <p:sp>
        <p:nvSpPr>
          <p:cNvPr id="14" name="text-316"/>
          <p:cNvSpPr txBox="1"/>
          <p:nvPr/>
        </p:nvSpPr>
        <p:spPr>
          <a:xfrm>
            <a:off x="740664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9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보이스</a:t>
            </a:r>
            <a:endParaRPr lang="en-US" sz="1300" dirty="0"/>
          </a:p>
        </p:txBody>
      </p:sp>
      <p:sp>
        <p:nvSpPr>
          <p:cNvPr id="15" name="text-317"/>
          <p:cNvSpPr txBox="1"/>
          <p:nvPr/>
        </p:nvSpPr>
        <p:spPr>
          <a:xfrm>
            <a:off x="8321040" y="2103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컷별 캐릭터 대사 / 속생각 녹음</a:t>
            </a:r>
            <a:endParaRPr lang="en-US" sz="1200" dirty="0"/>
          </a:p>
        </p:txBody>
      </p:sp>
      <p:sp>
        <p:nvSpPr>
          <p:cNvPr id="16" name="rect-318"/>
          <p:cNvSpPr/>
          <p:nvPr/>
        </p:nvSpPr>
        <p:spPr>
          <a:xfrm>
            <a:off x="7223760" y="2971800"/>
            <a:ext cx="4325112" cy="731520"/>
          </a:xfrm>
          <a:prstGeom prst="roundRect">
            <a:avLst>
              <a:gd name="adj" fmla="val 10000"/>
            </a:avLst>
          </a:prstGeom>
          <a:solidFill>
            <a:srgbClr val="36235C"/>
          </a:solidFill>
          <a:ln w="9525">
            <a:solidFill>
              <a:srgbClr val="4A3A70"/>
            </a:solidFill>
            <a:prstDash val="solid"/>
          </a:ln>
        </p:spPr>
      </p:sp>
      <p:sp>
        <p:nvSpPr>
          <p:cNvPr id="17" name="text-319"/>
          <p:cNvSpPr txBox="1"/>
          <p:nvPr/>
        </p:nvSpPr>
        <p:spPr>
          <a:xfrm>
            <a:off x="7406640" y="2971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9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BGM</a:t>
            </a:r>
            <a:endParaRPr lang="en-US" sz="1300" dirty="0"/>
          </a:p>
        </p:txBody>
      </p:sp>
      <p:sp>
        <p:nvSpPr>
          <p:cNvPr id="18" name="text-320"/>
          <p:cNvSpPr txBox="1"/>
          <p:nvPr/>
        </p:nvSpPr>
        <p:spPr>
          <a:xfrm>
            <a:off x="832104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노을빛 하굣길 / 노을 끝의 첫 무대 / 체리 키링의 약속</a:t>
            </a:r>
            <a:endParaRPr lang="en-US" sz="1200" dirty="0"/>
          </a:p>
        </p:txBody>
      </p:sp>
      <p:sp>
        <p:nvSpPr>
          <p:cNvPr id="19" name="rect-321"/>
          <p:cNvSpPr/>
          <p:nvPr/>
        </p:nvSpPr>
        <p:spPr>
          <a:xfrm>
            <a:off x="7223760" y="3840480"/>
            <a:ext cx="4325112" cy="731520"/>
          </a:xfrm>
          <a:prstGeom prst="roundRect">
            <a:avLst>
              <a:gd name="adj" fmla="val 10000"/>
            </a:avLst>
          </a:prstGeom>
          <a:solidFill>
            <a:srgbClr val="36235C"/>
          </a:solidFill>
          <a:ln w="9525">
            <a:solidFill>
              <a:srgbClr val="4A3A70"/>
            </a:solidFill>
            <a:prstDash val="solid"/>
          </a:ln>
        </p:spPr>
      </p:sp>
      <p:sp>
        <p:nvSpPr>
          <p:cNvPr id="20" name="text-322"/>
          <p:cNvSpPr txBox="1"/>
          <p:nvPr/>
        </p:nvSpPr>
        <p:spPr>
          <a:xfrm>
            <a:off x="7406640" y="3840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9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현장음</a:t>
            </a:r>
            <a:endParaRPr lang="en-US" sz="1300" dirty="0"/>
          </a:p>
        </p:txBody>
      </p:sp>
      <p:sp>
        <p:nvSpPr>
          <p:cNvPr id="21" name="text-323"/>
          <p:cNvSpPr txBox="1"/>
          <p:nvPr/>
        </p:nvSpPr>
        <p:spPr>
          <a:xfrm>
            <a:off x="832104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콘서트 환호 / 웅성 / 거리 일상</a:t>
            </a:r>
            <a:endParaRPr lang="en-US" sz="1200" dirty="0"/>
          </a:p>
        </p:txBody>
      </p:sp>
      <p:sp>
        <p:nvSpPr>
          <p:cNvPr id="22" name="star-324"/>
          <p:cNvSpPr/>
          <p:nvPr/>
        </p:nvSpPr>
        <p:spPr>
          <a:xfrm>
            <a:off x="7223760" y="4915662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3" name="bullet-325"/>
          <p:cNvSpPr txBox="1"/>
          <p:nvPr/>
        </p:nvSpPr>
        <p:spPr>
          <a:xfrm>
            <a:off x="7516368" y="4846320"/>
            <a:ext cx="4032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장면별 BGM과 현장음 레이어로 무대의 몰입감 강화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69CFF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2_bg-326" descr="챕터 대표 장면을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-327"/>
          <p:cNvSpPr txBox="1"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 HYUNJIN  PORTFOLIO TOUR 2026</a:t>
            </a:r>
            <a:endParaRPr lang="en-US" sz="1200" dirty="0"/>
          </a:p>
        </p:txBody>
      </p:sp>
      <p:sp>
        <p:nvSpPr>
          <p:cNvPr id="4" name="rect-328"/>
          <p:cNvSpPr/>
          <p:nvPr/>
        </p:nvSpPr>
        <p:spPr>
          <a:xfrm>
            <a:off x="777240" y="1097280"/>
            <a:ext cx="10634472" cy="4663440"/>
          </a:xfrm>
          <a:prstGeom prst="roundRect">
            <a:avLst>
              <a:gd name="adj" fmla="val 1176"/>
            </a:avLst>
          </a:prstGeom>
          <a:solidFill>
            <a:srgbClr val="FFFBF8"/>
          </a:solidFill>
          <a:ln/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5" name="rect-329"/>
          <p:cNvSpPr/>
          <p:nvPr/>
        </p:nvSpPr>
        <p:spPr>
          <a:xfrm>
            <a:off x="960120" y="1280160"/>
            <a:ext cx="6839712" cy="4297680"/>
          </a:xfrm>
          <a:prstGeom prst="rect">
            <a:avLst/>
          </a:prstGeom>
          <a:solidFill>
            <a:srgbClr val="36235C"/>
          </a:solidFill>
          <a:ln/>
        </p:spPr>
      </p:sp>
      <p:pic>
        <p:nvPicPr>
          <p:cNvPr id="6" name="ticket-tk_ch2-330" descr="벚꽃 골목에서 부딪혀 안기듯 넘어지는 유하나와 강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39290"/>
            <a:ext cx="6839712" cy="4179420"/>
          </a:xfrm>
          <a:prstGeom prst="rect">
            <a:avLst/>
          </a:prstGeom>
        </p:spPr>
      </p:pic>
      <p:sp>
        <p:nvSpPr>
          <p:cNvPr id="7" name="perforation-331"/>
          <p:cNvSpPr/>
          <p:nvPr/>
        </p:nvSpPr>
        <p:spPr>
          <a:xfrm>
            <a:off x="7982712" y="1344168"/>
            <a:ext cx="0" cy="4169664"/>
          </a:xfrm>
          <a:prstGeom prst="line">
            <a:avLst/>
          </a:prstGeom>
          <a:noFill/>
          <a:ln w="19050">
            <a:solidFill>
              <a:srgbClr val="B69CFF"/>
            </a:solidFill>
            <a:prstDash val="dash"/>
          </a:ln>
        </p:spPr>
      </p:sp>
      <p:sp>
        <p:nvSpPr>
          <p:cNvPr id="8" name="oval-332"/>
          <p:cNvSpPr/>
          <p:nvPr/>
        </p:nvSpPr>
        <p:spPr>
          <a:xfrm>
            <a:off x="7790688" y="905256"/>
            <a:ext cx="384048" cy="384048"/>
          </a:xfrm>
          <a:prstGeom prst="ellipse">
            <a:avLst/>
          </a:prstGeom>
          <a:solidFill>
            <a:srgbClr val="2A1A48"/>
          </a:solidFill>
          <a:ln/>
        </p:spPr>
      </p:sp>
      <p:sp>
        <p:nvSpPr>
          <p:cNvPr id="9" name="oval-333"/>
          <p:cNvSpPr/>
          <p:nvPr/>
        </p:nvSpPr>
        <p:spPr>
          <a:xfrm>
            <a:off x="7790688" y="5568696"/>
            <a:ext cx="384048" cy="384048"/>
          </a:xfrm>
          <a:prstGeom prst="ellipse">
            <a:avLst/>
          </a:prstGeom>
          <a:solidFill>
            <a:srgbClr val="2A1A48"/>
          </a:solidFill>
          <a:ln/>
        </p:spPr>
      </p:sp>
      <p:sp>
        <p:nvSpPr>
          <p:cNvPr id="10" name="text-334"/>
          <p:cNvSpPr txBox="1"/>
          <p:nvPr/>
        </p:nvSpPr>
        <p:spPr>
          <a:xfrm>
            <a:off x="8257032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A5C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 ONE</a:t>
            </a:r>
            <a:endParaRPr lang="en-US" sz="1100" dirty="0"/>
          </a:p>
        </p:txBody>
      </p:sp>
      <p:sp>
        <p:nvSpPr>
          <p:cNvPr id="11" name="text-335"/>
          <p:cNvSpPr txBox="1"/>
          <p:nvPr/>
        </p:nvSpPr>
        <p:spPr>
          <a:xfrm>
            <a:off x="8257032" y="16916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CH.</a:t>
            </a:r>
            <a:pPr indent="0" marL="0">
              <a:buNone/>
            </a:pPr>
            <a:r>
              <a:rPr lang="en-US" sz="60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-336"/>
          <p:cNvSpPr txBox="1"/>
          <p:nvPr/>
        </p:nvSpPr>
        <p:spPr>
          <a:xfrm>
            <a:off x="8257032" y="27889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좋아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1000%</a:t>
            </a:r>
            <a:endParaRPr lang="en-US" sz="2400" dirty="0"/>
          </a:p>
        </p:txBody>
      </p:sp>
      <p:sp>
        <p:nvSpPr>
          <p:cNvPr id="13" name="text-337"/>
          <p:cNvSpPr txBox="1"/>
          <p:nvPr/>
        </p:nvSpPr>
        <p:spPr>
          <a:xfrm>
            <a:off x="8257032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등굣길의 우연한 부딪힘으로 시작되는 첫사랑의 떨림</a:t>
            </a:r>
            <a:endParaRPr lang="en-US" sz="1300" dirty="0"/>
          </a:p>
        </p:txBody>
      </p:sp>
      <p:sp>
        <p:nvSpPr>
          <p:cNvPr id="14" name="star-338"/>
          <p:cNvSpPr/>
          <p:nvPr/>
        </p:nvSpPr>
        <p:spPr>
          <a:xfrm>
            <a:off x="8257032" y="4983480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5" name="star-339"/>
          <p:cNvSpPr/>
          <p:nvPr/>
        </p:nvSpPr>
        <p:spPr>
          <a:xfrm>
            <a:off x="8549640" y="4983480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6" name="star-340"/>
          <p:cNvSpPr/>
          <p:nvPr/>
        </p:nvSpPr>
        <p:spPr>
          <a:xfrm>
            <a:off x="8842248" y="4983480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7" name="text-341"/>
          <p:cNvSpPr txBox="1"/>
          <p:nvPr/>
        </p:nvSpPr>
        <p:spPr>
          <a:xfrm>
            <a:off x="8257032" y="5230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순정 학원물 / 1분 숏폼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pring-342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43"/>
          <p:cNvSpPr/>
          <p:nvPr/>
        </p:nvSpPr>
        <p:spPr>
          <a:xfrm>
            <a:off x="640080" y="329184"/>
            <a:ext cx="2414016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344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345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346"/>
          <p:cNvSpPr txBox="1"/>
          <p:nvPr/>
        </p:nvSpPr>
        <p:spPr>
          <a:xfrm>
            <a:off x="1097280" y="32918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CH.02  너무 좋아 1000%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숏폼에 압축한 첫사랑의 설렘, 순정 학원물</a:t>
            </a:r>
            <a:endParaRPr lang="en-US" sz="2600" dirty="0"/>
          </a:p>
        </p:txBody>
      </p:sp>
      <p:sp>
        <p:nvSpPr>
          <p:cNvPr id="8" name="rect-347"/>
          <p:cNvSpPr/>
          <p:nvPr/>
        </p:nvSpPr>
        <p:spPr>
          <a:xfrm>
            <a:off x="585216" y="1640257"/>
            <a:ext cx="2679192" cy="4674766"/>
          </a:xfrm>
          <a:prstGeom prst="roundRect">
            <a:avLst>
              <a:gd name="adj" fmla="val 1706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game1-348" descr="호감도 게이지와 대사창이 있는 게임 UI 버전 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5121"/>
            <a:ext cx="2569464" cy="4565038"/>
          </a:xfrm>
          <a:prstGeom prst="rect">
            <a:avLst/>
          </a:prstGeom>
        </p:spPr>
      </p:pic>
      <p:sp>
        <p:nvSpPr>
          <p:cNvPr id="10" name="tag-349"/>
          <p:cNvSpPr txBox="1"/>
          <p:nvPr/>
        </p:nvSpPr>
        <p:spPr>
          <a:xfrm>
            <a:off x="35204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LOGLINE</a:t>
            </a:r>
            <a:endParaRPr lang="en-US" sz="1100" dirty="0"/>
          </a:p>
        </p:txBody>
      </p:sp>
      <p:sp>
        <p:nvSpPr>
          <p:cNvPr id="11" name="text-350"/>
          <p:cNvSpPr txBox="1"/>
          <p:nvPr/>
        </p:nvSpPr>
        <p:spPr>
          <a:xfrm>
            <a:off x="3520440" y="196596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등굣길에서 부딪혀 첫눈에 반한 두 동급생, 교내 곳곳에서 시선이 마주칠수록 커지는 설렘 끝에 처음 만난 그 길에서 동시에 고백</a:t>
            </a:r>
            <a:endParaRPr lang="en-US" sz="1350" dirty="0"/>
          </a:p>
        </p:txBody>
      </p:sp>
      <p:sp>
        <p:nvSpPr>
          <p:cNvPr id="12" name="text-351"/>
          <p:cNvSpPr txBox="1"/>
          <p:nvPr/>
        </p:nvSpPr>
        <p:spPr>
          <a:xfrm>
            <a:off x="3520440" y="3200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200" dirty="0"/>
          </a:p>
        </p:txBody>
      </p:sp>
      <p:sp>
        <p:nvSpPr>
          <p:cNvPr id="13" name="text-352"/>
          <p:cNvSpPr txBox="1"/>
          <p:nvPr/>
        </p:nvSpPr>
        <p:spPr>
          <a:xfrm>
            <a:off x="4526280" y="3200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순정만화 / 학원물 / 로맨스</a:t>
            </a:r>
            <a:endParaRPr lang="en-US" sz="1300" dirty="0"/>
          </a:p>
        </p:txBody>
      </p:sp>
      <p:sp>
        <p:nvSpPr>
          <p:cNvPr id="14" name="rule-353"/>
          <p:cNvSpPr/>
          <p:nvPr/>
        </p:nvSpPr>
        <p:spPr>
          <a:xfrm>
            <a:off x="3520440" y="3575304"/>
            <a:ext cx="4434840" cy="0"/>
          </a:xfrm>
          <a:prstGeom prst="line">
            <a:avLst/>
          </a:prstGeom>
          <a:noFill/>
          <a:ln w="9525">
            <a:solidFill>
              <a:srgbClr val="E6DCEF"/>
            </a:solidFill>
            <a:prstDash val="solid"/>
          </a:ln>
        </p:spPr>
      </p:sp>
      <p:sp>
        <p:nvSpPr>
          <p:cNvPr id="15" name="text-354"/>
          <p:cNvSpPr txBox="1"/>
          <p:nvPr/>
        </p:nvSpPr>
        <p:spPr>
          <a:xfrm>
            <a:off x="3520440" y="360273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6" name="text-355"/>
          <p:cNvSpPr txBox="1"/>
          <p:nvPr/>
        </p:nvSpPr>
        <p:spPr>
          <a:xfrm>
            <a:off x="4526280" y="36027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 / 네이버</a:t>
            </a:r>
            <a:endParaRPr lang="en-US" sz="1300" dirty="0"/>
          </a:p>
        </p:txBody>
      </p:sp>
      <p:sp>
        <p:nvSpPr>
          <p:cNvPr id="17" name="rule-356"/>
          <p:cNvSpPr/>
          <p:nvPr/>
        </p:nvSpPr>
        <p:spPr>
          <a:xfrm>
            <a:off x="3520440" y="3977640"/>
            <a:ext cx="4434840" cy="0"/>
          </a:xfrm>
          <a:prstGeom prst="line">
            <a:avLst/>
          </a:prstGeom>
          <a:noFill/>
          <a:ln w="9525">
            <a:solidFill>
              <a:srgbClr val="E6DCEF"/>
            </a:solidFill>
            <a:prstDash val="solid"/>
          </a:ln>
        </p:spPr>
      </p:sp>
      <p:sp>
        <p:nvSpPr>
          <p:cNvPr id="18" name="text-357"/>
          <p:cNvSpPr txBox="1"/>
          <p:nvPr/>
        </p:nvSpPr>
        <p:spPr>
          <a:xfrm>
            <a:off x="3520440" y="400507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200" dirty="0"/>
          </a:p>
        </p:txBody>
      </p:sp>
      <p:sp>
        <p:nvSpPr>
          <p:cNvPr id="19" name="text-358"/>
          <p:cNvSpPr txBox="1"/>
          <p:nvPr/>
        </p:nvSpPr>
        <p:spPr>
          <a:xfrm>
            <a:off x="4526280" y="40050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10~20대 여성</a:t>
            </a:r>
            <a:endParaRPr lang="en-US" sz="1300" dirty="0"/>
          </a:p>
        </p:txBody>
      </p:sp>
      <p:sp>
        <p:nvSpPr>
          <p:cNvPr id="20" name="rule-359"/>
          <p:cNvSpPr/>
          <p:nvPr/>
        </p:nvSpPr>
        <p:spPr>
          <a:xfrm>
            <a:off x="3520440" y="4379976"/>
            <a:ext cx="4434840" cy="0"/>
          </a:xfrm>
          <a:prstGeom prst="line">
            <a:avLst/>
          </a:prstGeom>
          <a:noFill/>
          <a:ln w="9525">
            <a:solidFill>
              <a:srgbClr val="E6DCEF"/>
            </a:solidFill>
            <a:prstDash val="solid"/>
          </a:ln>
        </p:spPr>
      </p:sp>
      <p:sp>
        <p:nvSpPr>
          <p:cNvPr id="21" name="text-360"/>
          <p:cNvSpPr txBox="1"/>
          <p:nvPr/>
        </p:nvSpPr>
        <p:spPr>
          <a:xfrm>
            <a:off x="3520440" y="440740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</a:t>
            </a:r>
            <a:endParaRPr lang="en-US" sz="1200" dirty="0"/>
          </a:p>
        </p:txBody>
      </p:sp>
      <p:sp>
        <p:nvSpPr>
          <p:cNvPr id="22" name="text-361"/>
          <p:cNvSpPr txBox="1"/>
          <p:nvPr/>
        </p:nvSpPr>
        <p:spPr>
          <a:xfrm>
            <a:off x="4526280" y="44074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내외 / 9:16 세로</a:t>
            </a:r>
            <a:endParaRPr lang="en-US" sz="1300" dirty="0"/>
          </a:p>
        </p:txBody>
      </p:sp>
      <p:sp>
        <p:nvSpPr>
          <p:cNvPr id="23" name="rule-362"/>
          <p:cNvSpPr/>
          <p:nvPr/>
        </p:nvSpPr>
        <p:spPr>
          <a:xfrm>
            <a:off x="3520440" y="4782312"/>
            <a:ext cx="4434840" cy="0"/>
          </a:xfrm>
          <a:prstGeom prst="line">
            <a:avLst/>
          </a:prstGeom>
          <a:noFill/>
          <a:ln w="9525">
            <a:solidFill>
              <a:srgbClr val="E6DCEF"/>
            </a:solidFill>
            <a:prstDash val="solid"/>
          </a:ln>
        </p:spPr>
      </p:sp>
      <p:sp>
        <p:nvSpPr>
          <p:cNvPr id="24" name="star-363"/>
          <p:cNvSpPr/>
          <p:nvPr/>
        </p:nvSpPr>
        <p:spPr>
          <a:xfrm>
            <a:off x="3520440" y="5007102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5" name="bullet-364"/>
          <p:cNvSpPr txBox="1"/>
          <p:nvPr/>
        </p:nvSpPr>
        <p:spPr>
          <a:xfrm>
            <a:off x="3813048" y="493776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대사보다 표정 / 시선 / 색감 변화로 감정 전달</a:t>
            </a:r>
            <a:endParaRPr lang="en-US" sz="1300" dirty="0"/>
          </a:p>
        </p:txBody>
      </p:sp>
      <p:sp>
        <p:nvSpPr>
          <p:cNvPr id="26" name="star-365"/>
          <p:cNvSpPr/>
          <p:nvPr/>
        </p:nvSpPr>
        <p:spPr>
          <a:xfrm>
            <a:off x="3520440" y="5510022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7" name="bullet-366"/>
          <p:cNvSpPr txBox="1"/>
          <p:nvPr/>
        </p:nvSpPr>
        <p:spPr>
          <a:xfrm>
            <a:off x="3813048" y="544068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파스텔톤과 벚꽃, 봄 햇살로 산뜻한 분위기 연출</a:t>
            </a:r>
            <a:endParaRPr lang="en-US" sz="1300" dirty="0"/>
          </a:p>
        </p:txBody>
      </p:sp>
      <p:sp>
        <p:nvSpPr>
          <p:cNvPr id="28" name="rect-367"/>
          <p:cNvSpPr/>
          <p:nvPr/>
        </p:nvSpPr>
        <p:spPr>
          <a:xfrm>
            <a:off x="8220456" y="1639633"/>
            <a:ext cx="3383280" cy="1951101"/>
          </a:xfrm>
          <a:prstGeom prst="roundRect">
            <a:avLst>
              <a:gd name="adj" fmla="val 2343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9" name="img-sheet_hana-368" descr="유하나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694498"/>
            <a:ext cx="3273552" cy="1841373"/>
          </a:xfrm>
          <a:prstGeom prst="rect">
            <a:avLst/>
          </a:prstGeom>
        </p:spPr>
      </p:pic>
      <p:sp>
        <p:nvSpPr>
          <p:cNvPr id="30" name="caption-369"/>
          <p:cNvSpPr txBox="1"/>
          <p:nvPr/>
        </p:nvSpPr>
        <p:spPr>
          <a:xfrm>
            <a:off x="8183880" y="3636455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유하나  ·  17세, 감정이 얼굴에 드러나는 덜렁이</a:t>
            </a:r>
            <a:endParaRPr lang="en-US" sz="1050" dirty="0"/>
          </a:p>
        </p:txBody>
      </p:sp>
      <p:sp>
        <p:nvSpPr>
          <p:cNvPr id="31" name="rect-370"/>
          <p:cNvSpPr/>
          <p:nvPr/>
        </p:nvSpPr>
        <p:spPr>
          <a:xfrm>
            <a:off x="8220456" y="3971354"/>
            <a:ext cx="3383280" cy="1951101"/>
          </a:xfrm>
          <a:prstGeom prst="roundRect">
            <a:avLst>
              <a:gd name="adj" fmla="val 2343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32" name="img-sheet_min-371" descr="강민 캐릭터 시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026218"/>
            <a:ext cx="3273552" cy="1841373"/>
          </a:xfrm>
          <a:prstGeom prst="rect">
            <a:avLst/>
          </a:prstGeom>
        </p:spPr>
      </p:pic>
      <p:sp>
        <p:nvSpPr>
          <p:cNvPr id="33" name="caption-372"/>
          <p:cNvSpPr txBox="1"/>
          <p:nvPr/>
        </p:nvSpPr>
        <p:spPr>
          <a:xfrm>
            <a:off x="8183880" y="5968175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강민  ·  17세, 무심한 듯 다정한 관찰자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pring-373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74"/>
          <p:cNvSpPr/>
          <p:nvPr/>
        </p:nvSpPr>
        <p:spPr>
          <a:xfrm>
            <a:off x="640080" y="329184"/>
            <a:ext cx="2414016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375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376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377"/>
          <p:cNvSpPr txBox="1"/>
          <p:nvPr/>
        </p:nvSpPr>
        <p:spPr>
          <a:xfrm>
            <a:off x="1097280" y="32918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CH.02  너무 좋아 1000%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등굣길의 충돌, 슬로우와 클로즈업으로 만든 첫 두근거림</a:t>
            </a:r>
            <a:endParaRPr lang="en-US" sz="2600" dirty="0"/>
          </a:p>
        </p:txBody>
      </p:sp>
      <p:sp>
        <p:nvSpPr>
          <p:cNvPr id="8" name="rect-378"/>
          <p:cNvSpPr/>
          <p:nvPr/>
        </p:nvSpPr>
        <p:spPr>
          <a:xfrm>
            <a:off x="585216" y="1637936"/>
            <a:ext cx="2167128" cy="3765007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l11-379" descr="늦었다, 늦었어!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800"/>
            <a:ext cx="2057400" cy="3655279"/>
          </a:xfrm>
          <a:prstGeom prst="rect">
            <a:avLst/>
          </a:prstGeom>
        </p:spPr>
      </p:pic>
      <p:sp>
        <p:nvSpPr>
          <p:cNvPr id="10" name="caption-380"/>
          <p:cNvSpPr txBox="1"/>
          <p:nvPr/>
        </p:nvSpPr>
        <p:spPr>
          <a:xfrm>
            <a:off x="548640" y="5448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늦었다, 늦었어!</a:t>
            </a:r>
            <a:endParaRPr lang="en-US" sz="1050" dirty="0"/>
          </a:p>
        </p:txBody>
      </p:sp>
      <p:sp>
        <p:nvSpPr>
          <p:cNvPr id="11" name="rect-381"/>
          <p:cNvSpPr/>
          <p:nvPr/>
        </p:nvSpPr>
        <p:spPr>
          <a:xfrm>
            <a:off x="2779776" y="1637936"/>
            <a:ext cx="2167128" cy="3765007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2" name="img-l14-382" descr="모퉁이 정면충돌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692800"/>
            <a:ext cx="2057400" cy="3655279"/>
          </a:xfrm>
          <a:prstGeom prst="rect">
            <a:avLst/>
          </a:prstGeom>
        </p:spPr>
      </p:pic>
      <p:sp>
        <p:nvSpPr>
          <p:cNvPr id="13" name="caption-383"/>
          <p:cNvSpPr txBox="1"/>
          <p:nvPr/>
        </p:nvSpPr>
        <p:spPr>
          <a:xfrm>
            <a:off x="2743200" y="5448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모퉁이 정면충돌</a:t>
            </a:r>
            <a:endParaRPr lang="en-US" sz="1050" dirty="0"/>
          </a:p>
        </p:txBody>
      </p:sp>
      <p:sp>
        <p:nvSpPr>
          <p:cNvPr id="14" name="rect-384"/>
          <p:cNvSpPr/>
          <p:nvPr/>
        </p:nvSpPr>
        <p:spPr>
          <a:xfrm>
            <a:off x="4974336" y="1637936"/>
            <a:ext cx="2167128" cy="3765007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5" name="img-l15-385" descr="안기듯 넘어지는 찰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92800"/>
            <a:ext cx="2057400" cy="3655279"/>
          </a:xfrm>
          <a:prstGeom prst="rect">
            <a:avLst/>
          </a:prstGeom>
        </p:spPr>
      </p:pic>
      <p:sp>
        <p:nvSpPr>
          <p:cNvPr id="16" name="caption-386"/>
          <p:cNvSpPr txBox="1"/>
          <p:nvPr/>
        </p:nvSpPr>
        <p:spPr>
          <a:xfrm>
            <a:off x="4937760" y="5448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안기듯 넘어지는 찰나</a:t>
            </a:r>
            <a:endParaRPr lang="en-US" sz="1050" dirty="0"/>
          </a:p>
        </p:txBody>
      </p:sp>
      <p:sp>
        <p:nvSpPr>
          <p:cNvPr id="17" name="rect-387"/>
          <p:cNvSpPr/>
          <p:nvPr/>
        </p:nvSpPr>
        <p:spPr>
          <a:xfrm>
            <a:off x="7168896" y="1637936"/>
            <a:ext cx="2167128" cy="3765007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8" name="img-l18-388" descr="동시 사과, 이마 콩!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92800"/>
            <a:ext cx="2057400" cy="3655279"/>
          </a:xfrm>
          <a:prstGeom prst="rect">
            <a:avLst/>
          </a:prstGeom>
        </p:spPr>
      </p:pic>
      <p:sp>
        <p:nvSpPr>
          <p:cNvPr id="19" name="caption-389"/>
          <p:cNvSpPr txBox="1"/>
          <p:nvPr/>
        </p:nvSpPr>
        <p:spPr>
          <a:xfrm>
            <a:off x="7132320" y="5448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사과, 이마 콩!</a:t>
            </a:r>
            <a:endParaRPr lang="en-US" sz="1050" dirty="0"/>
          </a:p>
        </p:txBody>
      </p:sp>
      <p:sp>
        <p:nvSpPr>
          <p:cNvPr id="20" name="rect-390"/>
          <p:cNvSpPr/>
          <p:nvPr/>
        </p:nvSpPr>
        <p:spPr>
          <a:xfrm>
            <a:off x="9363456" y="1637936"/>
            <a:ext cx="2167128" cy="3765007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1" name="img-l19-391" descr="반대 방향으로 도망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1692800"/>
            <a:ext cx="2057400" cy="3655279"/>
          </a:xfrm>
          <a:prstGeom prst="rect">
            <a:avLst/>
          </a:prstGeom>
        </p:spPr>
      </p:pic>
      <p:sp>
        <p:nvSpPr>
          <p:cNvPr id="22" name="caption-392"/>
          <p:cNvSpPr txBox="1"/>
          <p:nvPr/>
        </p:nvSpPr>
        <p:spPr>
          <a:xfrm>
            <a:off x="9326880" y="54486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방향으로 도망</a:t>
            </a:r>
            <a:endParaRPr lang="en-US" sz="1050" dirty="0"/>
          </a:p>
        </p:txBody>
      </p:sp>
      <p:sp>
        <p:nvSpPr>
          <p:cNvPr id="23" name="star-393"/>
          <p:cNvSpPr/>
          <p:nvPr/>
        </p:nvSpPr>
        <p:spPr>
          <a:xfrm>
            <a:off x="640080" y="5926836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4" name="bullet-394"/>
          <p:cNvSpPr txBox="1"/>
          <p:nvPr/>
        </p:nvSpPr>
        <p:spPr>
          <a:xfrm>
            <a:off x="932688" y="5852160"/>
            <a:ext cx="10588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식빵 등교 / 정면충돌 / 동시 사과 등 순정만화 클리셰를 경쾌한 컷 리듬으로 재해석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pring-395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96"/>
          <p:cNvSpPr/>
          <p:nvPr/>
        </p:nvSpPr>
        <p:spPr>
          <a:xfrm>
            <a:off x="640080" y="329184"/>
            <a:ext cx="2414016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397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398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399"/>
          <p:cNvSpPr txBox="1"/>
          <p:nvPr/>
        </p:nvSpPr>
        <p:spPr>
          <a:xfrm>
            <a:off x="1097280" y="32918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CH.02  너무 좋아 1000%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교내 몽타주와 게임 UI, 수미상관으로 완성한 감정의 원</a:t>
            </a:r>
            <a:endParaRPr lang="en-US" sz="2600" dirty="0"/>
          </a:p>
        </p:txBody>
      </p:sp>
      <p:sp>
        <p:nvSpPr>
          <p:cNvPr id="8" name="rect-400"/>
          <p:cNvSpPr/>
          <p:nvPr/>
        </p:nvSpPr>
        <p:spPr>
          <a:xfrm>
            <a:off x="585216" y="1637797"/>
            <a:ext cx="1920240" cy="332637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l21-401" descr="운동장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661"/>
            <a:ext cx="1810512" cy="3216646"/>
          </a:xfrm>
          <a:prstGeom prst="rect">
            <a:avLst/>
          </a:prstGeom>
        </p:spPr>
      </p:pic>
      <p:sp>
        <p:nvSpPr>
          <p:cNvPr id="10" name="caption-402"/>
          <p:cNvSpPr txBox="1"/>
          <p:nvPr/>
        </p:nvSpPr>
        <p:spPr>
          <a:xfrm>
            <a:off x="548640" y="5009891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운동장</a:t>
            </a:r>
            <a:endParaRPr lang="en-US" sz="1050" dirty="0"/>
          </a:p>
        </p:txBody>
      </p:sp>
      <p:sp>
        <p:nvSpPr>
          <p:cNvPr id="11" name="rect-403"/>
          <p:cNvSpPr/>
          <p:nvPr/>
        </p:nvSpPr>
        <p:spPr>
          <a:xfrm>
            <a:off x="2523744" y="1637797"/>
            <a:ext cx="1920240" cy="332637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2" name="img-l22-404" descr="눈 마주침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692661"/>
            <a:ext cx="1810512" cy="3216646"/>
          </a:xfrm>
          <a:prstGeom prst="rect">
            <a:avLst/>
          </a:prstGeom>
        </p:spPr>
      </p:pic>
      <p:sp>
        <p:nvSpPr>
          <p:cNvPr id="13" name="caption-405"/>
          <p:cNvSpPr txBox="1"/>
          <p:nvPr/>
        </p:nvSpPr>
        <p:spPr>
          <a:xfrm>
            <a:off x="2487168" y="5009891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마주침</a:t>
            </a:r>
            <a:endParaRPr lang="en-US" sz="1050" dirty="0"/>
          </a:p>
        </p:txBody>
      </p:sp>
      <p:sp>
        <p:nvSpPr>
          <p:cNvPr id="14" name="rect-406"/>
          <p:cNvSpPr/>
          <p:nvPr/>
        </p:nvSpPr>
        <p:spPr>
          <a:xfrm>
            <a:off x="4462272" y="1637797"/>
            <a:ext cx="1920240" cy="332637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5" name="img-l23-407" descr="급식실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1692661"/>
            <a:ext cx="1810512" cy="3216646"/>
          </a:xfrm>
          <a:prstGeom prst="rect">
            <a:avLst/>
          </a:prstGeom>
        </p:spPr>
      </p:pic>
      <p:sp>
        <p:nvSpPr>
          <p:cNvPr id="16" name="caption-408"/>
          <p:cNvSpPr txBox="1"/>
          <p:nvPr/>
        </p:nvSpPr>
        <p:spPr>
          <a:xfrm>
            <a:off x="4425696" y="5009891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</a:t>
            </a:r>
            <a:endParaRPr lang="en-US" sz="1050" dirty="0"/>
          </a:p>
        </p:txBody>
      </p:sp>
      <p:sp>
        <p:nvSpPr>
          <p:cNvPr id="17" name="rect-409"/>
          <p:cNvSpPr/>
          <p:nvPr/>
        </p:nvSpPr>
        <p:spPr>
          <a:xfrm>
            <a:off x="6400800" y="1637797"/>
            <a:ext cx="1920240" cy="332637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8" name="img-game2-410" descr="게임 UI 버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692661"/>
            <a:ext cx="1810512" cy="3216646"/>
          </a:xfrm>
          <a:prstGeom prst="rect">
            <a:avLst/>
          </a:prstGeom>
        </p:spPr>
      </p:pic>
      <p:sp>
        <p:nvSpPr>
          <p:cNvPr id="19" name="caption-411"/>
          <p:cNvSpPr txBox="1"/>
          <p:nvPr/>
        </p:nvSpPr>
        <p:spPr>
          <a:xfrm>
            <a:off x="6364224" y="5009891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UI 버전</a:t>
            </a:r>
            <a:endParaRPr lang="en-US" sz="1050" dirty="0"/>
          </a:p>
        </p:txBody>
      </p:sp>
      <p:sp>
        <p:nvSpPr>
          <p:cNvPr id="20" name="tag-412"/>
          <p:cNvSpPr txBox="1"/>
          <p:nvPr/>
        </p:nvSpPr>
        <p:spPr>
          <a:xfrm>
            <a:off x="854964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21" name="rect-413"/>
          <p:cNvSpPr/>
          <p:nvPr/>
        </p:nvSpPr>
        <p:spPr>
          <a:xfrm>
            <a:off x="8549640" y="2057400"/>
            <a:ext cx="2999232" cy="530352"/>
          </a:xfrm>
          <a:prstGeom prst="roundRect">
            <a:avLst>
              <a:gd name="adj" fmla="val 20690"/>
            </a:avLst>
          </a:prstGeom>
          <a:solidFill>
            <a:srgbClr val="FBE3E6"/>
          </a:solidFill>
          <a:ln/>
        </p:spPr>
      </p:sp>
      <p:sp>
        <p:nvSpPr>
          <p:cNvPr id="22" name="text-414"/>
          <p:cNvSpPr txBox="1"/>
          <p:nvPr/>
        </p:nvSpPr>
        <p:spPr>
          <a:xfrm>
            <a:off x="8549640" y="205740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등굣길  ·  만남</a:t>
            </a:r>
            <a:endParaRPr lang="en-US" sz="1300" dirty="0"/>
          </a:p>
        </p:txBody>
      </p:sp>
      <p:sp>
        <p:nvSpPr>
          <p:cNvPr id="23" name="text-415"/>
          <p:cNvSpPr txBox="1"/>
          <p:nvPr/>
        </p:nvSpPr>
        <p:spPr>
          <a:xfrm>
            <a:off x="8549640" y="2587752"/>
            <a:ext cx="299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24" name="rect-416"/>
          <p:cNvSpPr/>
          <p:nvPr/>
        </p:nvSpPr>
        <p:spPr>
          <a:xfrm>
            <a:off x="8549640" y="2834640"/>
            <a:ext cx="2999232" cy="530352"/>
          </a:xfrm>
          <a:prstGeom prst="roundRect">
            <a:avLst>
              <a:gd name="adj" fmla="val 20690"/>
            </a:avLst>
          </a:prstGeom>
          <a:solidFill>
            <a:srgbClr val="ECE4FF"/>
          </a:solidFill>
          <a:ln/>
        </p:spPr>
      </p:sp>
      <p:sp>
        <p:nvSpPr>
          <p:cNvPr id="25" name="text-417"/>
          <p:cNvSpPr txBox="1"/>
          <p:nvPr/>
        </p:nvSpPr>
        <p:spPr>
          <a:xfrm>
            <a:off x="8549640" y="283464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운동장 / 급식실</a:t>
            </a:r>
            <a:endParaRPr lang="en-US" sz="1300" dirty="0"/>
          </a:p>
        </p:txBody>
      </p:sp>
      <p:sp>
        <p:nvSpPr>
          <p:cNvPr id="26" name="text-418"/>
          <p:cNvSpPr txBox="1"/>
          <p:nvPr/>
        </p:nvSpPr>
        <p:spPr>
          <a:xfrm>
            <a:off x="8549640" y="3364992"/>
            <a:ext cx="299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rect-419"/>
          <p:cNvSpPr/>
          <p:nvPr/>
        </p:nvSpPr>
        <p:spPr>
          <a:xfrm>
            <a:off x="8549640" y="3611880"/>
            <a:ext cx="2999232" cy="530352"/>
          </a:xfrm>
          <a:prstGeom prst="roundRect">
            <a:avLst>
              <a:gd name="adj" fmla="val 20690"/>
            </a:avLst>
          </a:prstGeom>
          <a:solidFill>
            <a:srgbClr val="ECE4FF"/>
          </a:solidFill>
          <a:ln/>
        </p:spPr>
      </p:sp>
      <p:sp>
        <p:nvSpPr>
          <p:cNvPr id="28" name="text-420"/>
          <p:cNvSpPr txBox="1"/>
          <p:nvPr/>
        </p:nvSpPr>
        <p:spPr>
          <a:xfrm>
            <a:off x="8549640" y="361188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동아리실 / 음악실</a:t>
            </a:r>
            <a:endParaRPr lang="en-US" sz="1300" dirty="0"/>
          </a:p>
        </p:txBody>
      </p:sp>
      <p:sp>
        <p:nvSpPr>
          <p:cNvPr id="29" name="text-421"/>
          <p:cNvSpPr txBox="1"/>
          <p:nvPr/>
        </p:nvSpPr>
        <p:spPr>
          <a:xfrm>
            <a:off x="8549640" y="4142232"/>
            <a:ext cx="299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000" dirty="0"/>
          </a:p>
        </p:txBody>
      </p:sp>
      <p:sp>
        <p:nvSpPr>
          <p:cNvPr id="30" name="rect-422"/>
          <p:cNvSpPr/>
          <p:nvPr/>
        </p:nvSpPr>
        <p:spPr>
          <a:xfrm>
            <a:off x="8549640" y="4389120"/>
            <a:ext cx="2999232" cy="530352"/>
          </a:xfrm>
          <a:prstGeom prst="roundRect">
            <a:avLst>
              <a:gd name="adj" fmla="val 20690"/>
            </a:avLst>
          </a:prstGeom>
          <a:solidFill>
            <a:srgbClr val="FBE3E6"/>
          </a:solidFill>
          <a:ln/>
        </p:spPr>
      </p:sp>
      <p:sp>
        <p:nvSpPr>
          <p:cNvPr id="31" name="text-423"/>
          <p:cNvSpPr txBox="1"/>
          <p:nvPr/>
        </p:nvSpPr>
        <p:spPr>
          <a:xfrm>
            <a:off x="8549640" y="438912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등굣길  ·  동시 고백</a:t>
            </a:r>
            <a:endParaRPr lang="en-US" sz="1300" dirty="0"/>
          </a:p>
        </p:txBody>
      </p:sp>
      <p:sp>
        <p:nvSpPr>
          <p:cNvPr id="32" name="star-424"/>
          <p:cNvSpPr/>
          <p:nvPr/>
        </p:nvSpPr>
        <p:spPr>
          <a:xfrm>
            <a:off x="640080" y="5421249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33" name="bullet-425"/>
          <p:cNvSpPr txBox="1"/>
          <p:nvPr/>
        </p:nvSpPr>
        <p:spPr>
          <a:xfrm>
            <a:off x="932688" y="5349240"/>
            <a:ext cx="10588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장소마다 햇살 / 소란 / 차분 / 따뜻함으로 톤을 바꿔 호감 상승 표현</a:t>
            </a:r>
            <a:endParaRPr lang="en-US" sz="1350" dirty="0"/>
          </a:p>
        </p:txBody>
      </p:sp>
      <p:sp>
        <p:nvSpPr>
          <p:cNvPr id="34" name="star-426"/>
          <p:cNvSpPr/>
          <p:nvPr/>
        </p:nvSpPr>
        <p:spPr>
          <a:xfrm>
            <a:off x="640080" y="5860161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35" name="bullet-427"/>
          <p:cNvSpPr txBox="1"/>
          <p:nvPr/>
        </p:nvSpPr>
        <p:spPr>
          <a:xfrm>
            <a:off x="932688" y="5788152"/>
            <a:ext cx="10588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호감도 게이지 UI 버전으로 게임형 콘텐츠 확장 가능성 제시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3_bg-428" descr="챕터 대표 장면을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-429"/>
          <p:cNvSpPr txBox="1"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 HYUNJIN  PORTFOLIO TOUR 2026</a:t>
            </a:r>
            <a:endParaRPr lang="en-US" sz="1200" dirty="0"/>
          </a:p>
        </p:txBody>
      </p:sp>
      <p:sp>
        <p:nvSpPr>
          <p:cNvPr id="4" name="rect-430"/>
          <p:cNvSpPr/>
          <p:nvPr/>
        </p:nvSpPr>
        <p:spPr>
          <a:xfrm>
            <a:off x="777240" y="1097280"/>
            <a:ext cx="10634472" cy="4663440"/>
          </a:xfrm>
          <a:prstGeom prst="roundRect">
            <a:avLst>
              <a:gd name="adj" fmla="val 1176"/>
            </a:avLst>
          </a:prstGeom>
          <a:solidFill>
            <a:srgbClr val="FFFBF8"/>
          </a:solidFill>
          <a:ln/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5" name="rect-431"/>
          <p:cNvSpPr/>
          <p:nvPr/>
        </p:nvSpPr>
        <p:spPr>
          <a:xfrm>
            <a:off x="960120" y="1280160"/>
            <a:ext cx="6839712" cy="4297680"/>
          </a:xfrm>
          <a:prstGeom prst="rect">
            <a:avLst/>
          </a:prstGeom>
          <a:solidFill>
            <a:srgbClr val="36235C"/>
          </a:solidFill>
          <a:ln/>
        </p:spPr>
      </p:sp>
      <p:pic>
        <p:nvPicPr>
          <p:cNvPr id="6" name="ticket-tk_ch3-432" descr="꽃밭 속에서 웃는 뻄씨와 똘랑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38765"/>
            <a:ext cx="6839712" cy="4180469"/>
          </a:xfrm>
          <a:prstGeom prst="rect">
            <a:avLst/>
          </a:prstGeom>
        </p:spPr>
      </p:pic>
      <p:sp>
        <p:nvSpPr>
          <p:cNvPr id="7" name="perforation-433"/>
          <p:cNvSpPr/>
          <p:nvPr/>
        </p:nvSpPr>
        <p:spPr>
          <a:xfrm>
            <a:off x="7982712" y="1344168"/>
            <a:ext cx="0" cy="4169664"/>
          </a:xfrm>
          <a:prstGeom prst="line">
            <a:avLst/>
          </a:prstGeom>
          <a:noFill/>
          <a:ln w="19050">
            <a:solidFill>
              <a:srgbClr val="B69CFF"/>
            </a:solidFill>
            <a:prstDash val="dash"/>
          </a:ln>
        </p:spPr>
      </p:sp>
      <p:sp>
        <p:nvSpPr>
          <p:cNvPr id="8" name="oval-434"/>
          <p:cNvSpPr/>
          <p:nvPr/>
        </p:nvSpPr>
        <p:spPr>
          <a:xfrm>
            <a:off x="7790688" y="905256"/>
            <a:ext cx="384048" cy="384048"/>
          </a:xfrm>
          <a:prstGeom prst="ellipse">
            <a:avLst/>
          </a:prstGeom>
          <a:solidFill>
            <a:srgbClr val="2A1A48"/>
          </a:solidFill>
          <a:ln/>
        </p:spPr>
      </p:sp>
      <p:sp>
        <p:nvSpPr>
          <p:cNvPr id="9" name="oval-435"/>
          <p:cNvSpPr/>
          <p:nvPr/>
        </p:nvSpPr>
        <p:spPr>
          <a:xfrm>
            <a:off x="7790688" y="5568696"/>
            <a:ext cx="384048" cy="384048"/>
          </a:xfrm>
          <a:prstGeom prst="ellipse">
            <a:avLst/>
          </a:prstGeom>
          <a:solidFill>
            <a:srgbClr val="2A1A48"/>
          </a:solidFill>
          <a:ln/>
        </p:spPr>
      </p:sp>
      <p:sp>
        <p:nvSpPr>
          <p:cNvPr id="10" name="text-436"/>
          <p:cNvSpPr txBox="1"/>
          <p:nvPr/>
        </p:nvSpPr>
        <p:spPr>
          <a:xfrm>
            <a:off x="8257032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A5C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 ONE</a:t>
            </a:r>
            <a:endParaRPr lang="en-US" sz="1100" dirty="0"/>
          </a:p>
        </p:txBody>
      </p:sp>
      <p:sp>
        <p:nvSpPr>
          <p:cNvPr id="11" name="text-437"/>
          <p:cNvSpPr txBox="1"/>
          <p:nvPr/>
        </p:nvSpPr>
        <p:spPr>
          <a:xfrm>
            <a:off x="8257032" y="16916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CH.</a:t>
            </a:r>
            <a:pPr indent="0" marL="0">
              <a:buNone/>
            </a:pPr>
            <a:r>
              <a:rPr lang="en-US" sz="60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-438"/>
          <p:cNvSpPr txBox="1"/>
          <p:nvPr/>
        </p:nvSpPr>
        <p:spPr>
          <a:xfrm>
            <a:off x="8257032" y="27889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일렁이는 뻄씨</a:t>
            </a:r>
            <a:endParaRPr lang="en-US" sz="2400" dirty="0"/>
          </a:p>
        </p:txBody>
      </p:sp>
      <p:sp>
        <p:nvSpPr>
          <p:cNvPr id="13" name="text-439"/>
          <p:cNvSpPr txBox="1"/>
          <p:nvPr/>
        </p:nvSpPr>
        <p:spPr>
          <a:xfrm>
            <a:off x="8257032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걱정 없이 사는 듯하지만 일상이 고단한 말랑 캐릭터 듀오</a:t>
            </a:r>
            <a:endParaRPr lang="en-US" sz="1300" dirty="0"/>
          </a:p>
        </p:txBody>
      </p:sp>
      <p:sp>
        <p:nvSpPr>
          <p:cNvPr id="14" name="star-440"/>
          <p:cNvSpPr/>
          <p:nvPr/>
        </p:nvSpPr>
        <p:spPr>
          <a:xfrm>
            <a:off x="8257032" y="4983480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5" name="star-441"/>
          <p:cNvSpPr/>
          <p:nvPr/>
        </p:nvSpPr>
        <p:spPr>
          <a:xfrm>
            <a:off x="8549640" y="4983480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6" name="star-442"/>
          <p:cNvSpPr/>
          <p:nvPr/>
        </p:nvSpPr>
        <p:spPr>
          <a:xfrm>
            <a:off x="8842248" y="4983480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7" name="text-443"/>
          <p:cNvSpPr txBox="1"/>
          <p:nvPr/>
        </p:nvSpPr>
        <p:spPr>
          <a:xfrm>
            <a:off x="8257032" y="5230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/ 일상툰 / 굿즈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bem-444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445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446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447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448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CH.03  일렁이는 뻄씨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 성향 뻄씨와 F 성향 똘랑뻄, 성격 대비로 만든 캐릭터 듀오</a:t>
            </a:r>
            <a:endParaRPr lang="en-US" sz="2600" dirty="0"/>
          </a:p>
        </p:txBody>
      </p:sp>
      <p:sp>
        <p:nvSpPr>
          <p:cNvPr id="8" name="rect-449"/>
          <p:cNvSpPr/>
          <p:nvPr/>
        </p:nvSpPr>
        <p:spPr>
          <a:xfrm>
            <a:off x="585216" y="1682496"/>
            <a:ext cx="5413248" cy="4087368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sheet_bbem-450" descr="뻄씨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303520" cy="3977640"/>
          </a:xfrm>
          <a:prstGeom prst="rect">
            <a:avLst/>
          </a:prstGeom>
        </p:spPr>
      </p:pic>
      <p:sp>
        <p:nvSpPr>
          <p:cNvPr id="10" name="caption-451"/>
          <p:cNvSpPr txBox="1"/>
          <p:nvPr/>
        </p:nvSpPr>
        <p:spPr>
          <a:xfrm>
            <a:off x="548640" y="58155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뻄씨  ·  감정 표현이 확실한 T 성향</a:t>
            </a:r>
            <a:endParaRPr lang="en-US" sz="1050" dirty="0"/>
          </a:p>
        </p:txBody>
      </p:sp>
      <p:sp>
        <p:nvSpPr>
          <p:cNvPr id="11" name="rect-452"/>
          <p:cNvSpPr/>
          <p:nvPr/>
        </p:nvSpPr>
        <p:spPr>
          <a:xfrm>
            <a:off x="6190488" y="1682496"/>
            <a:ext cx="5413248" cy="4087368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2" name="img-sheet_ddol-453" descr="똘랑뻄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737360"/>
            <a:ext cx="5303520" cy="3977640"/>
          </a:xfrm>
          <a:prstGeom prst="rect">
            <a:avLst/>
          </a:prstGeom>
        </p:spPr>
      </p:pic>
      <p:sp>
        <p:nvSpPr>
          <p:cNvPr id="13" name="caption-454"/>
          <p:cNvSpPr txBox="1"/>
          <p:nvPr/>
        </p:nvSpPr>
        <p:spPr>
          <a:xfrm>
            <a:off x="6153912" y="58155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똘랑뻄  ·  상냥하고 다정한 F 성향, 꼬리 방울 포인트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bem-455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456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457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458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459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CH.03  일렁이는 뻄씨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일상툰과 움직이는 이모티콘으로 넓힌 공감 포인트</a:t>
            </a:r>
            <a:endParaRPr lang="en-US" sz="2600" dirty="0"/>
          </a:p>
        </p:txBody>
      </p:sp>
      <p:sp>
        <p:nvSpPr>
          <p:cNvPr id="8" name="rect-460"/>
          <p:cNvSpPr/>
          <p:nvPr/>
        </p:nvSpPr>
        <p:spPr>
          <a:xfrm>
            <a:off x="585216" y="1637591"/>
            <a:ext cx="3767328" cy="4680098"/>
          </a:xfrm>
          <a:prstGeom prst="roundRect">
            <a:avLst>
              <a:gd name="adj" fmla="val 1214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toon-461" descr="출근길 일상툰 4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455"/>
            <a:ext cx="3657600" cy="4570370"/>
          </a:xfrm>
          <a:prstGeom prst="rect">
            <a:avLst/>
          </a:prstGeom>
        </p:spPr>
      </p:pic>
      <p:sp>
        <p:nvSpPr>
          <p:cNvPr id="10" name="rect-462"/>
          <p:cNvSpPr/>
          <p:nvPr/>
        </p:nvSpPr>
        <p:spPr>
          <a:xfrm>
            <a:off x="4700016" y="1636910"/>
            <a:ext cx="3127248" cy="1929115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1" name="img-logo2-463" descr="일렁이는 뻄씨 브랜드 로고, 똘랑뻄 버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91774"/>
            <a:ext cx="3017520" cy="1819387"/>
          </a:xfrm>
          <a:prstGeom prst="rect">
            <a:avLst/>
          </a:prstGeom>
        </p:spPr>
      </p:pic>
      <p:sp>
        <p:nvSpPr>
          <p:cNvPr id="12" name="rect-464"/>
          <p:cNvSpPr/>
          <p:nvPr/>
        </p:nvSpPr>
        <p:spPr>
          <a:xfrm>
            <a:off x="8129016" y="1636910"/>
            <a:ext cx="3127248" cy="1929115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3" name="img-logo1-465" descr="일렁이는 뻄씨 브랜드 로고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691774"/>
            <a:ext cx="3017520" cy="1819387"/>
          </a:xfrm>
          <a:prstGeom prst="rect">
            <a:avLst/>
          </a:prstGeom>
        </p:spPr>
      </p:pic>
      <p:sp>
        <p:nvSpPr>
          <p:cNvPr id="14" name="rect-466"/>
          <p:cNvSpPr/>
          <p:nvPr/>
        </p:nvSpPr>
        <p:spPr>
          <a:xfrm>
            <a:off x="4700016" y="3877056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5" name="img-emo_nyam-467" descr="냠냠 움직이는 이모티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31920"/>
            <a:ext cx="1207008" cy="1207008"/>
          </a:xfrm>
          <a:prstGeom prst="rect">
            <a:avLst/>
          </a:prstGeom>
        </p:spPr>
      </p:pic>
      <p:sp>
        <p:nvSpPr>
          <p:cNvPr id="16" name="caption-468"/>
          <p:cNvSpPr txBox="1"/>
          <p:nvPr/>
        </p:nvSpPr>
        <p:spPr>
          <a:xfrm>
            <a:off x="4663440" y="523951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냠냠</a:t>
            </a:r>
            <a:endParaRPr lang="en-US" sz="1050" dirty="0"/>
          </a:p>
        </p:txBody>
      </p:sp>
      <p:sp>
        <p:nvSpPr>
          <p:cNvPr id="17" name="rect-469"/>
          <p:cNvSpPr/>
          <p:nvPr/>
        </p:nvSpPr>
        <p:spPr>
          <a:xfrm>
            <a:off x="6071616" y="3877056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8" name="img-emo_hi-470" descr="안녕 움직이는 이모티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931920"/>
            <a:ext cx="1207008" cy="1207008"/>
          </a:xfrm>
          <a:prstGeom prst="rect">
            <a:avLst/>
          </a:prstGeom>
        </p:spPr>
      </p:pic>
      <p:sp>
        <p:nvSpPr>
          <p:cNvPr id="19" name="caption-471"/>
          <p:cNvSpPr txBox="1"/>
          <p:nvPr/>
        </p:nvSpPr>
        <p:spPr>
          <a:xfrm>
            <a:off x="6035040" y="523951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</a:t>
            </a:r>
            <a:endParaRPr lang="en-US" sz="1050" dirty="0"/>
          </a:p>
        </p:txBody>
      </p:sp>
      <p:sp>
        <p:nvSpPr>
          <p:cNvPr id="20" name="rect-472"/>
          <p:cNvSpPr/>
          <p:nvPr/>
        </p:nvSpPr>
        <p:spPr>
          <a:xfrm>
            <a:off x="7443216" y="3877056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1" name="img-emo_bye-473" descr="바이 움직이는 이모티콘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3931920"/>
            <a:ext cx="1207008" cy="1207008"/>
          </a:xfrm>
          <a:prstGeom prst="rect">
            <a:avLst/>
          </a:prstGeom>
        </p:spPr>
      </p:pic>
      <p:sp>
        <p:nvSpPr>
          <p:cNvPr id="22" name="caption-474"/>
          <p:cNvSpPr txBox="1"/>
          <p:nvPr/>
        </p:nvSpPr>
        <p:spPr>
          <a:xfrm>
            <a:off x="7406640" y="523951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</a:t>
            </a:r>
            <a:endParaRPr lang="en-US" sz="1050" dirty="0"/>
          </a:p>
        </p:txBody>
      </p:sp>
      <p:sp>
        <p:nvSpPr>
          <p:cNvPr id="23" name="rect-475"/>
          <p:cNvSpPr/>
          <p:nvPr/>
        </p:nvSpPr>
        <p:spPr>
          <a:xfrm>
            <a:off x="8814816" y="3877056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4" name="img-emo_bus-476" descr="버스 움직이는 이모티콘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3931920"/>
            <a:ext cx="1207008" cy="1207008"/>
          </a:xfrm>
          <a:prstGeom prst="rect">
            <a:avLst/>
          </a:prstGeom>
        </p:spPr>
      </p:pic>
      <p:sp>
        <p:nvSpPr>
          <p:cNvPr id="25" name="caption-477"/>
          <p:cNvSpPr txBox="1"/>
          <p:nvPr/>
        </p:nvSpPr>
        <p:spPr>
          <a:xfrm>
            <a:off x="8778240" y="523951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</a:t>
            </a:r>
            <a:endParaRPr lang="en-US" sz="1050" dirty="0"/>
          </a:p>
        </p:txBody>
      </p:sp>
      <p:sp>
        <p:nvSpPr>
          <p:cNvPr id="26" name="rect-478"/>
          <p:cNvSpPr/>
          <p:nvPr/>
        </p:nvSpPr>
        <p:spPr>
          <a:xfrm>
            <a:off x="10186416" y="3877056"/>
            <a:ext cx="1316736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7" name="img-emo_q-479" descr="물음표 움직이는 이모티콘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0" y="3931920"/>
            <a:ext cx="1207008" cy="1207008"/>
          </a:xfrm>
          <a:prstGeom prst="rect">
            <a:avLst/>
          </a:prstGeom>
        </p:spPr>
      </p:pic>
      <p:sp>
        <p:nvSpPr>
          <p:cNvPr id="28" name="caption-480"/>
          <p:cNvSpPr txBox="1"/>
          <p:nvPr/>
        </p:nvSpPr>
        <p:spPr>
          <a:xfrm>
            <a:off x="10149840" y="523951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물음표</a:t>
            </a:r>
            <a:endParaRPr lang="en-US" sz="1050" dirty="0"/>
          </a:p>
        </p:txBody>
      </p:sp>
      <p:sp>
        <p:nvSpPr>
          <p:cNvPr id="29" name="star-481"/>
          <p:cNvSpPr/>
          <p:nvPr/>
        </p:nvSpPr>
        <p:spPr>
          <a:xfrm>
            <a:off x="4754880" y="5662803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30" name="bullet-482"/>
          <p:cNvSpPr txBox="1"/>
          <p:nvPr/>
        </p:nvSpPr>
        <p:spPr>
          <a:xfrm>
            <a:off x="5047488" y="5596128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비몽사몽 기상 / 지옥철 출근 / 커피 충전 등 직장인 일상 공감 에피소드</a:t>
            </a:r>
            <a:endParaRPr lang="en-US" sz="1250" dirty="0"/>
          </a:p>
        </p:txBody>
      </p:sp>
      <p:sp>
        <p:nvSpPr>
          <p:cNvPr id="31" name="star-483"/>
          <p:cNvSpPr/>
          <p:nvPr/>
        </p:nvSpPr>
        <p:spPr>
          <a:xfrm>
            <a:off x="4754880" y="6046851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32" name="bullet-484"/>
          <p:cNvSpPr txBox="1"/>
          <p:nvPr/>
        </p:nvSpPr>
        <p:spPr>
          <a:xfrm>
            <a:off x="5047488" y="5980176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말랑한 라인 드로잉 움직이는 이모티콘으로 메신저 활용도 강화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bem-485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486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487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488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489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CH.03  일렁이는 뻄씨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볼캡 / 블루투스 스피커 / 텀블러, 굿즈 3종 상세페이지 기획</a:t>
            </a:r>
            <a:endParaRPr lang="en-US" sz="2600" dirty="0"/>
          </a:p>
        </p:txBody>
      </p:sp>
      <p:sp>
        <p:nvSpPr>
          <p:cNvPr id="8" name="rect-490"/>
          <p:cNvSpPr/>
          <p:nvPr/>
        </p:nvSpPr>
        <p:spPr>
          <a:xfrm>
            <a:off x="585216" y="1697760"/>
            <a:ext cx="2441448" cy="3096719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hat_detail-491" descr="포근 퍼 볼캡 상세 설명 이미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2624"/>
            <a:ext cx="2331720" cy="2986991"/>
          </a:xfrm>
          <a:prstGeom prst="rect">
            <a:avLst/>
          </a:prstGeom>
        </p:spPr>
      </p:pic>
      <p:sp>
        <p:nvSpPr>
          <p:cNvPr id="10" name="rect-492"/>
          <p:cNvSpPr/>
          <p:nvPr/>
        </p:nvSpPr>
        <p:spPr>
          <a:xfrm>
            <a:off x="3099816" y="1751076"/>
            <a:ext cx="1069848" cy="2990088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1" name="img-hat_page-493" descr="포근 퍼 볼캡 광고 페이지 전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805940"/>
            <a:ext cx="960120" cy="2880360"/>
          </a:xfrm>
          <a:prstGeom prst="rect">
            <a:avLst/>
          </a:prstGeom>
        </p:spPr>
      </p:pic>
      <p:sp>
        <p:nvSpPr>
          <p:cNvPr id="12" name="text-494"/>
          <p:cNvSpPr txBox="1"/>
          <p:nvPr/>
        </p:nvSpPr>
        <p:spPr>
          <a:xfrm>
            <a:off x="64008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포근 퍼 볼캡</a:t>
            </a:r>
            <a:endParaRPr lang="en-US" sz="1500" dirty="0"/>
          </a:p>
        </p:txBody>
      </p:sp>
      <p:sp>
        <p:nvSpPr>
          <p:cNvPr id="13" name="rect-495"/>
          <p:cNvSpPr/>
          <p:nvPr/>
        </p:nvSpPr>
        <p:spPr>
          <a:xfrm>
            <a:off x="640080" y="544068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4" name="link-496"/>
          <p:cNvSpPr txBox="1"/>
          <p:nvPr/>
        </p:nvSpPr>
        <p:spPr>
          <a:xfrm>
            <a:off x="640080" y="54406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FefrZd72wzog5w2L43n1-h5u9knYitG-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실사 광고 영상</a:t>
            </a:r>
            <a:endParaRPr lang="en-US" sz="1200" dirty="0"/>
          </a:p>
        </p:txBody>
      </p:sp>
      <p:sp>
        <p:nvSpPr>
          <p:cNvPr id="15" name="rect-497"/>
          <p:cNvSpPr/>
          <p:nvPr/>
        </p:nvSpPr>
        <p:spPr>
          <a:xfrm>
            <a:off x="4288536" y="1734451"/>
            <a:ext cx="2441448" cy="3023339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6" name="img-spk_detail-498" descr="블루투스 스피커 상세 설명 이미지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789315"/>
            <a:ext cx="2331720" cy="2913611"/>
          </a:xfrm>
          <a:prstGeom prst="rect">
            <a:avLst/>
          </a:prstGeom>
        </p:spPr>
      </p:pic>
      <p:sp>
        <p:nvSpPr>
          <p:cNvPr id="17" name="rect-499"/>
          <p:cNvSpPr/>
          <p:nvPr/>
        </p:nvSpPr>
        <p:spPr>
          <a:xfrm>
            <a:off x="6803136" y="1751076"/>
            <a:ext cx="1069848" cy="2990088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8" name="img-spk_page-500" descr="블루투스 스피커 광고 페이지 전체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805940"/>
            <a:ext cx="960120" cy="2880360"/>
          </a:xfrm>
          <a:prstGeom prst="rect">
            <a:avLst/>
          </a:prstGeom>
        </p:spPr>
      </p:pic>
      <p:sp>
        <p:nvSpPr>
          <p:cNvPr id="19" name="text-501"/>
          <p:cNvSpPr txBox="1"/>
          <p:nvPr/>
        </p:nvSpPr>
        <p:spPr>
          <a:xfrm>
            <a:off x="434340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블루투스 스피커</a:t>
            </a:r>
            <a:endParaRPr lang="en-US" sz="1500" dirty="0"/>
          </a:p>
        </p:txBody>
      </p:sp>
      <p:sp>
        <p:nvSpPr>
          <p:cNvPr id="20" name="rect-502"/>
          <p:cNvSpPr/>
          <p:nvPr/>
        </p:nvSpPr>
        <p:spPr>
          <a:xfrm>
            <a:off x="4343400" y="544068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21" name="link-503"/>
          <p:cNvSpPr txBox="1"/>
          <p:nvPr/>
        </p:nvSpPr>
        <p:spPr>
          <a:xfrm>
            <a:off x="4343400" y="54406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https://drive.google.com/file/d/1s-JXzPu1EC2nhFelQepjlmBFu1Ptx7IT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실사 광고 영상</a:t>
            </a:r>
            <a:endParaRPr lang="en-US" sz="1200" dirty="0"/>
          </a:p>
        </p:txBody>
      </p:sp>
      <p:sp>
        <p:nvSpPr>
          <p:cNvPr id="22" name="rect-504"/>
          <p:cNvSpPr/>
          <p:nvPr/>
        </p:nvSpPr>
        <p:spPr>
          <a:xfrm>
            <a:off x="7991856" y="1734451"/>
            <a:ext cx="2441448" cy="3023339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3" name="img-tum_detail-505" descr="뻄 텀블러 상세 설명 이미지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1789315"/>
            <a:ext cx="2331720" cy="2913611"/>
          </a:xfrm>
          <a:prstGeom prst="rect">
            <a:avLst/>
          </a:prstGeom>
        </p:spPr>
      </p:pic>
      <p:sp>
        <p:nvSpPr>
          <p:cNvPr id="24" name="rect-506"/>
          <p:cNvSpPr/>
          <p:nvPr/>
        </p:nvSpPr>
        <p:spPr>
          <a:xfrm>
            <a:off x="10506456" y="1751076"/>
            <a:ext cx="1069848" cy="2990088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25" name="img-tum_page-507" descr="뻄 텀블러 광고 페이지 전체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1320" y="1805940"/>
            <a:ext cx="960120" cy="2880360"/>
          </a:xfrm>
          <a:prstGeom prst="rect">
            <a:avLst/>
          </a:prstGeom>
        </p:spPr>
      </p:pic>
      <p:sp>
        <p:nvSpPr>
          <p:cNvPr id="26" name="text-508"/>
          <p:cNvSpPr txBox="1"/>
          <p:nvPr/>
        </p:nvSpPr>
        <p:spPr>
          <a:xfrm>
            <a:off x="804672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뻄 텀블러</a:t>
            </a:r>
            <a:endParaRPr lang="en-US" sz="1500" dirty="0"/>
          </a:p>
        </p:txBody>
      </p:sp>
      <p:sp>
        <p:nvSpPr>
          <p:cNvPr id="27" name="rect-509"/>
          <p:cNvSpPr/>
          <p:nvPr/>
        </p:nvSpPr>
        <p:spPr>
          <a:xfrm>
            <a:off x="8046720" y="544068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28" name="link-510"/>
          <p:cNvSpPr txBox="1"/>
          <p:nvPr/>
        </p:nvSpPr>
        <p:spPr>
          <a:xfrm>
            <a:off x="8046720" y="54406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invalidUrl="" action="" tgtFrame="" tooltip="https://drive.google.com/file/d/1J_nYql8gBW3Kp7d5poH8K72Mv7EYwD8t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실사 광고 영상</a:t>
            </a:r>
            <a:endParaRPr lang="en-US" sz="1200" dirty="0"/>
          </a:p>
        </p:txBody>
      </p:sp>
      <p:sp>
        <p:nvSpPr>
          <p:cNvPr id="29" name="text-511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포인트를 살린 제품 디자인 / 상세 설명 / 광고 페이지 / 실사 광고까지 판매 동선 설계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tage-512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513"/>
          <p:cNvSpPr/>
          <p:nvPr/>
        </p:nvSpPr>
        <p:spPr>
          <a:xfrm>
            <a:off x="640080" y="3291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6235C"/>
          </a:solidFill>
          <a:ln/>
        </p:spPr>
      </p:sp>
      <p:sp>
        <p:nvSpPr>
          <p:cNvPr id="4" name="star-514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515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7A5CD6"/>
            </a:solidFill>
            <a:prstDash val="dash"/>
          </a:ln>
        </p:spPr>
      </p:sp>
      <p:sp>
        <p:nvSpPr>
          <p:cNvPr id="6" name="label-516"/>
          <p:cNvSpPr txBox="1"/>
          <p:nvPr/>
        </p:nvSpPr>
        <p:spPr>
          <a:xfrm>
            <a:off x="1097280" y="329184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3DC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CH.03  일렁이는 뻄씨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홍보영상과 실사 합성 광고 이미지로 완성한 IP 브랜딩</a:t>
            </a:r>
            <a:endParaRPr lang="en-US" sz="2600" dirty="0"/>
          </a:p>
        </p:txBody>
      </p:sp>
      <p:sp>
        <p:nvSpPr>
          <p:cNvPr id="8" name="rect-517"/>
          <p:cNvSpPr/>
          <p:nvPr/>
        </p:nvSpPr>
        <p:spPr>
          <a:xfrm>
            <a:off x="585216" y="1682496"/>
            <a:ext cx="5961888" cy="3401568"/>
          </a:xfrm>
          <a:prstGeom prst="roundRect">
            <a:avLst>
              <a:gd name="adj" fmla="val 1344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poster_bbem-518" descr="일렁이는 뻄씨 홍보영상 보기">
            <a:hlinkClick r:id="rId3" tooltip="영상 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852160" cy="3291840"/>
          </a:xfrm>
          <a:prstGeom prst="rect">
            <a:avLst/>
          </a:prstGeom>
        </p:spPr>
      </p:pic>
      <p:sp>
        <p:nvSpPr>
          <p:cNvPr id="10" name="rect-519"/>
          <p:cNvSpPr/>
          <p:nvPr/>
        </p:nvSpPr>
        <p:spPr>
          <a:xfrm>
            <a:off x="640080" y="530352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1" name="link-520"/>
          <p:cNvSpPr txBox="1"/>
          <p:nvPr/>
        </p:nvSpPr>
        <p:spPr>
          <a:xfrm>
            <a:off x="640080" y="53035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cN0moZzlcjhu3kQcTy5YQjEjh3OqM4XU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홍보영상 보기</a:t>
            </a:r>
            <a:endParaRPr lang="en-US" sz="1200" dirty="0"/>
          </a:p>
        </p:txBody>
      </p:sp>
      <p:sp>
        <p:nvSpPr>
          <p:cNvPr id="12" name="rect-521"/>
          <p:cNvSpPr/>
          <p:nvPr/>
        </p:nvSpPr>
        <p:spPr>
          <a:xfrm>
            <a:off x="6803136" y="1683026"/>
            <a:ext cx="2487168" cy="3080469"/>
          </a:xfrm>
          <a:prstGeom prst="roundRect">
            <a:avLst>
              <a:gd name="adj" fmla="val 1838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3" name="img-spk_main-522" descr="스피커 굿즈 실사 합성 광고 이미지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737890"/>
            <a:ext cx="2377440" cy="2970741"/>
          </a:xfrm>
          <a:prstGeom prst="rect">
            <a:avLst/>
          </a:prstGeom>
        </p:spPr>
      </p:pic>
      <p:sp>
        <p:nvSpPr>
          <p:cNvPr id="14" name="caption-523"/>
          <p:cNvSpPr txBox="1"/>
          <p:nvPr/>
        </p:nvSpPr>
        <p:spPr>
          <a:xfrm>
            <a:off x="6766560" y="480921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 합성 광고 이미지</a:t>
            </a:r>
            <a:endParaRPr lang="en-US" sz="1050" dirty="0"/>
          </a:p>
        </p:txBody>
      </p:sp>
      <p:sp>
        <p:nvSpPr>
          <p:cNvPr id="15" name="rect-524"/>
          <p:cNvSpPr/>
          <p:nvPr/>
        </p:nvSpPr>
        <p:spPr>
          <a:xfrm>
            <a:off x="9411208" y="1682496"/>
            <a:ext cx="2190496" cy="1280160"/>
          </a:xfrm>
          <a:prstGeom prst="roundRect">
            <a:avLst>
              <a:gd name="adj" fmla="val 3571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6" name="img-promo1-525" descr="단순 캐릭터 홍보 영상 1 장면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6072" y="1737360"/>
            <a:ext cx="2080768" cy="1170432"/>
          </a:xfrm>
          <a:prstGeom prst="rect">
            <a:avLst/>
          </a:prstGeom>
        </p:spPr>
      </p:pic>
      <p:sp>
        <p:nvSpPr>
          <p:cNvPr id="17" name="rect-526"/>
          <p:cNvSpPr/>
          <p:nvPr/>
        </p:nvSpPr>
        <p:spPr>
          <a:xfrm>
            <a:off x="9411208" y="3191256"/>
            <a:ext cx="2190496" cy="1280160"/>
          </a:xfrm>
          <a:prstGeom prst="roundRect">
            <a:avLst>
              <a:gd name="adj" fmla="val 3571"/>
            </a:avLst>
          </a:prstGeom>
          <a:solidFill>
            <a:srgbClr val="36235C"/>
          </a:solidFill>
          <a:ln w="12700">
            <a:solidFill>
              <a:srgbClr val="7A5CD6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8" name="img-promo2-527" descr="단순 캐릭터 홍보 영상 2 장면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6072" y="3246120"/>
            <a:ext cx="2080768" cy="1170432"/>
          </a:xfrm>
          <a:prstGeom prst="rect">
            <a:avLst/>
          </a:prstGeom>
        </p:spPr>
      </p:pic>
      <p:sp>
        <p:nvSpPr>
          <p:cNvPr id="19" name="text-528"/>
          <p:cNvSpPr txBox="1"/>
          <p:nvPr/>
        </p:nvSpPr>
        <p:spPr>
          <a:xfrm>
            <a:off x="9372600" y="4526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D2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SNS용 짧은 캐릭터 모션</a:t>
            </a:r>
            <a:endParaRPr lang="en-US" sz="1050" dirty="0"/>
          </a:p>
        </p:txBody>
      </p:sp>
      <p:sp>
        <p:nvSpPr>
          <p:cNvPr id="20" name="star-529"/>
          <p:cNvSpPr/>
          <p:nvPr/>
        </p:nvSpPr>
        <p:spPr>
          <a:xfrm>
            <a:off x="6858000" y="5372862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1" name="bullet-530"/>
          <p:cNvSpPr txBox="1"/>
          <p:nvPr/>
        </p:nvSpPr>
        <p:spPr>
          <a:xfrm>
            <a:off x="7150608" y="5303520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홍보영상과 짧은 모션 클립으로 SNS 노출용 콘텐츠 확보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69CFF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4_bg-531" descr="챕터 대표 장면을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-532"/>
          <p:cNvSpPr txBox="1"/>
          <p:nvPr/>
        </p:nvSpPr>
        <p:spPr>
          <a:xfrm>
            <a:off x="7772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PARK HYUNJIN  PORTFOLIO TOUR 2026</a:t>
            </a:r>
            <a:endParaRPr lang="en-US" sz="1200" dirty="0"/>
          </a:p>
        </p:txBody>
      </p:sp>
      <p:sp>
        <p:nvSpPr>
          <p:cNvPr id="4" name="rect-533"/>
          <p:cNvSpPr/>
          <p:nvPr/>
        </p:nvSpPr>
        <p:spPr>
          <a:xfrm>
            <a:off x="777240" y="1097280"/>
            <a:ext cx="10634472" cy="4663440"/>
          </a:xfrm>
          <a:prstGeom prst="roundRect">
            <a:avLst>
              <a:gd name="adj" fmla="val 1176"/>
            </a:avLst>
          </a:prstGeom>
          <a:solidFill>
            <a:srgbClr val="FFFBF8"/>
          </a:solidFill>
          <a:ln/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5" name="rect-534"/>
          <p:cNvSpPr/>
          <p:nvPr/>
        </p:nvSpPr>
        <p:spPr>
          <a:xfrm>
            <a:off x="960120" y="1280160"/>
            <a:ext cx="6839712" cy="4297680"/>
          </a:xfrm>
          <a:prstGeom prst="rect">
            <a:avLst/>
          </a:prstGeom>
          <a:solidFill>
            <a:srgbClr val="36235C"/>
          </a:solidFill>
          <a:ln/>
        </p:spPr>
      </p:sp>
      <p:pic>
        <p:nvPicPr>
          <p:cNvPr id="6" name="ticket-tk_ch4-535" descr="3초매직 트리트먼트와 확빠져 다이어트 보조제 제품 컨셉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38623"/>
            <a:ext cx="6839712" cy="4180753"/>
          </a:xfrm>
          <a:prstGeom prst="rect">
            <a:avLst/>
          </a:prstGeom>
        </p:spPr>
      </p:pic>
      <p:sp>
        <p:nvSpPr>
          <p:cNvPr id="7" name="perforation-536"/>
          <p:cNvSpPr/>
          <p:nvPr/>
        </p:nvSpPr>
        <p:spPr>
          <a:xfrm>
            <a:off x="7982712" y="1344168"/>
            <a:ext cx="0" cy="4169664"/>
          </a:xfrm>
          <a:prstGeom prst="line">
            <a:avLst/>
          </a:prstGeom>
          <a:noFill/>
          <a:ln w="19050">
            <a:solidFill>
              <a:srgbClr val="B69CFF"/>
            </a:solidFill>
            <a:prstDash val="dash"/>
          </a:ln>
        </p:spPr>
      </p:sp>
      <p:sp>
        <p:nvSpPr>
          <p:cNvPr id="8" name="oval-537"/>
          <p:cNvSpPr/>
          <p:nvPr/>
        </p:nvSpPr>
        <p:spPr>
          <a:xfrm>
            <a:off x="7790688" y="905256"/>
            <a:ext cx="384048" cy="384048"/>
          </a:xfrm>
          <a:prstGeom prst="ellipse">
            <a:avLst/>
          </a:prstGeom>
          <a:solidFill>
            <a:srgbClr val="2A1A48"/>
          </a:solidFill>
          <a:ln/>
        </p:spPr>
      </p:sp>
      <p:sp>
        <p:nvSpPr>
          <p:cNvPr id="9" name="oval-538"/>
          <p:cNvSpPr/>
          <p:nvPr/>
        </p:nvSpPr>
        <p:spPr>
          <a:xfrm>
            <a:off x="7790688" y="5568696"/>
            <a:ext cx="384048" cy="384048"/>
          </a:xfrm>
          <a:prstGeom prst="ellipse">
            <a:avLst/>
          </a:prstGeom>
          <a:solidFill>
            <a:srgbClr val="2A1A48"/>
          </a:solidFill>
          <a:ln/>
        </p:spPr>
      </p:sp>
      <p:sp>
        <p:nvSpPr>
          <p:cNvPr id="10" name="text-539"/>
          <p:cNvSpPr txBox="1"/>
          <p:nvPr/>
        </p:nvSpPr>
        <p:spPr>
          <a:xfrm>
            <a:off x="8257032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7A5C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 ONE</a:t>
            </a:r>
            <a:endParaRPr lang="en-US" sz="1100" dirty="0"/>
          </a:p>
        </p:txBody>
      </p:sp>
      <p:sp>
        <p:nvSpPr>
          <p:cNvPr id="11" name="text-540"/>
          <p:cNvSpPr txBox="1"/>
          <p:nvPr/>
        </p:nvSpPr>
        <p:spPr>
          <a:xfrm>
            <a:off x="8257032" y="16916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CH.</a:t>
            </a:r>
            <a:pPr indent="0" marL="0">
              <a:buNone/>
            </a:pPr>
            <a:r>
              <a:rPr lang="en-US" sz="6000" b="1" dirty="0">
                <a:solidFill>
                  <a:srgbClr val="D726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12" name="text-541"/>
          <p:cNvSpPr txBox="1"/>
          <p:nvPr/>
        </p:nvSpPr>
        <p:spPr>
          <a:xfrm>
            <a:off x="8257032" y="27889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3초매직 / 확빠져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광고</a:t>
            </a:r>
            <a:endParaRPr lang="en-US" sz="2400" dirty="0"/>
          </a:p>
        </p:txBody>
      </p:sp>
      <p:sp>
        <p:nvSpPr>
          <p:cNvPr id="13" name="text-542"/>
          <p:cNvSpPr txBox="1"/>
          <p:nvPr/>
        </p:nvSpPr>
        <p:spPr>
          <a:xfrm>
            <a:off x="8257032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좌절에서 기쁨까지, 15초 감성 스토리텔링 광고 2편</a:t>
            </a:r>
            <a:endParaRPr lang="en-US" sz="1300" dirty="0"/>
          </a:p>
        </p:txBody>
      </p:sp>
      <p:sp>
        <p:nvSpPr>
          <p:cNvPr id="14" name="star-543"/>
          <p:cNvSpPr/>
          <p:nvPr/>
        </p:nvSpPr>
        <p:spPr>
          <a:xfrm>
            <a:off x="8257032" y="4983480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5" name="star-544"/>
          <p:cNvSpPr/>
          <p:nvPr/>
        </p:nvSpPr>
        <p:spPr>
          <a:xfrm>
            <a:off x="8549640" y="4983480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6" name="star-545"/>
          <p:cNvSpPr/>
          <p:nvPr/>
        </p:nvSpPr>
        <p:spPr>
          <a:xfrm>
            <a:off x="8842248" y="4983480"/>
            <a:ext cx="182880" cy="182880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7" name="text-546"/>
          <p:cNvSpPr txBox="1"/>
          <p:nvPr/>
        </p:nvSpPr>
        <p:spPr>
          <a:xfrm>
            <a:off x="8257032" y="5230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9:16 / 15초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d-547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548"/>
          <p:cNvSpPr/>
          <p:nvPr/>
        </p:nvSpPr>
        <p:spPr>
          <a:xfrm>
            <a:off x="640080" y="329184"/>
            <a:ext cx="2125980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549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550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551"/>
          <p:cNvSpPr txBox="1"/>
          <p:nvPr/>
        </p:nvSpPr>
        <p:spPr>
          <a:xfrm>
            <a:off x="1097280" y="329184"/>
            <a:ext cx="1668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CH.04  숏폼 광고 2편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3초매직 트리트먼트, 즉각 변화를 보여 주는 15초 스토리텔링</a:t>
            </a:r>
            <a:endParaRPr lang="en-US" sz="2600" dirty="0"/>
          </a:p>
        </p:txBody>
      </p:sp>
      <p:sp>
        <p:nvSpPr>
          <p:cNvPr id="8" name="rect-552"/>
          <p:cNvSpPr/>
          <p:nvPr/>
        </p:nvSpPr>
        <p:spPr>
          <a:xfrm>
            <a:off x="585216" y="1637347"/>
            <a:ext cx="3401568" cy="4223387"/>
          </a:xfrm>
          <a:prstGeom prst="roundRect">
            <a:avLst>
              <a:gd name="adj" fmla="val 1344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poster_magic-553" descr="3초매직 광고 영상 보기">
            <a:hlinkClick r:id="rId3" tooltip="영상 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211"/>
            <a:ext cx="3291840" cy="4113659"/>
          </a:xfrm>
          <a:prstGeom prst="rect">
            <a:avLst/>
          </a:prstGeom>
        </p:spPr>
      </p:pic>
      <p:sp>
        <p:nvSpPr>
          <p:cNvPr id="10" name="rect-554"/>
          <p:cNvSpPr/>
          <p:nvPr/>
        </p:nvSpPr>
        <p:spPr>
          <a:xfrm>
            <a:off x="640080" y="5943600"/>
            <a:ext cx="2194560" cy="420624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1" name="link-555"/>
          <p:cNvSpPr txBox="1"/>
          <p:nvPr/>
        </p:nvSpPr>
        <p:spPr>
          <a:xfrm>
            <a:off x="640080" y="59436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KKHFpEc7DSNOmQ0AThXyHrO0jktwjwlx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광고 영상 보기</a:t>
            </a:r>
            <a:endParaRPr lang="en-US" sz="1200" dirty="0"/>
          </a:p>
        </p:txBody>
      </p:sp>
      <p:sp>
        <p:nvSpPr>
          <p:cNvPr id="12" name="rect-556"/>
          <p:cNvSpPr/>
          <p:nvPr/>
        </p:nvSpPr>
        <p:spPr>
          <a:xfrm>
            <a:off x="4290822" y="1636776"/>
            <a:ext cx="4128516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3" name="img-magic_concept-557" descr="3초매직 컨셉 보드: 박곱슬 캐릭터와 보라색 튜브 제품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686" y="1691640"/>
            <a:ext cx="4018788" cy="2679192"/>
          </a:xfrm>
          <a:prstGeom prst="rect">
            <a:avLst/>
          </a:prstGeom>
        </p:spPr>
      </p:pic>
      <p:sp>
        <p:nvSpPr>
          <p:cNvPr id="14" name="text-558"/>
          <p:cNvSpPr txBox="1"/>
          <p:nvPr/>
        </p:nvSpPr>
        <p:spPr>
          <a:xfrm>
            <a:off x="8641080" y="17373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</a:t>
            </a:r>
            <a:endParaRPr lang="en-US" sz="1200" dirty="0"/>
          </a:p>
        </p:txBody>
      </p:sp>
      <p:sp>
        <p:nvSpPr>
          <p:cNvPr id="15" name="text-559"/>
          <p:cNvSpPr txBox="1"/>
          <p:nvPr/>
        </p:nvSpPr>
        <p:spPr>
          <a:xfrm>
            <a:off x="9646920" y="173736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9:16 / 15초</a:t>
            </a:r>
            <a:endParaRPr lang="en-US" sz="1300" dirty="0"/>
          </a:p>
        </p:txBody>
      </p:sp>
      <p:sp>
        <p:nvSpPr>
          <p:cNvPr id="16" name="rule-560"/>
          <p:cNvSpPr/>
          <p:nvPr/>
        </p:nvSpPr>
        <p:spPr>
          <a:xfrm>
            <a:off x="8641080" y="2112264"/>
            <a:ext cx="2907792" cy="0"/>
          </a:xfrm>
          <a:prstGeom prst="line">
            <a:avLst/>
          </a:prstGeom>
          <a:noFill/>
          <a:ln w="9525">
            <a:solidFill>
              <a:srgbClr val="E6DCEF"/>
            </a:solidFill>
            <a:prstDash val="solid"/>
          </a:ln>
        </p:spPr>
      </p:sp>
      <p:sp>
        <p:nvSpPr>
          <p:cNvPr id="17" name="text-561"/>
          <p:cNvSpPr txBox="1"/>
          <p:nvPr/>
        </p:nvSpPr>
        <p:spPr>
          <a:xfrm>
            <a:off x="8641080" y="22860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200" dirty="0"/>
          </a:p>
        </p:txBody>
      </p:sp>
      <p:sp>
        <p:nvSpPr>
          <p:cNvPr id="18" name="text-562"/>
          <p:cNvSpPr txBox="1"/>
          <p:nvPr/>
        </p:nvSpPr>
        <p:spPr>
          <a:xfrm>
            <a:off x="9646920" y="228600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머릿결 스트레스 20~30대</a:t>
            </a:r>
            <a:endParaRPr lang="en-US" sz="1300" dirty="0"/>
          </a:p>
        </p:txBody>
      </p:sp>
      <p:sp>
        <p:nvSpPr>
          <p:cNvPr id="19" name="rule-563"/>
          <p:cNvSpPr/>
          <p:nvPr/>
        </p:nvSpPr>
        <p:spPr>
          <a:xfrm>
            <a:off x="8641080" y="2660904"/>
            <a:ext cx="2907792" cy="0"/>
          </a:xfrm>
          <a:prstGeom prst="line">
            <a:avLst/>
          </a:prstGeom>
          <a:noFill/>
          <a:ln w="9525">
            <a:solidFill>
              <a:srgbClr val="E6DCEF"/>
            </a:solidFill>
            <a:prstDash val="solid"/>
          </a:ln>
        </p:spPr>
      </p:sp>
      <p:sp>
        <p:nvSpPr>
          <p:cNvPr id="20" name="text-564"/>
          <p:cNvSpPr txBox="1"/>
          <p:nvPr/>
        </p:nvSpPr>
        <p:spPr>
          <a:xfrm>
            <a:off x="8641080" y="28346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USP</a:t>
            </a:r>
            <a:endParaRPr lang="en-US" sz="1200" dirty="0"/>
          </a:p>
        </p:txBody>
      </p:sp>
      <p:sp>
        <p:nvSpPr>
          <p:cNvPr id="21" name="text-565"/>
          <p:cNvSpPr txBox="1"/>
          <p:nvPr/>
        </p:nvSpPr>
        <p:spPr>
          <a:xfrm>
            <a:off x="9646920" y="283464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쓰자마자 보이는 매직 효과</a:t>
            </a:r>
            <a:endParaRPr lang="en-US" sz="1300" dirty="0"/>
          </a:p>
        </p:txBody>
      </p:sp>
      <p:sp>
        <p:nvSpPr>
          <p:cNvPr id="22" name="rule-566"/>
          <p:cNvSpPr/>
          <p:nvPr/>
        </p:nvSpPr>
        <p:spPr>
          <a:xfrm>
            <a:off x="8641080" y="3209544"/>
            <a:ext cx="2907792" cy="0"/>
          </a:xfrm>
          <a:prstGeom prst="line">
            <a:avLst/>
          </a:prstGeom>
          <a:noFill/>
          <a:ln w="9525">
            <a:solidFill>
              <a:srgbClr val="E6DCEF"/>
            </a:solidFill>
            <a:prstDash val="solid"/>
          </a:ln>
        </p:spPr>
      </p:sp>
      <p:sp>
        <p:nvSpPr>
          <p:cNvPr id="23" name="rect-567"/>
          <p:cNvSpPr/>
          <p:nvPr/>
        </p:nvSpPr>
        <p:spPr>
          <a:xfrm>
            <a:off x="4343400" y="470916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ECE4FF"/>
          </a:solidFill>
          <a:ln/>
        </p:spPr>
      </p:sp>
      <p:sp>
        <p:nvSpPr>
          <p:cNvPr id="24" name="text-568"/>
          <p:cNvSpPr txBox="1"/>
          <p:nvPr/>
        </p:nvSpPr>
        <p:spPr>
          <a:xfrm>
            <a:off x="434340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00:00</a:t>
            </a:r>
            <a:endParaRPr lang="en-US" sz="1050" dirty="0"/>
          </a:p>
        </p:txBody>
      </p:sp>
      <p:sp>
        <p:nvSpPr>
          <p:cNvPr id="25" name="text-569"/>
          <p:cNvSpPr txBox="1"/>
          <p:nvPr/>
        </p:nvSpPr>
        <p:spPr>
          <a:xfrm>
            <a:off x="4343400" y="5029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훅</a:t>
            </a:r>
            <a:endParaRPr lang="en-US" sz="1500" dirty="0"/>
          </a:p>
        </p:txBody>
      </p:sp>
      <p:sp>
        <p:nvSpPr>
          <p:cNvPr id="26" name="text-570"/>
          <p:cNvSpPr txBox="1"/>
          <p:nvPr/>
        </p:nvSpPr>
        <p:spPr>
          <a:xfrm>
            <a:off x="5623560" y="4937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rect-571"/>
          <p:cNvSpPr/>
          <p:nvPr/>
        </p:nvSpPr>
        <p:spPr>
          <a:xfrm>
            <a:off x="5806440" y="470916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ECE4FF"/>
          </a:solidFill>
          <a:ln/>
        </p:spPr>
      </p:sp>
      <p:sp>
        <p:nvSpPr>
          <p:cNvPr id="28" name="text-572"/>
          <p:cNvSpPr txBox="1"/>
          <p:nvPr/>
        </p:nvSpPr>
        <p:spPr>
          <a:xfrm>
            <a:off x="580644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00:04.5</a:t>
            </a:r>
            <a:endParaRPr lang="en-US" sz="1050" dirty="0"/>
          </a:p>
        </p:txBody>
      </p:sp>
      <p:sp>
        <p:nvSpPr>
          <p:cNvPr id="29" name="text-573"/>
          <p:cNvSpPr txBox="1"/>
          <p:nvPr/>
        </p:nvSpPr>
        <p:spPr>
          <a:xfrm>
            <a:off x="5806440" y="5029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</a:t>
            </a:r>
            <a:endParaRPr lang="en-US" sz="1500" dirty="0"/>
          </a:p>
        </p:txBody>
      </p:sp>
      <p:sp>
        <p:nvSpPr>
          <p:cNvPr id="30" name="text-574"/>
          <p:cNvSpPr txBox="1"/>
          <p:nvPr/>
        </p:nvSpPr>
        <p:spPr>
          <a:xfrm>
            <a:off x="7086600" y="4937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rect-575"/>
          <p:cNvSpPr/>
          <p:nvPr/>
        </p:nvSpPr>
        <p:spPr>
          <a:xfrm>
            <a:off x="7269480" y="470916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ECE4FF"/>
          </a:solidFill>
          <a:ln/>
        </p:spPr>
      </p:sp>
      <p:sp>
        <p:nvSpPr>
          <p:cNvPr id="32" name="text-576"/>
          <p:cNvSpPr txBox="1"/>
          <p:nvPr/>
        </p:nvSpPr>
        <p:spPr>
          <a:xfrm>
            <a:off x="726948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00:06</a:t>
            </a:r>
            <a:endParaRPr lang="en-US" sz="1050" dirty="0"/>
          </a:p>
        </p:txBody>
      </p:sp>
      <p:sp>
        <p:nvSpPr>
          <p:cNvPr id="33" name="text-577"/>
          <p:cNvSpPr txBox="1"/>
          <p:nvPr/>
        </p:nvSpPr>
        <p:spPr>
          <a:xfrm>
            <a:off x="7269480" y="5029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500" dirty="0"/>
          </a:p>
        </p:txBody>
      </p:sp>
      <p:sp>
        <p:nvSpPr>
          <p:cNvPr id="34" name="text-578"/>
          <p:cNvSpPr txBox="1"/>
          <p:nvPr/>
        </p:nvSpPr>
        <p:spPr>
          <a:xfrm>
            <a:off x="8549640" y="4937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rect-579"/>
          <p:cNvSpPr/>
          <p:nvPr/>
        </p:nvSpPr>
        <p:spPr>
          <a:xfrm>
            <a:off x="8732520" y="470916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FBE3E6"/>
          </a:solidFill>
          <a:ln/>
        </p:spPr>
      </p:sp>
      <p:sp>
        <p:nvSpPr>
          <p:cNvPr id="36" name="text-580"/>
          <p:cNvSpPr txBox="1"/>
          <p:nvPr/>
        </p:nvSpPr>
        <p:spPr>
          <a:xfrm>
            <a:off x="873252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00:09</a:t>
            </a:r>
            <a:endParaRPr lang="en-US" sz="1050" dirty="0"/>
          </a:p>
        </p:txBody>
      </p:sp>
      <p:sp>
        <p:nvSpPr>
          <p:cNvPr id="37" name="text-581"/>
          <p:cNvSpPr txBox="1"/>
          <p:nvPr/>
        </p:nvSpPr>
        <p:spPr>
          <a:xfrm>
            <a:off x="8732520" y="5029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500" dirty="0"/>
          </a:p>
        </p:txBody>
      </p:sp>
      <p:sp>
        <p:nvSpPr>
          <p:cNvPr id="38" name="text-582"/>
          <p:cNvSpPr txBox="1"/>
          <p:nvPr/>
        </p:nvSpPr>
        <p:spPr>
          <a:xfrm>
            <a:off x="10012680" y="4937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900" dirty="0"/>
          </a:p>
        </p:txBody>
      </p:sp>
      <p:sp>
        <p:nvSpPr>
          <p:cNvPr id="39" name="rect-583"/>
          <p:cNvSpPr/>
          <p:nvPr/>
        </p:nvSpPr>
        <p:spPr>
          <a:xfrm>
            <a:off x="10195560" y="470916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ECE4FF"/>
          </a:solidFill>
          <a:ln/>
        </p:spPr>
      </p:sp>
      <p:sp>
        <p:nvSpPr>
          <p:cNvPr id="40" name="text-584"/>
          <p:cNvSpPr txBox="1"/>
          <p:nvPr/>
        </p:nvSpPr>
        <p:spPr>
          <a:xfrm>
            <a:off x="10195560" y="4754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66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00:12</a:t>
            </a:r>
            <a:endParaRPr lang="en-US" sz="1050" dirty="0"/>
          </a:p>
        </p:txBody>
      </p:sp>
      <p:sp>
        <p:nvSpPr>
          <p:cNvPr id="41" name="text-585"/>
          <p:cNvSpPr txBox="1"/>
          <p:nvPr/>
        </p:nvSpPr>
        <p:spPr>
          <a:xfrm>
            <a:off x="10195560" y="5029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CTA</a:t>
            </a:r>
            <a:endParaRPr lang="en-US" sz="1500" dirty="0"/>
          </a:p>
        </p:txBody>
      </p:sp>
      <p:sp>
        <p:nvSpPr>
          <p:cNvPr id="42" name="text-586"/>
          <p:cNvSpPr txBox="1"/>
          <p:nvPr/>
        </p:nvSpPr>
        <p:spPr>
          <a:xfrm>
            <a:off x="4343400" y="5715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10컷 타임코드 설계 / 대사 없이 표정 연기로 감정 전달 / 반짝임 이펙트로 변화 강조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d-587" descr="작품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588"/>
          <p:cNvSpPr/>
          <p:nvPr/>
        </p:nvSpPr>
        <p:spPr>
          <a:xfrm>
            <a:off x="640080" y="329184"/>
            <a:ext cx="2125980" cy="310896"/>
          </a:xfrm>
          <a:prstGeom prst="roundRect">
            <a:avLst>
              <a:gd name="adj" fmla="val 17647"/>
            </a:avLst>
          </a:prstGeom>
          <a:solidFill>
            <a:srgbClr val="ECE4FF"/>
          </a:solidFill>
          <a:ln/>
        </p:spPr>
      </p:sp>
      <p:sp>
        <p:nvSpPr>
          <p:cNvPr id="4" name="star-589"/>
          <p:cNvSpPr/>
          <p:nvPr/>
        </p:nvSpPr>
        <p:spPr>
          <a:xfrm>
            <a:off x="731520" y="393192"/>
            <a:ext cx="182880" cy="182880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5" name="perf-590"/>
          <p:cNvSpPr/>
          <p:nvPr/>
        </p:nvSpPr>
        <p:spPr>
          <a:xfrm>
            <a:off x="1005840" y="365760"/>
            <a:ext cx="0" cy="237744"/>
          </a:xfrm>
          <a:prstGeom prst="line">
            <a:avLst/>
          </a:prstGeom>
          <a:noFill/>
          <a:ln w="12700">
            <a:solidFill>
              <a:srgbClr val="B69CFF"/>
            </a:solidFill>
            <a:prstDash val="dash"/>
          </a:ln>
        </p:spPr>
      </p:sp>
      <p:sp>
        <p:nvSpPr>
          <p:cNvPr id="6" name="label-591"/>
          <p:cNvSpPr txBox="1"/>
          <p:nvPr/>
        </p:nvSpPr>
        <p:spPr>
          <a:xfrm>
            <a:off x="1097280" y="329184"/>
            <a:ext cx="1668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5C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CH.04  숏폼 광고 2편</a:t>
            </a:r>
            <a:endParaRPr lang="en-US" sz="11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64008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확빠져 다이어트 보조제, 계절의 흐름으로 그린 꾸준함</a:t>
            </a:r>
            <a:endParaRPr lang="en-US" sz="2600" dirty="0"/>
          </a:p>
        </p:txBody>
      </p:sp>
      <p:sp>
        <p:nvSpPr>
          <p:cNvPr id="8" name="rect-592"/>
          <p:cNvSpPr/>
          <p:nvPr/>
        </p:nvSpPr>
        <p:spPr>
          <a:xfrm>
            <a:off x="585439" y="1636776"/>
            <a:ext cx="6418642" cy="4151376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9" name="img-sb-593" descr="확빠져 10컷 스토리보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03" y="1691640"/>
            <a:ext cx="6308914" cy="4041648"/>
          </a:xfrm>
          <a:prstGeom prst="rect">
            <a:avLst/>
          </a:prstGeom>
        </p:spPr>
      </p:pic>
      <p:sp>
        <p:nvSpPr>
          <p:cNvPr id="10" name="rect-594"/>
          <p:cNvSpPr/>
          <p:nvPr/>
        </p:nvSpPr>
        <p:spPr>
          <a:xfrm>
            <a:off x="7214616" y="1637140"/>
            <a:ext cx="2304288" cy="2852199"/>
          </a:xfrm>
          <a:prstGeom prst="roundRect">
            <a:avLst>
              <a:gd name="adj" fmla="val 1984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1" name="img-poster_slim-595" descr="확빠져 광고 영상 보기">
            <a:hlinkClick r:id="rId4" tooltip="영상 보기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92004"/>
            <a:ext cx="2194560" cy="2742471"/>
          </a:xfrm>
          <a:prstGeom prst="rect">
            <a:avLst/>
          </a:prstGeom>
        </p:spPr>
      </p:pic>
      <p:sp>
        <p:nvSpPr>
          <p:cNvPr id="12" name="rect-596"/>
          <p:cNvSpPr/>
          <p:nvPr/>
        </p:nvSpPr>
        <p:spPr>
          <a:xfrm>
            <a:off x="9637776" y="1736689"/>
            <a:ext cx="1024128" cy="1144342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3" name="img-char_before-597" descr="박복슬 캐릭터 레퍼런스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791553"/>
            <a:ext cx="914400" cy="1034614"/>
          </a:xfrm>
          <a:prstGeom prst="rect">
            <a:avLst/>
          </a:prstGeom>
        </p:spPr>
      </p:pic>
      <p:sp>
        <p:nvSpPr>
          <p:cNvPr id="14" name="rect-598"/>
          <p:cNvSpPr/>
          <p:nvPr/>
        </p:nvSpPr>
        <p:spPr>
          <a:xfrm>
            <a:off x="10625328" y="1709256"/>
            <a:ext cx="1024128" cy="1199209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6DCEF"/>
            </a:solidFill>
            <a:prstDash val="solid"/>
          </a:ln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pic>
        <p:nvPicPr>
          <p:cNvPr id="15" name="img-char_after-599" descr="박곱슬 캐릭터 레퍼런스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0192" y="1764120"/>
            <a:ext cx="914400" cy="1089481"/>
          </a:xfrm>
          <a:prstGeom prst="rect">
            <a:avLst/>
          </a:prstGeom>
        </p:spPr>
      </p:pic>
      <p:sp>
        <p:nvSpPr>
          <p:cNvPr id="16" name="text-600"/>
          <p:cNvSpPr txBox="1"/>
          <p:nvPr/>
        </p:nvSpPr>
        <p:spPr>
          <a:xfrm>
            <a:off x="9646920" y="3063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레퍼런스</a:t>
            </a:r>
            <a:endParaRPr lang="en-US" sz="1000" dirty="0"/>
          </a:p>
        </p:txBody>
      </p:sp>
      <p:sp>
        <p:nvSpPr>
          <p:cNvPr id="17" name="rect-601"/>
          <p:cNvSpPr/>
          <p:nvPr/>
        </p:nvSpPr>
        <p:spPr>
          <a:xfrm>
            <a:off x="9692640" y="3977640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8" name="link-602"/>
          <p:cNvSpPr txBox="1"/>
          <p:nvPr/>
        </p:nvSpPr>
        <p:spPr>
          <a:xfrm>
            <a:off x="9692640" y="397764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https://drive.google.com/file/d/17-MGQA1YUiZOZXjLN2MosLBWYy1VwaZy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광고 영상 보기</a:t>
            </a:r>
            <a:endParaRPr lang="en-US" sz="1200" dirty="0"/>
          </a:p>
        </p:txBody>
      </p:sp>
      <p:sp>
        <p:nvSpPr>
          <p:cNvPr id="19" name="star-603"/>
          <p:cNvSpPr/>
          <p:nvPr/>
        </p:nvSpPr>
        <p:spPr>
          <a:xfrm>
            <a:off x="7269480" y="4775835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0" name="bullet-604"/>
          <p:cNvSpPr txBox="1"/>
          <p:nvPr/>
        </p:nvSpPr>
        <p:spPr>
          <a:xfrm>
            <a:off x="7562088" y="4709160"/>
            <a:ext cx="3986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 / 가을 / 겨울 / 봄 창밖 풍경 변화로 꾸준한 섭취의 시간 경과 표현</a:t>
            </a:r>
            <a:endParaRPr lang="en-US" sz="1250" dirty="0"/>
          </a:p>
        </p:txBody>
      </p:sp>
      <p:sp>
        <p:nvSpPr>
          <p:cNvPr id="21" name="star-605"/>
          <p:cNvSpPr/>
          <p:nvPr/>
        </p:nvSpPr>
        <p:spPr>
          <a:xfrm>
            <a:off x="7269480" y="5397627"/>
            <a:ext cx="164592" cy="164592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22" name="bullet-606"/>
          <p:cNvSpPr txBox="1"/>
          <p:nvPr/>
        </p:nvSpPr>
        <p:spPr>
          <a:xfrm>
            <a:off x="7562088" y="5330952"/>
            <a:ext cx="3986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과장된 감량 수치 / 의료적 효과 표현을 배제한 신뢰감 있는 연출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7263D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tage-607" descr="응원봉 물결을 흐리고 어둡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-608"/>
          <p:cNvSpPr txBox="1"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B6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FOR WATCHING</a:t>
            </a:r>
            <a:endParaRPr lang="en-US" sz="1400" dirty="0"/>
          </a:p>
        </p:txBody>
      </p:sp>
      <p:sp>
        <p:nvSpPr>
          <p:cNvPr id="4" name="rect-609"/>
          <p:cNvSpPr/>
          <p:nvPr/>
        </p:nvSpPr>
        <p:spPr>
          <a:xfrm>
            <a:off x="3261208" y="1417320"/>
            <a:ext cx="5669280" cy="3566160"/>
          </a:xfrm>
          <a:prstGeom prst="rect">
            <a:avLst/>
          </a:prstGeom>
          <a:solidFill>
            <a:srgbClr val="FFFBF8"/>
          </a:solidFill>
          <a:ln/>
          <a:effectLst>
            <a:outerShdw sx="100000" sy="100000" kx="0" ky="0" algn="bl" rotWithShape="0" blurRad="101600" dist="31750" dir="5400000">
              <a:srgbClr val="1E1233">
                <a:alpha val="25000"/>
              </a:srgbClr>
            </a:outerShdw>
          </a:effectLst>
        </p:spPr>
      </p:sp>
      <p:sp>
        <p:nvSpPr>
          <p:cNvPr id="5" name="envelope-flap-610"/>
          <p:cNvSpPr/>
          <p:nvPr/>
        </p:nvSpPr>
        <p:spPr>
          <a:xfrm rot="10800000">
            <a:off x="3261208" y="1417320"/>
            <a:ext cx="5669280" cy="1600200"/>
          </a:xfrm>
          <a:prstGeom prst="triangle">
            <a:avLst/>
          </a:prstGeom>
          <a:solidFill>
            <a:srgbClr val="F6E9E4"/>
          </a:solidFill>
          <a:ln w="12700">
            <a:solidFill>
              <a:srgbClr val="E2CFC8"/>
            </a:solidFill>
            <a:prstDash val="solid"/>
          </a:ln>
        </p:spPr>
      </p:sp>
      <p:sp>
        <p:nvSpPr>
          <p:cNvPr id="6" name="oval-611"/>
          <p:cNvSpPr/>
          <p:nvPr/>
        </p:nvSpPr>
        <p:spPr>
          <a:xfrm>
            <a:off x="5684368" y="2606040"/>
            <a:ext cx="822960" cy="8229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7" name="text-612"/>
          <p:cNvSpPr txBox="1"/>
          <p:nvPr/>
        </p:nvSpPr>
        <p:spPr>
          <a:xfrm>
            <a:off x="5684368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2400" dirty="0"/>
          </a:p>
        </p:txBody>
      </p:sp>
      <p:sp>
        <p:nvSpPr>
          <p:cNvPr id="8" name="text-613"/>
          <p:cNvSpPr txBox="1"/>
          <p:nvPr/>
        </p:nvSpPr>
        <p:spPr>
          <a:xfrm>
            <a:off x="3261208" y="35661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22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9" name="text-614"/>
          <p:cNvSpPr txBox="1"/>
          <p:nvPr/>
        </p:nvSpPr>
        <p:spPr>
          <a:xfrm>
            <a:off x="3261208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박현진</a:t>
            </a:r>
            <a:endParaRPr lang="en-US" sz="1700" dirty="0"/>
          </a:p>
        </p:txBody>
      </p:sp>
      <p:sp>
        <p:nvSpPr>
          <p:cNvPr id="10" name="text-615"/>
          <p:cNvSpPr txBox="1"/>
          <p:nvPr/>
        </p:nvSpPr>
        <p:spPr>
          <a:xfrm>
            <a:off x="3261208" y="45262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66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 애니메이션 / 순정 숏폼 / 캐릭터 IP / 숏폼 광고</a:t>
            </a:r>
            <a:endParaRPr lang="en-US" sz="1100" dirty="0"/>
          </a:p>
        </p:txBody>
      </p:sp>
      <p:sp>
        <p:nvSpPr>
          <p:cNvPr id="11" name="star-616"/>
          <p:cNvSpPr/>
          <p:nvPr/>
        </p:nvSpPr>
        <p:spPr>
          <a:xfrm>
            <a:off x="5583784" y="5394960"/>
            <a:ext cx="201168" cy="201168"/>
          </a:xfrm>
          <a:prstGeom prst="star5">
            <a:avLst/>
          </a:prstGeom>
          <a:solidFill>
            <a:srgbClr val="B69CFF"/>
          </a:solidFill>
          <a:ln/>
        </p:spPr>
      </p:sp>
      <p:sp>
        <p:nvSpPr>
          <p:cNvPr id="12" name="star-617"/>
          <p:cNvSpPr/>
          <p:nvPr/>
        </p:nvSpPr>
        <p:spPr>
          <a:xfrm>
            <a:off x="5995264" y="5394960"/>
            <a:ext cx="201168" cy="201168"/>
          </a:xfrm>
          <a:prstGeom prst="star5">
            <a:avLst/>
          </a:prstGeom>
          <a:solidFill>
            <a:srgbClr val="D7263D"/>
          </a:solidFill>
          <a:ln/>
        </p:spPr>
      </p:sp>
      <p:sp>
        <p:nvSpPr>
          <p:cNvPr id="13" name="star-618"/>
          <p:cNvSpPr/>
          <p:nvPr/>
        </p:nvSpPr>
        <p:spPr>
          <a:xfrm>
            <a:off x="6406744" y="5394960"/>
            <a:ext cx="201168" cy="201168"/>
          </a:xfrm>
          <a:prstGeom prst="star5">
            <a:avLst/>
          </a:prstGeom>
          <a:solidFill>
            <a:srgbClr val="B69C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oncert Ticket">
  <a:themeElements>
    <a:clrScheme name="Concert Ticket">
      <a:dk1>
        <a:srgbClr val="241640"/>
      </a:dk1>
      <a:lt1>
        <a:srgbClr val="FFFFFF"/>
      </a:lt1>
      <a:dk2>
        <a:srgbClr val="36235C"/>
      </a:dk2>
      <a:lt2>
        <a:srgbClr val="FFF6F1"/>
      </a:lt2>
      <a:accent1>
        <a:srgbClr val="7A5CD6"/>
      </a:accent1>
      <a:accent2>
        <a:srgbClr val="D7263D"/>
      </a:accent2>
      <a:accent3>
        <a:srgbClr val="B69CFF"/>
      </a:accent3>
      <a:accent4>
        <a:srgbClr val="C9CCD6"/>
      </a:accent4>
      <a:accent5>
        <a:srgbClr val="36235C"/>
      </a:accent5>
      <a:accent6>
        <a:srgbClr val="6F6680"/>
      </a:accent6>
      <a:hlink>
        <a:srgbClr val="7A5CD6"/>
      </a:hlink>
      <a:folHlink>
        <a:srgbClr val="7A5CD6"/>
      </a:folHlink>
    </a:clrScheme>
    <a:fontScheme name="Concert Ticke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박현진 포트폴리오</dc:title>
  <dc:subject>PptxGenJS Presentation</dc:subject>
  <dc:creator>박현진</dc:creator>
  <cp:lastModifiedBy>박현진</cp:lastModifiedBy>
  <cp:revision>1</cp:revision>
  <dcterms:created xsi:type="dcterms:W3CDTF">2026-10-06T00:33:49Z</dcterms:created>
  <dcterms:modified xsi:type="dcterms:W3CDTF">2026-10-06T00:33:49Z</dcterms:modified>
</cp:coreProperties>
</file>