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476c6796-a404-310a-cf37-ae1a25a8a264}">
          <p14:sldIdLst>
            <p14:sldId id="256"/>
            <p14:sldId id="257"/>
            <p14:sldId id="258"/>
          </p14:sldIdLst>
        </p14:section>
        <p14:section name="01 신입사원이지만 아이돌입니다" id="{38b51f25-6960-ef74-dc46-3daa384f8efb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2 10MOO" id="{91da9112-0327-e12a-a768-621f54bb016b}">
          <p14:sldIdLst>
            <p14:sldId id="268"/>
            <p14:sldId id="269"/>
            <p14:sldId id="270"/>
          </p14:sldIdLst>
        </p14:section>
        <p14:section name="03 칸쵸 TVC 콘티" id="{c7a157bd-9798-78bf-b721-e1fe6d53f247}">
          <p14:sldIdLst>
            <p14:sldId id="271"/>
            <p14:sldId id="272"/>
            <p14:sldId id="273"/>
          </p14:sldIdLst>
        </p14:section>
        <p14:section name="마무리" id="{3371906d-5db0-e9fc-a8a4-7777a32a1a9d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최영빈  ·  AI 콘텐츠 크리에이터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K">
    <p:bg>
      <p:bgPr>
        <a:solidFill>
          <a:srgbClr val="1E2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2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최영빈  ·  AI 콘텐츠 크리에이터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29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1E2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cof24EAW0ZLXOta-U4wuyKgOXh34fc9D/view" TargetMode="External"/><Relationship Id="rId4" Type="http://schemas.openxmlformats.org/officeDocument/2006/relationships/hyperlink" Target="https://drive.google.com/file/d/1cof24EAW0ZLXOta-U4wuyKgOXh34fc9D/view" TargetMode="External"/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image" Target="../media/image-14-6.jpg"/><Relationship Id="rId7" Type="http://schemas.openxmlformats.org/officeDocument/2006/relationships/image" Target="../media/image-14-7.jp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gif"/><Relationship Id="rId3" Type="http://schemas.openxmlformats.org/officeDocument/2006/relationships/image" Target="../media/image-15-3.gif"/><Relationship Id="rId4" Type="http://schemas.openxmlformats.org/officeDocument/2006/relationships/image" Target="../media/image-15-4.gif"/><Relationship Id="rId5" Type="http://schemas.openxmlformats.org/officeDocument/2006/relationships/image" Target="../media/image-15-5.gif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hyperlink" Target="https://drive.google.com/file/d/1Q3nT1ksGNVQFKc4LVaPQIXms32olCPhb/view" TargetMode="External"/><Relationship Id="rId7" Type="http://schemas.openxmlformats.org/officeDocument/2006/relationships/hyperlink" Target="https://drive.google.com/file/d/1Q3nT1ksGNVQFKc4LVaPQIXms32olCPhb/view" TargetMode="External"/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image" Target="../media/image-18-5.jp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cover-1" descr="홍보대행사 회의실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"/>
          <p:cNvSpPr/>
          <p:nvPr/>
        </p:nvSpPr>
        <p:spPr>
          <a:xfrm rot="-360000">
            <a:off x="9079992" y="0"/>
            <a:ext cx="384048" cy="1417320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4" name="rect-3"/>
          <p:cNvSpPr/>
          <p:nvPr/>
        </p:nvSpPr>
        <p:spPr>
          <a:xfrm rot="360000">
            <a:off x="9829800" y="0"/>
            <a:ext cx="384048" cy="1417320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5" name="rect-4"/>
          <p:cNvSpPr/>
          <p:nvPr/>
        </p:nvSpPr>
        <p:spPr>
          <a:xfrm>
            <a:off x="9354312" y="960120"/>
            <a:ext cx="585216" cy="411480"/>
          </a:xfrm>
          <a:prstGeom prst="roundRect">
            <a:avLst>
              <a:gd name="adj" fmla="val 17778"/>
            </a:avLst>
          </a:prstGeom>
          <a:solidFill>
            <a:srgbClr val="AEB3BD"/>
          </a:solidFill>
          <a:ln/>
        </p:spPr>
      </p:sp>
      <p:sp>
        <p:nvSpPr>
          <p:cNvPr id="6" name="rect-5"/>
          <p:cNvSpPr/>
          <p:nvPr/>
        </p:nvSpPr>
        <p:spPr>
          <a:xfrm>
            <a:off x="7955280" y="1188720"/>
            <a:ext cx="3383280" cy="4804258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rect-6"/>
          <p:cNvSpPr/>
          <p:nvPr/>
        </p:nvSpPr>
        <p:spPr>
          <a:xfrm>
            <a:off x="7955280" y="1188720"/>
            <a:ext cx="3383280" cy="566928"/>
          </a:xfrm>
          <a:prstGeom prst="roundRect">
            <a:avLst>
              <a:gd name="adj" fmla="val 22581"/>
            </a:avLst>
          </a:prstGeom>
          <a:solidFill>
            <a:srgbClr val="2B59C3"/>
          </a:solidFill>
          <a:ln/>
        </p:spPr>
      </p:sp>
      <p:sp>
        <p:nvSpPr>
          <p:cNvPr id="8" name="rect-7"/>
          <p:cNvSpPr/>
          <p:nvPr/>
        </p:nvSpPr>
        <p:spPr>
          <a:xfrm>
            <a:off x="7955280" y="1517904"/>
            <a:ext cx="3383280" cy="237744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9" name="text-8"/>
          <p:cNvSpPr txBox="1"/>
          <p:nvPr/>
        </p:nvSpPr>
        <p:spPr>
          <a:xfrm>
            <a:off x="7955280" y="126187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CONTENT CREATOR</a:t>
            </a:r>
            <a:endParaRPr lang="en-US" sz="1100" dirty="0"/>
          </a:p>
        </p:txBody>
      </p:sp>
      <p:sp>
        <p:nvSpPr>
          <p:cNvPr id="10" name="rect-9"/>
          <p:cNvSpPr/>
          <p:nvPr/>
        </p:nvSpPr>
        <p:spPr>
          <a:xfrm>
            <a:off x="8764524" y="1929384"/>
            <a:ext cx="1764792" cy="2328672"/>
          </a:xfrm>
          <a:prstGeom prst="rect">
            <a:avLst/>
          </a:prstGeom>
          <a:solidFill>
            <a:srgbClr val="E2DED3"/>
          </a:solidFill>
          <a:ln/>
        </p:spPr>
      </p:sp>
      <p:pic>
        <p:nvPicPr>
          <p:cNvPr id="11" name="badge-photo-10" descr="10MOO 사원증 사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0" y="1965960"/>
            <a:ext cx="1691640" cy="2255520"/>
          </a:xfrm>
          <a:prstGeom prst="rect">
            <a:avLst/>
          </a:prstGeom>
        </p:spPr>
      </p:pic>
      <p:sp>
        <p:nvSpPr>
          <p:cNvPr id="12" name="text-11"/>
          <p:cNvSpPr txBox="1"/>
          <p:nvPr/>
        </p:nvSpPr>
        <p:spPr>
          <a:xfrm>
            <a:off x="7955280" y="431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PORTFOLIO 2026</a:t>
            </a:r>
            <a:endParaRPr lang="en-US" sz="1050" dirty="0"/>
          </a:p>
        </p:txBody>
      </p:sp>
      <p:sp>
        <p:nvSpPr>
          <p:cNvPr id="13" name="text-12"/>
          <p:cNvSpPr txBox="1"/>
          <p:nvPr/>
        </p:nvSpPr>
        <p:spPr>
          <a:xfrm>
            <a:off x="8092440" y="4587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최영빈</a:t>
            </a:r>
            <a:endParaRPr lang="en-US" sz="2600" dirty="0"/>
          </a:p>
        </p:txBody>
      </p:sp>
      <p:sp>
        <p:nvSpPr>
          <p:cNvPr id="14" name="text-13"/>
          <p:cNvSpPr txBox="1"/>
          <p:nvPr/>
        </p:nvSpPr>
        <p:spPr>
          <a:xfrm>
            <a:off x="8092440" y="5154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콘텐츠 크리에이터</a:t>
            </a:r>
            <a:endParaRPr lang="en-US" sz="1050" dirty="0"/>
          </a:p>
        </p:txBody>
      </p:sp>
      <p:pic>
        <p:nvPicPr>
          <p:cNvPr id="15" name="barcode-14" descr="바코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5555285"/>
            <a:ext cx="2560320" cy="273101"/>
          </a:xfrm>
          <a:prstGeom prst="rect">
            <a:avLst/>
          </a:prstGeom>
        </p:spPr>
      </p:pic>
      <p:sp>
        <p:nvSpPr>
          <p:cNvPr id="16" name="rect-15"/>
          <p:cNvSpPr/>
          <p:nvPr/>
        </p:nvSpPr>
        <p:spPr>
          <a:xfrm>
            <a:off x="640080" y="1417320"/>
            <a:ext cx="3474720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17" name="marker-16"/>
          <p:cNvSpPr txBox="1"/>
          <p:nvPr/>
        </p:nvSpPr>
        <p:spPr>
          <a:xfrm>
            <a:off x="685800" y="13258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CONTENT CREATOR PORTFOLIO</a:t>
            </a:r>
            <a:endParaRPr lang="en-US" sz="1200" dirty="0"/>
          </a:p>
        </p:txBody>
      </p:sp>
      <p:sp>
        <p:nvSpPr>
          <p:cNvPr id="18" name="text-17"/>
          <p:cNvSpPr txBox="1"/>
          <p:nvPr/>
        </p:nvSpPr>
        <p:spPr>
          <a:xfrm>
            <a:off x="640080" y="1783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최영빈</a:t>
            </a:r>
            <a:endParaRPr lang="en-US" sz="6000" dirty="0"/>
          </a:p>
        </p:txBody>
      </p:sp>
      <p:sp>
        <p:nvSpPr>
          <p:cNvPr id="19" name="text-18"/>
          <p:cNvSpPr txBox="1"/>
          <p:nvPr/>
        </p:nvSpPr>
        <p:spPr>
          <a:xfrm>
            <a:off x="640080" y="2971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4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직장인의 공감과 판타지를 장르로 엮는 스토리텔러</a:t>
            </a:r>
            <a:endParaRPr lang="en-US" sz="1800" dirty="0"/>
          </a:p>
        </p:txBody>
      </p:sp>
      <p:sp>
        <p:nvSpPr>
          <p:cNvPr id="20" name="text-19"/>
          <p:cNvSpPr txBox="1"/>
          <p:nvPr/>
        </p:nvSpPr>
        <p:spPr>
          <a:xfrm>
            <a:off x="640080" y="38862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1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</a:t>
            </a:r>
            <a:endParaRPr lang="en-US" sz="1300" dirty="0"/>
          </a:p>
        </p:txBody>
      </p:sp>
      <p:sp>
        <p:nvSpPr>
          <p:cNvPr id="21" name="text-20"/>
          <p:cNvSpPr txBox="1"/>
          <p:nvPr/>
        </p:nvSpPr>
        <p:spPr>
          <a:xfrm>
            <a:off x="1554480" y="388620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로맨틱 코미디 「신입사원이지만 아이돌입니다」</a:t>
            </a:r>
            <a:endParaRPr lang="en-US" sz="1450" dirty="0"/>
          </a:p>
        </p:txBody>
      </p:sp>
      <p:sp>
        <p:nvSpPr>
          <p:cNvPr id="22" name="text-21"/>
          <p:cNvSpPr txBox="1"/>
          <p:nvPr/>
        </p:nvSpPr>
        <p:spPr>
          <a:xfrm>
            <a:off x="640080" y="43891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CH.02</a:t>
            </a:r>
            <a:endParaRPr lang="en-US" sz="1300" dirty="0"/>
          </a:p>
        </p:txBody>
      </p:sp>
      <p:sp>
        <p:nvSpPr>
          <p:cNvPr id="23" name="text-22"/>
          <p:cNvSpPr txBox="1"/>
          <p:nvPr/>
        </p:nvSpPr>
        <p:spPr>
          <a:xfrm>
            <a:off x="1554480" y="43891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 「10MOO」</a:t>
            </a:r>
            <a:endParaRPr lang="en-US" sz="1450" dirty="0"/>
          </a:p>
        </p:txBody>
      </p:sp>
      <p:sp>
        <p:nvSpPr>
          <p:cNvPr id="24" name="text-23"/>
          <p:cNvSpPr txBox="1"/>
          <p:nvPr/>
        </p:nvSpPr>
        <p:spPr>
          <a:xfrm>
            <a:off x="640080" y="4892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CH.03</a:t>
            </a:r>
            <a:endParaRPr lang="en-US" sz="1300" dirty="0"/>
          </a:p>
        </p:txBody>
      </p:sp>
      <p:sp>
        <p:nvSpPr>
          <p:cNvPr id="25" name="text-24"/>
          <p:cNvSpPr txBox="1"/>
          <p:nvPr/>
        </p:nvSpPr>
        <p:spPr>
          <a:xfrm>
            <a:off x="1554480" y="489204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칸쵸 × 포켓몬 TVC 콘티 「잡았다! 피카츄」</a:t>
            </a:r>
            <a:endParaRPr lang="en-US" sz="1450" dirty="0"/>
          </a:p>
        </p:txBody>
      </p:sp>
      <p:sp>
        <p:nvSpPr>
          <p:cNvPr id="26" name="text-25"/>
          <p:cNvSpPr txBox="1"/>
          <p:nvPr/>
        </p:nvSpPr>
        <p:spPr>
          <a:xfrm>
            <a:off x="640080" y="6126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8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매력일자리 AI 콘텐츠 크리에이터 양성과정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office-26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7"/>
          <p:cNvSpPr/>
          <p:nvPr/>
        </p:nvSpPr>
        <p:spPr>
          <a:xfrm>
            <a:off x="640080" y="420624"/>
            <a:ext cx="1078992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4" name="marker-28"/>
          <p:cNvSpPr txBox="1"/>
          <p:nvPr/>
        </p:nvSpPr>
        <p:spPr>
          <a:xfrm>
            <a:off x="685800" y="32918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700" dirty="0"/>
          </a:p>
        </p:txBody>
      </p:sp>
      <p:sp>
        <p:nvSpPr>
          <p:cNvPr id="6" name="rect-29"/>
          <p:cNvSpPr/>
          <p:nvPr/>
        </p:nvSpPr>
        <p:spPr>
          <a:xfrm rot="-120000">
            <a:off x="731520" y="1691640"/>
            <a:ext cx="3337560" cy="4343400"/>
          </a:xfrm>
          <a:prstGeom prst="rect">
            <a:avLst/>
          </a:prstGeom>
          <a:solidFill>
            <a:srgbClr val="FFE14D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rect-30"/>
          <p:cNvSpPr/>
          <p:nvPr/>
        </p:nvSpPr>
        <p:spPr>
          <a:xfrm rot="-240000">
            <a:off x="2057400" y="1572768"/>
            <a:ext cx="685800" cy="237744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text-31"/>
          <p:cNvSpPr txBox="1"/>
          <p:nvPr/>
        </p:nvSpPr>
        <p:spPr>
          <a:xfrm>
            <a:off x="100584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</a:t>
            </a:r>
            <a:endParaRPr lang="en-US" sz="1500" dirty="0"/>
          </a:p>
        </p:txBody>
      </p:sp>
      <p:pic>
        <p:nvPicPr>
          <p:cNvPr id="9" name="img-c02-32" descr="신입사원이지만 아이돌입니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20233"/>
            <a:ext cx="2788920" cy="1331733"/>
          </a:xfrm>
          <a:prstGeom prst="rect">
            <a:avLst/>
          </a:prstGeom>
        </p:spPr>
      </p:pic>
      <p:sp>
        <p:nvSpPr>
          <p:cNvPr id="10" name="text-33"/>
          <p:cNvSpPr txBox="1"/>
          <p:nvPr/>
        </p:nvSpPr>
        <p:spPr>
          <a:xfrm>
            <a:off x="1005840" y="4023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신입사원이지만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아이돌입니다</a:t>
            </a:r>
            <a:endParaRPr lang="en-US" sz="1900" dirty="0"/>
          </a:p>
        </p:txBody>
      </p:sp>
      <p:sp>
        <p:nvSpPr>
          <p:cNvPr id="11" name="text-34"/>
          <p:cNvSpPr txBox="1"/>
          <p:nvPr/>
        </p:nvSpPr>
        <p:spPr>
          <a:xfrm>
            <a:off x="1005840" y="5074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로맨틱 코미디 / 아이돌 성장물</a:t>
            </a:r>
            <a:endParaRPr lang="en-US" sz="1200" dirty="0"/>
          </a:p>
        </p:txBody>
      </p:sp>
      <p:sp>
        <p:nvSpPr>
          <p:cNvPr id="12" name="rect-35"/>
          <p:cNvSpPr/>
          <p:nvPr/>
        </p:nvSpPr>
        <p:spPr>
          <a:xfrm rot="90000">
            <a:off x="4434840" y="1691640"/>
            <a:ext cx="3337560" cy="4343400"/>
          </a:xfrm>
          <a:prstGeom prst="rect">
            <a:avLst/>
          </a:prstGeom>
          <a:solidFill>
            <a:srgbClr val="CFE0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3" name="rect-36"/>
          <p:cNvSpPr/>
          <p:nvPr/>
        </p:nvSpPr>
        <p:spPr>
          <a:xfrm rot="180000">
            <a:off x="5760720" y="1572768"/>
            <a:ext cx="685800" cy="237744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text-37"/>
          <p:cNvSpPr txBox="1"/>
          <p:nvPr/>
        </p:nvSpPr>
        <p:spPr>
          <a:xfrm>
            <a:off x="470916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CH.02</a:t>
            </a:r>
            <a:endParaRPr lang="en-US" sz="1500" dirty="0"/>
          </a:p>
        </p:txBody>
      </p:sp>
      <p:pic>
        <p:nvPicPr>
          <p:cNvPr id="15" name="img-10moo_04master-38" descr="10MO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286000"/>
            <a:ext cx="1600200" cy="1600200"/>
          </a:xfrm>
          <a:prstGeom prst="rect">
            <a:avLst/>
          </a:prstGeom>
        </p:spPr>
      </p:pic>
      <p:sp>
        <p:nvSpPr>
          <p:cNvPr id="16" name="text-39"/>
          <p:cNvSpPr txBox="1"/>
          <p:nvPr/>
        </p:nvSpPr>
        <p:spPr>
          <a:xfrm>
            <a:off x="4709160" y="4023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10MOO</a:t>
            </a:r>
            <a:endParaRPr lang="en-US" sz="1900" dirty="0"/>
          </a:p>
        </p:txBody>
      </p:sp>
      <p:sp>
        <p:nvSpPr>
          <p:cNvPr id="17" name="text-40"/>
          <p:cNvSpPr txBox="1"/>
          <p:nvPr/>
        </p:nvSpPr>
        <p:spPr>
          <a:xfrm>
            <a:off x="4709160" y="5074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 / 캐릭터 시트 / 이모티콘</a:t>
            </a:r>
            <a:endParaRPr lang="en-US" sz="1200" dirty="0"/>
          </a:p>
        </p:txBody>
      </p:sp>
      <p:sp>
        <p:nvSpPr>
          <p:cNvPr id="18" name="rect-41"/>
          <p:cNvSpPr/>
          <p:nvPr/>
        </p:nvSpPr>
        <p:spPr>
          <a:xfrm rot="-60000">
            <a:off x="8138160" y="1691640"/>
            <a:ext cx="3337560" cy="4343400"/>
          </a:xfrm>
          <a:prstGeom prst="rect">
            <a:avLst/>
          </a:prstGeom>
          <a:solidFill>
            <a:srgbClr val="FFD9B3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9" name="rect-42"/>
          <p:cNvSpPr/>
          <p:nvPr/>
        </p:nvSpPr>
        <p:spPr>
          <a:xfrm rot="-120000">
            <a:off x="9464040" y="1572768"/>
            <a:ext cx="685800" cy="237744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text-43"/>
          <p:cNvSpPr txBox="1"/>
          <p:nvPr/>
        </p:nvSpPr>
        <p:spPr>
          <a:xfrm>
            <a:off x="84124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CH.03</a:t>
            </a:r>
            <a:endParaRPr lang="en-US" sz="1500" dirty="0"/>
          </a:p>
        </p:txBody>
      </p:sp>
      <p:pic>
        <p:nvPicPr>
          <p:cNvPr id="21" name="img-sb_c8-44" descr="칸쵸 × 포켓몬 「잡았다! 피카츄」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309187"/>
            <a:ext cx="2788920" cy="1553827"/>
          </a:xfrm>
          <a:prstGeom prst="rect">
            <a:avLst/>
          </a:prstGeom>
        </p:spPr>
      </p:pic>
      <p:sp>
        <p:nvSpPr>
          <p:cNvPr id="22" name="text-45"/>
          <p:cNvSpPr txBox="1"/>
          <p:nvPr/>
        </p:nvSpPr>
        <p:spPr>
          <a:xfrm>
            <a:off x="8412480" y="4023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칸쵸 × 포켓몬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「잡았다! 피카츄」</a:t>
            </a:r>
            <a:endParaRPr lang="en-US" sz="1900" dirty="0"/>
          </a:p>
        </p:txBody>
      </p:sp>
      <p:sp>
        <p:nvSpPr>
          <p:cNvPr id="23" name="text-46"/>
          <p:cNvSpPr txBox="1"/>
          <p:nvPr/>
        </p:nvSpPr>
        <p:spPr>
          <a:xfrm>
            <a:off x="8412480" y="5074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TVC 콘티 / 숏폼 광고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office-47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48"/>
          <p:cNvSpPr/>
          <p:nvPr/>
        </p:nvSpPr>
        <p:spPr>
          <a:xfrm>
            <a:off x="640080" y="420624"/>
            <a:ext cx="978408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4" name="marker-49"/>
          <p:cNvSpPr txBox="1"/>
          <p:nvPr/>
        </p:nvSpPr>
        <p:spPr>
          <a:xfrm>
            <a:off x="685800" y="329184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기획부터 프로덕션 스크립트까지 설계하는 역량</a:t>
            </a:r>
            <a:endParaRPr lang="en-US" sz="2700" dirty="0"/>
          </a:p>
        </p:txBody>
      </p:sp>
      <p:sp>
        <p:nvSpPr>
          <p:cNvPr id="6" name="rect-50"/>
          <p:cNvSpPr/>
          <p:nvPr/>
        </p:nvSpPr>
        <p:spPr>
          <a:xfrm>
            <a:off x="640080" y="1783080"/>
            <a:ext cx="25603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rect-51"/>
          <p:cNvSpPr/>
          <p:nvPr/>
        </p:nvSpPr>
        <p:spPr>
          <a:xfrm>
            <a:off x="640080" y="1783080"/>
            <a:ext cx="2560320" cy="45720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8" name="text-52"/>
          <p:cNvSpPr txBox="1"/>
          <p:nvPr/>
        </p:nvSpPr>
        <p:spPr>
          <a:xfrm>
            <a:off x="868680" y="1847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-53"/>
          <p:cNvSpPr txBox="1"/>
          <p:nvPr/>
        </p:nvSpPr>
        <p:spPr>
          <a:xfrm>
            <a:off x="86868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시리즈 기획</a:t>
            </a:r>
            <a:endParaRPr lang="en-US" sz="1900" dirty="0"/>
          </a:p>
        </p:txBody>
      </p:sp>
      <p:sp>
        <p:nvSpPr>
          <p:cNvPr id="10" name="text-54"/>
          <p:cNvSpPr txBox="1"/>
          <p:nvPr/>
        </p:nvSpPr>
        <p:spPr>
          <a:xfrm>
            <a:off x="868680" y="310896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100화 분량의 웹 애니메이션 세계관과 캐릭터 관계도 설계</a:t>
            </a:r>
            <a:endParaRPr lang="en-US" sz="1400" dirty="0"/>
          </a:p>
        </p:txBody>
      </p:sp>
      <p:sp>
        <p:nvSpPr>
          <p:cNvPr id="11" name="rect-55"/>
          <p:cNvSpPr/>
          <p:nvPr/>
        </p:nvSpPr>
        <p:spPr>
          <a:xfrm>
            <a:off x="3383280" y="1783080"/>
            <a:ext cx="25603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rect-56"/>
          <p:cNvSpPr/>
          <p:nvPr/>
        </p:nvSpPr>
        <p:spPr>
          <a:xfrm>
            <a:off x="3383280" y="1783080"/>
            <a:ext cx="2560320" cy="457200"/>
          </a:xfrm>
          <a:prstGeom prst="rect">
            <a:avLst/>
          </a:prstGeom>
          <a:solidFill>
            <a:srgbClr val="8FB0F2"/>
          </a:solidFill>
          <a:ln/>
        </p:spPr>
      </p:sp>
      <p:sp>
        <p:nvSpPr>
          <p:cNvPr id="13" name="text-57"/>
          <p:cNvSpPr txBox="1"/>
          <p:nvPr/>
        </p:nvSpPr>
        <p:spPr>
          <a:xfrm>
            <a:off x="3611880" y="1847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-58"/>
          <p:cNvSpPr txBox="1"/>
          <p:nvPr/>
        </p:nvSpPr>
        <p:spPr>
          <a:xfrm>
            <a:off x="361188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스크립트</a:t>
            </a:r>
            <a:endParaRPr lang="en-US" sz="1900" dirty="0"/>
          </a:p>
        </p:txBody>
      </p:sp>
      <p:sp>
        <p:nvSpPr>
          <p:cNvPr id="15" name="text-59"/>
          <p:cNvSpPr txBox="1"/>
          <p:nvPr/>
        </p:nvSpPr>
        <p:spPr>
          <a:xfrm>
            <a:off x="3611880" y="310896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샷 / 구도 / 카메라 / 지문 / 대사 규칙으로 AI 생성용 콘티 표준화</a:t>
            </a:r>
            <a:endParaRPr lang="en-US" sz="1400" dirty="0"/>
          </a:p>
        </p:txBody>
      </p:sp>
      <p:sp>
        <p:nvSpPr>
          <p:cNvPr id="16" name="rect-60"/>
          <p:cNvSpPr/>
          <p:nvPr/>
        </p:nvSpPr>
        <p:spPr>
          <a:xfrm>
            <a:off x="6126480" y="1783080"/>
            <a:ext cx="25603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7" name="rect-61"/>
          <p:cNvSpPr/>
          <p:nvPr/>
        </p:nvSpPr>
        <p:spPr>
          <a:xfrm>
            <a:off x="6126480" y="1783080"/>
            <a:ext cx="2560320" cy="457200"/>
          </a:xfrm>
          <a:prstGeom prst="rect">
            <a:avLst/>
          </a:prstGeom>
          <a:solidFill>
            <a:srgbClr val="CFE0FF"/>
          </a:solidFill>
          <a:ln/>
        </p:spPr>
      </p:sp>
      <p:sp>
        <p:nvSpPr>
          <p:cNvPr id="18" name="text-62"/>
          <p:cNvSpPr txBox="1"/>
          <p:nvPr/>
        </p:nvSpPr>
        <p:spPr>
          <a:xfrm>
            <a:off x="6355080" y="1847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-63"/>
          <p:cNvSpPr txBox="1"/>
          <p:nvPr/>
        </p:nvSpPr>
        <p:spPr>
          <a:xfrm>
            <a:off x="635508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디자인</a:t>
            </a:r>
            <a:endParaRPr lang="en-US" sz="1900" dirty="0"/>
          </a:p>
        </p:txBody>
      </p:sp>
      <p:sp>
        <p:nvSpPr>
          <p:cNvPr id="20" name="text-64"/>
          <p:cNvSpPr txBox="1"/>
          <p:nvPr/>
        </p:nvSpPr>
        <p:spPr>
          <a:xfrm>
            <a:off x="6355080" y="310896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5패널 턴어라운드와 의상 변형 시트로 캐릭터 일관성 확보</a:t>
            </a:r>
            <a:endParaRPr lang="en-US" sz="1400" dirty="0"/>
          </a:p>
        </p:txBody>
      </p:sp>
      <p:sp>
        <p:nvSpPr>
          <p:cNvPr id="21" name="rect-65"/>
          <p:cNvSpPr/>
          <p:nvPr/>
        </p:nvSpPr>
        <p:spPr>
          <a:xfrm>
            <a:off x="8869680" y="1783080"/>
            <a:ext cx="25603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2" name="rect-66"/>
          <p:cNvSpPr/>
          <p:nvPr/>
        </p:nvSpPr>
        <p:spPr>
          <a:xfrm>
            <a:off x="8869680" y="1783080"/>
            <a:ext cx="2560320" cy="457200"/>
          </a:xfrm>
          <a:prstGeom prst="rect">
            <a:avLst/>
          </a:prstGeom>
          <a:solidFill>
            <a:srgbClr val="FFD9B3"/>
          </a:solidFill>
          <a:ln/>
        </p:spPr>
      </p:sp>
      <p:sp>
        <p:nvSpPr>
          <p:cNvPr id="23" name="text-67"/>
          <p:cNvSpPr txBox="1"/>
          <p:nvPr/>
        </p:nvSpPr>
        <p:spPr>
          <a:xfrm>
            <a:off x="9098280" y="1847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-68"/>
          <p:cNvSpPr txBox="1"/>
          <p:nvPr/>
        </p:nvSpPr>
        <p:spPr>
          <a:xfrm>
            <a:off x="909828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콘티</a:t>
            </a:r>
            <a:endParaRPr lang="en-US" sz="1900" dirty="0"/>
          </a:p>
        </p:txBody>
      </p:sp>
      <p:sp>
        <p:nvSpPr>
          <p:cNvPr id="25" name="text-69"/>
          <p:cNvSpPr txBox="1"/>
          <p:nvPr/>
        </p:nvSpPr>
        <p:spPr>
          <a:xfrm>
            <a:off x="9098280" y="310896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제품과 IP를 결합한 TVC 콘티로 컷별 리듬과 카피 설계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1_bg-70" descr="챕터 대표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71"/>
          <p:cNvSpPr/>
          <p:nvPr/>
        </p:nvSpPr>
        <p:spPr>
          <a:xfrm rot="-360000">
            <a:off x="2359152" y="0"/>
            <a:ext cx="384048" cy="137160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4" name="rect-72"/>
          <p:cNvSpPr/>
          <p:nvPr/>
        </p:nvSpPr>
        <p:spPr>
          <a:xfrm rot="360000">
            <a:off x="3108960" y="0"/>
            <a:ext cx="384048" cy="137160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5" name="rect-73"/>
          <p:cNvSpPr/>
          <p:nvPr/>
        </p:nvSpPr>
        <p:spPr>
          <a:xfrm>
            <a:off x="2633472" y="914400"/>
            <a:ext cx="585216" cy="411480"/>
          </a:xfrm>
          <a:prstGeom prst="roundRect">
            <a:avLst>
              <a:gd name="adj" fmla="val 17778"/>
            </a:avLst>
          </a:prstGeom>
          <a:solidFill>
            <a:srgbClr val="AEB3BD"/>
          </a:solidFill>
          <a:ln/>
        </p:spPr>
      </p:sp>
      <p:sp>
        <p:nvSpPr>
          <p:cNvPr id="6" name="rect-74"/>
          <p:cNvSpPr/>
          <p:nvPr/>
        </p:nvSpPr>
        <p:spPr>
          <a:xfrm>
            <a:off x="1234440" y="1143000"/>
            <a:ext cx="3383280" cy="4804258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rect-75"/>
          <p:cNvSpPr/>
          <p:nvPr/>
        </p:nvSpPr>
        <p:spPr>
          <a:xfrm>
            <a:off x="1234440" y="1143000"/>
            <a:ext cx="3383280" cy="566928"/>
          </a:xfrm>
          <a:prstGeom prst="roundRect">
            <a:avLst>
              <a:gd name="adj" fmla="val 22581"/>
            </a:avLst>
          </a:prstGeom>
          <a:solidFill>
            <a:srgbClr val="FFE14D"/>
          </a:solidFill>
          <a:ln/>
        </p:spPr>
      </p:sp>
      <p:sp>
        <p:nvSpPr>
          <p:cNvPr id="8" name="rect-76"/>
          <p:cNvSpPr/>
          <p:nvPr/>
        </p:nvSpPr>
        <p:spPr>
          <a:xfrm>
            <a:off x="1234440" y="1472184"/>
            <a:ext cx="3383280" cy="237744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9" name="text-77"/>
          <p:cNvSpPr txBox="1"/>
          <p:nvPr/>
        </p:nvSpPr>
        <p:spPr>
          <a:xfrm>
            <a:off x="1234440" y="121615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CONTENT CREATOR</a:t>
            </a:r>
            <a:endParaRPr lang="en-US" sz="1100" dirty="0"/>
          </a:p>
        </p:txBody>
      </p:sp>
      <p:sp>
        <p:nvSpPr>
          <p:cNvPr id="10" name="rect-78"/>
          <p:cNvSpPr/>
          <p:nvPr/>
        </p:nvSpPr>
        <p:spPr>
          <a:xfrm>
            <a:off x="2043684" y="1883664"/>
            <a:ext cx="1764792" cy="2328672"/>
          </a:xfrm>
          <a:prstGeom prst="rect">
            <a:avLst/>
          </a:prstGeom>
          <a:solidFill>
            <a:srgbClr val="E2DED3"/>
          </a:solidFill>
          <a:ln/>
        </p:spPr>
      </p:sp>
      <p:pic>
        <p:nvPicPr>
          <p:cNvPr id="11" name="badge-photo-79" descr="나신입 사원증 사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1920240"/>
            <a:ext cx="1691640" cy="2255520"/>
          </a:xfrm>
          <a:prstGeom prst="rect">
            <a:avLst/>
          </a:prstGeom>
        </p:spPr>
      </p:pic>
      <p:sp>
        <p:nvSpPr>
          <p:cNvPr id="12" name="text-80"/>
          <p:cNvSpPr txBox="1"/>
          <p:nvPr/>
        </p:nvSpPr>
        <p:spPr>
          <a:xfrm>
            <a:off x="1234440" y="4267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 No. CH-01</a:t>
            </a:r>
            <a:endParaRPr lang="en-US" sz="1050" dirty="0"/>
          </a:p>
        </p:txBody>
      </p:sp>
      <p:sp>
        <p:nvSpPr>
          <p:cNvPr id="13" name="text-81"/>
          <p:cNvSpPr txBox="1"/>
          <p:nvPr/>
        </p:nvSpPr>
        <p:spPr>
          <a:xfrm>
            <a:off x="1371600" y="4541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나신입</a:t>
            </a:r>
            <a:endParaRPr lang="en-US" sz="2200" dirty="0"/>
          </a:p>
        </p:txBody>
      </p:sp>
      <p:sp>
        <p:nvSpPr>
          <p:cNvPr id="14" name="text-82"/>
          <p:cNvSpPr txBox="1"/>
          <p:nvPr/>
        </p:nvSpPr>
        <p:spPr>
          <a:xfrm>
            <a:off x="1371600" y="518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마케팅팀 / 신입사원</a:t>
            </a:r>
            <a:endParaRPr lang="en-US" sz="1050" dirty="0"/>
          </a:p>
        </p:txBody>
      </p:sp>
      <p:pic>
        <p:nvPicPr>
          <p:cNvPr id="15" name="barcode-83" descr="바코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509565"/>
            <a:ext cx="2560320" cy="273101"/>
          </a:xfrm>
          <a:prstGeom prst="rect">
            <a:avLst/>
          </a:prstGeom>
        </p:spPr>
      </p:pic>
      <p:sp>
        <p:nvSpPr>
          <p:cNvPr id="16" name="text-84"/>
          <p:cNvSpPr txBox="1"/>
          <p:nvPr/>
        </p:nvSpPr>
        <p:spPr>
          <a:xfrm>
            <a:off x="56692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FE1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01</a:t>
            </a:r>
            <a:endParaRPr lang="en-US" sz="1500" dirty="0"/>
          </a:p>
        </p:txBody>
      </p:sp>
      <p:sp>
        <p:nvSpPr>
          <p:cNvPr id="17" name="rect-85"/>
          <p:cNvSpPr/>
          <p:nvPr/>
        </p:nvSpPr>
        <p:spPr>
          <a:xfrm>
            <a:off x="5669280" y="2103120"/>
            <a:ext cx="822960" cy="73152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8" name="text-86"/>
          <p:cNvSpPr txBox="1"/>
          <p:nvPr/>
        </p:nvSpPr>
        <p:spPr>
          <a:xfrm>
            <a:off x="5669280" y="23774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신입사원이지만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아이돌입니다</a:t>
            </a:r>
            <a:endParaRPr lang="en-US" sz="4000" dirty="0"/>
          </a:p>
        </p:txBody>
      </p:sp>
      <p:sp>
        <p:nvSpPr>
          <p:cNvPr id="19" name="text-87"/>
          <p:cNvSpPr txBox="1"/>
          <p:nvPr/>
        </p:nvSpPr>
        <p:spPr>
          <a:xfrm>
            <a:off x="5669280" y="4434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4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해도 쟤네보단 낫겠다"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4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 취해 뱉은 한마디가 현실이 된 오피스 로맨틱 코미디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office-88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89"/>
          <p:cNvSpPr/>
          <p:nvPr/>
        </p:nvSpPr>
        <p:spPr>
          <a:xfrm>
            <a:off x="640080" y="420624"/>
            <a:ext cx="2386584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4" name="marker-90"/>
          <p:cNvSpPr txBox="1"/>
          <p:nvPr/>
        </p:nvSpPr>
        <p:spPr>
          <a:xfrm>
            <a:off x="685800" y="329184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신입사원이지만 아이돌입니다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회당 2분, 100화로 설계한 숏폼 웹 애니메이션</a:t>
            </a:r>
            <a:endParaRPr lang="en-US" sz="2700" dirty="0"/>
          </a:p>
        </p:txBody>
      </p:sp>
      <p:sp>
        <p:nvSpPr>
          <p:cNvPr id="6" name="rect-91"/>
          <p:cNvSpPr/>
          <p:nvPr/>
        </p:nvSpPr>
        <p:spPr>
          <a:xfrm>
            <a:off x="576072" y="1639062"/>
            <a:ext cx="3099816" cy="45857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g-still_all-92" descr="1화 S#2 스틸컷 모음, 9:16 세로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3070"/>
            <a:ext cx="2971800" cy="4457700"/>
          </a:xfrm>
          <a:prstGeom prst="rect">
            <a:avLst/>
          </a:prstGeom>
        </p:spPr>
      </p:pic>
      <p:sp>
        <p:nvSpPr>
          <p:cNvPr id="8" name="rect-93"/>
          <p:cNvSpPr/>
          <p:nvPr/>
        </p:nvSpPr>
        <p:spPr>
          <a:xfrm rot="-240000">
            <a:off x="1714500" y="1547622"/>
            <a:ext cx="822960" cy="237744"/>
          </a:xfrm>
          <a:prstGeom prst="rect">
            <a:avLst/>
          </a:prstGeom>
          <a:solidFill>
            <a:srgbClr val="FFE14D">
              <a:alpha val="75000"/>
            </a:srgbClr>
          </a:solidFill>
          <a:ln/>
        </p:spPr>
      </p:sp>
      <p:sp>
        <p:nvSpPr>
          <p:cNvPr id="9" name="rect-94"/>
          <p:cNvSpPr/>
          <p:nvPr/>
        </p:nvSpPr>
        <p:spPr>
          <a:xfrm>
            <a:off x="4023360" y="1783080"/>
            <a:ext cx="676656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10" name="marker-95"/>
          <p:cNvSpPr txBox="1"/>
          <p:nvPr/>
        </p:nvSpPr>
        <p:spPr>
          <a:xfrm>
            <a:off x="4069080" y="169164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로그라인</a:t>
            </a:r>
            <a:endParaRPr lang="en-US" sz="1150" dirty="0"/>
          </a:p>
        </p:txBody>
      </p:sp>
      <p:sp>
        <p:nvSpPr>
          <p:cNvPr id="11" name="text-96"/>
          <p:cNvSpPr txBox="1"/>
          <p:nvPr/>
        </p:nvSpPr>
        <p:spPr>
          <a:xfrm>
            <a:off x="4069080" y="2103120"/>
            <a:ext cx="7452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해도 쟤네보단 낫겠다" 술 취해 뱉은 한마디가 현실이 되었다! 여자 아이돌 홍보를 맡은 마케터 나신입, 까칠한 광고주 강도한 실장이 알고 보니 재벌 3세에 우리 회사 새 대표님?!</a:t>
            </a:r>
            <a:endParaRPr lang="en-US" sz="1500" dirty="0"/>
          </a:p>
        </p:txBody>
      </p:sp>
      <p:sp>
        <p:nvSpPr>
          <p:cNvPr id="12" name="rect-97"/>
          <p:cNvSpPr/>
          <p:nvPr/>
        </p:nvSpPr>
        <p:spPr>
          <a:xfrm>
            <a:off x="4069080" y="3474720"/>
            <a:ext cx="7452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13" name="rect-98"/>
          <p:cNvSpPr/>
          <p:nvPr/>
        </p:nvSpPr>
        <p:spPr>
          <a:xfrm>
            <a:off x="4069080" y="3474720"/>
            <a:ext cx="73152" cy="45720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4" name="text-99"/>
          <p:cNvSpPr txBox="1"/>
          <p:nvPr/>
        </p:nvSpPr>
        <p:spPr>
          <a:xfrm>
            <a:off x="4297680" y="3474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1250" dirty="0"/>
          </a:p>
        </p:txBody>
      </p:sp>
      <p:sp>
        <p:nvSpPr>
          <p:cNvPr id="15" name="text-100"/>
          <p:cNvSpPr txBox="1"/>
          <p:nvPr/>
        </p:nvSpPr>
        <p:spPr>
          <a:xfrm>
            <a:off x="5532120" y="3474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로맨틱 코미디 / 아이돌 성장물</a:t>
            </a:r>
            <a:endParaRPr lang="en-US" sz="1350" dirty="0"/>
          </a:p>
        </p:txBody>
      </p:sp>
      <p:sp>
        <p:nvSpPr>
          <p:cNvPr id="16" name="rect-101"/>
          <p:cNvSpPr/>
          <p:nvPr/>
        </p:nvSpPr>
        <p:spPr>
          <a:xfrm>
            <a:off x="4069080" y="4005072"/>
            <a:ext cx="7452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17" name="rect-102"/>
          <p:cNvSpPr/>
          <p:nvPr/>
        </p:nvSpPr>
        <p:spPr>
          <a:xfrm>
            <a:off x="4069080" y="4005072"/>
            <a:ext cx="73152" cy="457200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18" name="text-103"/>
          <p:cNvSpPr txBox="1"/>
          <p:nvPr/>
        </p:nvSpPr>
        <p:spPr>
          <a:xfrm>
            <a:off x="4297680" y="40050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250" dirty="0"/>
          </a:p>
        </p:txBody>
      </p:sp>
      <p:sp>
        <p:nvSpPr>
          <p:cNvPr id="19" name="text-104"/>
          <p:cNvSpPr txBox="1"/>
          <p:nvPr/>
        </p:nvSpPr>
        <p:spPr>
          <a:xfrm>
            <a:off x="5532120" y="400507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 여성 (공감 / 대리만족 / 설렘 포인트)</a:t>
            </a:r>
            <a:endParaRPr lang="en-US" sz="1350" dirty="0"/>
          </a:p>
        </p:txBody>
      </p:sp>
      <p:sp>
        <p:nvSpPr>
          <p:cNvPr id="20" name="rect-105"/>
          <p:cNvSpPr/>
          <p:nvPr/>
        </p:nvSpPr>
        <p:spPr>
          <a:xfrm>
            <a:off x="4069080" y="4535424"/>
            <a:ext cx="7452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21" name="rect-106"/>
          <p:cNvSpPr/>
          <p:nvPr/>
        </p:nvSpPr>
        <p:spPr>
          <a:xfrm>
            <a:off x="4069080" y="4535424"/>
            <a:ext cx="73152" cy="45720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22" name="text-107"/>
          <p:cNvSpPr txBox="1"/>
          <p:nvPr/>
        </p:nvSpPr>
        <p:spPr>
          <a:xfrm>
            <a:off x="4297680" y="45354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250" dirty="0"/>
          </a:p>
        </p:txBody>
      </p:sp>
      <p:sp>
        <p:nvSpPr>
          <p:cNvPr id="23" name="text-108"/>
          <p:cNvSpPr txBox="1"/>
          <p:nvPr/>
        </p:nvSpPr>
        <p:spPr>
          <a:xfrm>
            <a:off x="5532120" y="453542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 본편 / 틱톡 · 릴스 · 숏츠 예고편 및 홍보</a:t>
            </a:r>
            <a:endParaRPr lang="en-US" sz="1350" dirty="0"/>
          </a:p>
        </p:txBody>
      </p:sp>
      <p:sp>
        <p:nvSpPr>
          <p:cNvPr id="24" name="rect-109"/>
          <p:cNvSpPr/>
          <p:nvPr/>
        </p:nvSpPr>
        <p:spPr>
          <a:xfrm>
            <a:off x="4069080" y="5065776"/>
            <a:ext cx="7452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25" name="rect-110"/>
          <p:cNvSpPr/>
          <p:nvPr/>
        </p:nvSpPr>
        <p:spPr>
          <a:xfrm>
            <a:off x="4069080" y="5065776"/>
            <a:ext cx="73152" cy="457200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26" name="text-111"/>
          <p:cNvSpPr txBox="1"/>
          <p:nvPr/>
        </p:nvSpPr>
        <p:spPr>
          <a:xfrm>
            <a:off x="4297680" y="50657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러닝타임</a:t>
            </a:r>
            <a:endParaRPr lang="en-US" sz="1250" dirty="0"/>
          </a:p>
        </p:txBody>
      </p:sp>
      <p:sp>
        <p:nvSpPr>
          <p:cNvPr id="27" name="text-112"/>
          <p:cNvSpPr txBox="1"/>
          <p:nvPr/>
        </p:nvSpPr>
        <p:spPr>
          <a:xfrm>
            <a:off x="5532120" y="506577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회당 약 2분 내외, 총 100화</a:t>
            </a:r>
            <a:endParaRPr lang="en-US" sz="1350" dirty="0"/>
          </a:p>
        </p:txBody>
      </p:sp>
      <p:sp>
        <p:nvSpPr>
          <p:cNvPr id="28" name="rect-113"/>
          <p:cNvSpPr/>
          <p:nvPr/>
        </p:nvSpPr>
        <p:spPr>
          <a:xfrm>
            <a:off x="4069080" y="5596128"/>
            <a:ext cx="7452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29" name="rect-114"/>
          <p:cNvSpPr/>
          <p:nvPr/>
        </p:nvSpPr>
        <p:spPr>
          <a:xfrm>
            <a:off x="4069080" y="5596128"/>
            <a:ext cx="73152" cy="45720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30" name="text-115"/>
          <p:cNvSpPr txBox="1"/>
          <p:nvPr/>
        </p:nvSpPr>
        <p:spPr>
          <a:xfrm>
            <a:off x="4297680" y="5596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250" dirty="0"/>
          </a:p>
        </p:txBody>
      </p:sp>
      <p:sp>
        <p:nvSpPr>
          <p:cNvPr id="31" name="text-116"/>
          <p:cNvSpPr txBox="1"/>
          <p:nvPr/>
        </p:nvSpPr>
        <p:spPr>
          <a:xfrm>
            <a:off x="5532120" y="55961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9:16 세로 / 일본 2D 셀 애니메이션 룩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ight-117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18"/>
          <p:cNvSpPr/>
          <p:nvPr/>
        </p:nvSpPr>
        <p:spPr>
          <a:xfrm>
            <a:off x="640080" y="420624"/>
            <a:ext cx="2386584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4" name="marker-119"/>
          <p:cNvSpPr txBox="1"/>
          <p:nvPr/>
        </p:nvSpPr>
        <p:spPr>
          <a:xfrm>
            <a:off x="685800" y="329184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신입사원이지만 아이돌입니다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사무실과 무대 사이의 '갭(Gap)'이 만드는 재미</a:t>
            </a:r>
            <a:endParaRPr lang="en-US" sz="2700" dirty="0"/>
          </a:p>
        </p:txBody>
      </p:sp>
      <p:sp>
        <p:nvSpPr>
          <p:cNvPr id="6" name="rect-120"/>
          <p:cNvSpPr/>
          <p:nvPr/>
        </p:nvSpPr>
        <p:spPr>
          <a:xfrm rot="-90000">
            <a:off x="640080" y="1737360"/>
            <a:ext cx="5486400" cy="2103120"/>
          </a:xfrm>
          <a:prstGeom prst="rect">
            <a:avLst/>
          </a:prstGeom>
          <a:solidFill>
            <a:srgbClr val="FFE14D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-121"/>
          <p:cNvSpPr txBox="1"/>
          <p:nvPr/>
        </p:nvSpPr>
        <p:spPr>
          <a:xfrm>
            <a:off x="960120" y="19659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해도 더 잘하겠다"는 흔한 생각을</a:t>
            </a:r>
            <a:endParaRPr lang="en-US" sz="2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진짜로 밀어붙인 이야기</a:t>
            </a:r>
            <a:endParaRPr lang="en-US" sz="2100" dirty="0"/>
          </a:p>
        </p:txBody>
      </p:sp>
      <p:sp>
        <p:nvSpPr>
          <p:cNvPr id="8" name="text-122"/>
          <p:cNvSpPr txBox="1"/>
          <p:nvPr/>
        </p:nvSpPr>
        <p:spPr>
          <a:xfrm>
            <a:off x="9601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기획의도 중</a:t>
            </a:r>
            <a:endParaRPr lang="en-US" sz="1100" dirty="0"/>
          </a:p>
        </p:txBody>
      </p:sp>
      <p:sp>
        <p:nvSpPr>
          <p:cNvPr id="9" name="rect-123"/>
          <p:cNvSpPr/>
          <p:nvPr/>
        </p:nvSpPr>
        <p:spPr>
          <a:xfrm>
            <a:off x="6492240" y="1884363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E14D"/>
          </a:solidFill>
          <a:ln/>
        </p:spPr>
      </p:sp>
      <p:sp>
        <p:nvSpPr>
          <p:cNvPr id="10" name="bullet-124"/>
          <p:cNvSpPr txBox="1"/>
          <p:nvPr/>
        </p:nvSpPr>
        <p:spPr>
          <a:xfrm>
            <a:off x="6784848" y="1783080"/>
            <a:ext cx="4736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하루를 보내는 시청자에게 "나도 저랬으면" 하는 대리만족 제공</a:t>
            </a:r>
            <a:endParaRPr lang="en-US" sz="1450" dirty="0"/>
          </a:p>
        </p:txBody>
      </p:sp>
      <p:sp>
        <p:nvSpPr>
          <p:cNvPr id="11" name="rect-125"/>
          <p:cNvSpPr/>
          <p:nvPr/>
        </p:nvSpPr>
        <p:spPr>
          <a:xfrm>
            <a:off x="6492240" y="2753043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E14D"/>
          </a:solidFill>
          <a:ln/>
        </p:spPr>
      </p:sp>
      <p:sp>
        <p:nvSpPr>
          <p:cNvPr id="12" name="bullet-126"/>
          <p:cNvSpPr txBox="1"/>
          <p:nvPr/>
        </p:nvSpPr>
        <p:spPr>
          <a:xfrm>
            <a:off x="6784848" y="2651760"/>
            <a:ext cx="4736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까칠한 광고주의 숨은 호감과 재벌 3세 반전으로 현실 공감과 설렘을 동시에 축적</a:t>
            </a:r>
            <a:endParaRPr lang="en-US" sz="1450" dirty="0"/>
          </a:p>
        </p:txBody>
      </p:sp>
      <p:sp>
        <p:nvSpPr>
          <p:cNvPr id="13" name="rect-127"/>
          <p:cNvSpPr/>
          <p:nvPr/>
        </p:nvSpPr>
        <p:spPr>
          <a:xfrm>
            <a:off x="6492240" y="3621723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E14D"/>
          </a:solidFill>
          <a:ln/>
        </p:spPr>
      </p:sp>
      <p:sp>
        <p:nvSpPr>
          <p:cNvPr id="14" name="bullet-128"/>
          <p:cNvSpPr txBox="1"/>
          <p:nvPr/>
        </p:nvSpPr>
        <p:spPr>
          <a:xfrm>
            <a:off x="6784848" y="3520440"/>
            <a:ext cx="4736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눈치 보는 신입이 무대 위 아이돌로 바뀌는 갭으로 오피스물 / 아이돌물 두 팬층 공략</a:t>
            </a:r>
            <a:endParaRPr lang="en-US" sz="1450" dirty="0"/>
          </a:p>
        </p:txBody>
      </p:sp>
      <p:pic>
        <p:nvPicPr>
          <p:cNvPr id="15" name="img-c11-129" descr="분한 표정으로 각오를 다지는 나신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00" y="4251960"/>
            <a:ext cx="5482361" cy="1755648"/>
          </a:xfrm>
          <a:prstGeom prst="rect">
            <a:avLst/>
          </a:prstGeom>
        </p:spPr>
      </p:pic>
      <p:sp>
        <p:nvSpPr>
          <p:cNvPr id="16" name="rect-130"/>
          <p:cNvSpPr/>
          <p:nvPr/>
        </p:nvSpPr>
        <p:spPr>
          <a:xfrm>
            <a:off x="640080" y="4251960"/>
            <a:ext cx="5486400" cy="1755648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3C4250"/>
            </a:solidFill>
            <a:prstDash val="solid"/>
          </a:ln>
        </p:spPr>
      </p:sp>
      <p:sp>
        <p:nvSpPr>
          <p:cNvPr id="17" name="text-131"/>
          <p:cNvSpPr txBox="1"/>
          <p:nvPr/>
        </p:nvSpPr>
        <p:spPr>
          <a:xfrm>
            <a:off x="6492240" y="5669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8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S#2 C#11  분한 표정의 나신입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29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office-132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33"/>
          <p:cNvSpPr/>
          <p:nvPr/>
        </p:nvSpPr>
        <p:spPr>
          <a:xfrm>
            <a:off x="640080" y="420624"/>
            <a:ext cx="2386584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4" name="marker-134"/>
          <p:cNvSpPr txBox="1"/>
          <p:nvPr/>
        </p:nvSpPr>
        <p:spPr>
          <a:xfrm>
            <a:off x="685800" y="329184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신입사원이지만 아이돌입니다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캐릭터: 허당 신입과 까칠한 재벌 3세</a:t>
            </a:r>
            <a:endParaRPr lang="en-US" sz="2700" dirty="0"/>
          </a:p>
        </p:txBody>
      </p:sp>
      <p:sp>
        <p:nvSpPr>
          <p:cNvPr id="6" name="rect-135"/>
          <p:cNvSpPr/>
          <p:nvPr/>
        </p:nvSpPr>
        <p:spPr>
          <a:xfrm>
            <a:off x="929827" y="1627632"/>
            <a:ext cx="4724025" cy="31912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g-ch_na-136" descr="나신입 5패널 턴어라운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835" y="1691640"/>
            <a:ext cx="4596009" cy="3063240"/>
          </a:xfrm>
          <a:prstGeom prst="rect">
            <a:avLst/>
          </a:prstGeom>
        </p:spPr>
      </p:pic>
      <p:sp>
        <p:nvSpPr>
          <p:cNvPr id="8" name="rect-137"/>
          <p:cNvSpPr/>
          <p:nvPr/>
        </p:nvSpPr>
        <p:spPr>
          <a:xfrm rot="-240000">
            <a:off x="2880360" y="1536192"/>
            <a:ext cx="822960" cy="237744"/>
          </a:xfrm>
          <a:prstGeom prst="rect">
            <a:avLst/>
          </a:prstGeom>
          <a:solidFill>
            <a:srgbClr val="FFE14D">
              <a:alpha val="75000"/>
            </a:srgbClr>
          </a:solidFill>
          <a:ln/>
        </p:spPr>
      </p:sp>
      <p:sp>
        <p:nvSpPr>
          <p:cNvPr id="9" name="text-138"/>
          <p:cNvSpPr txBox="1"/>
          <p:nvPr/>
        </p:nvSpPr>
        <p:spPr>
          <a:xfrm>
            <a:off x="640080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나신입</a:t>
            </a:r>
            <a:endParaRPr lang="en-US" sz="2100" dirty="0"/>
          </a:p>
        </p:txBody>
      </p:sp>
      <p:sp>
        <p:nvSpPr>
          <p:cNvPr id="10" name="rect-139"/>
          <p:cNvSpPr/>
          <p:nvPr/>
        </p:nvSpPr>
        <p:spPr>
          <a:xfrm>
            <a:off x="1828800" y="5074920"/>
            <a:ext cx="3931920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11" name="marker-140"/>
          <p:cNvSpPr txBox="1"/>
          <p:nvPr/>
        </p:nvSpPr>
        <p:spPr>
          <a:xfrm>
            <a:off x="1874520" y="49834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24세 / 홍보대행사 마케팅팀 신입사원</a:t>
            </a:r>
            <a:endParaRPr lang="en-US" sz="1100" dirty="0"/>
          </a:p>
        </p:txBody>
      </p:sp>
      <p:sp>
        <p:nvSpPr>
          <p:cNvPr id="12" name="text-141"/>
          <p:cNvSpPr txBox="1"/>
          <p:nvPr/>
        </p:nvSpPr>
        <p:spPr>
          <a:xfrm>
            <a:off x="640080" y="5440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 덕후라 이론은 빠삭하지만 몸은 뚝딱이. 데뷔 후 센터 / 입덕요정</a:t>
            </a:r>
            <a:endParaRPr lang="en-US" sz="1250" dirty="0"/>
          </a:p>
        </p:txBody>
      </p:sp>
      <p:sp>
        <p:nvSpPr>
          <p:cNvPr id="13" name="rect-142"/>
          <p:cNvSpPr/>
          <p:nvPr/>
        </p:nvSpPr>
        <p:spPr>
          <a:xfrm>
            <a:off x="6461947" y="1627632"/>
            <a:ext cx="4724025" cy="31912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4" name="img-ch_kang-143" descr="강도한 5패널 턴어라운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955" y="1691640"/>
            <a:ext cx="4596009" cy="3063240"/>
          </a:xfrm>
          <a:prstGeom prst="rect">
            <a:avLst/>
          </a:prstGeom>
        </p:spPr>
      </p:pic>
      <p:sp>
        <p:nvSpPr>
          <p:cNvPr id="15" name="rect-144"/>
          <p:cNvSpPr/>
          <p:nvPr/>
        </p:nvSpPr>
        <p:spPr>
          <a:xfrm rot="-240000">
            <a:off x="8412480" y="1536192"/>
            <a:ext cx="822960" cy="237744"/>
          </a:xfrm>
          <a:prstGeom prst="rect">
            <a:avLst/>
          </a:prstGeom>
          <a:solidFill>
            <a:srgbClr val="BFD3FF">
              <a:alpha val="75000"/>
            </a:srgbClr>
          </a:solidFill>
          <a:ln/>
        </p:spPr>
      </p:sp>
      <p:sp>
        <p:nvSpPr>
          <p:cNvPr id="16" name="text-145"/>
          <p:cNvSpPr txBox="1"/>
          <p:nvPr/>
        </p:nvSpPr>
        <p:spPr>
          <a:xfrm>
            <a:off x="6172200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강도한</a:t>
            </a:r>
            <a:endParaRPr lang="en-US" sz="2100" dirty="0"/>
          </a:p>
        </p:txBody>
      </p:sp>
      <p:sp>
        <p:nvSpPr>
          <p:cNvPr id="17" name="rect-146"/>
          <p:cNvSpPr/>
          <p:nvPr/>
        </p:nvSpPr>
        <p:spPr>
          <a:xfrm>
            <a:off x="7360920" y="5074920"/>
            <a:ext cx="3931920" cy="201168"/>
          </a:xfrm>
          <a:prstGeom prst="rect">
            <a:avLst/>
          </a:prstGeom>
          <a:solidFill>
            <a:srgbClr val="2B59C3">
              <a:alpha val="40000"/>
            </a:srgbClr>
          </a:solidFill>
          <a:ln/>
        </p:spPr>
      </p:sp>
      <p:sp>
        <p:nvSpPr>
          <p:cNvPr id="18" name="marker-147"/>
          <p:cNvSpPr txBox="1"/>
          <p:nvPr/>
        </p:nvSpPr>
        <p:spPr>
          <a:xfrm>
            <a:off x="7406640" y="49834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32세 / 강엔터 실장, 강그룹 재벌 3세</a:t>
            </a:r>
            <a:endParaRPr lang="en-US" sz="1100" dirty="0"/>
          </a:p>
        </p:txBody>
      </p:sp>
      <p:sp>
        <p:nvSpPr>
          <p:cNvPr id="19" name="text-148"/>
          <p:cNvSpPr txBox="1"/>
          <p:nvPr/>
        </p:nvSpPr>
        <p:spPr>
          <a:xfrm>
            <a:off x="6172200" y="5440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차도남 + 집착남. 괴롭히면서 즐거워하는 초딩미, 고급 손목시계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office-149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50"/>
          <p:cNvSpPr/>
          <p:nvPr/>
        </p:nvSpPr>
        <p:spPr>
          <a:xfrm>
            <a:off x="640080" y="420624"/>
            <a:ext cx="2386584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4" name="marker-151"/>
          <p:cNvSpPr txBox="1"/>
          <p:nvPr/>
        </p:nvSpPr>
        <p:spPr>
          <a:xfrm>
            <a:off x="685800" y="329184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신입사원이지만 아이돌입니다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동료에서 아이돌 멤버로, 직급과 포지션의 이중 설정</a:t>
            </a:r>
            <a:endParaRPr lang="en-US" sz="2700" dirty="0"/>
          </a:p>
        </p:txBody>
      </p:sp>
      <p:sp>
        <p:nvSpPr>
          <p:cNvPr id="6" name="rect-152"/>
          <p:cNvSpPr/>
          <p:nvPr/>
        </p:nvSpPr>
        <p:spPr>
          <a:xfrm>
            <a:off x="577924" y="1627632"/>
            <a:ext cx="3599032" cy="2441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g-ch_park-153" descr="박과장 5패널 턴어라운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32" y="1691640"/>
            <a:ext cx="3471016" cy="2313432"/>
          </a:xfrm>
          <a:prstGeom prst="rect">
            <a:avLst/>
          </a:prstGeom>
        </p:spPr>
      </p:pic>
      <p:sp>
        <p:nvSpPr>
          <p:cNvPr id="8" name="text-154"/>
          <p:cNvSpPr txBox="1"/>
          <p:nvPr/>
        </p:nvSpPr>
        <p:spPr>
          <a:xfrm>
            <a:off x="640080" y="4206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박과장</a:t>
            </a:r>
            <a:endParaRPr lang="en-US" sz="1900" dirty="0"/>
          </a:p>
        </p:txBody>
      </p:sp>
      <p:sp>
        <p:nvSpPr>
          <p:cNvPr id="9" name="text-155"/>
          <p:cNvSpPr txBox="1"/>
          <p:nvPr/>
        </p:nvSpPr>
        <p:spPr>
          <a:xfrm>
            <a:off x="1828800" y="4261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마케팅팀 팀장</a:t>
            </a:r>
            <a:endParaRPr lang="en-US" sz="1150" dirty="0"/>
          </a:p>
        </p:txBody>
      </p:sp>
      <p:sp>
        <p:nvSpPr>
          <p:cNvPr id="10" name="rect-156"/>
          <p:cNvSpPr/>
          <p:nvPr/>
        </p:nvSpPr>
        <p:spPr>
          <a:xfrm>
            <a:off x="594360" y="4754880"/>
            <a:ext cx="2194560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11" name="marker-157"/>
          <p:cNvSpPr txBox="1"/>
          <p:nvPr/>
        </p:nvSpPr>
        <p:spPr>
          <a:xfrm>
            <a:off x="640080" y="46634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데뷔 후  메인보컬 &amp; 리더</a:t>
            </a:r>
            <a:endParaRPr lang="en-US" sz="1150" dirty="0"/>
          </a:p>
        </p:txBody>
      </p:sp>
      <p:sp>
        <p:nvSpPr>
          <p:cNvPr id="12" name="text-158"/>
          <p:cNvSpPr txBox="1"/>
          <p:nvPr/>
        </p:nvSpPr>
        <p:spPr>
          <a:xfrm>
            <a:off x="640080" y="5074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회식 노래방 고인물, 자꾸 나오는 트로트 뽕끼</a:t>
            </a:r>
            <a:endParaRPr lang="en-US" sz="1250" dirty="0"/>
          </a:p>
        </p:txBody>
      </p:sp>
      <p:sp>
        <p:nvSpPr>
          <p:cNvPr id="13" name="rect-159"/>
          <p:cNvSpPr/>
          <p:nvPr/>
        </p:nvSpPr>
        <p:spPr>
          <a:xfrm>
            <a:off x="4281244" y="1627632"/>
            <a:ext cx="3599032" cy="2441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4" name="img-ch_lee-160" descr="이대리 5패널 턴어라운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252" y="1691640"/>
            <a:ext cx="3471016" cy="2313432"/>
          </a:xfrm>
          <a:prstGeom prst="rect">
            <a:avLst/>
          </a:prstGeom>
        </p:spPr>
      </p:pic>
      <p:sp>
        <p:nvSpPr>
          <p:cNvPr id="15" name="text-161"/>
          <p:cNvSpPr txBox="1"/>
          <p:nvPr/>
        </p:nvSpPr>
        <p:spPr>
          <a:xfrm>
            <a:off x="4343400" y="4206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이대리</a:t>
            </a:r>
            <a:endParaRPr lang="en-US" sz="1900" dirty="0"/>
          </a:p>
        </p:txBody>
      </p:sp>
      <p:sp>
        <p:nvSpPr>
          <p:cNvPr id="16" name="text-162"/>
          <p:cNvSpPr txBox="1"/>
          <p:nvPr/>
        </p:nvSpPr>
        <p:spPr>
          <a:xfrm>
            <a:off x="5532120" y="4261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디자인팀 디자이너</a:t>
            </a:r>
            <a:endParaRPr lang="en-US" sz="1150" dirty="0"/>
          </a:p>
        </p:txBody>
      </p:sp>
      <p:sp>
        <p:nvSpPr>
          <p:cNvPr id="17" name="rect-163"/>
          <p:cNvSpPr/>
          <p:nvPr/>
        </p:nvSpPr>
        <p:spPr>
          <a:xfrm>
            <a:off x="4297680" y="4754880"/>
            <a:ext cx="2194560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18" name="marker-164"/>
          <p:cNvSpPr txBox="1"/>
          <p:nvPr/>
        </p:nvSpPr>
        <p:spPr>
          <a:xfrm>
            <a:off x="4343400" y="46634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데뷔 후  비주얼</a:t>
            </a:r>
            <a:endParaRPr lang="en-US" sz="1150" dirty="0"/>
          </a:p>
        </p:txBody>
      </p:sp>
      <p:sp>
        <p:nvSpPr>
          <p:cNvPr id="19" name="text-165"/>
          <p:cNvSpPr txBox="1"/>
          <p:nvPr/>
        </p:nvSpPr>
        <p:spPr>
          <a:xfrm>
            <a:off x="4343400" y="5074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 도도 칼퇴 요정, 안경 벗으면 여신</a:t>
            </a:r>
            <a:endParaRPr lang="en-US" sz="1250" dirty="0"/>
          </a:p>
        </p:txBody>
      </p:sp>
      <p:sp>
        <p:nvSpPr>
          <p:cNvPr id="20" name="rect-166"/>
          <p:cNvSpPr/>
          <p:nvPr/>
        </p:nvSpPr>
        <p:spPr>
          <a:xfrm>
            <a:off x="7984564" y="1627632"/>
            <a:ext cx="3599032" cy="2441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21" name="img-ch_kim-167" descr="김인턴 5패널 턴어라운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572" y="1691640"/>
            <a:ext cx="3471016" cy="2313432"/>
          </a:xfrm>
          <a:prstGeom prst="rect">
            <a:avLst/>
          </a:prstGeom>
        </p:spPr>
      </p:pic>
      <p:sp>
        <p:nvSpPr>
          <p:cNvPr id="22" name="text-168"/>
          <p:cNvSpPr txBox="1"/>
          <p:nvPr/>
        </p:nvSpPr>
        <p:spPr>
          <a:xfrm>
            <a:off x="8046720" y="4206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김인턴</a:t>
            </a:r>
            <a:endParaRPr lang="en-US" sz="1900" dirty="0"/>
          </a:p>
        </p:txBody>
      </p:sp>
      <p:sp>
        <p:nvSpPr>
          <p:cNvPr id="23" name="text-169"/>
          <p:cNvSpPr txBox="1"/>
          <p:nvPr/>
        </p:nvSpPr>
        <p:spPr>
          <a:xfrm>
            <a:off x="9235440" y="4261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마케팅팀 인턴</a:t>
            </a:r>
            <a:endParaRPr lang="en-US" sz="1150" dirty="0"/>
          </a:p>
        </p:txBody>
      </p:sp>
      <p:sp>
        <p:nvSpPr>
          <p:cNvPr id="24" name="rect-170"/>
          <p:cNvSpPr/>
          <p:nvPr/>
        </p:nvSpPr>
        <p:spPr>
          <a:xfrm>
            <a:off x="8001000" y="4754880"/>
            <a:ext cx="2194560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25" name="marker-171"/>
          <p:cNvSpPr txBox="1"/>
          <p:nvPr/>
        </p:nvSpPr>
        <p:spPr>
          <a:xfrm>
            <a:off x="8046720" y="46634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데뷔 후  메인래퍼</a:t>
            </a:r>
            <a:endParaRPr lang="en-US" sz="1150" dirty="0"/>
          </a:p>
        </p:txBody>
      </p:sp>
      <p:sp>
        <p:nvSpPr>
          <p:cNvPr id="26" name="text-172"/>
          <p:cNvSpPr txBox="1"/>
          <p:nvPr/>
        </p:nvSpPr>
        <p:spPr>
          <a:xfrm>
            <a:off x="8046720" y="5074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MZ력 만렙 팩트 폭격기, 그 깡으로 하는 랩</a:t>
            </a:r>
            <a:endParaRPr lang="en-US" sz="1250" dirty="0"/>
          </a:p>
        </p:txBody>
      </p:sp>
      <p:sp>
        <p:nvSpPr>
          <p:cNvPr id="27" name="text-173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59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 내 캐릭터성을 무대 위 포지션으로 연결해 성장물의 재미 확보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ight-174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75"/>
          <p:cNvSpPr/>
          <p:nvPr/>
        </p:nvSpPr>
        <p:spPr>
          <a:xfrm>
            <a:off x="640080" y="420624"/>
            <a:ext cx="2386584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4" name="marker-176"/>
          <p:cNvSpPr txBox="1"/>
          <p:nvPr/>
        </p:nvSpPr>
        <p:spPr>
          <a:xfrm>
            <a:off x="685800" y="329184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신입사원이지만 아이돌입니다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회의실의 스케일 대비로 표현한 갑을 관계</a:t>
            </a:r>
            <a:endParaRPr lang="en-US" sz="2700" dirty="0"/>
          </a:p>
        </p:txBody>
      </p:sp>
      <p:sp>
        <p:nvSpPr>
          <p:cNvPr id="6" name="rect-177"/>
          <p:cNvSpPr/>
          <p:nvPr/>
        </p:nvSpPr>
        <p:spPr>
          <a:xfrm>
            <a:off x="576580" y="1627632"/>
            <a:ext cx="5476240" cy="3136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g-bg_agency_room-178" descr="홍보대행사 회의실 배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88" y="1691640"/>
            <a:ext cx="5348224" cy="3008376"/>
          </a:xfrm>
          <a:prstGeom prst="rect">
            <a:avLst/>
          </a:prstGeom>
        </p:spPr>
      </p:pic>
      <p:sp>
        <p:nvSpPr>
          <p:cNvPr id="8" name="rect-179"/>
          <p:cNvSpPr/>
          <p:nvPr/>
        </p:nvSpPr>
        <p:spPr>
          <a:xfrm>
            <a:off x="6108700" y="1627632"/>
            <a:ext cx="5476240" cy="3136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9" name="img-bg_kang_room-180" descr="강엔터 회의실 배경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708" y="1691640"/>
            <a:ext cx="5348224" cy="3008376"/>
          </a:xfrm>
          <a:prstGeom prst="rect">
            <a:avLst/>
          </a:prstGeom>
        </p:spPr>
      </p:pic>
      <p:sp>
        <p:nvSpPr>
          <p:cNvPr id="10" name="rect-181"/>
          <p:cNvSpPr/>
          <p:nvPr/>
        </p:nvSpPr>
        <p:spPr>
          <a:xfrm>
            <a:off x="594360" y="4937760"/>
            <a:ext cx="1920240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11" name="marker-182"/>
          <p:cNvSpPr txBox="1"/>
          <p:nvPr/>
        </p:nvSpPr>
        <p:spPr>
          <a:xfrm>
            <a:off x="640080" y="4846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홍보대행사 회의실</a:t>
            </a:r>
            <a:endParaRPr lang="en-US" sz="1150" dirty="0"/>
          </a:p>
        </p:txBody>
      </p:sp>
      <p:sp>
        <p:nvSpPr>
          <p:cNvPr id="12" name="rect-183"/>
          <p:cNvSpPr/>
          <p:nvPr/>
        </p:nvSpPr>
        <p:spPr>
          <a:xfrm>
            <a:off x="6126480" y="4937760"/>
            <a:ext cx="1645920" cy="201168"/>
          </a:xfrm>
          <a:prstGeom prst="rect">
            <a:avLst/>
          </a:prstGeom>
          <a:solidFill>
            <a:srgbClr val="8FB0F2">
              <a:alpha val="85000"/>
            </a:srgbClr>
          </a:solidFill>
          <a:ln/>
        </p:spPr>
      </p:sp>
      <p:sp>
        <p:nvSpPr>
          <p:cNvPr id="13" name="marker-184"/>
          <p:cNvSpPr txBox="1"/>
          <p:nvPr/>
        </p:nvSpPr>
        <p:spPr>
          <a:xfrm>
            <a:off x="6172200" y="48463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강엔터 회의실</a:t>
            </a:r>
            <a:endParaRPr lang="en-US" sz="1150" dirty="0"/>
          </a:p>
        </p:txBody>
      </p:sp>
      <p:sp>
        <p:nvSpPr>
          <p:cNvPr id="14" name="text-185"/>
          <p:cNvSpPr txBox="1"/>
          <p:nvPr/>
        </p:nvSpPr>
        <p:spPr>
          <a:xfrm>
            <a:off x="640080" y="52578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블라인드와 낮은 천장의 좁은 실무 공간, 나신입의 현실</a:t>
            </a:r>
            <a:endParaRPr lang="en-US" sz="1300" dirty="0"/>
          </a:p>
        </p:txBody>
      </p:sp>
      <p:sp>
        <p:nvSpPr>
          <p:cNvPr id="15" name="text-186"/>
          <p:cNvSpPr txBox="1"/>
          <p:nvPr/>
        </p:nvSpPr>
        <p:spPr>
          <a:xfrm>
            <a:off x="6172200" y="52578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도심 야경이 펼쳐진 넓은 고층 회의실, 강도한의 권력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29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office-187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88"/>
          <p:cNvSpPr/>
          <p:nvPr/>
        </p:nvSpPr>
        <p:spPr>
          <a:xfrm>
            <a:off x="640080" y="420624"/>
            <a:ext cx="2386584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4" name="marker-189"/>
          <p:cNvSpPr txBox="1"/>
          <p:nvPr/>
        </p:nvSpPr>
        <p:spPr>
          <a:xfrm>
            <a:off x="685800" y="329184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신입사원이지만 아이돌입니다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상상과 현실을 매치컷으로 잇는 1화 구성</a:t>
            </a:r>
            <a:endParaRPr lang="en-US" sz="2700" dirty="0"/>
          </a:p>
        </p:txBody>
      </p:sp>
      <p:sp>
        <p:nvSpPr>
          <p:cNvPr id="6" name="rect-190"/>
          <p:cNvSpPr/>
          <p:nvPr/>
        </p:nvSpPr>
        <p:spPr>
          <a:xfrm>
            <a:off x="640080" y="1783080"/>
            <a:ext cx="2029968" cy="2377440"/>
          </a:xfrm>
          <a:prstGeom prst="rect">
            <a:avLst/>
          </a:prstGeom>
          <a:solidFill>
            <a:srgbClr val="1E222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-191"/>
          <p:cNvSpPr txBox="1"/>
          <p:nvPr/>
        </p:nvSpPr>
        <p:spPr>
          <a:xfrm>
            <a:off x="822960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E1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</a:t>
            </a:r>
            <a:endParaRPr lang="en-US" sz="1800" dirty="0"/>
          </a:p>
        </p:txBody>
      </p:sp>
      <p:sp>
        <p:nvSpPr>
          <p:cNvPr id="8" name="text-192"/>
          <p:cNvSpPr txBox="1"/>
          <p:nvPr/>
        </p:nvSpPr>
        <p:spPr>
          <a:xfrm>
            <a:off x="1828800" y="19659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8컷</a:t>
            </a:r>
            <a:endParaRPr lang="en-US" sz="1100" dirty="0"/>
          </a:p>
        </p:txBody>
      </p:sp>
      <p:sp>
        <p:nvSpPr>
          <p:cNvPr id="9" name="text-193"/>
          <p:cNvSpPr txBox="1"/>
          <p:nvPr/>
        </p:nvSpPr>
        <p:spPr>
          <a:xfrm>
            <a:off x="82296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상상 속 전쟁 도시</a:t>
            </a:r>
            <a:endParaRPr lang="en-US" sz="1350" dirty="0"/>
          </a:p>
        </p:txBody>
      </p:sp>
      <p:sp>
        <p:nvSpPr>
          <p:cNvPr id="10" name="text-194"/>
          <p:cNvSpPr txBox="1"/>
          <p:nvPr/>
        </p:nvSpPr>
        <p:spPr>
          <a:xfrm>
            <a:off x="822960" y="28346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5D8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로봇을 몰고 강도한을 조준하는 나신입</a:t>
            </a:r>
            <a:endParaRPr lang="en-US" sz="1150" dirty="0"/>
          </a:p>
        </p:txBody>
      </p:sp>
      <p:sp>
        <p:nvSpPr>
          <p:cNvPr id="11" name="text-195"/>
          <p:cNvSpPr txBox="1"/>
          <p:nvPr/>
        </p:nvSpPr>
        <p:spPr>
          <a:xfrm>
            <a:off x="2670048" y="2788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rect-196"/>
          <p:cNvSpPr/>
          <p:nvPr/>
        </p:nvSpPr>
        <p:spPr>
          <a:xfrm>
            <a:off x="2852928" y="1783080"/>
            <a:ext cx="202996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3" name="text-197"/>
          <p:cNvSpPr txBox="1"/>
          <p:nvPr/>
        </p:nvSpPr>
        <p:spPr>
          <a:xfrm>
            <a:off x="3035808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59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S#2</a:t>
            </a:r>
            <a:endParaRPr lang="en-US" sz="1800" dirty="0"/>
          </a:p>
        </p:txBody>
      </p:sp>
      <p:sp>
        <p:nvSpPr>
          <p:cNvPr id="14" name="text-198"/>
          <p:cNvSpPr txBox="1"/>
          <p:nvPr/>
        </p:nvSpPr>
        <p:spPr>
          <a:xfrm>
            <a:off x="4041648" y="19659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11컷</a:t>
            </a:r>
            <a:endParaRPr lang="en-US" sz="1100" dirty="0"/>
          </a:p>
        </p:txBody>
      </p:sp>
      <p:sp>
        <p:nvSpPr>
          <p:cNvPr id="15" name="text-199"/>
          <p:cNvSpPr txBox="1"/>
          <p:nvPr/>
        </p:nvSpPr>
        <p:spPr>
          <a:xfrm>
            <a:off x="3035808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홍보대행사 회의실</a:t>
            </a:r>
            <a:endParaRPr lang="en-US" sz="1350" dirty="0"/>
          </a:p>
        </p:txBody>
      </p:sp>
      <p:sp>
        <p:nvSpPr>
          <p:cNvPr id="16" name="text-200"/>
          <p:cNvSpPr txBox="1"/>
          <p:nvPr/>
        </p:nvSpPr>
        <p:spPr>
          <a:xfrm>
            <a:off x="3035808" y="28346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"이게 최선입니까?" 제안서 반려</a:t>
            </a:r>
            <a:endParaRPr lang="en-US" sz="1150" dirty="0"/>
          </a:p>
        </p:txBody>
      </p:sp>
      <p:sp>
        <p:nvSpPr>
          <p:cNvPr id="17" name="text-201"/>
          <p:cNvSpPr txBox="1"/>
          <p:nvPr/>
        </p:nvSpPr>
        <p:spPr>
          <a:xfrm>
            <a:off x="4882896" y="2788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rect-202"/>
          <p:cNvSpPr/>
          <p:nvPr/>
        </p:nvSpPr>
        <p:spPr>
          <a:xfrm>
            <a:off x="5065776" y="1783080"/>
            <a:ext cx="202996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9" name="text-203"/>
          <p:cNvSpPr txBox="1"/>
          <p:nvPr/>
        </p:nvSpPr>
        <p:spPr>
          <a:xfrm>
            <a:off x="5248656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59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S#3</a:t>
            </a:r>
            <a:endParaRPr lang="en-US" sz="1800" dirty="0"/>
          </a:p>
        </p:txBody>
      </p:sp>
      <p:sp>
        <p:nvSpPr>
          <p:cNvPr id="20" name="text-204"/>
          <p:cNvSpPr txBox="1"/>
          <p:nvPr/>
        </p:nvSpPr>
        <p:spPr>
          <a:xfrm>
            <a:off x="6254496" y="19659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3컷</a:t>
            </a:r>
            <a:endParaRPr lang="en-US" sz="1100" dirty="0"/>
          </a:p>
        </p:txBody>
      </p:sp>
      <p:sp>
        <p:nvSpPr>
          <p:cNvPr id="21" name="text-205"/>
          <p:cNvSpPr txBox="1"/>
          <p:nvPr/>
        </p:nvSpPr>
        <p:spPr>
          <a:xfrm>
            <a:off x="5248656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탕비실</a:t>
            </a:r>
            <a:endParaRPr lang="en-US" sz="1350" dirty="0"/>
          </a:p>
        </p:txBody>
      </p:sp>
      <p:sp>
        <p:nvSpPr>
          <p:cNvPr id="22" name="text-206"/>
          <p:cNvSpPr txBox="1"/>
          <p:nvPr/>
        </p:nvSpPr>
        <p:spPr>
          <a:xfrm>
            <a:off x="5248656" y="28346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"쉿! 우리 회사 밥줄이야."</a:t>
            </a:r>
            <a:endParaRPr lang="en-US" sz="1150" dirty="0"/>
          </a:p>
        </p:txBody>
      </p:sp>
      <p:sp>
        <p:nvSpPr>
          <p:cNvPr id="23" name="text-207"/>
          <p:cNvSpPr txBox="1"/>
          <p:nvPr/>
        </p:nvSpPr>
        <p:spPr>
          <a:xfrm>
            <a:off x="7095744" y="2788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rect-208"/>
          <p:cNvSpPr/>
          <p:nvPr/>
        </p:nvSpPr>
        <p:spPr>
          <a:xfrm>
            <a:off x="7278624" y="1783080"/>
            <a:ext cx="202996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5" name="text-209"/>
          <p:cNvSpPr txBox="1"/>
          <p:nvPr/>
        </p:nvSpPr>
        <p:spPr>
          <a:xfrm>
            <a:off x="7461504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59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S#4</a:t>
            </a:r>
            <a:endParaRPr lang="en-US" sz="1800" dirty="0"/>
          </a:p>
        </p:txBody>
      </p:sp>
      <p:sp>
        <p:nvSpPr>
          <p:cNvPr id="26" name="text-210"/>
          <p:cNvSpPr txBox="1"/>
          <p:nvPr/>
        </p:nvSpPr>
        <p:spPr>
          <a:xfrm>
            <a:off x="8467344" y="19659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1컷</a:t>
            </a:r>
            <a:endParaRPr lang="en-US" sz="1100" dirty="0"/>
          </a:p>
        </p:txBody>
      </p:sp>
      <p:sp>
        <p:nvSpPr>
          <p:cNvPr id="27" name="text-211"/>
          <p:cNvSpPr txBox="1"/>
          <p:nvPr/>
        </p:nvSpPr>
        <p:spPr>
          <a:xfrm>
            <a:off x="7461504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사무실 야근</a:t>
            </a:r>
            <a:endParaRPr lang="en-US" sz="1350" dirty="0"/>
          </a:p>
        </p:txBody>
      </p:sp>
      <p:sp>
        <p:nvSpPr>
          <p:cNvPr id="28" name="text-212"/>
          <p:cNvSpPr txBox="1"/>
          <p:nvPr/>
        </p:nvSpPr>
        <p:spPr>
          <a:xfrm>
            <a:off x="7461504" y="28346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노을에서 밤으로 이어지는 시간 경과</a:t>
            </a:r>
            <a:endParaRPr lang="en-US" sz="1150" dirty="0"/>
          </a:p>
        </p:txBody>
      </p:sp>
      <p:sp>
        <p:nvSpPr>
          <p:cNvPr id="29" name="text-213"/>
          <p:cNvSpPr txBox="1"/>
          <p:nvPr/>
        </p:nvSpPr>
        <p:spPr>
          <a:xfrm>
            <a:off x="9308592" y="2788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0" name="rect-214"/>
          <p:cNvSpPr/>
          <p:nvPr/>
        </p:nvSpPr>
        <p:spPr>
          <a:xfrm>
            <a:off x="9491472" y="1783080"/>
            <a:ext cx="202996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1" name="text-215"/>
          <p:cNvSpPr txBox="1"/>
          <p:nvPr/>
        </p:nvSpPr>
        <p:spPr>
          <a:xfrm>
            <a:off x="9674352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59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S#5</a:t>
            </a:r>
            <a:endParaRPr lang="en-US" sz="1800" dirty="0"/>
          </a:p>
        </p:txBody>
      </p:sp>
      <p:sp>
        <p:nvSpPr>
          <p:cNvPr id="32" name="text-216"/>
          <p:cNvSpPr txBox="1"/>
          <p:nvPr/>
        </p:nvSpPr>
        <p:spPr>
          <a:xfrm>
            <a:off x="10680192" y="19659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18컷</a:t>
            </a:r>
            <a:endParaRPr lang="en-US" sz="1100" dirty="0"/>
          </a:p>
        </p:txBody>
      </p:sp>
      <p:sp>
        <p:nvSpPr>
          <p:cNvPr id="33" name="text-217"/>
          <p:cNvSpPr txBox="1"/>
          <p:nvPr/>
        </p:nvSpPr>
        <p:spPr>
          <a:xfrm>
            <a:off x="9674352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강엔터 회의실</a:t>
            </a:r>
            <a:endParaRPr lang="en-US" sz="1350" dirty="0"/>
          </a:p>
        </p:txBody>
      </p:sp>
      <p:sp>
        <p:nvSpPr>
          <p:cNvPr id="34" name="text-218"/>
          <p:cNvSpPr txBox="1"/>
          <p:nvPr/>
        </p:nvSpPr>
        <p:spPr>
          <a:xfrm>
            <a:off x="9674352" y="28346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꼬르륵 소리와 블랙카드, 열린 결말</a:t>
            </a:r>
            <a:endParaRPr lang="en-US" sz="1150" dirty="0"/>
          </a:p>
        </p:txBody>
      </p:sp>
      <p:sp>
        <p:nvSpPr>
          <p:cNvPr id="35" name="rect-219"/>
          <p:cNvSpPr/>
          <p:nvPr/>
        </p:nvSpPr>
        <p:spPr>
          <a:xfrm>
            <a:off x="640080" y="4434840"/>
            <a:ext cx="108813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36" name="rect-220"/>
          <p:cNvSpPr/>
          <p:nvPr/>
        </p:nvSpPr>
        <p:spPr>
          <a:xfrm>
            <a:off x="640080" y="4434840"/>
            <a:ext cx="91440" cy="164592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37" name="text-221"/>
          <p:cNvSpPr txBox="1"/>
          <p:nvPr/>
        </p:nvSpPr>
        <p:spPr>
          <a:xfrm>
            <a:off x="96012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8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매치컷</a:t>
            </a:r>
            <a:endParaRPr lang="en-US" sz="1300" dirty="0"/>
          </a:p>
        </p:txBody>
      </p:sp>
      <p:sp>
        <p:nvSpPr>
          <p:cNvPr id="38" name="text-222"/>
          <p:cNvSpPr txBox="1"/>
          <p:nvPr/>
        </p:nvSpPr>
        <p:spPr>
          <a:xfrm>
            <a:off x="960120" y="4937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미사일 폭발 섬광이 그대로 제안서를 내려치는 강도한의 손으로 이어지는 전환, 메카닉 액션의 긴장감을 오피스 코미디의 웃음으로 반전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ight-223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24"/>
          <p:cNvSpPr/>
          <p:nvPr/>
        </p:nvSpPr>
        <p:spPr>
          <a:xfrm>
            <a:off x="640080" y="420624"/>
            <a:ext cx="2386584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4" name="marker-225"/>
          <p:cNvSpPr txBox="1"/>
          <p:nvPr/>
        </p:nvSpPr>
        <p:spPr>
          <a:xfrm>
            <a:off x="685800" y="329184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신입사원이지만 아이돌입니다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생성을 전제로 표준화한 프로덕션 스크립트</a:t>
            </a:r>
            <a:endParaRPr lang="en-US" sz="2700" dirty="0"/>
          </a:p>
        </p:txBody>
      </p:sp>
      <p:sp>
        <p:nvSpPr>
          <p:cNvPr id="6" name="rect-226"/>
          <p:cNvSpPr/>
          <p:nvPr/>
        </p:nvSpPr>
        <p:spPr>
          <a:xfrm>
            <a:off x="587254" y="1673352"/>
            <a:ext cx="2757413" cy="1819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g-c01-227" descr="S#2 C#1 스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62" y="1737360"/>
            <a:ext cx="2629397" cy="1691640"/>
          </a:xfrm>
          <a:prstGeom prst="rect">
            <a:avLst/>
          </a:prstGeom>
        </p:spPr>
      </p:pic>
      <p:sp>
        <p:nvSpPr>
          <p:cNvPr id="8" name="rect-228"/>
          <p:cNvSpPr/>
          <p:nvPr/>
        </p:nvSpPr>
        <p:spPr>
          <a:xfrm>
            <a:off x="667512" y="1901952"/>
            <a:ext cx="548640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9" name="marker-229"/>
          <p:cNvSpPr txBox="1"/>
          <p:nvPr/>
        </p:nvSpPr>
        <p:spPr>
          <a:xfrm>
            <a:off x="713232" y="18105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C#1</a:t>
            </a:r>
            <a:endParaRPr lang="en-US" sz="1050" dirty="0"/>
          </a:p>
        </p:txBody>
      </p:sp>
      <p:sp>
        <p:nvSpPr>
          <p:cNvPr id="10" name="rect-230"/>
          <p:cNvSpPr/>
          <p:nvPr/>
        </p:nvSpPr>
        <p:spPr>
          <a:xfrm>
            <a:off x="3602452" y="1673352"/>
            <a:ext cx="2304855" cy="1819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1" name="img-c03-231" descr="S#2 C#3 스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460" y="1737360"/>
            <a:ext cx="2176839" cy="1691640"/>
          </a:xfrm>
          <a:prstGeom prst="rect">
            <a:avLst/>
          </a:prstGeom>
        </p:spPr>
      </p:pic>
      <p:sp>
        <p:nvSpPr>
          <p:cNvPr id="12" name="rect-232"/>
          <p:cNvSpPr/>
          <p:nvPr/>
        </p:nvSpPr>
        <p:spPr>
          <a:xfrm>
            <a:off x="3456432" y="1901952"/>
            <a:ext cx="548640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13" name="marker-233"/>
          <p:cNvSpPr txBox="1"/>
          <p:nvPr/>
        </p:nvSpPr>
        <p:spPr>
          <a:xfrm>
            <a:off x="3502152" y="18105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C#3</a:t>
            </a:r>
            <a:endParaRPr lang="en-US" sz="1050" dirty="0"/>
          </a:p>
        </p:txBody>
      </p:sp>
      <p:sp>
        <p:nvSpPr>
          <p:cNvPr id="14" name="rect-234"/>
          <p:cNvSpPr/>
          <p:nvPr/>
        </p:nvSpPr>
        <p:spPr>
          <a:xfrm>
            <a:off x="576072" y="4056589"/>
            <a:ext cx="2779776" cy="98510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5" name="img-c06-235" descr="S#2 C#6 스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20597"/>
            <a:ext cx="2651760" cy="857087"/>
          </a:xfrm>
          <a:prstGeom prst="rect">
            <a:avLst/>
          </a:prstGeom>
        </p:spPr>
      </p:pic>
      <p:sp>
        <p:nvSpPr>
          <p:cNvPr id="16" name="rect-236"/>
          <p:cNvSpPr/>
          <p:nvPr/>
        </p:nvSpPr>
        <p:spPr>
          <a:xfrm>
            <a:off x="667512" y="3867912"/>
            <a:ext cx="548640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17" name="marker-237"/>
          <p:cNvSpPr txBox="1"/>
          <p:nvPr/>
        </p:nvSpPr>
        <p:spPr>
          <a:xfrm>
            <a:off x="713232" y="3776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C#6</a:t>
            </a:r>
            <a:endParaRPr lang="en-US" sz="1050" dirty="0"/>
          </a:p>
        </p:txBody>
      </p:sp>
      <p:sp>
        <p:nvSpPr>
          <p:cNvPr id="18" name="rect-238"/>
          <p:cNvSpPr/>
          <p:nvPr/>
        </p:nvSpPr>
        <p:spPr>
          <a:xfrm>
            <a:off x="3364992" y="3817468"/>
            <a:ext cx="2779776" cy="14633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9" name="img-c09-239" descr="S#2 C#9 스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881476"/>
            <a:ext cx="2651760" cy="1335328"/>
          </a:xfrm>
          <a:prstGeom prst="rect">
            <a:avLst/>
          </a:prstGeom>
        </p:spPr>
      </p:pic>
      <p:sp>
        <p:nvSpPr>
          <p:cNvPr id="20" name="rect-240"/>
          <p:cNvSpPr/>
          <p:nvPr/>
        </p:nvSpPr>
        <p:spPr>
          <a:xfrm>
            <a:off x="3456432" y="3867912"/>
            <a:ext cx="548640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21" name="marker-241"/>
          <p:cNvSpPr txBox="1"/>
          <p:nvPr/>
        </p:nvSpPr>
        <p:spPr>
          <a:xfrm>
            <a:off x="3502152" y="3776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C#9</a:t>
            </a:r>
            <a:endParaRPr lang="en-US" sz="1050" dirty="0"/>
          </a:p>
        </p:txBody>
      </p:sp>
      <p:sp>
        <p:nvSpPr>
          <p:cNvPr id="22" name="text-242"/>
          <p:cNvSpPr txBox="1"/>
          <p:nvPr/>
        </p:nvSpPr>
        <p:spPr>
          <a:xfrm>
            <a:off x="64465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E1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기술 규칙</a:t>
            </a:r>
            <a:endParaRPr lang="en-US" sz="1500" dirty="0"/>
          </a:p>
        </p:txBody>
      </p:sp>
      <p:sp>
        <p:nvSpPr>
          <p:cNvPr id="23" name="rect-243"/>
          <p:cNvSpPr/>
          <p:nvPr/>
        </p:nvSpPr>
        <p:spPr>
          <a:xfrm>
            <a:off x="6446520" y="2194560"/>
            <a:ext cx="5074920" cy="429768"/>
          </a:xfrm>
          <a:prstGeom prst="rect">
            <a:avLst/>
          </a:prstGeom>
          <a:solidFill>
            <a:srgbClr val="2A303D"/>
          </a:solidFill>
          <a:ln/>
        </p:spPr>
      </p:sp>
      <p:sp>
        <p:nvSpPr>
          <p:cNvPr id="24" name="text-244"/>
          <p:cNvSpPr txBox="1"/>
          <p:nvPr/>
        </p:nvSpPr>
        <p:spPr>
          <a:xfrm>
            <a:off x="6629400" y="219456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E1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샷</a:t>
            </a:r>
            <a:endParaRPr lang="en-US" sz="1250" dirty="0"/>
          </a:p>
        </p:txBody>
      </p:sp>
      <p:sp>
        <p:nvSpPr>
          <p:cNvPr id="25" name="text-245"/>
          <p:cNvSpPr txBox="1"/>
          <p:nvPr/>
        </p:nvSpPr>
        <p:spPr>
          <a:xfrm>
            <a:off x="7543800" y="2194560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샷 사이즈 + 앵글</a:t>
            </a:r>
            <a:endParaRPr lang="en-US" sz="1250" dirty="0"/>
          </a:p>
        </p:txBody>
      </p:sp>
      <p:sp>
        <p:nvSpPr>
          <p:cNvPr id="26" name="rect-246"/>
          <p:cNvSpPr/>
          <p:nvPr/>
        </p:nvSpPr>
        <p:spPr>
          <a:xfrm>
            <a:off x="6446520" y="2697480"/>
            <a:ext cx="5074920" cy="429768"/>
          </a:xfrm>
          <a:prstGeom prst="rect">
            <a:avLst/>
          </a:prstGeom>
          <a:solidFill>
            <a:srgbClr val="2A303D"/>
          </a:solidFill>
          <a:ln/>
        </p:spPr>
      </p:sp>
      <p:sp>
        <p:nvSpPr>
          <p:cNvPr id="27" name="text-247"/>
          <p:cNvSpPr txBox="1"/>
          <p:nvPr/>
        </p:nvSpPr>
        <p:spPr>
          <a:xfrm>
            <a:off x="6629400" y="269748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E1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구도</a:t>
            </a:r>
            <a:endParaRPr lang="en-US" sz="1250" dirty="0"/>
          </a:p>
        </p:txBody>
      </p:sp>
      <p:sp>
        <p:nvSpPr>
          <p:cNvPr id="28" name="text-248"/>
          <p:cNvSpPr txBox="1"/>
          <p:nvPr/>
        </p:nvSpPr>
        <p:spPr>
          <a:xfrm>
            <a:off x="7543800" y="2697480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피사체 배치와 시선 방향, 이미지 생성의 핵심 항목</a:t>
            </a:r>
            <a:endParaRPr lang="en-US" sz="1250" dirty="0"/>
          </a:p>
        </p:txBody>
      </p:sp>
      <p:sp>
        <p:nvSpPr>
          <p:cNvPr id="29" name="rect-249"/>
          <p:cNvSpPr/>
          <p:nvPr/>
        </p:nvSpPr>
        <p:spPr>
          <a:xfrm>
            <a:off x="6446520" y="3200400"/>
            <a:ext cx="5074920" cy="429768"/>
          </a:xfrm>
          <a:prstGeom prst="rect">
            <a:avLst/>
          </a:prstGeom>
          <a:solidFill>
            <a:srgbClr val="2A303D"/>
          </a:solidFill>
          <a:ln/>
        </p:spPr>
      </p:sp>
      <p:sp>
        <p:nvSpPr>
          <p:cNvPr id="30" name="text-250"/>
          <p:cNvSpPr txBox="1"/>
          <p:nvPr/>
        </p:nvSpPr>
        <p:spPr>
          <a:xfrm>
            <a:off x="6629400" y="320040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E1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250" dirty="0"/>
          </a:p>
        </p:txBody>
      </p:sp>
      <p:sp>
        <p:nvSpPr>
          <p:cNvPr id="31" name="text-251"/>
          <p:cNvSpPr txBox="1"/>
          <p:nvPr/>
        </p:nvSpPr>
        <p:spPr>
          <a:xfrm>
            <a:off x="7543800" y="3200400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/ 팬 / 틸트 / 트래킹 / 랙 포커스</a:t>
            </a:r>
            <a:endParaRPr lang="en-US" sz="1250" dirty="0"/>
          </a:p>
        </p:txBody>
      </p:sp>
      <p:sp>
        <p:nvSpPr>
          <p:cNvPr id="32" name="rect-252"/>
          <p:cNvSpPr/>
          <p:nvPr/>
        </p:nvSpPr>
        <p:spPr>
          <a:xfrm>
            <a:off x="6446520" y="3703320"/>
            <a:ext cx="5074920" cy="429768"/>
          </a:xfrm>
          <a:prstGeom prst="rect">
            <a:avLst/>
          </a:prstGeom>
          <a:solidFill>
            <a:srgbClr val="2A303D"/>
          </a:solidFill>
          <a:ln/>
        </p:spPr>
      </p:sp>
      <p:sp>
        <p:nvSpPr>
          <p:cNvPr id="33" name="text-253"/>
          <p:cNvSpPr txBox="1"/>
          <p:nvPr/>
        </p:nvSpPr>
        <p:spPr>
          <a:xfrm>
            <a:off x="6629400" y="370332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E1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지문</a:t>
            </a:r>
            <a:endParaRPr lang="en-US" sz="1250" dirty="0"/>
          </a:p>
        </p:txBody>
      </p:sp>
      <p:sp>
        <p:nvSpPr>
          <p:cNvPr id="34" name="text-254"/>
          <p:cNvSpPr txBox="1"/>
          <p:nvPr/>
        </p:nvSpPr>
        <p:spPr>
          <a:xfrm>
            <a:off x="7543800" y="3703320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실제로 보이는 것만 기술</a:t>
            </a:r>
            <a:endParaRPr lang="en-US" sz="1250" dirty="0"/>
          </a:p>
        </p:txBody>
      </p:sp>
      <p:sp>
        <p:nvSpPr>
          <p:cNvPr id="35" name="rect-255"/>
          <p:cNvSpPr/>
          <p:nvPr/>
        </p:nvSpPr>
        <p:spPr>
          <a:xfrm>
            <a:off x="6446520" y="4206240"/>
            <a:ext cx="5074920" cy="429768"/>
          </a:xfrm>
          <a:prstGeom prst="rect">
            <a:avLst/>
          </a:prstGeom>
          <a:solidFill>
            <a:srgbClr val="2A303D"/>
          </a:solidFill>
          <a:ln/>
        </p:spPr>
      </p:sp>
      <p:sp>
        <p:nvSpPr>
          <p:cNvPr id="36" name="text-256"/>
          <p:cNvSpPr txBox="1"/>
          <p:nvPr/>
        </p:nvSpPr>
        <p:spPr>
          <a:xfrm>
            <a:off x="6629400" y="420624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E1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</a:t>
            </a:r>
            <a:endParaRPr lang="en-US" sz="1250" dirty="0"/>
          </a:p>
        </p:txBody>
      </p:sp>
      <p:sp>
        <p:nvSpPr>
          <p:cNvPr id="37" name="text-257"/>
          <p:cNvSpPr txBox="1"/>
          <p:nvPr/>
        </p:nvSpPr>
        <p:spPr>
          <a:xfrm>
            <a:off x="7543800" y="4206240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 + 대사, 없으면 '없음' 명시</a:t>
            </a:r>
            <a:endParaRPr lang="en-US" sz="1250" dirty="0"/>
          </a:p>
        </p:txBody>
      </p:sp>
      <p:sp>
        <p:nvSpPr>
          <p:cNvPr id="38" name="text-258"/>
          <p:cNvSpPr txBox="1"/>
          <p:nvPr/>
        </p:nvSpPr>
        <p:spPr>
          <a:xfrm>
            <a:off x="6446520" y="48463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"인물의 심리는 행동으로 번역해서 쓴다"는 원칙으로 AI 스틸컷 / 영상의 연기 디테일 구체화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29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ight-259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60"/>
          <p:cNvSpPr/>
          <p:nvPr/>
        </p:nvSpPr>
        <p:spPr>
          <a:xfrm>
            <a:off x="640080" y="420624"/>
            <a:ext cx="2386584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4" name="marker-261"/>
          <p:cNvSpPr txBox="1"/>
          <p:nvPr/>
        </p:nvSpPr>
        <p:spPr>
          <a:xfrm>
            <a:off x="685800" y="329184"/>
            <a:ext cx="3300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신입사원이지만 아이돌입니다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1화 가편집본</a:t>
            </a:r>
            <a:endParaRPr lang="en-US" sz="2700" dirty="0"/>
          </a:p>
        </p:txBody>
      </p:sp>
      <p:sp>
        <p:nvSpPr>
          <p:cNvPr id="6" name="rect-262"/>
          <p:cNvSpPr/>
          <p:nvPr/>
        </p:nvSpPr>
        <p:spPr>
          <a:xfrm>
            <a:off x="576072" y="1629918"/>
            <a:ext cx="7077456" cy="40370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g-poster_ep1-263" descr="신입사원이지만 아이돌입니다 가편집본 영상 보기">
            <a:hlinkClick r:id="rId3" tooltip="영상 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3926"/>
            <a:ext cx="6949440" cy="3909060"/>
          </a:xfrm>
          <a:prstGeom prst="rect">
            <a:avLst/>
          </a:prstGeom>
        </p:spPr>
      </p:pic>
      <p:sp>
        <p:nvSpPr>
          <p:cNvPr id="8" name="text-264"/>
          <p:cNvSpPr txBox="1"/>
          <p:nvPr/>
        </p:nvSpPr>
        <p:spPr>
          <a:xfrm>
            <a:off x="640080" y="5760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8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클릭하면 영상이 재생됩니다</a:t>
            </a:r>
            <a:endParaRPr lang="en-US" sz="1100" dirty="0"/>
          </a:p>
        </p:txBody>
      </p:sp>
      <p:sp>
        <p:nvSpPr>
          <p:cNvPr id="9" name="rect-265"/>
          <p:cNvSpPr/>
          <p:nvPr/>
        </p:nvSpPr>
        <p:spPr>
          <a:xfrm>
            <a:off x="7955280" y="1828800"/>
            <a:ext cx="1097280" cy="201168"/>
          </a:xfrm>
          <a:prstGeom prst="rect">
            <a:avLst/>
          </a:prstGeom>
          <a:solidFill>
            <a:srgbClr val="FFE14D">
              <a:alpha val="85000"/>
            </a:srgbClr>
          </a:solidFill>
          <a:ln/>
        </p:spPr>
      </p:sp>
      <p:sp>
        <p:nvSpPr>
          <p:cNvPr id="10" name="marker-266"/>
          <p:cNvSpPr txBox="1"/>
          <p:nvPr/>
        </p:nvSpPr>
        <p:spPr>
          <a:xfrm>
            <a:off x="8001000" y="1737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가편집 04</a:t>
            </a:r>
            <a:endParaRPr lang="en-US" sz="1150" dirty="0"/>
          </a:p>
        </p:txBody>
      </p:sp>
      <p:sp>
        <p:nvSpPr>
          <p:cNvPr id="11" name="text-267"/>
          <p:cNvSpPr txBox="1"/>
          <p:nvPr/>
        </p:nvSpPr>
        <p:spPr>
          <a:xfrm>
            <a:off x="8001000" y="2194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신입사원이지만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아이돌입니다</a:t>
            </a:r>
            <a:endParaRPr lang="en-US" sz="2100" dirty="0"/>
          </a:p>
        </p:txBody>
      </p:sp>
      <p:sp>
        <p:nvSpPr>
          <p:cNvPr id="12" name="text-268"/>
          <p:cNvSpPr txBox="1"/>
          <p:nvPr/>
        </p:nvSpPr>
        <p:spPr>
          <a:xfrm>
            <a:off x="800100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1화  /  9:16 세로 화면</a:t>
            </a:r>
            <a:endParaRPr lang="en-US" sz="1300" dirty="0"/>
          </a:p>
        </p:txBody>
      </p:sp>
      <p:sp>
        <p:nvSpPr>
          <p:cNvPr id="13" name="rect-269"/>
          <p:cNvSpPr/>
          <p:nvPr/>
        </p:nvSpPr>
        <p:spPr>
          <a:xfrm rot="60000">
            <a:off x="8001000" y="3749040"/>
            <a:ext cx="3520440" cy="1097280"/>
          </a:xfrm>
          <a:prstGeom prst="rect">
            <a:avLst/>
          </a:prstGeom>
          <a:solidFill>
            <a:srgbClr val="FFE14D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4" name="text-270"/>
          <p:cNvSpPr txBox="1"/>
          <p:nvPr/>
        </p:nvSpPr>
        <p:spPr>
          <a:xfrm>
            <a:off x="8183880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"그럼, 저…"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궁금증을 남기는 열린 엔딩으로 다음 화 시청 유도</a:t>
            </a:r>
            <a:endParaRPr lang="en-US" sz="1250" dirty="0"/>
          </a:p>
        </p:txBody>
      </p:sp>
      <p:sp>
        <p:nvSpPr>
          <p:cNvPr id="15" name="rect-271"/>
          <p:cNvSpPr/>
          <p:nvPr/>
        </p:nvSpPr>
        <p:spPr>
          <a:xfrm>
            <a:off x="8001000" y="512064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2B59C3"/>
          </a:solidFill>
          <a:ln/>
        </p:spPr>
      </p:sp>
      <p:sp>
        <p:nvSpPr>
          <p:cNvPr id="16" name="link-272"/>
          <p:cNvSpPr txBox="1"/>
          <p:nvPr/>
        </p:nvSpPr>
        <p:spPr>
          <a:xfrm>
            <a:off x="8001000" y="5120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https://drive.google.com/file/d/1cof24EAW0ZLXOta-U4wuyKgOXh34fc9D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영상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29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2_bg-273" descr="챕터 대표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74"/>
          <p:cNvSpPr/>
          <p:nvPr/>
        </p:nvSpPr>
        <p:spPr>
          <a:xfrm rot="-360000">
            <a:off x="2359152" y="0"/>
            <a:ext cx="384048" cy="1371600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4" name="rect-275"/>
          <p:cNvSpPr/>
          <p:nvPr/>
        </p:nvSpPr>
        <p:spPr>
          <a:xfrm rot="360000">
            <a:off x="3108960" y="0"/>
            <a:ext cx="384048" cy="1371600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5" name="rect-276"/>
          <p:cNvSpPr/>
          <p:nvPr/>
        </p:nvSpPr>
        <p:spPr>
          <a:xfrm>
            <a:off x="2633472" y="914400"/>
            <a:ext cx="585216" cy="411480"/>
          </a:xfrm>
          <a:prstGeom prst="roundRect">
            <a:avLst>
              <a:gd name="adj" fmla="val 17778"/>
            </a:avLst>
          </a:prstGeom>
          <a:solidFill>
            <a:srgbClr val="AEB3BD"/>
          </a:solidFill>
          <a:ln/>
        </p:spPr>
      </p:sp>
      <p:sp>
        <p:nvSpPr>
          <p:cNvPr id="6" name="rect-277"/>
          <p:cNvSpPr/>
          <p:nvPr/>
        </p:nvSpPr>
        <p:spPr>
          <a:xfrm>
            <a:off x="1234440" y="1143000"/>
            <a:ext cx="3383280" cy="4804258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rect-278"/>
          <p:cNvSpPr/>
          <p:nvPr/>
        </p:nvSpPr>
        <p:spPr>
          <a:xfrm>
            <a:off x="1234440" y="1143000"/>
            <a:ext cx="3383280" cy="566928"/>
          </a:xfrm>
          <a:prstGeom prst="roundRect">
            <a:avLst>
              <a:gd name="adj" fmla="val 22581"/>
            </a:avLst>
          </a:prstGeom>
          <a:solidFill>
            <a:srgbClr val="2B59C3"/>
          </a:solidFill>
          <a:ln/>
        </p:spPr>
      </p:sp>
      <p:sp>
        <p:nvSpPr>
          <p:cNvPr id="8" name="rect-279"/>
          <p:cNvSpPr/>
          <p:nvPr/>
        </p:nvSpPr>
        <p:spPr>
          <a:xfrm>
            <a:off x="1234440" y="1472184"/>
            <a:ext cx="3383280" cy="237744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9" name="text-280"/>
          <p:cNvSpPr txBox="1"/>
          <p:nvPr/>
        </p:nvSpPr>
        <p:spPr>
          <a:xfrm>
            <a:off x="1234440" y="121615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CONTENT CREATOR</a:t>
            </a:r>
            <a:endParaRPr lang="en-US" sz="1100" dirty="0"/>
          </a:p>
        </p:txBody>
      </p:sp>
      <p:sp>
        <p:nvSpPr>
          <p:cNvPr id="10" name="rect-281"/>
          <p:cNvSpPr/>
          <p:nvPr/>
        </p:nvSpPr>
        <p:spPr>
          <a:xfrm>
            <a:off x="2043684" y="1883664"/>
            <a:ext cx="1764792" cy="2328672"/>
          </a:xfrm>
          <a:prstGeom prst="rect">
            <a:avLst/>
          </a:prstGeom>
          <a:solidFill>
            <a:srgbClr val="E2DED3"/>
          </a:solidFill>
          <a:ln/>
        </p:spPr>
      </p:sp>
      <p:pic>
        <p:nvPicPr>
          <p:cNvPr id="11" name="badge-photo-282" descr="10MOO 사원증 사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1920240"/>
            <a:ext cx="1691640" cy="2255520"/>
          </a:xfrm>
          <a:prstGeom prst="rect">
            <a:avLst/>
          </a:prstGeom>
        </p:spPr>
      </p:pic>
      <p:sp>
        <p:nvSpPr>
          <p:cNvPr id="12" name="text-283"/>
          <p:cNvSpPr txBox="1"/>
          <p:nvPr/>
        </p:nvSpPr>
        <p:spPr>
          <a:xfrm>
            <a:off x="1234440" y="4267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 No. CH-02</a:t>
            </a:r>
            <a:endParaRPr lang="en-US" sz="1050" dirty="0"/>
          </a:p>
        </p:txBody>
      </p:sp>
      <p:sp>
        <p:nvSpPr>
          <p:cNvPr id="13" name="text-284"/>
          <p:cNvSpPr txBox="1"/>
          <p:nvPr/>
        </p:nvSpPr>
        <p:spPr>
          <a:xfrm>
            <a:off x="1371600" y="4541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10MOO</a:t>
            </a:r>
            <a:endParaRPr lang="en-US" sz="2200" dirty="0"/>
          </a:p>
        </p:txBody>
      </p:sp>
      <p:sp>
        <p:nvSpPr>
          <p:cNvPr id="14" name="text-285"/>
          <p:cNvSpPr txBox="1"/>
          <p:nvPr/>
        </p:nvSpPr>
        <p:spPr>
          <a:xfrm>
            <a:off x="1371600" y="518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 / 이모티콘</a:t>
            </a:r>
            <a:endParaRPr lang="en-US" sz="1050" dirty="0"/>
          </a:p>
        </p:txBody>
      </p:sp>
      <p:pic>
        <p:nvPicPr>
          <p:cNvPr id="15" name="barcode-286" descr="바코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509565"/>
            <a:ext cx="2560320" cy="273101"/>
          </a:xfrm>
          <a:prstGeom prst="rect">
            <a:avLst/>
          </a:prstGeom>
        </p:spPr>
      </p:pic>
      <p:sp>
        <p:nvSpPr>
          <p:cNvPr id="16" name="text-287"/>
          <p:cNvSpPr txBox="1"/>
          <p:nvPr/>
        </p:nvSpPr>
        <p:spPr>
          <a:xfrm>
            <a:off x="56692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8FB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</a:t>
            </a:r>
            <a:endParaRPr lang="en-US" sz="1500" dirty="0"/>
          </a:p>
        </p:txBody>
      </p:sp>
      <p:sp>
        <p:nvSpPr>
          <p:cNvPr id="17" name="rect-288"/>
          <p:cNvSpPr/>
          <p:nvPr/>
        </p:nvSpPr>
        <p:spPr>
          <a:xfrm>
            <a:off x="5669280" y="2103120"/>
            <a:ext cx="822960" cy="73152"/>
          </a:xfrm>
          <a:prstGeom prst="rect">
            <a:avLst/>
          </a:prstGeom>
          <a:solidFill>
            <a:srgbClr val="8FB0F2"/>
          </a:solidFill>
          <a:ln/>
        </p:spPr>
      </p:sp>
      <p:sp>
        <p:nvSpPr>
          <p:cNvPr id="18" name="text-289"/>
          <p:cNvSpPr txBox="1"/>
          <p:nvPr/>
        </p:nvSpPr>
        <p:spPr>
          <a:xfrm>
            <a:off x="5669280" y="23774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10MOO</a:t>
            </a:r>
            <a:endParaRPr lang="en-US" sz="4000" dirty="0"/>
          </a:p>
        </p:txBody>
      </p:sp>
      <p:sp>
        <p:nvSpPr>
          <p:cNvPr id="19" name="text-290"/>
          <p:cNvSpPr txBox="1"/>
          <p:nvPr/>
        </p:nvSpPr>
        <p:spPr>
          <a:xfrm>
            <a:off x="5669280" y="4434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4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양털 후드를 쓴 회색 푸들 캐릭터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4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목걸이의 '10' 배지를 시그니처로 한 IP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moo-291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92"/>
          <p:cNvSpPr/>
          <p:nvPr/>
        </p:nvSpPr>
        <p:spPr>
          <a:xfrm>
            <a:off x="640080" y="420624"/>
            <a:ext cx="1481328" cy="201168"/>
          </a:xfrm>
          <a:prstGeom prst="rect">
            <a:avLst/>
          </a:prstGeom>
          <a:solidFill>
            <a:srgbClr val="8FB0F2">
              <a:alpha val="85000"/>
            </a:srgbClr>
          </a:solidFill>
          <a:ln/>
        </p:spPr>
      </p:sp>
      <p:sp>
        <p:nvSpPr>
          <p:cNvPr id="4" name="marker-293"/>
          <p:cNvSpPr txBox="1"/>
          <p:nvPr/>
        </p:nvSpPr>
        <p:spPr>
          <a:xfrm>
            <a:off x="685800" y="32918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CH.02  10MOO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기본형과 양털 후드형, 두 버전의 캐릭터 시트</a:t>
            </a:r>
            <a:endParaRPr lang="en-US" sz="2700" dirty="0"/>
          </a:p>
        </p:txBody>
      </p:sp>
      <p:sp>
        <p:nvSpPr>
          <p:cNvPr id="6" name="rect-294"/>
          <p:cNvSpPr/>
          <p:nvPr/>
        </p:nvSpPr>
        <p:spPr>
          <a:xfrm>
            <a:off x="576072" y="1627632"/>
            <a:ext cx="2139696" cy="21396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g-10moo_01master-295" descr="10MOO 기본형 정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2011680" cy="2011680"/>
          </a:xfrm>
          <a:prstGeom prst="rect">
            <a:avLst/>
          </a:prstGeom>
        </p:spPr>
      </p:pic>
      <p:sp>
        <p:nvSpPr>
          <p:cNvPr id="8" name="text-296"/>
          <p:cNvSpPr txBox="1"/>
          <p:nvPr/>
        </p:nvSpPr>
        <p:spPr>
          <a:xfrm>
            <a:off x="2057400" y="3383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</a:t>
            </a:r>
            <a:endParaRPr lang="en-US" sz="1050" dirty="0"/>
          </a:p>
        </p:txBody>
      </p:sp>
      <p:sp>
        <p:nvSpPr>
          <p:cNvPr id="9" name="rect-297"/>
          <p:cNvSpPr/>
          <p:nvPr/>
        </p:nvSpPr>
        <p:spPr>
          <a:xfrm>
            <a:off x="2816352" y="1627632"/>
            <a:ext cx="2139696" cy="21396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0" name="img-10moo_02side-298" descr="10MOO 기본형 측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691640"/>
            <a:ext cx="2011680" cy="2011680"/>
          </a:xfrm>
          <a:prstGeom prst="rect">
            <a:avLst/>
          </a:prstGeom>
        </p:spPr>
      </p:pic>
      <p:sp>
        <p:nvSpPr>
          <p:cNvPr id="11" name="text-299"/>
          <p:cNvSpPr txBox="1"/>
          <p:nvPr/>
        </p:nvSpPr>
        <p:spPr>
          <a:xfrm>
            <a:off x="4297680" y="3383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</a:t>
            </a:r>
            <a:endParaRPr lang="en-US" sz="1050" dirty="0"/>
          </a:p>
        </p:txBody>
      </p:sp>
      <p:sp>
        <p:nvSpPr>
          <p:cNvPr id="12" name="rect-300"/>
          <p:cNvSpPr/>
          <p:nvPr/>
        </p:nvSpPr>
        <p:spPr>
          <a:xfrm>
            <a:off x="5056632" y="1627632"/>
            <a:ext cx="2139696" cy="21396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3" name="img-10moo_03reverse-301" descr="10MOO 기본형 후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91640"/>
            <a:ext cx="2011680" cy="2011680"/>
          </a:xfrm>
          <a:prstGeom prst="rect">
            <a:avLst/>
          </a:prstGeom>
        </p:spPr>
      </p:pic>
      <p:sp>
        <p:nvSpPr>
          <p:cNvPr id="14" name="text-302"/>
          <p:cNvSpPr txBox="1"/>
          <p:nvPr/>
        </p:nvSpPr>
        <p:spPr>
          <a:xfrm>
            <a:off x="6537960" y="3383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후면</a:t>
            </a:r>
            <a:endParaRPr lang="en-US" sz="1050" dirty="0"/>
          </a:p>
        </p:txBody>
      </p:sp>
      <p:sp>
        <p:nvSpPr>
          <p:cNvPr id="15" name="rect-303"/>
          <p:cNvSpPr/>
          <p:nvPr/>
        </p:nvSpPr>
        <p:spPr>
          <a:xfrm>
            <a:off x="576072" y="3867912"/>
            <a:ext cx="2139696" cy="21396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6" name="img-10moo_06master-304" descr="10MOO 후드형 정면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31920"/>
            <a:ext cx="2011680" cy="2011680"/>
          </a:xfrm>
          <a:prstGeom prst="rect">
            <a:avLst/>
          </a:prstGeom>
        </p:spPr>
      </p:pic>
      <p:sp>
        <p:nvSpPr>
          <p:cNvPr id="17" name="text-305"/>
          <p:cNvSpPr txBox="1"/>
          <p:nvPr/>
        </p:nvSpPr>
        <p:spPr>
          <a:xfrm>
            <a:off x="2057400" y="5623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</a:t>
            </a:r>
            <a:endParaRPr lang="en-US" sz="1050" dirty="0"/>
          </a:p>
        </p:txBody>
      </p:sp>
      <p:sp>
        <p:nvSpPr>
          <p:cNvPr id="18" name="rect-306"/>
          <p:cNvSpPr/>
          <p:nvPr/>
        </p:nvSpPr>
        <p:spPr>
          <a:xfrm>
            <a:off x="2816352" y="3867912"/>
            <a:ext cx="2139696" cy="21396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9" name="img-10moo_07side-307" descr="10MOO 후드형 측면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" y="3931920"/>
            <a:ext cx="2011680" cy="2011680"/>
          </a:xfrm>
          <a:prstGeom prst="rect">
            <a:avLst/>
          </a:prstGeom>
        </p:spPr>
      </p:pic>
      <p:sp>
        <p:nvSpPr>
          <p:cNvPr id="20" name="text-308"/>
          <p:cNvSpPr txBox="1"/>
          <p:nvPr/>
        </p:nvSpPr>
        <p:spPr>
          <a:xfrm>
            <a:off x="4297680" y="5623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</a:t>
            </a:r>
            <a:endParaRPr lang="en-US" sz="1050" dirty="0"/>
          </a:p>
        </p:txBody>
      </p:sp>
      <p:sp>
        <p:nvSpPr>
          <p:cNvPr id="21" name="rect-309"/>
          <p:cNvSpPr/>
          <p:nvPr/>
        </p:nvSpPr>
        <p:spPr>
          <a:xfrm>
            <a:off x="5056632" y="3867912"/>
            <a:ext cx="2139696" cy="21396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22" name="img-10moo_08reverse-310" descr="10MOO 후드형 후면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931920"/>
            <a:ext cx="2011680" cy="2011680"/>
          </a:xfrm>
          <a:prstGeom prst="rect">
            <a:avLst/>
          </a:prstGeom>
        </p:spPr>
      </p:pic>
      <p:sp>
        <p:nvSpPr>
          <p:cNvPr id="23" name="text-311"/>
          <p:cNvSpPr txBox="1"/>
          <p:nvPr/>
        </p:nvSpPr>
        <p:spPr>
          <a:xfrm>
            <a:off x="6537960" y="5623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후면</a:t>
            </a:r>
            <a:endParaRPr lang="en-US" sz="1050" dirty="0"/>
          </a:p>
        </p:txBody>
      </p:sp>
      <p:sp>
        <p:nvSpPr>
          <p:cNvPr id="24" name="rect-312"/>
          <p:cNvSpPr/>
          <p:nvPr/>
        </p:nvSpPr>
        <p:spPr>
          <a:xfrm>
            <a:off x="7589520" y="1874520"/>
            <a:ext cx="822960" cy="201168"/>
          </a:xfrm>
          <a:prstGeom prst="rect">
            <a:avLst/>
          </a:prstGeom>
          <a:solidFill>
            <a:srgbClr val="BFD3FF"/>
          </a:solidFill>
          <a:ln/>
        </p:spPr>
      </p:sp>
      <p:sp>
        <p:nvSpPr>
          <p:cNvPr id="25" name="marker-313"/>
          <p:cNvSpPr txBox="1"/>
          <p:nvPr/>
        </p:nvSpPr>
        <p:spPr>
          <a:xfrm>
            <a:off x="7635240" y="17830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기본형</a:t>
            </a:r>
            <a:endParaRPr lang="en-US" sz="1150" dirty="0"/>
          </a:p>
        </p:txBody>
      </p:sp>
      <p:sp>
        <p:nvSpPr>
          <p:cNvPr id="26" name="text-314"/>
          <p:cNvSpPr txBox="1"/>
          <p:nvPr/>
        </p:nvSpPr>
        <p:spPr>
          <a:xfrm>
            <a:off x="7635240" y="21945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곱슬 털의 회색 푸들, 파란 목걸이와 '10' 배지</a:t>
            </a:r>
            <a:endParaRPr lang="en-US" sz="1350" dirty="0"/>
          </a:p>
        </p:txBody>
      </p:sp>
      <p:sp>
        <p:nvSpPr>
          <p:cNvPr id="27" name="rect-315"/>
          <p:cNvSpPr/>
          <p:nvPr/>
        </p:nvSpPr>
        <p:spPr>
          <a:xfrm>
            <a:off x="7589520" y="3108960"/>
            <a:ext cx="1280160" cy="201168"/>
          </a:xfrm>
          <a:prstGeom prst="rect">
            <a:avLst/>
          </a:prstGeom>
          <a:solidFill>
            <a:srgbClr val="BFD3FF"/>
          </a:solidFill>
          <a:ln/>
        </p:spPr>
      </p:sp>
      <p:sp>
        <p:nvSpPr>
          <p:cNvPr id="28" name="marker-316"/>
          <p:cNvSpPr txBox="1"/>
          <p:nvPr/>
        </p:nvSpPr>
        <p:spPr>
          <a:xfrm>
            <a:off x="7635240" y="30175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양털 후드형</a:t>
            </a:r>
            <a:endParaRPr lang="en-US" sz="1150" dirty="0"/>
          </a:p>
        </p:txBody>
      </p:sp>
      <p:sp>
        <p:nvSpPr>
          <p:cNvPr id="29" name="text-317"/>
          <p:cNvSpPr txBox="1"/>
          <p:nvPr/>
        </p:nvSpPr>
        <p:spPr>
          <a:xfrm>
            <a:off x="7635240" y="342900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 얼굴 후드를 더한 변형으로 귀여움과 친근함 강조</a:t>
            </a:r>
            <a:endParaRPr lang="en-US" sz="1350" dirty="0"/>
          </a:p>
        </p:txBody>
      </p:sp>
      <p:sp>
        <p:nvSpPr>
          <p:cNvPr id="30" name="rect-318"/>
          <p:cNvSpPr/>
          <p:nvPr/>
        </p:nvSpPr>
        <p:spPr>
          <a:xfrm>
            <a:off x="7635240" y="4525645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B59C3"/>
          </a:solidFill>
          <a:ln/>
        </p:spPr>
      </p:sp>
      <p:sp>
        <p:nvSpPr>
          <p:cNvPr id="31" name="bullet-319"/>
          <p:cNvSpPr txBox="1"/>
          <p:nvPr/>
        </p:nvSpPr>
        <p:spPr>
          <a:xfrm>
            <a:off x="7927848" y="443484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 / 측면 / 후면 3방향으로 형태 일관성 확보</a:t>
            </a:r>
            <a:endParaRPr lang="en-US" sz="1300" dirty="0"/>
          </a:p>
        </p:txBody>
      </p:sp>
      <p:sp>
        <p:nvSpPr>
          <p:cNvPr id="32" name="rect-320"/>
          <p:cNvSpPr/>
          <p:nvPr/>
        </p:nvSpPr>
        <p:spPr>
          <a:xfrm>
            <a:off x="7635240" y="5211445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B59C3"/>
          </a:solidFill>
          <a:ln/>
        </p:spPr>
      </p:sp>
      <p:sp>
        <p:nvSpPr>
          <p:cNvPr id="33" name="bullet-321"/>
          <p:cNvSpPr txBox="1"/>
          <p:nvPr/>
        </p:nvSpPr>
        <p:spPr>
          <a:xfrm>
            <a:off x="7927848" y="512064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의상 변형만으로 캐릭터 라인업을 넓히는 IP 확장 구조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moo-322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323"/>
          <p:cNvSpPr/>
          <p:nvPr/>
        </p:nvSpPr>
        <p:spPr>
          <a:xfrm>
            <a:off x="640080" y="420624"/>
            <a:ext cx="1481328" cy="201168"/>
          </a:xfrm>
          <a:prstGeom prst="rect">
            <a:avLst/>
          </a:prstGeom>
          <a:solidFill>
            <a:srgbClr val="8FB0F2">
              <a:alpha val="85000"/>
            </a:srgbClr>
          </a:solidFill>
          <a:ln/>
        </p:spPr>
      </p:sp>
      <p:sp>
        <p:nvSpPr>
          <p:cNvPr id="4" name="marker-324"/>
          <p:cNvSpPr txBox="1"/>
          <p:nvPr/>
        </p:nvSpPr>
        <p:spPr>
          <a:xfrm>
            <a:off x="685800" y="32918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CH.02  10MOO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이모티콘 4종</a:t>
            </a:r>
            <a:endParaRPr lang="en-US" sz="2700" dirty="0"/>
          </a:p>
        </p:txBody>
      </p:sp>
      <p:sp>
        <p:nvSpPr>
          <p:cNvPr id="6" name="rect-325"/>
          <p:cNvSpPr/>
          <p:nvPr/>
        </p:nvSpPr>
        <p:spPr>
          <a:xfrm>
            <a:off x="640080" y="16916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g-emo_tilt-326" descr="10MOO 이모티콘 넹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2194560" cy="2194560"/>
          </a:xfrm>
          <a:prstGeom prst="rect">
            <a:avLst/>
          </a:prstGeom>
        </p:spPr>
      </p:pic>
      <p:sp>
        <p:nvSpPr>
          <p:cNvPr id="8" name="text-327"/>
          <p:cNvSpPr txBox="1"/>
          <p:nvPr/>
        </p:nvSpPr>
        <p:spPr>
          <a:xfrm>
            <a:off x="64008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9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넹?</a:t>
            </a:r>
            <a:endParaRPr lang="en-US" sz="1700" dirty="0"/>
          </a:p>
        </p:txBody>
      </p:sp>
      <p:sp>
        <p:nvSpPr>
          <p:cNvPr id="9" name="rect-328"/>
          <p:cNvSpPr/>
          <p:nvPr/>
        </p:nvSpPr>
        <p:spPr>
          <a:xfrm>
            <a:off x="3383280" y="16916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0" name="img-emo_clasp-329" descr="10MOO 이모티콘 넵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783080"/>
            <a:ext cx="2194560" cy="2194560"/>
          </a:xfrm>
          <a:prstGeom prst="rect">
            <a:avLst/>
          </a:prstGeom>
        </p:spPr>
      </p:pic>
      <p:sp>
        <p:nvSpPr>
          <p:cNvPr id="11" name="text-330"/>
          <p:cNvSpPr txBox="1"/>
          <p:nvPr/>
        </p:nvSpPr>
        <p:spPr>
          <a:xfrm>
            <a:off x="338328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9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넵</a:t>
            </a:r>
            <a:endParaRPr lang="en-US" sz="1700" dirty="0"/>
          </a:p>
        </p:txBody>
      </p:sp>
      <p:sp>
        <p:nvSpPr>
          <p:cNvPr id="12" name="rect-331"/>
          <p:cNvSpPr/>
          <p:nvPr/>
        </p:nvSpPr>
        <p:spPr>
          <a:xfrm>
            <a:off x="6126480" y="16916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3" name="img-emo_ok-332" descr="10MOO 이모티콘 오케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83080"/>
            <a:ext cx="2194560" cy="2194560"/>
          </a:xfrm>
          <a:prstGeom prst="rect">
            <a:avLst/>
          </a:prstGeom>
        </p:spPr>
      </p:pic>
      <p:sp>
        <p:nvSpPr>
          <p:cNvPr id="14" name="text-333"/>
          <p:cNvSpPr txBox="1"/>
          <p:nvPr/>
        </p:nvSpPr>
        <p:spPr>
          <a:xfrm>
            <a:off x="612648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9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오케이</a:t>
            </a:r>
            <a:endParaRPr lang="en-US" sz="1700" dirty="0"/>
          </a:p>
        </p:txBody>
      </p:sp>
      <p:sp>
        <p:nvSpPr>
          <p:cNvPr id="15" name="rect-334"/>
          <p:cNvSpPr/>
          <p:nvPr/>
        </p:nvSpPr>
        <p:spPr>
          <a:xfrm>
            <a:off x="8869680" y="16916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6" name="img-emo_angry-335" descr="10MOO 이모티콘 무러?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783080"/>
            <a:ext cx="2194560" cy="2194560"/>
          </a:xfrm>
          <a:prstGeom prst="rect">
            <a:avLst/>
          </a:prstGeom>
        </p:spPr>
      </p:pic>
      <p:sp>
        <p:nvSpPr>
          <p:cNvPr id="17" name="text-336"/>
          <p:cNvSpPr txBox="1"/>
          <p:nvPr/>
        </p:nvSpPr>
        <p:spPr>
          <a:xfrm>
            <a:off x="886968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9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무러?</a:t>
            </a:r>
            <a:endParaRPr lang="en-US" sz="1700" dirty="0"/>
          </a:p>
        </p:txBody>
      </p:sp>
      <p:sp>
        <p:nvSpPr>
          <p:cNvPr id="18" name="rect-337"/>
          <p:cNvSpPr/>
          <p:nvPr/>
        </p:nvSpPr>
        <p:spPr>
          <a:xfrm>
            <a:off x="640080" y="512699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B59C3"/>
          </a:solidFill>
          <a:ln/>
        </p:spPr>
      </p:sp>
      <p:sp>
        <p:nvSpPr>
          <p:cNvPr id="19" name="bullet-338"/>
          <p:cNvSpPr txBox="1"/>
          <p:nvPr/>
        </p:nvSpPr>
        <p:spPr>
          <a:xfrm>
            <a:off x="932688" y="5029200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고개 갸웃 / 손 모으기 / 윙크 / 팔짱 등 동작 중심의 감정 표현</a:t>
            </a:r>
            <a:endParaRPr lang="en-US" sz="1400" dirty="0"/>
          </a:p>
        </p:txBody>
      </p:sp>
      <p:sp>
        <p:nvSpPr>
          <p:cNvPr id="20" name="rect-339"/>
          <p:cNvSpPr/>
          <p:nvPr/>
        </p:nvSpPr>
        <p:spPr>
          <a:xfrm>
            <a:off x="640080" y="562991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B59C3"/>
          </a:solidFill>
          <a:ln/>
        </p:spPr>
      </p:sp>
      <p:sp>
        <p:nvSpPr>
          <p:cNvPr id="21" name="bullet-340"/>
          <p:cNvSpPr txBox="1"/>
          <p:nvPr/>
        </p:nvSpPr>
        <p:spPr>
          <a:xfrm>
            <a:off x="932688" y="5532120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 배경 360px 규격으로 메신저 이모티콘 활용 대응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3_bg-341" descr="챕터 대표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342"/>
          <p:cNvSpPr/>
          <p:nvPr/>
        </p:nvSpPr>
        <p:spPr>
          <a:xfrm rot="-360000">
            <a:off x="2359152" y="0"/>
            <a:ext cx="384048" cy="1371600"/>
          </a:xfrm>
          <a:prstGeom prst="rect">
            <a:avLst/>
          </a:prstGeom>
          <a:solidFill>
            <a:srgbClr val="E8892B"/>
          </a:solidFill>
          <a:ln/>
        </p:spPr>
      </p:sp>
      <p:sp>
        <p:nvSpPr>
          <p:cNvPr id="4" name="rect-343"/>
          <p:cNvSpPr/>
          <p:nvPr/>
        </p:nvSpPr>
        <p:spPr>
          <a:xfrm rot="360000">
            <a:off x="3108960" y="0"/>
            <a:ext cx="384048" cy="1371600"/>
          </a:xfrm>
          <a:prstGeom prst="rect">
            <a:avLst/>
          </a:prstGeom>
          <a:solidFill>
            <a:srgbClr val="E8892B"/>
          </a:solidFill>
          <a:ln/>
        </p:spPr>
      </p:sp>
      <p:sp>
        <p:nvSpPr>
          <p:cNvPr id="5" name="rect-344"/>
          <p:cNvSpPr/>
          <p:nvPr/>
        </p:nvSpPr>
        <p:spPr>
          <a:xfrm>
            <a:off x="2633472" y="914400"/>
            <a:ext cx="585216" cy="411480"/>
          </a:xfrm>
          <a:prstGeom prst="roundRect">
            <a:avLst>
              <a:gd name="adj" fmla="val 17778"/>
            </a:avLst>
          </a:prstGeom>
          <a:solidFill>
            <a:srgbClr val="AEB3BD"/>
          </a:solidFill>
          <a:ln/>
        </p:spPr>
      </p:sp>
      <p:sp>
        <p:nvSpPr>
          <p:cNvPr id="6" name="rect-345"/>
          <p:cNvSpPr/>
          <p:nvPr/>
        </p:nvSpPr>
        <p:spPr>
          <a:xfrm>
            <a:off x="1234440" y="1143000"/>
            <a:ext cx="3383280" cy="4804258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rect-346"/>
          <p:cNvSpPr/>
          <p:nvPr/>
        </p:nvSpPr>
        <p:spPr>
          <a:xfrm>
            <a:off x="1234440" y="1143000"/>
            <a:ext cx="3383280" cy="566928"/>
          </a:xfrm>
          <a:prstGeom prst="roundRect">
            <a:avLst>
              <a:gd name="adj" fmla="val 22581"/>
            </a:avLst>
          </a:prstGeom>
          <a:solidFill>
            <a:srgbClr val="E8892B"/>
          </a:solidFill>
          <a:ln/>
        </p:spPr>
      </p:sp>
      <p:sp>
        <p:nvSpPr>
          <p:cNvPr id="8" name="rect-347"/>
          <p:cNvSpPr/>
          <p:nvPr/>
        </p:nvSpPr>
        <p:spPr>
          <a:xfrm>
            <a:off x="1234440" y="1472184"/>
            <a:ext cx="3383280" cy="237744"/>
          </a:xfrm>
          <a:prstGeom prst="rect">
            <a:avLst/>
          </a:prstGeom>
          <a:solidFill>
            <a:srgbClr val="E8892B"/>
          </a:solidFill>
          <a:ln/>
        </p:spPr>
      </p:sp>
      <p:sp>
        <p:nvSpPr>
          <p:cNvPr id="9" name="text-348"/>
          <p:cNvSpPr txBox="1"/>
          <p:nvPr/>
        </p:nvSpPr>
        <p:spPr>
          <a:xfrm>
            <a:off x="1234440" y="121615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CONTENT CREATOR</a:t>
            </a:r>
            <a:endParaRPr lang="en-US" sz="1100" dirty="0"/>
          </a:p>
        </p:txBody>
      </p:sp>
      <p:sp>
        <p:nvSpPr>
          <p:cNvPr id="10" name="rect-349"/>
          <p:cNvSpPr/>
          <p:nvPr/>
        </p:nvSpPr>
        <p:spPr>
          <a:xfrm>
            <a:off x="2043684" y="1883664"/>
            <a:ext cx="1764792" cy="2328672"/>
          </a:xfrm>
          <a:prstGeom prst="rect">
            <a:avLst/>
          </a:prstGeom>
          <a:solidFill>
            <a:srgbClr val="E2DED3"/>
          </a:solidFill>
          <a:ln/>
        </p:spPr>
      </p:sp>
      <p:pic>
        <p:nvPicPr>
          <p:cNvPr id="11" name="badge-photo-350" descr="콘티 속 칸쵸를 든 주인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1920240"/>
            <a:ext cx="1691640" cy="2255520"/>
          </a:xfrm>
          <a:prstGeom prst="rect">
            <a:avLst/>
          </a:prstGeom>
        </p:spPr>
      </p:pic>
      <p:sp>
        <p:nvSpPr>
          <p:cNvPr id="12" name="text-351"/>
          <p:cNvSpPr txBox="1"/>
          <p:nvPr/>
        </p:nvSpPr>
        <p:spPr>
          <a:xfrm>
            <a:off x="1234440" y="4267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 No. CH-03</a:t>
            </a:r>
            <a:endParaRPr lang="en-US" sz="1050" dirty="0"/>
          </a:p>
        </p:txBody>
      </p:sp>
      <p:sp>
        <p:nvSpPr>
          <p:cNvPr id="13" name="text-352"/>
          <p:cNvSpPr txBox="1"/>
          <p:nvPr/>
        </p:nvSpPr>
        <p:spPr>
          <a:xfrm>
            <a:off x="1371600" y="4541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잡았다! 피카츄</a:t>
            </a:r>
            <a:endParaRPr lang="en-US" sz="1800" dirty="0"/>
          </a:p>
        </p:txBody>
      </p:sp>
      <p:sp>
        <p:nvSpPr>
          <p:cNvPr id="14" name="text-353"/>
          <p:cNvSpPr txBox="1"/>
          <p:nvPr/>
        </p:nvSpPr>
        <p:spPr>
          <a:xfrm>
            <a:off x="1371600" y="518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TVC 콘티 / 숏폼 광고</a:t>
            </a:r>
            <a:endParaRPr lang="en-US" sz="1050" dirty="0"/>
          </a:p>
        </p:txBody>
      </p:sp>
      <p:pic>
        <p:nvPicPr>
          <p:cNvPr id="15" name="barcode-354" descr="바코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509565"/>
            <a:ext cx="2560320" cy="273101"/>
          </a:xfrm>
          <a:prstGeom prst="rect">
            <a:avLst/>
          </a:prstGeom>
        </p:spPr>
      </p:pic>
      <p:sp>
        <p:nvSpPr>
          <p:cNvPr id="16" name="text-355"/>
          <p:cNvSpPr txBox="1"/>
          <p:nvPr/>
        </p:nvSpPr>
        <p:spPr>
          <a:xfrm>
            <a:off x="56692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FC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</a:t>
            </a:r>
            <a:endParaRPr lang="en-US" sz="1500" dirty="0"/>
          </a:p>
        </p:txBody>
      </p:sp>
      <p:sp>
        <p:nvSpPr>
          <p:cNvPr id="17" name="rect-356"/>
          <p:cNvSpPr/>
          <p:nvPr/>
        </p:nvSpPr>
        <p:spPr>
          <a:xfrm>
            <a:off x="5669280" y="2103120"/>
            <a:ext cx="822960" cy="73152"/>
          </a:xfrm>
          <a:prstGeom prst="rect">
            <a:avLst/>
          </a:prstGeom>
          <a:solidFill>
            <a:srgbClr val="E8892B"/>
          </a:solidFill>
          <a:ln/>
        </p:spPr>
      </p:sp>
      <p:sp>
        <p:nvSpPr>
          <p:cNvPr id="18" name="text-357"/>
          <p:cNvSpPr txBox="1"/>
          <p:nvPr/>
        </p:nvSpPr>
        <p:spPr>
          <a:xfrm>
            <a:off x="5669280" y="23774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칸쵸 × 포켓몬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「잡았다! 피카츄」</a:t>
            </a:r>
            <a:endParaRPr lang="en-US" sz="4000" dirty="0"/>
          </a:p>
        </p:txBody>
      </p:sp>
      <p:sp>
        <p:nvSpPr>
          <p:cNvPr id="19" name="text-358"/>
          <p:cNvSpPr txBox="1"/>
          <p:nvPr/>
        </p:nvSpPr>
        <p:spPr>
          <a:xfrm>
            <a:off x="5669280" y="4434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4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칸쵸를 포켓볼처럼 던져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4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피카츄 얼굴이 새겨진 과자를 잡는 콜라보 광고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b-359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360"/>
          <p:cNvSpPr/>
          <p:nvPr/>
        </p:nvSpPr>
        <p:spPr>
          <a:xfrm>
            <a:off x="640080" y="420624"/>
            <a:ext cx="2185416" cy="201168"/>
          </a:xfrm>
          <a:prstGeom prst="rect">
            <a:avLst/>
          </a:prstGeom>
          <a:solidFill>
            <a:srgbClr val="FFC48A">
              <a:alpha val="85000"/>
            </a:srgbClr>
          </a:solidFill>
          <a:ln/>
        </p:spPr>
      </p:sp>
      <p:sp>
        <p:nvSpPr>
          <p:cNvPr id="4" name="marker-361"/>
          <p:cNvSpPr txBox="1"/>
          <p:nvPr/>
        </p:nvSpPr>
        <p:spPr>
          <a:xfrm>
            <a:off x="685800" y="329184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CH.03  칸쵸 × 포켓몬 TVC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8컷, 약 15초로 설계한 TVC 콘티</a:t>
            </a:r>
            <a:endParaRPr lang="en-US" sz="2700" dirty="0"/>
          </a:p>
        </p:txBody>
      </p:sp>
      <p:sp>
        <p:nvSpPr>
          <p:cNvPr id="6" name="rect-362"/>
          <p:cNvSpPr/>
          <p:nvPr/>
        </p:nvSpPr>
        <p:spPr>
          <a:xfrm>
            <a:off x="576072" y="1627632"/>
            <a:ext cx="11009376" cy="47365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g-sb-363" descr="칸쵸 포켓몬 콜라보 TVC 콘티 8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0881360" cy="4608576"/>
          </a:xfrm>
          <a:prstGeom prst="rect">
            <a:avLst/>
          </a:prstGeom>
        </p:spPr>
      </p:pic>
      <p:sp>
        <p:nvSpPr>
          <p:cNvPr id="8" name="rect-364"/>
          <p:cNvSpPr/>
          <p:nvPr/>
        </p:nvSpPr>
        <p:spPr>
          <a:xfrm rot="-240000">
            <a:off x="5669280" y="1536192"/>
            <a:ext cx="822960" cy="237744"/>
          </a:xfrm>
          <a:prstGeom prst="rect">
            <a:avLst/>
          </a:prstGeom>
          <a:solidFill>
            <a:srgbClr val="FFC48A">
              <a:alpha val="7500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b-365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366"/>
          <p:cNvSpPr/>
          <p:nvPr/>
        </p:nvSpPr>
        <p:spPr>
          <a:xfrm>
            <a:off x="640080" y="420624"/>
            <a:ext cx="2185416" cy="201168"/>
          </a:xfrm>
          <a:prstGeom prst="rect">
            <a:avLst/>
          </a:prstGeom>
          <a:solidFill>
            <a:srgbClr val="FFC48A">
              <a:alpha val="85000"/>
            </a:srgbClr>
          </a:solidFill>
          <a:ln/>
        </p:spPr>
      </p:sp>
      <p:sp>
        <p:nvSpPr>
          <p:cNvPr id="4" name="marker-367"/>
          <p:cNvSpPr txBox="1"/>
          <p:nvPr/>
        </p:nvSpPr>
        <p:spPr>
          <a:xfrm>
            <a:off x="685800" y="329184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CH.03  칸쵸 × 포켓몬 TVC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제품과 IP를 하나의 놀이로 엮은 광고 연출</a:t>
            </a:r>
            <a:endParaRPr lang="en-US" sz="2700" dirty="0"/>
          </a:p>
        </p:txBody>
      </p:sp>
      <p:sp>
        <p:nvSpPr>
          <p:cNvPr id="6" name="rect-368"/>
          <p:cNvSpPr/>
          <p:nvPr/>
        </p:nvSpPr>
        <p:spPr>
          <a:xfrm>
            <a:off x="576658" y="1627632"/>
            <a:ext cx="2458564" cy="14264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g-sb_c5-369" descr="콘티 C#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66" y="1691640"/>
            <a:ext cx="2330548" cy="1298448"/>
          </a:xfrm>
          <a:prstGeom prst="rect">
            <a:avLst/>
          </a:prstGeom>
        </p:spPr>
      </p:pic>
      <p:sp>
        <p:nvSpPr>
          <p:cNvPr id="8" name="rect-370"/>
          <p:cNvSpPr/>
          <p:nvPr/>
        </p:nvSpPr>
        <p:spPr>
          <a:xfrm>
            <a:off x="3154680" y="1828800"/>
            <a:ext cx="548640" cy="201168"/>
          </a:xfrm>
          <a:prstGeom prst="rect">
            <a:avLst/>
          </a:prstGeom>
          <a:solidFill>
            <a:srgbClr val="FFC48A"/>
          </a:solidFill>
          <a:ln/>
        </p:spPr>
      </p:sp>
      <p:sp>
        <p:nvSpPr>
          <p:cNvPr id="9" name="marker-371"/>
          <p:cNvSpPr txBox="1"/>
          <p:nvPr/>
        </p:nvSpPr>
        <p:spPr>
          <a:xfrm>
            <a:off x="3200400" y="17373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C#5</a:t>
            </a:r>
            <a:endParaRPr lang="en-US" sz="1150" dirty="0"/>
          </a:p>
        </p:txBody>
      </p:sp>
      <p:sp>
        <p:nvSpPr>
          <p:cNvPr id="10" name="text-372"/>
          <p:cNvSpPr txBox="1"/>
          <p:nvPr/>
        </p:nvSpPr>
        <p:spPr>
          <a:xfrm>
            <a:off x="3200400" y="2103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날아간 칸쵸가 닿는 순간 소용돌이와 함께 빨려 들어가는 피카츄</a:t>
            </a:r>
            <a:endParaRPr lang="en-US" sz="1250" dirty="0"/>
          </a:p>
        </p:txBody>
      </p:sp>
      <p:sp>
        <p:nvSpPr>
          <p:cNvPr id="11" name="rect-373"/>
          <p:cNvSpPr/>
          <p:nvPr/>
        </p:nvSpPr>
        <p:spPr>
          <a:xfrm>
            <a:off x="576658" y="3108960"/>
            <a:ext cx="2458564" cy="14264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2" name="img-sb_c7-374" descr="콘티 C#7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66" y="3172968"/>
            <a:ext cx="2330548" cy="1298448"/>
          </a:xfrm>
          <a:prstGeom prst="rect">
            <a:avLst/>
          </a:prstGeom>
        </p:spPr>
      </p:pic>
      <p:sp>
        <p:nvSpPr>
          <p:cNvPr id="13" name="rect-375"/>
          <p:cNvSpPr/>
          <p:nvPr/>
        </p:nvSpPr>
        <p:spPr>
          <a:xfrm>
            <a:off x="3154680" y="3310128"/>
            <a:ext cx="548640" cy="201168"/>
          </a:xfrm>
          <a:prstGeom prst="rect">
            <a:avLst/>
          </a:prstGeom>
          <a:solidFill>
            <a:srgbClr val="FFC48A"/>
          </a:solidFill>
          <a:ln/>
        </p:spPr>
      </p:sp>
      <p:sp>
        <p:nvSpPr>
          <p:cNvPr id="14" name="marker-376"/>
          <p:cNvSpPr txBox="1"/>
          <p:nvPr/>
        </p:nvSpPr>
        <p:spPr>
          <a:xfrm>
            <a:off x="3200400" y="32186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C#7</a:t>
            </a:r>
            <a:endParaRPr lang="en-US" sz="1150" dirty="0"/>
          </a:p>
        </p:txBody>
      </p:sp>
      <p:sp>
        <p:nvSpPr>
          <p:cNvPr id="15" name="text-377"/>
          <p:cNvSpPr txBox="1"/>
          <p:nvPr/>
        </p:nvSpPr>
        <p:spPr>
          <a:xfrm>
            <a:off x="3200400" y="35844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"잡았다 피카츄!" 얼굴이 새겨진 칸쵸를 내미는 주인공</a:t>
            </a:r>
            <a:endParaRPr lang="en-US" sz="1250" dirty="0"/>
          </a:p>
        </p:txBody>
      </p:sp>
      <p:sp>
        <p:nvSpPr>
          <p:cNvPr id="16" name="rect-378"/>
          <p:cNvSpPr/>
          <p:nvPr/>
        </p:nvSpPr>
        <p:spPr>
          <a:xfrm>
            <a:off x="576658" y="4590288"/>
            <a:ext cx="2458564" cy="14264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7" name="img-sb_c8-379" descr="콘티 C#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66" y="4654296"/>
            <a:ext cx="2330548" cy="1298448"/>
          </a:xfrm>
          <a:prstGeom prst="rect">
            <a:avLst/>
          </a:prstGeom>
        </p:spPr>
      </p:pic>
      <p:sp>
        <p:nvSpPr>
          <p:cNvPr id="18" name="rect-380"/>
          <p:cNvSpPr/>
          <p:nvPr/>
        </p:nvSpPr>
        <p:spPr>
          <a:xfrm>
            <a:off x="3154680" y="4791456"/>
            <a:ext cx="548640" cy="201168"/>
          </a:xfrm>
          <a:prstGeom prst="rect">
            <a:avLst/>
          </a:prstGeom>
          <a:solidFill>
            <a:srgbClr val="FFC48A"/>
          </a:solidFill>
          <a:ln/>
        </p:spPr>
      </p:sp>
      <p:sp>
        <p:nvSpPr>
          <p:cNvPr id="19" name="marker-381"/>
          <p:cNvSpPr txBox="1"/>
          <p:nvPr/>
        </p:nvSpPr>
        <p:spPr>
          <a:xfrm>
            <a:off x="3200400" y="47000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C#8</a:t>
            </a:r>
            <a:endParaRPr lang="en-US" sz="1150" dirty="0"/>
          </a:p>
        </p:txBody>
      </p:sp>
      <p:sp>
        <p:nvSpPr>
          <p:cNvPr id="20" name="text-382"/>
          <p:cNvSpPr txBox="1"/>
          <p:nvPr/>
        </p:nvSpPr>
        <p:spPr>
          <a:xfrm>
            <a:off x="3200400" y="50657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포켓몬 얼굴 칸쵸가 쏟아지는 제품 엔딩</a:t>
            </a:r>
            <a:endParaRPr lang="en-US" sz="1250" dirty="0"/>
          </a:p>
        </p:txBody>
      </p:sp>
      <p:sp>
        <p:nvSpPr>
          <p:cNvPr id="21" name="rect-383"/>
          <p:cNvSpPr/>
          <p:nvPr/>
        </p:nvSpPr>
        <p:spPr>
          <a:xfrm>
            <a:off x="6934708" y="1673352"/>
            <a:ext cx="4647184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22" name="img-poster_ad-384" descr="칸쵸 광고 영상 보기">
            <a:hlinkClick r:id="rId6" tooltip="영상 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8716" y="1737360"/>
            <a:ext cx="4519168" cy="2542032"/>
          </a:xfrm>
          <a:prstGeom prst="rect">
            <a:avLst/>
          </a:prstGeom>
        </p:spPr>
      </p:pic>
      <p:sp>
        <p:nvSpPr>
          <p:cNvPr id="23" name="rect-385"/>
          <p:cNvSpPr/>
          <p:nvPr/>
        </p:nvSpPr>
        <p:spPr>
          <a:xfrm>
            <a:off x="6995160" y="4567873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892B"/>
          </a:solidFill>
          <a:ln/>
        </p:spPr>
      </p:sp>
      <p:sp>
        <p:nvSpPr>
          <p:cNvPr id="24" name="bullet-386"/>
          <p:cNvSpPr txBox="1"/>
          <p:nvPr/>
        </p:nvSpPr>
        <p:spPr>
          <a:xfrm>
            <a:off x="7287768" y="448056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칸쵸를 포켓볼처럼 던지는 놀이로 제품과 IP를 자연스럽게 결합</a:t>
            </a:r>
            <a:endParaRPr lang="en-US" sz="1250" dirty="0"/>
          </a:p>
        </p:txBody>
      </p:sp>
      <p:sp>
        <p:nvSpPr>
          <p:cNvPr id="25" name="rect-387"/>
          <p:cNvSpPr/>
          <p:nvPr/>
        </p:nvSpPr>
        <p:spPr>
          <a:xfrm>
            <a:off x="6995160" y="5116513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892B"/>
          </a:solidFill>
          <a:ln/>
        </p:spPr>
      </p:sp>
      <p:sp>
        <p:nvSpPr>
          <p:cNvPr id="26" name="bullet-388"/>
          <p:cNvSpPr txBox="1"/>
          <p:nvPr/>
        </p:nvSpPr>
        <p:spPr>
          <a:xfrm>
            <a:off x="7287768" y="502920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Tap! / Click! / Ta-da! 효과음 카피로 컷 전환 리듬 강화</a:t>
            </a:r>
            <a:endParaRPr lang="en-US" sz="1250" dirty="0"/>
          </a:p>
        </p:txBody>
      </p:sp>
      <p:sp>
        <p:nvSpPr>
          <p:cNvPr id="27" name="rect-389"/>
          <p:cNvSpPr/>
          <p:nvPr/>
        </p:nvSpPr>
        <p:spPr>
          <a:xfrm>
            <a:off x="6995160" y="5665153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892B"/>
          </a:solidFill>
          <a:ln/>
        </p:spPr>
      </p:sp>
      <p:sp>
        <p:nvSpPr>
          <p:cNvPr id="28" name="bullet-390"/>
          <p:cNvSpPr txBox="1"/>
          <p:nvPr/>
        </p:nvSpPr>
        <p:spPr>
          <a:xfrm>
            <a:off x="7287768" y="557784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"포켓몬 X 칸쵸 지금 모으러 가자!" 내레이션으로 수집 욕구 자극</a:t>
            </a:r>
            <a:endParaRPr lang="en-US" sz="1250" dirty="0"/>
          </a:p>
        </p:txBody>
      </p:sp>
      <p:sp>
        <p:nvSpPr>
          <p:cNvPr id="29" name="rect-391"/>
          <p:cNvSpPr/>
          <p:nvPr/>
        </p:nvSpPr>
        <p:spPr>
          <a:xfrm>
            <a:off x="6995160" y="58978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8892B"/>
          </a:solidFill>
          <a:ln/>
        </p:spPr>
      </p:sp>
      <p:sp>
        <p:nvSpPr>
          <p:cNvPr id="30" name="link-392"/>
          <p:cNvSpPr txBox="1"/>
          <p:nvPr/>
        </p:nvSpPr>
        <p:spPr>
          <a:xfrm>
            <a:off x="6995160" y="5897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https://drive.google.com/file/d/1Q3nT1ksGNVQFKc4LVaPQIXms32olCPhb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광고 영상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9B8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ight-393" descr="강엔터 회의실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394"/>
          <p:cNvSpPr/>
          <p:nvPr/>
        </p:nvSpPr>
        <p:spPr>
          <a:xfrm rot="-120000">
            <a:off x="3794760" y="1463040"/>
            <a:ext cx="4572000" cy="3931920"/>
          </a:xfrm>
          <a:prstGeom prst="rect">
            <a:avLst/>
          </a:prstGeom>
          <a:solidFill>
            <a:srgbClr val="FFE14D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rect-395"/>
          <p:cNvSpPr/>
          <p:nvPr/>
        </p:nvSpPr>
        <p:spPr>
          <a:xfrm rot="-360000">
            <a:off x="5669280" y="1325880"/>
            <a:ext cx="822960" cy="27432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text-396"/>
          <p:cNvSpPr txBox="1"/>
          <p:nvPr/>
        </p:nvSpPr>
        <p:spPr>
          <a:xfrm>
            <a:off x="3977640" y="2148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6" name="text-397"/>
          <p:cNvSpPr txBox="1"/>
          <p:nvPr/>
        </p:nvSpPr>
        <p:spPr>
          <a:xfrm>
            <a:off x="397764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최영빈</a:t>
            </a:r>
            <a:endParaRPr lang="en-US" sz="2200" dirty="0"/>
          </a:p>
        </p:txBody>
      </p:sp>
      <p:sp>
        <p:nvSpPr>
          <p:cNvPr id="7" name="text-398"/>
          <p:cNvSpPr txBox="1"/>
          <p:nvPr/>
        </p:nvSpPr>
        <p:spPr>
          <a:xfrm>
            <a:off x="397764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4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로맨틱 코미디 / 캐릭터 IP / TVC 콘티</a:t>
            </a:r>
            <a:endParaRPr lang="en-US" sz="1300" dirty="0"/>
          </a:p>
        </p:txBody>
      </p:sp>
      <p:pic>
        <p:nvPicPr>
          <p:cNvPr id="8" name="barcode-399" descr="바코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434840"/>
            <a:ext cx="2286000" cy="243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Badge">
  <a:themeElements>
    <a:clrScheme name="Office Badge">
      <a:dk1>
        <a:srgbClr val="1E222C"/>
      </a:dk1>
      <a:lt1>
        <a:srgbClr val="FFFFFF"/>
      </a:lt1>
      <a:dk2>
        <a:srgbClr val="2A303D"/>
      </a:dk2>
      <a:lt2>
        <a:srgbClr val="F7F5EF"/>
      </a:lt2>
      <a:accent1>
        <a:srgbClr val="2B59C3"/>
      </a:accent1>
      <a:accent2>
        <a:srgbClr val="FFE14D"/>
      </a:accent2>
      <a:accent3>
        <a:srgbClr val="E8892B"/>
      </a:accent3>
      <a:accent4>
        <a:srgbClr val="8FB0F2"/>
      </a:accent4>
      <a:accent5>
        <a:srgbClr val="C9A800"/>
      </a:accent5>
      <a:accent6>
        <a:srgbClr val="6B6F78"/>
      </a:accent6>
      <a:hlink>
        <a:srgbClr val="2B59C3"/>
      </a:hlink>
      <a:folHlink>
        <a:srgbClr val="2B59C3"/>
      </a:folHlink>
    </a:clrScheme>
    <a:fontScheme name="Office Badg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최영빈 포트폴리오</dc:title>
  <dc:subject>PptxGenJS Presentation</dc:subject>
  <dc:creator>최영빈</dc:creator>
  <cp:lastModifiedBy>최영빈</cp:lastModifiedBy>
  <cp:revision>1</cp:revision>
  <dcterms:created xsi:type="dcterms:W3CDTF">2026-10-02T04:22:40Z</dcterms:created>
  <dcterms:modified xsi:type="dcterms:W3CDTF">2026-10-02T04:22:40Z</dcterms:modified>
</cp:coreProperties>
</file>