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CH">
    <p:bg>
      <p:bgPr>
        <a:solidFill>
          <a:srgbClr val="EF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E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고일준  ·  AI 콘텐츠 크리에이터 포트폴리오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952F"/>
                </a:solidFill>
                <a:latin typeface="Palatino Linotype"/>
                <a:ea typeface="Palatino Linotype"/>
                <a:cs typeface="Palatino Linotype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GHT">
    <p:bg>
      <p:bgPr>
        <a:solidFill>
          <a:srgbClr val="0E2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EFE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고일준  ·  AI 콘텐츠 크리에이터 포트폴리오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6C27A"/>
                </a:solidFill>
                <a:latin typeface="Palatino Linotype"/>
                <a:ea typeface="Palatino Linotype"/>
                <a:cs typeface="Palatino Linotype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0E2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952F"/>
                </a:solidFill>
                <a:latin typeface="Palatino Linotype"/>
                <a:ea typeface="Palatino Linotype"/>
                <a:cs typeface="Palatino Linotype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hyperlink" Target="https://drive.google.com/file/d/1qgZ3MNQNXUd2Jvw82OL8JyUNG1nOVp1b/view" TargetMode="External"/><Relationship Id="rId6" Type="http://schemas.openxmlformats.org/officeDocument/2006/relationships/hyperlink" Target="https://drive.google.com/file/d/1tJBJx1PWxtNXg1bALg6v3TdEt8SJ0HH2/view" TargetMode="External"/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5" Type="http://schemas.openxmlformats.org/officeDocument/2006/relationships/image" Target="../media/image-9-4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cover-1" descr="성층권 연구시설의 빛나는 큐브 이미지보드를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2"/>
          <p:cNvSpPr/>
          <p:nvPr/>
        </p:nvSpPr>
        <p:spPr>
          <a:xfrm>
            <a:off x="6200577" y="850392"/>
            <a:ext cx="5429645" cy="4370832"/>
          </a:xfrm>
          <a:prstGeom prst="rect">
            <a:avLst/>
          </a:prstGeom>
          <a:solidFill>
            <a:srgbClr val="1B3B3F"/>
          </a:solidFill>
          <a:ln w="28575">
            <a:solidFill>
              <a:srgbClr val="C9952F"/>
            </a:solidFill>
            <a:prstDash val="solid"/>
          </a:ln>
        </p:spPr>
      </p:sp>
      <p:pic>
        <p:nvPicPr>
          <p:cNvPr id="4" name="img-board-3" descr="어두운 연구시설 한가운데 황금빛으로 빛나는 큐브와 그 앞에 선 연구원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585" y="914400"/>
            <a:ext cx="5301629" cy="4242816"/>
          </a:xfrm>
          <a:prstGeom prst="rect">
            <a:avLst/>
          </a:prstGeom>
        </p:spPr>
      </p:pic>
      <p:sp>
        <p:nvSpPr>
          <p:cNvPr id="5" name="text-4"/>
          <p:cNvSpPr txBox="1"/>
          <p:nvPr/>
        </p:nvSpPr>
        <p:spPr>
          <a:xfrm>
            <a:off x="640080" y="1188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C2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 CONTENT CREATOR PORTFOLIO</a:t>
            </a:r>
            <a:endParaRPr lang="en-US" sz="1200" dirty="0"/>
          </a:p>
        </p:txBody>
      </p:sp>
      <p:sp>
        <p:nvSpPr>
          <p:cNvPr id="6" name="text-5"/>
          <p:cNvSpPr txBox="1"/>
          <p:nvPr/>
        </p:nvSpPr>
        <p:spPr>
          <a:xfrm>
            <a:off x="640080" y="15544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FE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고일준</a:t>
            </a:r>
            <a:endParaRPr lang="en-US" sz="5800" dirty="0"/>
          </a:p>
        </p:txBody>
      </p:sp>
      <p:sp>
        <p:nvSpPr>
          <p:cNvPr id="7" name="cable-6"/>
          <p:cNvSpPr/>
          <p:nvPr/>
        </p:nvSpPr>
        <p:spPr>
          <a:xfrm>
            <a:off x="640080" y="2788920"/>
            <a:ext cx="5120640" cy="0"/>
          </a:xfrm>
          <a:prstGeom prst="line">
            <a:avLst/>
          </a:prstGeom>
          <a:noFill/>
          <a:ln w="22225">
            <a:solidFill>
              <a:srgbClr val="C9952F"/>
            </a:solidFill>
            <a:prstDash val="solid"/>
          </a:ln>
        </p:spPr>
      </p:sp>
      <p:sp>
        <p:nvSpPr>
          <p:cNvPr id="8" name="rect-7"/>
          <p:cNvSpPr/>
          <p:nvPr/>
        </p:nvSpPr>
        <p:spPr>
          <a:xfrm>
            <a:off x="1461211" y="2743200"/>
            <a:ext cx="201168" cy="91440"/>
          </a:xfrm>
          <a:prstGeom prst="rect">
            <a:avLst/>
          </a:prstGeom>
          <a:solidFill>
            <a:srgbClr val="C9952F"/>
          </a:solidFill>
          <a:ln/>
        </p:spPr>
      </p:sp>
      <p:sp>
        <p:nvSpPr>
          <p:cNvPr id="9" name="rect-8"/>
          <p:cNvSpPr/>
          <p:nvPr/>
        </p:nvSpPr>
        <p:spPr>
          <a:xfrm>
            <a:off x="3099816" y="2743200"/>
            <a:ext cx="201168" cy="91440"/>
          </a:xfrm>
          <a:prstGeom prst="rect">
            <a:avLst/>
          </a:prstGeom>
          <a:solidFill>
            <a:srgbClr val="C9952F"/>
          </a:solidFill>
          <a:ln/>
        </p:spPr>
      </p:sp>
      <p:sp>
        <p:nvSpPr>
          <p:cNvPr id="10" name="rect-9"/>
          <p:cNvSpPr/>
          <p:nvPr/>
        </p:nvSpPr>
        <p:spPr>
          <a:xfrm>
            <a:off x="4738421" y="2743200"/>
            <a:ext cx="201168" cy="91440"/>
          </a:xfrm>
          <a:prstGeom prst="rect">
            <a:avLst/>
          </a:prstGeom>
          <a:solidFill>
            <a:srgbClr val="C9952F"/>
          </a:solidFill>
          <a:ln/>
        </p:spPr>
      </p:sp>
      <p:sp>
        <p:nvSpPr>
          <p:cNvPr id="11" name="text-10"/>
          <p:cNvSpPr txBox="1"/>
          <p:nvPr/>
        </p:nvSpPr>
        <p:spPr>
          <a:xfrm>
            <a:off x="640080" y="30175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800" kern="0" dirty="0">
                <a:solidFill>
                  <a:srgbClr val="E6C2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RAPUNZEL</a:t>
            </a:r>
            <a:endParaRPr lang="en-US" sz="4000" dirty="0"/>
          </a:p>
        </p:txBody>
      </p:sp>
      <p:sp>
        <p:nvSpPr>
          <p:cNvPr id="12" name="text-11"/>
          <p:cNvSpPr txBox="1"/>
          <p:nvPr/>
        </p:nvSpPr>
        <p:spPr>
          <a:xfrm>
            <a:off x="640080" y="37947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FE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라푼젤 SF 재해석 애니메이션 기획 (가제)</a:t>
            </a:r>
            <a:endParaRPr lang="en-US" sz="1600" dirty="0"/>
          </a:p>
        </p:txBody>
      </p:sp>
      <p:sp>
        <p:nvSpPr>
          <p:cNvPr id="13" name="text-12"/>
          <p:cNvSpPr txBox="1"/>
          <p:nvPr/>
        </p:nvSpPr>
        <p:spPr>
          <a:xfrm>
            <a:off x="640080" y="42519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9C9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고전 동화의 원형을 SF 서사와 그래픽 노블 미학으로 다시 쓰는 기획</a:t>
            </a:r>
            <a:endParaRPr lang="en-US" sz="1300" dirty="0"/>
          </a:p>
        </p:txBody>
      </p:sp>
      <p:sp>
        <p:nvSpPr>
          <p:cNvPr id="14" name="text-13"/>
          <p:cNvSpPr txBox="1"/>
          <p:nvPr/>
        </p:nvSpPr>
        <p:spPr>
          <a:xfrm>
            <a:off x="640080" y="6126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 매력일자리 AI 콘텐츠 크리에이터 양성과정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arch-14" descr="작품 이미지를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15"/>
          <p:cNvSpPr/>
          <p:nvPr/>
        </p:nvSpPr>
        <p:spPr>
          <a:xfrm>
            <a:off x="640080" y="329184"/>
            <a:ext cx="1207008" cy="310896"/>
          </a:xfrm>
          <a:prstGeom prst="rect">
            <a:avLst/>
          </a:prstGeom>
          <a:solidFill>
            <a:srgbClr val="F7E9B8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4" name="diamond-16"/>
          <p:cNvSpPr/>
          <p:nvPr/>
        </p:nvSpPr>
        <p:spPr>
          <a:xfrm>
            <a:off x="749808" y="420624"/>
            <a:ext cx="128016" cy="128016"/>
          </a:xfrm>
          <a:prstGeom prst="diamond">
            <a:avLst/>
          </a:prstGeom>
          <a:solidFill>
            <a:srgbClr val="C9952F"/>
          </a:solidFill>
          <a:ln/>
        </p:spPr>
      </p:sp>
      <p:sp>
        <p:nvSpPr>
          <p:cNvPr id="5" name="label-17"/>
          <p:cNvSpPr txBox="1"/>
          <p:nvPr/>
        </p:nvSpPr>
        <p:spPr>
          <a:xfrm>
            <a:off x="969264" y="3291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원작 재해석 기획부터 스타일 바이블까지 설계하는 역량</a:t>
            </a:r>
            <a:endParaRPr lang="en-US" sz="2600" dirty="0"/>
          </a:p>
        </p:txBody>
      </p:sp>
      <p:sp>
        <p:nvSpPr>
          <p:cNvPr id="7" name="rect-18"/>
          <p:cNvSpPr/>
          <p:nvPr/>
        </p:nvSpPr>
        <p:spPr>
          <a:xfrm>
            <a:off x="640080" y="1783080"/>
            <a:ext cx="2587752" cy="3520440"/>
          </a:xfrm>
          <a:prstGeom prst="rect">
            <a:avLst/>
          </a:prstGeom>
          <a:solidFill>
            <a:srgbClr val="FBF6EC"/>
          </a:solidFill>
          <a:ln w="28575">
            <a:solidFill>
              <a:srgbClr val="1F1B16"/>
            </a:solidFill>
            <a:prstDash val="solid"/>
          </a:ln>
        </p:spPr>
      </p:sp>
      <p:sp>
        <p:nvSpPr>
          <p:cNvPr id="8" name="rect-19"/>
          <p:cNvSpPr/>
          <p:nvPr/>
        </p:nvSpPr>
        <p:spPr>
          <a:xfrm>
            <a:off x="640080" y="1783080"/>
            <a:ext cx="2587752" cy="914400"/>
          </a:xfrm>
          <a:prstGeom prst="rect">
            <a:avLst/>
          </a:prstGeom>
          <a:solidFill>
            <a:srgbClr val="F7E9B8"/>
          </a:solidFill>
          <a:ln w="28575">
            <a:solidFill>
              <a:srgbClr val="1F1B16"/>
            </a:solidFill>
            <a:prstDash val="solid"/>
          </a:ln>
        </p:spPr>
      </p:sp>
      <p:sp>
        <p:nvSpPr>
          <p:cNvPr id="9" name="text-20"/>
          <p:cNvSpPr txBox="1"/>
          <p:nvPr/>
        </p:nvSpPr>
        <p:spPr>
          <a:xfrm>
            <a:off x="868680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5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diamond-21"/>
          <p:cNvSpPr/>
          <p:nvPr/>
        </p:nvSpPr>
        <p:spPr>
          <a:xfrm>
            <a:off x="2724912" y="2130552"/>
            <a:ext cx="237744" cy="237744"/>
          </a:xfrm>
          <a:prstGeom prst="diamond">
            <a:avLst/>
          </a:prstGeom>
          <a:solidFill>
            <a:srgbClr val="1F1B16"/>
          </a:solidFill>
          <a:ln/>
        </p:spPr>
      </p:sp>
      <p:sp>
        <p:nvSpPr>
          <p:cNvPr id="11" name="text-22"/>
          <p:cNvSpPr txBox="1"/>
          <p:nvPr/>
        </p:nvSpPr>
        <p:spPr>
          <a:xfrm>
            <a:off x="868680" y="29718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원작 재해석 기획</a:t>
            </a:r>
            <a:endParaRPr lang="en-US" sz="1800" dirty="0"/>
          </a:p>
        </p:txBody>
      </p:sp>
      <p:sp>
        <p:nvSpPr>
          <p:cNvPr id="12" name="text-23"/>
          <p:cNvSpPr txBox="1"/>
          <p:nvPr/>
        </p:nvSpPr>
        <p:spPr>
          <a:xfrm>
            <a:off x="868680" y="3566160"/>
            <a:ext cx="2176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A42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고전 동화 '라푼젤'의 원형 요소를 계승하고 SF 설정으로 새롭게 해석한 서사 기획</a:t>
            </a:r>
            <a:endParaRPr lang="en-US" sz="1350" dirty="0"/>
          </a:p>
        </p:txBody>
      </p:sp>
      <p:sp>
        <p:nvSpPr>
          <p:cNvPr id="13" name="rect-24"/>
          <p:cNvSpPr/>
          <p:nvPr/>
        </p:nvSpPr>
        <p:spPr>
          <a:xfrm>
            <a:off x="3410712" y="1783080"/>
            <a:ext cx="2587752" cy="3520440"/>
          </a:xfrm>
          <a:prstGeom prst="rect">
            <a:avLst/>
          </a:prstGeom>
          <a:solidFill>
            <a:srgbClr val="FBF6EC"/>
          </a:solidFill>
          <a:ln w="28575">
            <a:solidFill>
              <a:srgbClr val="1F1B16"/>
            </a:solidFill>
            <a:prstDash val="solid"/>
          </a:ln>
        </p:spPr>
      </p:sp>
      <p:sp>
        <p:nvSpPr>
          <p:cNvPr id="14" name="rect-25"/>
          <p:cNvSpPr/>
          <p:nvPr/>
        </p:nvSpPr>
        <p:spPr>
          <a:xfrm>
            <a:off x="3410712" y="1783080"/>
            <a:ext cx="2587752" cy="914400"/>
          </a:xfrm>
          <a:prstGeom prst="rect">
            <a:avLst/>
          </a:prstGeom>
          <a:solidFill>
            <a:srgbClr val="1B3B3F"/>
          </a:solidFill>
          <a:ln w="28575">
            <a:solidFill>
              <a:srgbClr val="1F1B16"/>
            </a:solidFill>
            <a:prstDash val="solid"/>
          </a:ln>
        </p:spPr>
      </p:sp>
      <p:sp>
        <p:nvSpPr>
          <p:cNvPr id="15" name="text-26"/>
          <p:cNvSpPr txBox="1"/>
          <p:nvPr/>
        </p:nvSpPr>
        <p:spPr>
          <a:xfrm>
            <a:off x="3639312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C2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diamond-27"/>
          <p:cNvSpPr/>
          <p:nvPr/>
        </p:nvSpPr>
        <p:spPr>
          <a:xfrm>
            <a:off x="5495544" y="2130552"/>
            <a:ext cx="237744" cy="237744"/>
          </a:xfrm>
          <a:prstGeom prst="diamond">
            <a:avLst/>
          </a:prstGeom>
          <a:solidFill>
            <a:srgbClr val="E6C27A"/>
          </a:solidFill>
          <a:ln/>
        </p:spPr>
      </p:sp>
      <p:sp>
        <p:nvSpPr>
          <p:cNvPr id="17" name="text-28"/>
          <p:cNvSpPr txBox="1"/>
          <p:nvPr/>
        </p:nvSpPr>
        <p:spPr>
          <a:xfrm>
            <a:off x="3639312" y="29718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세계관 / 캐릭터 설계</a:t>
            </a:r>
            <a:endParaRPr lang="en-US" sz="1800" dirty="0"/>
          </a:p>
        </p:txBody>
      </p:sp>
      <p:sp>
        <p:nvSpPr>
          <p:cNvPr id="18" name="text-29"/>
          <p:cNvSpPr txBox="1"/>
          <p:nvPr/>
        </p:nvSpPr>
        <p:spPr>
          <a:xfrm>
            <a:off x="3639312" y="3566160"/>
            <a:ext cx="2176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A42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AI툴을 활용한 캐릭터 시트 / 표정 시트 / 이미지보드로 세계관 시각화</a:t>
            </a:r>
            <a:endParaRPr lang="en-US" sz="1350" dirty="0"/>
          </a:p>
        </p:txBody>
      </p:sp>
      <p:sp>
        <p:nvSpPr>
          <p:cNvPr id="19" name="rect-30"/>
          <p:cNvSpPr/>
          <p:nvPr/>
        </p:nvSpPr>
        <p:spPr>
          <a:xfrm>
            <a:off x="6181344" y="1783080"/>
            <a:ext cx="2587752" cy="3520440"/>
          </a:xfrm>
          <a:prstGeom prst="rect">
            <a:avLst/>
          </a:prstGeom>
          <a:solidFill>
            <a:srgbClr val="FBF6EC"/>
          </a:solidFill>
          <a:ln w="28575">
            <a:solidFill>
              <a:srgbClr val="1F1B16"/>
            </a:solidFill>
            <a:prstDash val="solid"/>
          </a:ln>
        </p:spPr>
      </p:sp>
      <p:sp>
        <p:nvSpPr>
          <p:cNvPr id="20" name="rect-31"/>
          <p:cNvSpPr/>
          <p:nvPr/>
        </p:nvSpPr>
        <p:spPr>
          <a:xfrm>
            <a:off x="6181344" y="1783080"/>
            <a:ext cx="2587752" cy="914400"/>
          </a:xfrm>
          <a:prstGeom prst="rect">
            <a:avLst/>
          </a:prstGeom>
          <a:solidFill>
            <a:srgbClr val="F7E9B8"/>
          </a:solidFill>
          <a:ln w="28575">
            <a:solidFill>
              <a:srgbClr val="1F1B16"/>
            </a:solidFill>
            <a:prstDash val="solid"/>
          </a:ln>
        </p:spPr>
      </p:sp>
      <p:sp>
        <p:nvSpPr>
          <p:cNvPr id="21" name="text-32"/>
          <p:cNvSpPr txBox="1"/>
          <p:nvPr/>
        </p:nvSpPr>
        <p:spPr>
          <a:xfrm>
            <a:off x="6409944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5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diamond-33"/>
          <p:cNvSpPr/>
          <p:nvPr/>
        </p:nvSpPr>
        <p:spPr>
          <a:xfrm>
            <a:off x="8266176" y="2130552"/>
            <a:ext cx="237744" cy="237744"/>
          </a:xfrm>
          <a:prstGeom prst="diamond">
            <a:avLst/>
          </a:prstGeom>
          <a:solidFill>
            <a:srgbClr val="1F1B16"/>
          </a:solidFill>
          <a:ln/>
        </p:spPr>
      </p:sp>
      <p:sp>
        <p:nvSpPr>
          <p:cNvPr id="23" name="text-34"/>
          <p:cNvSpPr txBox="1"/>
          <p:nvPr/>
        </p:nvSpPr>
        <p:spPr>
          <a:xfrm>
            <a:off x="6409944" y="29718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비주얼 스타일 바이블</a:t>
            </a:r>
            <a:endParaRPr lang="en-US" sz="1800" dirty="0"/>
          </a:p>
        </p:txBody>
      </p:sp>
      <p:sp>
        <p:nvSpPr>
          <p:cNvPr id="24" name="text-35"/>
          <p:cNvSpPr txBox="1"/>
          <p:nvPr/>
        </p:nvSpPr>
        <p:spPr>
          <a:xfrm>
            <a:off x="6409944" y="3566160"/>
            <a:ext cx="2176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A42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리뉴 클레르 손그림 스타일과 청록 / 황금 보색 대비로 일관된 톤 설계</a:t>
            </a:r>
            <a:endParaRPr lang="en-US" sz="1350" dirty="0"/>
          </a:p>
        </p:txBody>
      </p:sp>
      <p:sp>
        <p:nvSpPr>
          <p:cNvPr id="25" name="rect-36"/>
          <p:cNvSpPr/>
          <p:nvPr/>
        </p:nvSpPr>
        <p:spPr>
          <a:xfrm>
            <a:off x="8951976" y="1783080"/>
            <a:ext cx="2587752" cy="3520440"/>
          </a:xfrm>
          <a:prstGeom prst="rect">
            <a:avLst/>
          </a:prstGeom>
          <a:solidFill>
            <a:srgbClr val="FBF6EC"/>
          </a:solidFill>
          <a:ln w="28575">
            <a:solidFill>
              <a:srgbClr val="1F1B16"/>
            </a:solidFill>
            <a:prstDash val="solid"/>
          </a:ln>
        </p:spPr>
      </p:sp>
      <p:sp>
        <p:nvSpPr>
          <p:cNvPr id="26" name="rect-37"/>
          <p:cNvSpPr/>
          <p:nvPr/>
        </p:nvSpPr>
        <p:spPr>
          <a:xfrm>
            <a:off x="8951976" y="1783080"/>
            <a:ext cx="2587752" cy="914400"/>
          </a:xfrm>
          <a:prstGeom prst="rect">
            <a:avLst/>
          </a:prstGeom>
          <a:solidFill>
            <a:srgbClr val="1B3B3F"/>
          </a:solidFill>
          <a:ln w="28575">
            <a:solidFill>
              <a:srgbClr val="1F1B16"/>
            </a:solidFill>
            <a:prstDash val="solid"/>
          </a:ln>
        </p:spPr>
      </p:sp>
      <p:sp>
        <p:nvSpPr>
          <p:cNvPr id="27" name="text-38"/>
          <p:cNvSpPr txBox="1"/>
          <p:nvPr/>
        </p:nvSpPr>
        <p:spPr>
          <a:xfrm>
            <a:off x="9180576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C2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3000" dirty="0"/>
          </a:p>
        </p:txBody>
      </p:sp>
      <p:sp>
        <p:nvSpPr>
          <p:cNvPr id="28" name="diamond-39"/>
          <p:cNvSpPr/>
          <p:nvPr/>
        </p:nvSpPr>
        <p:spPr>
          <a:xfrm>
            <a:off x="11036808" y="2130552"/>
            <a:ext cx="237744" cy="237744"/>
          </a:xfrm>
          <a:prstGeom prst="diamond">
            <a:avLst/>
          </a:prstGeom>
          <a:solidFill>
            <a:srgbClr val="E6C27A"/>
          </a:solidFill>
          <a:ln/>
        </p:spPr>
      </p:sp>
      <p:sp>
        <p:nvSpPr>
          <p:cNvPr id="29" name="text-40"/>
          <p:cNvSpPr txBox="1"/>
          <p:nvPr/>
        </p:nvSpPr>
        <p:spPr>
          <a:xfrm>
            <a:off x="9180576" y="29718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리서치</a:t>
            </a:r>
            <a:endParaRPr lang="en-US" sz="1800" dirty="0"/>
          </a:p>
        </p:txBody>
      </p:sp>
      <p:sp>
        <p:nvSpPr>
          <p:cNvPr id="30" name="text-41"/>
          <p:cNvSpPr txBox="1"/>
          <p:nvPr/>
        </p:nvSpPr>
        <p:spPr>
          <a:xfrm>
            <a:off x="9180576" y="3566160"/>
            <a:ext cx="21762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A42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작품 검토와 원작 비평 해석을 인물 구축에 반영</a:t>
            </a:r>
            <a:endParaRPr lang="en-US" sz="1350" dirty="0"/>
          </a:p>
        </p:txBody>
      </p:sp>
      <p:sp>
        <p:nvSpPr>
          <p:cNvPr id="31" name="rect-42"/>
          <p:cNvSpPr/>
          <p:nvPr/>
        </p:nvSpPr>
        <p:spPr>
          <a:xfrm>
            <a:off x="640080" y="5577840"/>
            <a:ext cx="10908792" cy="548640"/>
          </a:xfrm>
          <a:prstGeom prst="rect">
            <a:avLst/>
          </a:prstGeom>
          <a:solidFill>
            <a:srgbClr val="F7E9B8"/>
          </a:solidFill>
          <a:ln w="19050">
            <a:solidFill>
              <a:srgbClr val="1F1B16"/>
            </a:solidFill>
            <a:prstDash val="solid"/>
          </a:ln>
        </p:spPr>
      </p:sp>
      <p:sp>
        <p:nvSpPr>
          <p:cNvPr id="32" name="text-43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"작은 규모의 이야기 안에 웅장하고 시네마틱한 분위기를 담아내는 것"  작품개요 기획의도 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952F"/>
                </a:solidFill>
                <a:latin typeface="Palatino Linotype"/>
                <a:ea typeface="Palatino Linotype"/>
                <a:cs typeface="Palatino Linotype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night-44" descr="작품 이미지를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45"/>
          <p:cNvSpPr/>
          <p:nvPr/>
        </p:nvSpPr>
        <p:spPr>
          <a:xfrm>
            <a:off x="640080" y="329184"/>
            <a:ext cx="1298448" cy="310896"/>
          </a:xfrm>
          <a:prstGeom prst="rect">
            <a:avLst/>
          </a:prstGeom>
          <a:solidFill>
            <a:srgbClr val="1B3B3F"/>
          </a:solidFill>
          <a:ln w="15875">
            <a:solidFill>
              <a:srgbClr val="C9952F"/>
            </a:solidFill>
            <a:prstDash val="solid"/>
          </a:ln>
        </p:spPr>
      </p:sp>
      <p:sp>
        <p:nvSpPr>
          <p:cNvPr id="4" name="diamond-46"/>
          <p:cNvSpPr/>
          <p:nvPr/>
        </p:nvSpPr>
        <p:spPr>
          <a:xfrm>
            <a:off x="749808" y="420624"/>
            <a:ext cx="128016" cy="128016"/>
          </a:xfrm>
          <a:prstGeom prst="diamond">
            <a:avLst/>
          </a:prstGeom>
          <a:solidFill>
            <a:srgbClr val="C9952F"/>
          </a:solidFill>
          <a:ln/>
        </p:spPr>
      </p:sp>
      <p:sp>
        <p:nvSpPr>
          <p:cNvPr id="5" name="label-47"/>
          <p:cNvSpPr txBox="1"/>
          <p:nvPr/>
        </p:nvSpPr>
        <p:spPr>
          <a:xfrm>
            <a:off x="969264" y="329184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FE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완전무결한 유리 감옥과 구원자의 반전, SF 판타지 기획</a:t>
            </a:r>
            <a:endParaRPr lang="en-US" sz="2600" dirty="0"/>
          </a:p>
        </p:txBody>
      </p:sp>
      <p:sp>
        <p:nvSpPr>
          <p:cNvPr id="7" name="rect-48"/>
          <p:cNvSpPr/>
          <p:nvPr/>
        </p:nvSpPr>
        <p:spPr>
          <a:xfrm>
            <a:off x="576968" y="1673352"/>
            <a:ext cx="5155423" cy="4151376"/>
          </a:xfrm>
          <a:prstGeom prst="rect">
            <a:avLst/>
          </a:prstGeom>
          <a:solidFill>
            <a:srgbClr val="1B3B3F"/>
          </a:solidFill>
          <a:ln w="28575">
            <a:solidFill>
              <a:srgbClr val="C9952F"/>
            </a:solidFill>
            <a:prstDash val="solid"/>
          </a:ln>
        </p:spPr>
      </p:sp>
      <p:pic>
        <p:nvPicPr>
          <p:cNvPr id="8" name="img-board-49" descr="빛나는 큐브 이미지보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76" y="1737360"/>
            <a:ext cx="5027407" cy="4023360"/>
          </a:xfrm>
          <a:prstGeom prst="rect">
            <a:avLst/>
          </a:prstGeom>
        </p:spPr>
      </p:pic>
      <p:sp>
        <p:nvSpPr>
          <p:cNvPr id="9" name="rect-50"/>
          <p:cNvSpPr/>
          <p:nvPr/>
        </p:nvSpPr>
        <p:spPr>
          <a:xfrm>
            <a:off x="750704" y="5541264"/>
            <a:ext cx="1529791" cy="310896"/>
          </a:xfrm>
          <a:prstGeom prst="rect">
            <a:avLst/>
          </a:prstGeom>
          <a:solidFill>
            <a:srgbClr val="1B3B3F"/>
          </a:solidFill>
          <a:ln w="15875">
            <a:solidFill>
              <a:srgbClr val="C9952F"/>
            </a:solidFill>
            <a:prstDash val="solid"/>
          </a:ln>
        </p:spPr>
      </p:sp>
      <p:sp>
        <p:nvSpPr>
          <p:cNvPr id="10" name="caption-51"/>
          <p:cNvSpPr txBox="1"/>
          <p:nvPr/>
        </p:nvSpPr>
        <p:spPr>
          <a:xfrm>
            <a:off x="860432" y="5541264"/>
            <a:ext cx="13469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이미지보드  ·  큐브</a:t>
            </a:r>
            <a:endParaRPr lang="en-US" sz="1050" dirty="0"/>
          </a:p>
        </p:txBody>
      </p:sp>
      <p:sp>
        <p:nvSpPr>
          <p:cNvPr id="11" name="text-52"/>
          <p:cNvSpPr txBox="1"/>
          <p:nvPr/>
        </p:nvSpPr>
        <p:spPr>
          <a:xfrm>
            <a:off x="608076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C2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LOGLINE</a:t>
            </a:r>
            <a:endParaRPr lang="en-US" sz="1200" dirty="0"/>
          </a:p>
        </p:txBody>
      </p:sp>
      <p:sp>
        <p:nvSpPr>
          <p:cNvPr id="12" name="rect-53"/>
          <p:cNvSpPr/>
          <p:nvPr/>
        </p:nvSpPr>
        <p:spPr>
          <a:xfrm>
            <a:off x="6080760" y="2011680"/>
            <a:ext cx="5468112" cy="1600200"/>
          </a:xfrm>
          <a:prstGeom prst="rect">
            <a:avLst/>
          </a:prstGeom>
          <a:solidFill>
            <a:srgbClr val="F7E9B8"/>
          </a:solidFill>
          <a:ln w="19050">
            <a:solidFill>
              <a:srgbClr val="C9952F"/>
            </a:solidFill>
            <a:prstDash val="solid"/>
          </a:ln>
        </p:spPr>
      </p:sp>
      <p:sp>
        <p:nvSpPr>
          <p:cNvPr id="13" name="text-54"/>
          <p:cNvSpPr txBox="1"/>
          <p:nvPr/>
        </p:nvSpPr>
        <p:spPr>
          <a:xfrm>
            <a:off x="6263640" y="210312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성층권 위 격리된 연구시설, 완전무결한 유리 감옥에 갇힌 소녀를 사랑하게 된 순진한 연구원은 그녀를 구하기 위해 자신의 몸마저 내어주지만, 그것이 죽은 딸과 다시 '닿기' 위해 준비해 온 한 어머니와 그녀가 만들어낸 존재의 계획이었다는 사실을 알지 못한다.</a:t>
            </a:r>
            <a:endParaRPr lang="en-US" sz="1250" dirty="0"/>
          </a:p>
        </p:txBody>
      </p:sp>
      <p:sp>
        <p:nvSpPr>
          <p:cNvPr id="14" name="text-55"/>
          <p:cNvSpPr txBox="1"/>
          <p:nvPr/>
        </p:nvSpPr>
        <p:spPr>
          <a:xfrm>
            <a:off x="6080760" y="384048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</a:t>
            </a:r>
            <a:endParaRPr lang="en-US" sz="1200" dirty="0"/>
          </a:p>
        </p:txBody>
      </p:sp>
      <p:sp>
        <p:nvSpPr>
          <p:cNvPr id="15" name="text-56"/>
          <p:cNvSpPr txBox="1"/>
          <p:nvPr/>
        </p:nvSpPr>
        <p:spPr>
          <a:xfrm>
            <a:off x="7178040" y="3840480"/>
            <a:ext cx="4370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FE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 / 판타지, 절제된 스릴러 서스펜스</a:t>
            </a:r>
            <a:endParaRPr lang="en-US" sz="1250" dirty="0"/>
          </a:p>
        </p:txBody>
      </p:sp>
      <p:sp>
        <p:nvSpPr>
          <p:cNvPr id="16" name="rule-57"/>
          <p:cNvSpPr/>
          <p:nvPr/>
        </p:nvSpPr>
        <p:spPr>
          <a:xfrm>
            <a:off x="6080760" y="4270248"/>
            <a:ext cx="5468112" cy="0"/>
          </a:xfrm>
          <a:prstGeom prst="line">
            <a:avLst/>
          </a:prstGeom>
          <a:noFill/>
          <a:ln w="9525">
            <a:solidFill>
              <a:srgbClr val="2F5357"/>
            </a:solidFill>
            <a:prstDash val="solid"/>
          </a:ln>
        </p:spPr>
      </p:sp>
      <p:sp>
        <p:nvSpPr>
          <p:cNvPr id="17" name="text-58"/>
          <p:cNvSpPr txBox="1"/>
          <p:nvPr/>
        </p:nvSpPr>
        <p:spPr>
          <a:xfrm>
            <a:off x="6080760" y="429768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러닝타임</a:t>
            </a:r>
            <a:endParaRPr lang="en-US" sz="1200" dirty="0"/>
          </a:p>
        </p:txBody>
      </p:sp>
      <p:sp>
        <p:nvSpPr>
          <p:cNvPr id="18" name="text-59"/>
          <p:cNvSpPr txBox="1"/>
          <p:nvPr/>
        </p:nvSpPr>
        <p:spPr>
          <a:xfrm>
            <a:off x="7178040" y="4297680"/>
            <a:ext cx="4370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FE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내외 프로모션 비디오, 본편은 장 / 단편으로 발전</a:t>
            </a:r>
            <a:endParaRPr lang="en-US" sz="1250" dirty="0"/>
          </a:p>
        </p:txBody>
      </p:sp>
      <p:sp>
        <p:nvSpPr>
          <p:cNvPr id="19" name="rule-60"/>
          <p:cNvSpPr/>
          <p:nvPr/>
        </p:nvSpPr>
        <p:spPr>
          <a:xfrm>
            <a:off x="6080760" y="4727448"/>
            <a:ext cx="5468112" cy="0"/>
          </a:xfrm>
          <a:prstGeom prst="line">
            <a:avLst/>
          </a:prstGeom>
          <a:noFill/>
          <a:ln w="9525">
            <a:solidFill>
              <a:srgbClr val="2F5357"/>
            </a:solidFill>
            <a:prstDash val="solid"/>
          </a:ln>
        </p:spPr>
      </p:sp>
      <p:sp>
        <p:nvSpPr>
          <p:cNvPr id="20" name="text-61"/>
          <p:cNvSpPr txBox="1"/>
          <p:nvPr/>
        </p:nvSpPr>
        <p:spPr>
          <a:xfrm>
            <a:off x="6080760" y="475488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</a:t>
            </a:r>
            <a:endParaRPr lang="en-US" sz="1200" dirty="0"/>
          </a:p>
        </p:txBody>
      </p:sp>
      <p:sp>
        <p:nvSpPr>
          <p:cNvPr id="21" name="text-62"/>
          <p:cNvSpPr txBox="1"/>
          <p:nvPr/>
        </p:nvSpPr>
        <p:spPr>
          <a:xfrm>
            <a:off x="7178040" y="4754880"/>
            <a:ext cx="4370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FE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고등학생~성인, 독창적 / 예술 애니메이션 관객층</a:t>
            </a:r>
            <a:endParaRPr lang="en-US" sz="1250" dirty="0"/>
          </a:p>
        </p:txBody>
      </p:sp>
      <p:sp>
        <p:nvSpPr>
          <p:cNvPr id="22" name="rule-63"/>
          <p:cNvSpPr/>
          <p:nvPr/>
        </p:nvSpPr>
        <p:spPr>
          <a:xfrm>
            <a:off x="6080760" y="5184648"/>
            <a:ext cx="5468112" cy="0"/>
          </a:xfrm>
          <a:prstGeom prst="line">
            <a:avLst/>
          </a:prstGeom>
          <a:noFill/>
          <a:ln w="9525">
            <a:solidFill>
              <a:srgbClr val="2F5357"/>
            </a:solidFill>
            <a:prstDash val="solid"/>
          </a:ln>
        </p:spPr>
      </p:sp>
      <p:sp>
        <p:nvSpPr>
          <p:cNvPr id="23" name="text-64"/>
          <p:cNvSpPr txBox="1"/>
          <p:nvPr/>
        </p:nvSpPr>
        <p:spPr>
          <a:xfrm>
            <a:off x="6080760" y="521208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24" name="text-65"/>
          <p:cNvSpPr txBox="1"/>
          <p:nvPr/>
        </p:nvSpPr>
        <p:spPr>
          <a:xfrm>
            <a:off x="7178040" y="5212080"/>
            <a:ext cx="4370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FE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추후 결정</a:t>
            </a:r>
            <a:endParaRPr lang="en-US" sz="1250" dirty="0"/>
          </a:p>
        </p:txBody>
      </p:sp>
      <p:sp>
        <p:nvSpPr>
          <p:cNvPr id="25" name="rule-66"/>
          <p:cNvSpPr/>
          <p:nvPr/>
        </p:nvSpPr>
        <p:spPr>
          <a:xfrm>
            <a:off x="6080760" y="5641848"/>
            <a:ext cx="5468112" cy="0"/>
          </a:xfrm>
          <a:prstGeom prst="line">
            <a:avLst/>
          </a:prstGeom>
          <a:noFill/>
          <a:ln w="9525">
            <a:solidFill>
              <a:srgbClr val="2F535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6C27A"/>
                </a:solidFill>
                <a:latin typeface="Palatino Linotype"/>
                <a:ea typeface="Palatino Linotype"/>
                <a:cs typeface="Palatino Linotype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arch-67" descr="작품 이미지를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68"/>
          <p:cNvSpPr/>
          <p:nvPr/>
        </p:nvSpPr>
        <p:spPr>
          <a:xfrm>
            <a:off x="640080" y="329184"/>
            <a:ext cx="1207008" cy="310896"/>
          </a:xfrm>
          <a:prstGeom prst="rect">
            <a:avLst/>
          </a:prstGeom>
          <a:solidFill>
            <a:srgbClr val="F7E9B8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4" name="diamond-69"/>
          <p:cNvSpPr/>
          <p:nvPr/>
        </p:nvSpPr>
        <p:spPr>
          <a:xfrm>
            <a:off x="749808" y="420624"/>
            <a:ext cx="128016" cy="128016"/>
          </a:xfrm>
          <a:prstGeom prst="diamond">
            <a:avLst/>
          </a:prstGeom>
          <a:solidFill>
            <a:srgbClr val="C9952F"/>
          </a:solidFill>
          <a:ln/>
        </p:spPr>
      </p:sp>
      <p:sp>
        <p:nvSpPr>
          <p:cNvPr id="5" name="label-70"/>
          <p:cNvSpPr txBox="1"/>
          <p:nvPr/>
        </p:nvSpPr>
        <p:spPr>
          <a:xfrm>
            <a:off x="969264" y="3291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원작의 원형은 계승하고 구원자의 역할은 뒤집은 재해석</a:t>
            </a:r>
            <a:endParaRPr lang="en-US" sz="2600" dirty="0"/>
          </a:p>
        </p:txBody>
      </p:sp>
      <p:sp>
        <p:nvSpPr>
          <p:cNvPr id="7" name="text-71"/>
          <p:cNvSpPr txBox="1"/>
          <p:nvPr/>
        </p:nvSpPr>
        <p:spPr>
          <a:xfrm>
            <a:off x="64008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6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원작 라푼젤</a:t>
            </a:r>
            <a:endParaRPr lang="en-US" sz="1200" dirty="0"/>
          </a:p>
        </p:txBody>
      </p:sp>
      <p:sp>
        <p:nvSpPr>
          <p:cNvPr id="8" name="text-72"/>
          <p:cNvSpPr txBox="1"/>
          <p:nvPr/>
        </p:nvSpPr>
        <p:spPr>
          <a:xfrm>
            <a:off x="315468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6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작품</a:t>
            </a:r>
            <a:endParaRPr lang="en-US" sz="1200" dirty="0"/>
          </a:p>
        </p:txBody>
      </p:sp>
      <p:sp>
        <p:nvSpPr>
          <p:cNvPr id="9" name="rect-73"/>
          <p:cNvSpPr/>
          <p:nvPr/>
        </p:nvSpPr>
        <p:spPr>
          <a:xfrm>
            <a:off x="640080" y="2011680"/>
            <a:ext cx="2011680" cy="512064"/>
          </a:xfrm>
          <a:prstGeom prst="rect">
            <a:avLst/>
          </a:prstGeom>
          <a:solidFill>
            <a:srgbClr val="F7E9B8"/>
          </a:solidFill>
          <a:ln w="19050">
            <a:solidFill>
              <a:srgbClr val="1F1B16"/>
            </a:solidFill>
            <a:prstDash val="solid"/>
          </a:ln>
        </p:spPr>
      </p:sp>
      <p:sp>
        <p:nvSpPr>
          <p:cNvPr id="10" name="text-74"/>
          <p:cNvSpPr txBox="1"/>
          <p:nvPr/>
        </p:nvSpPr>
        <p:spPr>
          <a:xfrm>
            <a:off x="640080" y="20116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탑</a:t>
            </a:r>
            <a:endParaRPr lang="en-US" sz="1400" dirty="0"/>
          </a:p>
        </p:txBody>
      </p:sp>
      <p:sp>
        <p:nvSpPr>
          <p:cNvPr id="11" name="text-75"/>
          <p:cNvSpPr txBox="1"/>
          <p:nvPr/>
        </p:nvSpPr>
        <p:spPr>
          <a:xfrm>
            <a:off x="2670048" y="201168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rect-76"/>
          <p:cNvSpPr/>
          <p:nvPr/>
        </p:nvSpPr>
        <p:spPr>
          <a:xfrm>
            <a:off x="3154680" y="2011680"/>
            <a:ext cx="4754880" cy="512064"/>
          </a:xfrm>
          <a:prstGeom prst="rect">
            <a:avLst/>
          </a:prstGeom>
          <a:solidFill>
            <a:srgbClr val="FBF6EC"/>
          </a:solidFill>
          <a:ln w="19050">
            <a:solidFill>
              <a:srgbClr val="1F1B16"/>
            </a:solidFill>
            <a:prstDash val="solid"/>
          </a:ln>
        </p:spPr>
      </p:sp>
      <p:sp>
        <p:nvSpPr>
          <p:cNvPr id="13" name="text-77"/>
          <p:cNvSpPr txBox="1"/>
          <p:nvPr/>
        </p:nvSpPr>
        <p:spPr>
          <a:xfrm>
            <a:off x="3291840" y="201168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성층권 연구시설의 완전 밀폐 공간 '큐브'</a:t>
            </a:r>
            <a:endParaRPr lang="en-US" sz="1250" dirty="0"/>
          </a:p>
        </p:txBody>
      </p:sp>
      <p:sp>
        <p:nvSpPr>
          <p:cNvPr id="14" name="rect-78"/>
          <p:cNvSpPr/>
          <p:nvPr/>
        </p:nvSpPr>
        <p:spPr>
          <a:xfrm>
            <a:off x="640080" y="2670048"/>
            <a:ext cx="2011680" cy="512064"/>
          </a:xfrm>
          <a:prstGeom prst="rect">
            <a:avLst/>
          </a:prstGeom>
          <a:solidFill>
            <a:srgbClr val="F7E9B8"/>
          </a:solidFill>
          <a:ln w="19050">
            <a:solidFill>
              <a:srgbClr val="1F1B16"/>
            </a:solidFill>
            <a:prstDash val="solid"/>
          </a:ln>
        </p:spPr>
      </p:sp>
      <p:sp>
        <p:nvSpPr>
          <p:cNvPr id="15" name="text-79"/>
          <p:cNvSpPr txBox="1"/>
          <p:nvPr/>
        </p:nvSpPr>
        <p:spPr>
          <a:xfrm>
            <a:off x="640080" y="267004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머리카락</a:t>
            </a:r>
            <a:endParaRPr lang="en-US" sz="1400" dirty="0"/>
          </a:p>
        </p:txBody>
      </p:sp>
      <p:sp>
        <p:nvSpPr>
          <p:cNvPr id="16" name="text-80"/>
          <p:cNvSpPr txBox="1"/>
          <p:nvPr/>
        </p:nvSpPr>
        <p:spPr>
          <a:xfrm>
            <a:off x="2670048" y="267004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rect-81"/>
          <p:cNvSpPr/>
          <p:nvPr/>
        </p:nvSpPr>
        <p:spPr>
          <a:xfrm>
            <a:off x="3154680" y="2670048"/>
            <a:ext cx="4754880" cy="512064"/>
          </a:xfrm>
          <a:prstGeom prst="rect">
            <a:avLst/>
          </a:prstGeom>
          <a:solidFill>
            <a:srgbClr val="FBF6EC"/>
          </a:solidFill>
          <a:ln w="19050">
            <a:solidFill>
              <a:srgbClr val="1F1B16"/>
            </a:solidFill>
            <a:prstDash val="solid"/>
          </a:ln>
        </p:spPr>
      </p:sp>
      <p:sp>
        <p:nvSpPr>
          <p:cNvPr id="18" name="text-82"/>
          <p:cNvSpPr txBox="1"/>
          <p:nvPr/>
        </p:nvSpPr>
        <p:spPr>
          <a:xfrm>
            <a:off x="3291840" y="267004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케이블 / 에너지 파이프, 빛과 생명을 잇는 생명선</a:t>
            </a:r>
            <a:endParaRPr lang="en-US" sz="1250" dirty="0"/>
          </a:p>
        </p:txBody>
      </p:sp>
      <p:sp>
        <p:nvSpPr>
          <p:cNvPr id="19" name="rect-83"/>
          <p:cNvSpPr/>
          <p:nvPr/>
        </p:nvSpPr>
        <p:spPr>
          <a:xfrm>
            <a:off x="640080" y="3328416"/>
            <a:ext cx="2011680" cy="512064"/>
          </a:xfrm>
          <a:prstGeom prst="rect">
            <a:avLst/>
          </a:prstGeom>
          <a:solidFill>
            <a:srgbClr val="F7E9B8"/>
          </a:solidFill>
          <a:ln w="19050">
            <a:solidFill>
              <a:srgbClr val="1F1B16"/>
            </a:solidFill>
            <a:prstDash val="solid"/>
          </a:ln>
        </p:spPr>
      </p:sp>
      <p:sp>
        <p:nvSpPr>
          <p:cNvPr id="20" name="text-84"/>
          <p:cNvSpPr txBox="1"/>
          <p:nvPr/>
        </p:nvSpPr>
        <p:spPr>
          <a:xfrm>
            <a:off x="640080" y="332841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라푼젤</a:t>
            </a:r>
            <a:endParaRPr lang="en-US" sz="1400" dirty="0"/>
          </a:p>
        </p:txBody>
      </p:sp>
      <p:sp>
        <p:nvSpPr>
          <p:cNvPr id="21" name="text-85"/>
          <p:cNvSpPr txBox="1"/>
          <p:nvPr/>
        </p:nvSpPr>
        <p:spPr>
          <a:xfrm>
            <a:off x="2670048" y="332841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rect-86"/>
          <p:cNvSpPr/>
          <p:nvPr/>
        </p:nvSpPr>
        <p:spPr>
          <a:xfrm>
            <a:off x="3154680" y="3328416"/>
            <a:ext cx="4754880" cy="512064"/>
          </a:xfrm>
          <a:prstGeom prst="rect">
            <a:avLst/>
          </a:prstGeom>
          <a:solidFill>
            <a:srgbClr val="FBF6EC"/>
          </a:solidFill>
          <a:ln w="19050">
            <a:solidFill>
              <a:srgbClr val="1F1B16"/>
            </a:solidFill>
            <a:prstDash val="solid"/>
          </a:ln>
        </p:spPr>
      </p:sp>
      <p:sp>
        <p:nvSpPr>
          <p:cNvPr id="23" name="text-87"/>
          <p:cNvSpPr txBox="1"/>
          <p:nvPr/>
        </p:nvSpPr>
        <p:spPr>
          <a:xfrm>
            <a:off x="3291840" y="332841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R, 죽은 딸의 데이터로 재구성된 존재</a:t>
            </a:r>
            <a:endParaRPr lang="en-US" sz="1250" dirty="0"/>
          </a:p>
        </p:txBody>
      </p:sp>
      <p:sp>
        <p:nvSpPr>
          <p:cNvPr id="24" name="rect-88"/>
          <p:cNvSpPr/>
          <p:nvPr/>
        </p:nvSpPr>
        <p:spPr>
          <a:xfrm>
            <a:off x="640080" y="3986784"/>
            <a:ext cx="2011680" cy="512064"/>
          </a:xfrm>
          <a:prstGeom prst="rect">
            <a:avLst/>
          </a:prstGeom>
          <a:solidFill>
            <a:srgbClr val="F7E9B8"/>
          </a:solidFill>
          <a:ln w="19050">
            <a:solidFill>
              <a:srgbClr val="1F1B16"/>
            </a:solidFill>
            <a:prstDash val="solid"/>
          </a:ln>
        </p:spPr>
      </p:sp>
      <p:sp>
        <p:nvSpPr>
          <p:cNvPr id="25" name="text-89"/>
          <p:cNvSpPr txBox="1"/>
          <p:nvPr/>
        </p:nvSpPr>
        <p:spPr>
          <a:xfrm>
            <a:off x="640080" y="398678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왕자</a:t>
            </a:r>
            <a:endParaRPr lang="en-US" sz="1400" dirty="0"/>
          </a:p>
        </p:txBody>
      </p:sp>
      <p:sp>
        <p:nvSpPr>
          <p:cNvPr id="26" name="text-90"/>
          <p:cNvSpPr txBox="1"/>
          <p:nvPr/>
        </p:nvSpPr>
        <p:spPr>
          <a:xfrm>
            <a:off x="2670048" y="3986784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rect-91"/>
          <p:cNvSpPr/>
          <p:nvPr/>
        </p:nvSpPr>
        <p:spPr>
          <a:xfrm>
            <a:off x="3154680" y="3986784"/>
            <a:ext cx="4754880" cy="512064"/>
          </a:xfrm>
          <a:prstGeom prst="rect">
            <a:avLst/>
          </a:prstGeom>
          <a:solidFill>
            <a:srgbClr val="FBF6EC"/>
          </a:solidFill>
          <a:ln w="19050">
            <a:solidFill>
              <a:srgbClr val="1F1B16"/>
            </a:solidFill>
            <a:prstDash val="solid"/>
          </a:ln>
        </p:spPr>
      </p:sp>
      <p:sp>
        <p:nvSpPr>
          <p:cNvPr id="28" name="text-92"/>
          <p:cNvSpPr txBox="1"/>
          <p:nvPr/>
        </p:nvSpPr>
        <p:spPr>
          <a:xfrm>
            <a:off x="3291840" y="398678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연구원 루카스, 구원자가 되려다 이용당하는 존재</a:t>
            </a:r>
            <a:endParaRPr lang="en-US" sz="1250" dirty="0"/>
          </a:p>
        </p:txBody>
      </p:sp>
      <p:sp>
        <p:nvSpPr>
          <p:cNvPr id="29" name="rect-93"/>
          <p:cNvSpPr/>
          <p:nvPr/>
        </p:nvSpPr>
        <p:spPr>
          <a:xfrm>
            <a:off x="640080" y="4645152"/>
            <a:ext cx="2011680" cy="512064"/>
          </a:xfrm>
          <a:prstGeom prst="rect">
            <a:avLst/>
          </a:prstGeom>
          <a:solidFill>
            <a:srgbClr val="F7E9B8"/>
          </a:solidFill>
          <a:ln w="19050">
            <a:solidFill>
              <a:srgbClr val="1F1B16"/>
            </a:solidFill>
            <a:prstDash val="solid"/>
          </a:ln>
        </p:spPr>
      </p:sp>
      <p:sp>
        <p:nvSpPr>
          <p:cNvPr id="30" name="text-94"/>
          <p:cNvSpPr txBox="1"/>
          <p:nvPr/>
        </p:nvSpPr>
        <p:spPr>
          <a:xfrm>
            <a:off x="640080" y="464515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마녀</a:t>
            </a:r>
            <a:endParaRPr lang="en-US" sz="1400" dirty="0"/>
          </a:p>
        </p:txBody>
      </p:sp>
      <p:sp>
        <p:nvSpPr>
          <p:cNvPr id="31" name="text-95"/>
          <p:cNvSpPr txBox="1"/>
          <p:nvPr/>
        </p:nvSpPr>
        <p:spPr>
          <a:xfrm>
            <a:off x="2670048" y="464515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32" name="rect-96"/>
          <p:cNvSpPr/>
          <p:nvPr/>
        </p:nvSpPr>
        <p:spPr>
          <a:xfrm>
            <a:off x="3154680" y="4645152"/>
            <a:ext cx="4754880" cy="512064"/>
          </a:xfrm>
          <a:prstGeom prst="rect">
            <a:avLst/>
          </a:prstGeom>
          <a:solidFill>
            <a:srgbClr val="FBF6EC"/>
          </a:solidFill>
          <a:ln w="19050">
            <a:solidFill>
              <a:srgbClr val="1F1B16"/>
            </a:solidFill>
            <a:prstDash val="solid"/>
          </a:ln>
        </p:spPr>
      </p:sp>
      <p:sp>
        <p:nvSpPr>
          <p:cNvPr id="33" name="text-97"/>
          <p:cNvSpPr txBox="1"/>
          <p:nvPr/>
        </p:nvSpPr>
        <p:spPr>
          <a:xfrm>
            <a:off x="3291840" y="464515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K. 멜루진 박사, 딸을 잃은 신경공학자</a:t>
            </a:r>
            <a:endParaRPr lang="en-US" sz="1250" dirty="0"/>
          </a:p>
        </p:txBody>
      </p:sp>
      <p:sp>
        <p:nvSpPr>
          <p:cNvPr id="34" name="rect-98"/>
          <p:cNvSpPr/>
          <p:nvPr/>
        </p:nvSpPr>
        <p:spPr>
          <a:xfrm>
            <a:off x="640080" y="5303520"/>
            <a:ext cx="2011680" cy="512064"/>
          </a:xfrm>
          <a:prstGeom prst="rect">
            <a:avLst/>
          </a:prstGeom>
          <a:solidFill>
            <a:srgbClr val="F7E9B8"/>
          </a:solidFill>
          <a:ln w="19050">
            <a:solidFill>
              <a:srgbClr val="1F1B16"/>
            </a:solidFill>
            <a:prstDash val="solid"/>
          </a:ln>
        </p:spPr>
      </p:sp>
      <p:sp>
        <p:nvSpPr>
          <p:cNvPr id="35" name="text-99"/>
          <p:cNvSpPr txBox="1"/>
          <p:nvPr/>
        </p:nvSpPr>
        <p:spPr>
          <a:xfrm>
            <a:off x="640080" y="53035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</a:t>
            </a:r>
            <a:endParaRPr lang="en-US" sz="1400" dirty="0"/>
          </a:p>
        </p:txBody>
      </p:sp>
      <p:sp>
        <p:nvSpPr>
          <p:cNvPr id="36" name="text-100"/>
          <p:cNvSpPr txBox="1"/>
          <p:nvPr/>
        </p:nvSpPr>
        <p:spPr>
          <a:xfrm>
            <a:off x="2670048" y="530352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37" name="rect-101"/>
          <p:cNvSpPr/>
          <p:nvPr/>
        </p:nvSpPr>
        <p:spPr>
          <a:xfrm>
            <a:off x="3154680" y="5303520"/>
            <a:ext cx="4754880" cy="512064"/>
          </a:xfrm>
          <a:prstGeom prst="rect">
            <a:avLst/>
          </a:prstGeom>
          <a:solidFill>
            <a:srgbClr val="FBF6EC"/>
          </a:solidFill>
          <a:ln w="19050">
            <a:solidFill>
              <a:srgbClr val="1F1B16"/>
            </a:solidFill>
            <a:prstDash val="solid"/>
          </a:ln>
        </p:spPr>
      </p:sp>
      <p:sp>
        <p:nvSpPr>
          <p:cNvPr id="38" name="text-102"/>
          <p:cNvSpPr txBox="1"/>
          <p:nvPr/>
        </p:nvSpPr>
        <p:spPr>
          <a:xfrm>
            <a:off x="3291840" y="530352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'라푼젤, 머리카락을 내려다오'를 변형해 닫힌 창을 여는 방법</a:t>
            </a:r>
            <a:endParaRPr lang="en-US" sz="1250" dirty="0"/>
          </a:p>
        </p:txBody>
      </p:sp>
      <p:sp>
        <p:nvSpPr>
          <p:cNvPr id="39" name="rect-103"/>
          <p:cNvSpPr/>
          <p:nvPr/>
        </p:nvSpPr>
        <p:spPr>
          <a:xfrm>
            <a:off x="8275320" y="2011680"/>
            <a:ext cx="3273552" cy="3803904"/>
          </a:xfrm>
          <a:prstGeom prst="rect">
            <a:avLst/>
          </a:prstGeom>
          <a:solidFill>
            <a:srgbClr val="1B3B3F"/>
          </a:solidFill>
          <a:ln w="28575">
            <a:solidFill>
              <a:srgbClr val="1F1B16"/>
            </a:solidFill>
            <a:prstDash val="solid"/>
          </a:ln>
        </p:spPr>
      </p:sp>
      <p:sp>
        <p:nvSpPr>
          <p:cNvPr id="40" name="text-104"/>
          <p:cNvSpPr txBox="1"/>
          <p:nvPr/>
        </p:nvSpPr>
        <p:spPr>
          <a:xfrm>
            <a:off x="850392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C2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THEME</a:t>
            </a:r>
            <a:endParaRPr lang="en-US" sz="1200" dirty="0"/>
          </a:p>
        </p:txBody>
      </p:sp>
      <p:sp>
        <p:nvSpPr>
          <p:cNvPr id="41" name="text-105"/>
          <p:cNvSpPr txBox="1"/>
          <p:nvPr/>
        </p:nvSpPr>
        <p:spPr>
          <a:xfrm>
            <a:off x="8503920" y="251460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FE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닿음(실재)</a:t>
            </a:r>
            <a:endParaRPr lang="en-US" sz="2600" dirty="0"/>
          </a:p>
        </p:txBody>
      </p:sp>
      <p:sp>
        <p:nvSpPr>
          <p:cNvPr id="42" name="cable-106"/>
          <p:cNvSpPr/>
          <p:nvPr/>
        </p:nvSpPr>
        <p:spPr>
          <a:xfrm>
            <a:off x="8503920" y="3246120"/>
            <a:ext cx="2816352" cy="0"/>
          </a:xfrm>
          <a:prstGeom prst="line">
            <a:avLst/>
          </a:prstGeom>
          <a:noFill/>
          <a:ln w="22225">
            <a:solidFill>
              <a:srgbClr val="C9952F"/>
            </a:solidFill>
            <a:prstDash val="solid"/>
          </a:ln>
        </p:spPr>
      </p:sp>
      <p:sp>
        <p:nvSpPr>
          <p:cNvPr id="43" name="rect-107"/>
          <p:cNvSpPr/>
          <p:nvPr/>
        </p:nvSpPr>
        <p:spPr>
          <a:xfrm>
            <a:off x="8910279" y="3200400"/>
            <a:ext cx="201168" cy="91440"/>
          </a:xfrm>
          <a:prstGeom prst="rect">
            <a:avLst/>
          </a:prstGeom>
          <a:solidFill>
            <a:srgbClr val="C9952F"/>
          </a:solidFill>
          <a:ln/>
        </p:spPr>
      </p:sp>
      <p:sp>
        <p:nvSpPr>
          <p:cNvPr id="44" name="rect-108"/>
          <p:cNvSpPr/>
          <p:nvPr/>
        </p:nvSpPr>
        <p:spPr>
          <a:xfrm>
            <a:off x="9811512" y="3200400"/>
            <a:ext cx="201168" cy="91440"/>
          </a:xfrm>
          <a:prstGeom prst="rect">
            <a:avLst/>
          </a:prstGeom>
          <a:solidFill>
            <a:srgbClr val="C9952F"/>
          </a:solidFill>
          <a:ln/>
        </p:spPr>
      </p:sp>
      <p:sp>
        <p:nvSpPr>
          <p:cNvPr id="45" name="rect-109"/>
          <p:cNvSpPr/>
          <p:nvPr/>
        </p:nvSpPr>
        <p:spPr>
          <a:xfrm>
            <a:off x="10712745" y="3200400"/>
            <a:ext cx="201168" cy="91440"/>
          </a:xfrm>
          <a:prstGeom prst="rect">
            <a:avLst/>
          </a:prstGeom>
          <a:solidFill>
            <a:srgbClr val="C9952F"/>
          </a:solidFill>
          <a:ln/>
        </p:spPr>
      </p:sp>
      <p:sp>
        <p:nvSpPr>
          <p:cNvPr id="46" name="text-110"/>
          <p:cNvSpPr txBox="1"/>
          <p:nvPr/>
        </p:nvSpPr>
        <p:spPr>
          <a:xfrm>
            <a:off x="8503920" y="3474720"/>
            <a:ext cx="28620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D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만질 수 없는 것을 향한 갈망, 닿기 위해 치러야 하는 대가, 그리고 닿고 나서도 완전히 확신할 수 없는 것들에 관한 이야기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952F"/>
                </a:solidFill>
                <a:latin typeface="Palatino Linotype"/>
                <a:ea typeface="Palatino Linotype"/>
                <a:cs typeface="Palatino Linotype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night-111" descr="작품 이미지를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112"/>
          <p:cNvSpPr/>
          <p:nvPr/>
        </p:nvSpPr>
        <p:spPr>
          <a:xfrm>
            <a:off x="640080" y="329184"/>
            <a:ext cx="1024128" cy="310896"/>
          </a:xfrm>
          <a:prstGeom prst="rect">
            <a:avLst/>
          </a:prstGeom>
          <a:solidFill>
            <a:srgbClr val="1B3B3F"/>
          </a:solidFill>
          <a:ln w="15875">
            <a:solidFill>
              <a:srgbClr val="C9952F"/>
            </a:solidFill>
            <a:prstDash val="solid"/>
          </a:ln>
        </p:spPr>
      </p:sp>
      <p:sp>
        <p:nvSpPr>
          <p:cNvPr id="4" name="diamond-113"/>
          <p:cNvSpPr/>
          <p:nvPr/>
        </p:nvSpPr>
        <p:spPr>
          <a:xfrm>
            <a:off x="749808" y="420624"/>
            <a:ext cx="128016" cy="128016"/>
          </a:xfrm>
          <a:prstGeom prst="diamond">
            <a:avLst/>
          </a:prstGeom>
          <a:solidFill>
            <a:srgbClr val="C9952F"/>
          </a:solidFill>
          <a:ln/>
        </p:spPr>
      </p:sp>
      <p:sp>
        <p:nvSpPr>
          <p:cNvPr id="5" name="label-114"/>
          <p:cNvSpPr txBox="1"/>
          <p:nvPr/>
        </p:nvSpPr>
        <p:spPr>
          <a:xfrm>
            <a:off x="969264" y="32918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STORY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FE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칸으로 읽는 줄거리, 순수한 로맨스 뒤에 숨은 계획</a:t>
            </a:r>
            <a:endParaRPr lang="en-US" sz="2600" dirty="0"/>
          </a:p>
        </p:txBody>
      </p:sp>
      <p:sp>
        <p:nvSpPr>
          <p:cNvPr id="7" name="rect-115"/>
          <p:cNvSpPr/>
          <p:nvPr/>
        </p:nvSpPr>
        <p:spPr>
          <a:xfrm>
            <a:off x="640080" y="1691640"/>
            <a:ext cx="5376672" cy="1993392"/>
          </a:xfrm>
          <a:prstGeom prst="rect">
            <a:avLst/>
          </a:prstGeom>
          <a:solidFill>
            <a:srgbClr val="1B3B3F"/>
          </a:solidFill>
          <a:ln w="28575">
            <a:solidFill>
              <a:srgbClr val="C9952F"/>
            </a:solidFill>
            <a:prstDash val="solid"/>
          </a:ln>
        </p:spPr>
      </p:sp>
      <p:sp>
        <p:nvSpPr>
          <p:cNvPr id="8" name="text-116"/>
          <p:cNvSpPr txBox="1"/>
          <p:nvPr/>
        </p:nvSpPr>
        <p:spPr>
          <a:xfrm>
            <a:off x="822960" y="1828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95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-117"/>
          <p:cNvSpPr txBox="1"/>
          <p:nvPr/>
        </p:nvSpPr>
        <p:spPr>
          <a:xfrm>
            <a:off x="822960" y="237744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큐브 속 소녀</a:t>
            </a:r>
            <a:endParaRPr lang="en-US" sz="1500" dirty="0"/>
          </a:p>
        </p:txBody>
      </p:sp>
      <p:sp>
        <p:nvSpPr>
          <p:cNvPr id="10" name="text-118"/>
          <p:cNvSpPr txBox="1"/>
          <p:nvPr/>
        </p:nvSpPr>
        <p:spPr>
          <a:xfrm>
            <a:off x="822960" y="2834640"/>
            <a:ext cx="5010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D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성층권 연구시설에 새로 배치된 연구원 루카스가 큐브 속 최고중증 환자 R에게 마음을 빼앗김</a:t>
            </a:r>
            <a:endParaRPr lang="en-US" sz="1300" dirty="0"/>
          </a:p>
        </p:txBody>
      </p:sp>
      <p:sp>
        <p:nvSpPr>
          <p:cNvPr id="11" name="rect-119"/>
          <p:cNvSpPr/>
          <p:nvPr/>
        </p:nvSpPr>
        <p:spPr>
          <a:xfrm>
            <a:off x="6153912" y="1691640"/>
            <a:ext cx="5376672" cy="1993392"/>
          </a:xfrm>
          <a:prstGeom prst="rect">
            <a:avLst/>
          </a:prstGeom>
          <a:solidFill>
            <a:srgbClr val="1B3B3F"/>
          </a:solidFill>
          <a:ln w="28575">
            <a:solidFill>
              <a:srgbClr val="C9952F"/>
            </a:solidFill>
            <a:prstDash val="solid"/>
          </a:ln>
        </p:spPr>
      </p:sp>
      <p:sp>
        <p:nvSpPr>
          <p:cNvPr id="12" name="text-120"/>
          <p:cNvSpPr txBox="1"/>
          <p:nvPr/>
        </p:nvSpPr>
        <p:spPr>
          <a:xfrm>
            <a:off x="6336792" y="1828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95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-121"/>
          <p:cNvSpPr txBox="1"/>
          <p:nvPr/>
        </p:nvSpPr>
        <p:spPr>
          <a:xfrm>
            <a:off x="6336792" y="237744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디기탈리스와 창</a:t>
            </a:r>
            <a:endParaRPr lang="en-US" sz="1500" dirty="0"/>
          </a:p>
        </p:txBody>
      </p:sp>
      <p:sp>
        <p:nvSpPr>
          <p:cNvPr id="14" name="text-122"/>
          <p:cNvSpPr txBox="1"/>
          <p:nvPr/>
        </p:nvSpPr>
        <p:spPr>
          <a:xfrm>
            <a:off x="6336792" y="2834640"/>
            <a:ext cx="5010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D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꽃을 만져보고 싶다는 R의 소원, 동화 속 주문을 변형한 방법으로 닫힌 창을 열어 꽃을 건넴</a:t>
            </a:r>
            <a:endParaRPr lang="en-US" sz="1300" dirty="0"/>
          </a:p>
        </p:txBody>
      </p:sp>
      <p:sp>
        <p:nvSpPr>
          <p:cNvPr id="15" name="rect-123"/>
          <p:cNvSpPr/>
          <p:nvPr/>
        </p:nvSpPr>
        <p:spPr>
          <a:xfrm>
            <a:off x="640080" y="3840480"/>
            <a:ext cx="5376672" cy="1993392"/>
          </a:xfrm>
          <a:prstGeom prst="rect">
            <a:avLst/>
          </a:prstGeom>
          <a:solidFill>
            <a:srgbClr val="1B3B3F"/>
          </a:solidFill>
          <a:ln w="28575">
            <a:solidFill>
              <a:srgbClr val="C9952F"/>
            </a:solidFill>
            <a:prstDash val="solid"/>
          </a:ln>
        </p:spPr>
      </p:sp>
      <p:sp>
        <p:nvSpPr>
          <p:cNvPr id="16" name="text-124"/>
          <p:cNvSpPr txBox="1"/>
          <p:nvPr/>
        </p:nvSpPr>
        <p:spPr>
          <a:xfrm>
            <a:off x="822960" y="3977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95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-125"/>
          <p:cNvSpPr txBox="1"/>
          <p:nvPr/>
        </p:nvSpPr>
        <p:spPr>
          <a:xfrm>
            <a:off x="822960" y="452628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뒤바뀐 존재</a:t>
            </a:r>
            <a:endParaRPr lang="en-US" sz="1500" dirty="0"/>
          </a:p>
        </p:txBody>
      </p:sp>
      <p:sp>
        <p:nvSpPr>
          <p:cNvPr id="18" name="text-126"/>
          <p:cNvSpPr txBox="1"/>
          <p:nvPr/>
        </p:nvSpPr>
        <p:spPr>
          <a:xfrm>
            <a:off x="822960" y="4983480"/>
            <a:ext cx="5010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D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회복되지 않은 척하는 R, 의식을 케이블로 전송한 루카스, 두 사람의 자아가 서로 뒤바뀜</a:t>
            </a:r>
            <a:endParaRPr lang="en-US" sz="1300" dirty="0"/>
          </a:p>
        </p:txBody>
      </p:sp>
      <p:sp>
        <p:nvSpPr>
          <p:cNvPr id="19" name="rect-127"/>
          <p:cNvSpPr/>
          <p:nvPr/>
        </p:nvSpPr>
        <p:spPr>
          <a:xfrm>
            <a:off x="6153912" y="3840480"/>
            <a:ext cx="5376672" cy="1993392"/>
          </a:xfrm>
          <a:prstGeom prst="rect">
            <a:avLst/>
          </a:prstGeom>
          <a:solidFill>
            <a:srgbClr val="1B3B3F"/>
          </a:solidFill>
          <a:ln w="28575">
            <a:solidFill>
              <a:srgbClr val="C9952F"/>
            </a:solidFill>
            <a:prstDash val="solid"/>
          </a:ln>
        </p:spPr>
      </p:sp>
      <p:sp>
        <p:nvSpPr>
          <p:cNvPr id="20" name="text-128"/>
          <p:cNvSpPr txBox="1"/>
          <p:nvPr/>
        </p:nvSpPr>
        <p:spPr>
          <a:xfrm>
            <a:off x="6336792" y="3977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95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-129"/>
          <p:cNvSpPr txBox="1"/>
          <p:nvPr/>
        </p:nvSpPr>
        <p:spPr>
          <a:xfrm>
            <a:off x="6336792" y="452628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재회</a:t>
            </a:r>
            <a:endParaRPr lang="en-US" sz="1500" dirty="0"/>
          </a:p>
        </p:txBody>
      </p:sp>
      <p:sp>
        <p:nvSpPr>
          <p:cNvPr id="22" name="text-130"/>
          <p:cNvSpPr txBox="1"/>
          <p:nvPr/>
        </p:nvSpPr>
        <p:spPr>
          <a:xfrm>
            <a:off x="6336792" y="4983480"/>
            <a:ext cx="5010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D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루카스의 몸으로 어머니 멜루진 박사에게 돌아간 R, 큐브에 홀로 남은 루카스가 지켜보는 재회</a:t>
            </a:r>
            <a:endParaRPr lang="en-US" sz="1300" dirty="0"/>
          </a:p>
        </p:txBody>
      </p:sp>
      <p:sp>
        <p:nvSpPr>
          <p:cNvPr id="23" name="text-131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관객은 사건의 전모를 목격하되, 도덕적 판단은 스스로에게 맡기는 열린 결말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6C27A"/>
                </a:solidFill>
                <a:latin typeface="Palatino Linotype"/>
                <a:ea typeface="Palatino Linotype"/>
                <a:cs typeface="Palatino Linotype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arch-132" descr="작품 이미지를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133"/>
          <p:cNvSpPr/>
          <p:nvPr/>
        </p:nvSpPr>
        <p:spPr>
          <a:xfrm>
            <a:off x="640080" y="329184"/>
            <a:ext cx="1389888" cy="310896"/>
          </a:xfrm>
          <a:prstGeom prst="rect">
            <a:avLst/>
          </a:prstGeom>
          <a:solidFill>
            <a:srgbClr val="F7E9B8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4" name="diamond-134"/>
          <p:cNvSpPr/>
          <p:nvPr/>
        </p:nvSpPr>
        <p:spPr>
          <a:xfrm>
            <a:off x="749808" y="420624"/>
            <a:ext cx="128016" cy="128016"/>
          </a:xfrm>
          <a:prstGeom prst="diamond">
            <a:avLst/>
          </a:prstGeom>
          <a:solidFill>
            <a:srgbClr val="C9952F"/>
          </a:solidFill>
          <a:ln/>
        </p:spPr>
      </p:sp>
      <p:sp>
        <p:nvSpPr>
          <p:cNvPr id="5" name="label-135"/>
          <p:cNvSpPr txBox="1"/>
          <p:nvPr/>
        </p:nvSpPr>
        <p:spPr>
          <a:xfrm>
            <a:off x="969264" y="32918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CHARACTER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R, 케이블 머리카락으로 재해석한 라푼젤</a:t>
            </a:r>
            <a:endParaRPr lang="en-US" sz="2600" dirty="0"/>
          </a:p>
        </p:txBody>
      </p:sp>
      <p:sp>
        <p:nvSpPr>
          <p:cNvPr id="7" name="rect-136"/>
          <p:cNvSpPr/>
          <p:nvPr/>
        </p:nvSpPr>
        <p:spPr>
          <a:xfrm>
            <a:off x="576072" y="1628181"/>
            <a:ext cx="6711696" cy="4516039"/>
          </a:xfrm>
          <a:prstGeom prst="rect">
            <a:avLst/>
          </a:prstGeom>
          <a:solidFill>
            <a:srgbClr val="FFFFFF"/>
          </a:solidFill>
          <a:ln w="28575">
            <a:solidFill>
              <a:srgbClr val="1F1B16"/>
            </a:solidFill>
            <a:prstDash val="solid"/>
          </a:ln>
        </p:spPr>
      </p:sp>
      <p:pic>
        <p:nvPicPr>
          <p:cNvPr id="8" name="img-sheet_r-137" descr="R 캐릭터 시트: 정면, 측면, 후면, 45도, 머리카락 구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2189"/>
            <a:ext cx="6583680" cy="4388023"/>
          </a:xfrm>
          <a:prstGeom prst="rect">
            <a:avLst/>
          </a:prstGeom>
        </p:spPr>
      </p:pic>
      <p:sp>
        <p:nvSpPr>
          <p:cNvPr id="9" name="rect-138"/>
          <p:cNvSpPr/>
          <p:nvPr/>
        </p:nvSpPr>
        <p:spPr>
          <a:xfrm>
            <a:off x="749808" y="5860755"/>
            <a:ext cx="1126541" cy="310896"/>
          </a:xfrm>
          <a:prstGeom prst="rect">
            <a:avLst/>
          </a:prstGeom>
          <a:solidFill>
            <a:srgbClr val="F7E9B8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10" name="caption-139"/>
          <p:cNvSpPr txBox="1"/>
          <p:nvPr/>
        </p:nvSpPr>
        <p:spPr>
          <a:xfrm>
            <a:off x="859536" y="5860755"/>
            <a:ext cx="94366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 캐릭터 시트</a:t>
            </a:r>
            <a:endParaRPr lang="en-US" sz="1050" dirty="0"/>
          </a:p>
        </p:txBody>
      </p:sp>
      <p:sp>
        <p:nvSpPr>
          <p:cNvPr id="11" name="rect-140"/>
          <p:cNvSpPr/>
          <p:nvPr/>
        </p:nvSpPr>
        <p:spPr>
          <a:xfrm>
            <a:off x="7436358" y="1627632"/>
            <a:ext cx="4174236" cy="2825496"/>
          </a:xfrm>
          <a:prstGeom prst="rect">
            <a:avLst/>
          </a:prstGeom>
          <a:solidFill>
            <a:srgbClr val="FFFFFF"/>
          </a:solidFill>
          <a:ln w="28575">
            <a:solidFill>
              <a:srgbClr val="1F1B16"/>
            </a:solidFill>
            <a:prstDash val="solid"/>
          </a:ln>
        </p:spPr>
      </p:sp>
      <p:pic>
        <p:nvPicPr>
          <p:cNvPr id="12" name="img-face_r-141" descr="R 표정 시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366" y="1691640"/>
            <a:ext cx="4046220" cy="2697480"/>
          </a:xfrm>
          <a:prstGeom prst="rect">
            <a:avLst/>
          </a:prstGeom>
        </p:spPr>
      </p:pic>
      <p:sp>
        <p:nvSpPr>
          <p:cNvPr id="13" name="rect-142"/>
          <p:cNvSpPr/>
          <p:nvPr/>
        </p:nvSpPr>
        <p:spPr>
          <a:xfrm>
            <a:off x="7610094" y="4169664"/>
            <a:ext cx="824103" cy="310896"/>
          </a:xfrm>
          <a:prstGeom prst="rect">
            <a:avLst/>
          </a:prstGeom>
          <a:solidFill>
            <a:srgbClr val="F7E9B8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14" name="caption-143"/>
          <p:cNvSpPr txBox="1"/>
          <p:nvPr/>
        </p:nvSpPr>
        <p:spPr>
          <a:xfrm>
            <a:off x="7719822" y="4169664"/>
            <a:ext cx="6412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표정 시트</a:t>
            </a:r>
            <a:endParaRPr lang="en-US" sz="1050" dirty="0"/>
          </a:p>
        </p:txBody>
      </p:sp>
      <p:sp>
        <p:nvSpPr>
          <p:cNvPr id="15" name="diamond-144"/>
          <p:cNvSpPr/>
          <p:nvPr/>
        </p:nvSpPr>
        <p:spPr>
          <a:xfrm>
            <a:off x="7498080" y="4689158"/>
            <a:ext cx="137160" cy="137160"/>
          </a:xfrm>
          <a:prstGeom prst="diamond">
            <a:avLst/>
          </a:prstGeom>
          <a:solidFill>
            <a:srgbClr val="C9952F"/>
          </a:solidFill>
          <a:ln/>
        </p:spPr>
      </p:sp>
      <p:sp>
        <p:nvSpPr>
          <p:cNvPr id="16" name="bullet-145"/>
          <p:cNvSpPr txBox="1"/>
          <p:nvPr/>
        </p:nvSpPr>
        <p:spPr>
          <a:xfrm>
            <a:off x="7772400" y="4617720"/>
            <a:ext cx="3776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머리카락을 데이터 케이블 / 에너지 파이프로 재해석해 빛 / 정보 / 생명의 통로로 시각화</a:t>
            </a:r>
            <a:endParaRPr lang="en-US" sz="1250" dirty="0"/>
          </a:p>
        </p:txBody>
      </p:sp>
      <p:sp>
        <p:nvSpPr>
          <p:cNvPr id="17" name="diamond-146"/>
          <p:cNvSpPr/>
          <p:nvPr/>
        </p:nvSpPr>
        <p:spPr>
          <a:xfrm>
            <a:off x="7498080" y="5438966"/>
            <a:ext cx="137160" cy="137160"/>
          </a:xfrm>
          <a:prstGeom prst="diamond">
            <a:avLst/>
          </a:prstGeom>
          <a:solidFill>
            <a:srgbClr val="C9952F"/>
          </a:solidFill>
          <a:ln/>
        </p:spPr>
      </p:sp>
      <p:sp>
        <p:nvSpPr>
          <p:cNvPr id="18" name="bullet-147"/>
          <p:cNvSpPr txBox="1"/>
          <p:nvPr/>
        </p:nvSpPr>
        <p:spPr>
          <a:xfrm>
            <a:off x="7772400" y="5367528"/>
            <a:ext cx="3776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순수해 보이지만 계획적으로 목적을 이루는 이중적 인물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952F"/>
                </a:solidFill>
                <a:latin typeface="Palatino Linotype"/>
                <a:ea typeface="Palatino Linotype"/>
                <a:cs typeface="Palatino Linotype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arch-148" descr="작품 이미지를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149"/>
          <p:cNvSpPr/>
          <p:nvPr/>
        </p:nvSpPr>
        <p:spPr>
          <a:xfrm>
            <a:off x="640080" y="329184"/>
            <a:ext cx="1389888" cy="310896"/>
          </a:xfrm>
          <a:prstGeom prst="rect">
            <a:avLst/>
          </a:prstGeom>
          <a:solidFill>
            <a:srgbClr val="F7E9B8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4" name="diamond-150"/>
          <p:cNvSpPr/>
          <p:nvPr/>
        </p:nvSpPr>
        <p:spPr>
          <a:xfrm>
            <a:off x="749808" y="420624"/>
            <a:ext cx="128016" cy="128016"/>
          </a:xfrm>
          <a:prstGeom prst="diamond">
            <a:avLst/>
          </a:prstGeom>
          <a:solidFill>
            <a:srgbClr val="C9952F"/>
          </a:solidFill>
          <a:ln/>
        </p:spPr>
      </p:sp>
      <p:sp>
        <p:nvSpPr>
          <p:cNvPr id="5" name="label-151"/>
          <p:cNvSpPr txBox="1"/>
          <p:nvPr/>
        </p:nvSpPr>
        <p:spPr>
          <a:xfrm>
            <a:off x="969264" y="32918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CHARACTER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루카스와 멜루진 박사, 구원자와 설계자</a:t>
            </a:r>
            <a:endParaRPr lang="en-US" sz="2600" dirty="0"/>
          </a:p>
        </p:txBody>
      </p:sp>
      <p:sp>
        <p:nvSpPr>
          <p:cNvPr id="7" name="rect-152"/>
          <p:cNvSpPr/>
          <p:nvPr/>
        </p:nvSpPr>
        <p:spPr>
          <a:xfrm>
            <a:off x="576648" y="1627632"/>
            <a:ext cx="5613264" cy="4480560"/>
          </a:xfrm>
          <a:prstGeom prst="rect">
            <a:avLst/>
          </a:prstGeom>
          <a:solidFill>
            <a:srgbClr val="FFFFFF"/>
          </a:solidFill>
          <a:ln w="28575">
            <a:solidFill>
              <a:srgbClr val="1F1B16"/>
            </a:solidFill>
            <a:prstDash val="solid"/>
          </a:ln>
        </p:spPr>
      </p:sp>
      <p:pic>
        <p:nvPicPr>
          <p:cNvPr id="8" name="img-sheet_lukas-153" descr="남자 연구원 루카스 캐릭터 시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56" y="1691640"/>
            <a:ext cx="5485248" cy="4352544"/>
          </a:xfrm>
          <a:prstGeom prst="rect">
            <a:avLst/>
          </a:prstGeom>
        </p:spPr>
      </p:pic>
      <p:sp>
        <p:nvSpPr>
          <p:cNvPr id="9" name="rect-154"/>
          <p:cNvSpPr/>
          <p:nvPr/>
        </p:nvSpPr>
        <p:spPr>
          <a:xfrm>
            <a:off x="750384" y="5824728"/>
            <a:ext cx="1328166" cy="310896"/>
          </a:xfrm>
          <a:prstGeom prst="rect">
            <a:avLst/>
          </a:prstGeom>
          <a:solidFill>
            <a:srgbClr val="F7E9B8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10" name="caption-155"/>
          <p:cNvSpPr txBox="1"/>
          <p:nvPr/>
        </p:nvSpPr>
        <p:spPr>
          <a:xfrm>
            <a:off x="860112" y="5824728"/>
            <a:ext cx="11452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루카스 캐릭터 시트</a:t>
            </a:r>
            <a:endParaRPr lang="en-US" sz="1050" dirty="0"/>
          </a:p>
        </p:txBody>
      </p:sp>
      <p:sp>
        <p:nvSpPr>
          <p:cNvPr id="11" name="rect-156"/>
          <p:cNvSpPr/>
          <p:nvPr/>
        </p:nvSpPr>
        <p:spPr>
          <a:xfrm>
            <a:off x="6336792" y="1627632"/>
            <a:ext cx="2139696" cy="2139696"/>
          </a:xfrm>
          <a:prstGeom prst="rect">
            <a:avLst/>
          </a:prstGeom>
          <a:solidFill>
            <a:srgbClr val="FFFFFF"/>
          </a:solidFill>
          <a:ln w="28575">
            <a:solidFill>
              <a:srgbClr val="1F1B16"/>
            </a:solidFill>
            <a:prstDash val="solid"/>
          </a:ln>
        </p:spPr>
      </p:sp>
      <p:pic>
        <p:nvPicPr>
          <p:cNvPr id="12" name="img-lukas_close-157" descr="루카스 얼굴과 안경 디테일 클로즈업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2011680" cy="2011680"/>
          </a:xfrm>
          <a:prstGeom prst="rect">
            <a:avLst/>
          </a:prstGeom>
        </p:spPr>
      </p:pic>
      <p:sp>
        <p:nvSpPr>
          <p:cNvPr id="13" name="rect-158"/>
          <p:cNvSpPr/>
          <p:nvPr/>
        </p:nvSpPr>
        <p:spPr>
          <a:xfrm>
            <a:off x="6510528" y="3483864"/>
            <a:ext cx="924916" cy="310896"/>
          </a:xfrm>
          <a:prstGeom prst="rect">
            <a:avLst/>
          </a:prstGeom>
          <a:solidFill>
            <a:srgbClr val="F7E9B8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14" name="caption-159"/>
          <p:cNvSpPr txBox="1"/>
          <p:nvPr/>
        </p:nvSpPr>
        <p:spPr>
          <a:xfrm>
            <a:off x="6620256" y="3483864"/>
            <a:ext cx="742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디테일 보정</a:t>
            </a:r>
            <a:endParaRPr lang="en-US" sz="1050" dirty="0"/>
          </a:p>
        </p:txBody>
      </p:sp>
      <p:sp>
        <p:nvSpPr>
          <p:cNvPr id="15" name="text-160"/>
          <p:cNvSpPr txBox="1"/>
          <p:nvPr/>
        </p:nvSpPr>
        <p:spPr>
          <a:xfrm>
            <a:off x="864108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루카스  ·  23세 전후 연구원</a:t>
            </a:r>
            <a:endParaRPr lang="en-US" sz="1400" dirty="0"/>
          </a:p>
        </p:txBody>
      </p:sp>
      <p:sp>
        <p:nvSpPr>
          <p:cNvPr id="16" name="text-161"/>
          <p:cNvSpPr txBox="1"/>
          <p:nvPr/>
        </p:nvSpPr>
        <p:spPr>
          <a:xfrm>
            <a:off x="8641080" y="21031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A42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순진하고 호기심 많은 데이터 분석 담당, R을 구하려다 몸과 정체성을 빼앗기는 비극적 인물</a:t>
            </a:r>
            <a:endParaRPr lang="en-US" sz="1200" dirty="0"/>
          </a:p>
        </p:txBody>
      </p:sp>
      <p:sp>
        <p:nvSpPr>
          <p:cNvPr id="17" name="diamond-162"/>
          <p:cNvSpPr/>
          <p:nvPr/>
        </p:nvSpPr>
        <p:spPr>
          <a:xfrm>
            <a:off x="6400800" y="4049077"/>
            <a:ext cx="137160" cy="137160"/>
          </a:xfrm>
          <a:prstGeom prst="diamond">
            <a:avLst/>
          </a:prstGeom>
          <a:solidFill>
            <a:srgbClr val="C9952F"/>
          </a:solidFill>
          <a:ln/>
        </p:spPr>
      </p:sp>
      <p:sp>
        <p:nvSpPr>
          <p:cNvPr id="18" name="bullet-163"/>
          <p:cNvSpPr txBox="1"/>
          <p:nvPr/>
        </p:nvSpPr>
        <p:spPr>
          <a:xfrm>
            <a:off x="6675120" y="3977640"/>
            <a:ext cx="4873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둥근 금속 안경 / ID 카드 겸 데이터 저장 장치 / 데이터 장비 가방으로 직업 특성 표현</a:t>
            </a:r>
            <a:endParaRPr lang="en-US" sz="1250" dirty="0"/>
          </a:p>
        </p:txBody>
      </p:sp>
      <p:sp>
        <p:nvSpPr>
          <p:cNvPr id="19" name="rect-164"/>
          <p:cNvSpPr/>
          <p:nvPr/>
        </p:nvSpPr>
        <p:spPr>
          <a:xfrm>
            <a:off x="6400800" y="4754880"/>
            <a:ext cx="5148072" cy="1325880"/>
          </a:xfrm>
          <a:prstGeom prst="rect">
            <a:avLst/>
          </a:prstGeom>
          <a:solidFill>
            <a:srgbClr val="1B3B3F"/>
          </a:solidFill>
          <a:ln w="28575">
            <a:solidFill>
              <a:srgbClr val="1F1B16"/>
            </a:solidFill>
            <a:prstDash val="solid"/>
          </a:ln>
        </p:spPr>
      </p:sp>
      <p:sp>
        <p:nvSpPr>
          <p:cNvPr id="20" name="text-165"/>
          <p:cNvSpPr txBox="1"/>
          <p:nvPr/>
        </p:nvSpPr>
        <p:spPr>
          <a:xfrm>
            <a:off x="6583680" y="48463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K. 멜루진 박사  ·  마녀 포지션</a:t>
            </a:r>
            <a:endParaRPr lang="en-US" sz="1350" dirty="0"/>
          </a:p>
        </p:txBody>
      </p:sp>
      <p:sp>
        <p:nvSpPr>
          <p:cNvPr id="21" name="text-166"/>
          <p:cNvSpPr txBox="1"/>
          <p:nvPr/>
        </p:nvSpPr>
        <p:spPr>
          <a:xfrm>
            <a:off x="6583680" y="52120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8DE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신경공학(뇌-기계 인터페이스) 분야의 천재 과학자, 딸을 잃은 슬픔을 차갑고 이성적인 태도 뒤에 감춘 인물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952F"/>
                </a:solidFill>
                <a:latin typeface="Palatino Linotype"/>
                <a:ea typeface="Palatino Linotype"/>
                <a:cs typeface="Palatino Linotype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night-167" descr="작품 이미지를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168"/>
          <p:cNvSpPr/>
          <p:nvPr/>
        </p:nvSpPr>
        <p:spPr>
          <a:xfrm>
            <a:off x="640080" y="329184"/>
            <a:ext cx="1572768" cy="310896"/>
          </a:xfrm>
          <a:prstGeom prst="rect">
            <a:avLst/>
          </a:prstGeom>
          <a:solidFill>
            <a:srgbClr val="1B3B3F"/>
          </a:solidFill>
          <a:ln w="15875">
            <a:solidFill>
              <a:srgbClr val="C9952F"/>
            </a:solidFill>
            <a:prstDash val="solid"/>
          </a:ln>
        </p:spPr>
      </p:sp>
      <p:sp>
        <p:nvSpPr>
          <p:cNvPr id="4" name="diamond-169"/>
          <p:cNvSpPr/>
          <p:nvPr/>
        </p:nvSpPr>
        <p:spPr>
          <a:xfrm>
            <a:off x="749808" y="420624"/>
            <a:ext cx="128016" cy="128016"/>
          </a:xfrm>
          <a:prstGeom prst="diamond">
            <a:avLst/>
          </a:prstGeom>
          <a:solidFill>
            <a:srgbClr val="C9952F"/>
          </a:solidFill>
          <a:ln/>
        </p:spPr>
      </p:sp>
      <p:sp>
        <p:nvSpPr>
          <p:cNvPr id="5" name="label-170"/>
          <p:cNvSpPr txBox="1"/>
          <p:nvPr/>
        </p:nvSpPr>
        <p:spPr>
          <a:xfrm>
            <a:off x="969264" y="32918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 BIBLE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FE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리뉴 클레르 손그림과 청록 / 황금 대비의 스타일 바이블</a:t>
            </a:r>
            <a:endParaRPr lang="en-US" sz="2600" dirty="0"/>
          </a:p>
        </p:txBody>
      </p:sp>
      <p:sp>
        <p:nvSpPr>
          <p:cNvPr id="7" name="rect-171"/>
          <p:cNvSpPr/>
          <p:nvPr/>
        </p:nvSpPr>
        <p:spPr>
          <a:xfrm>
            <a:off x="576985" y="1673352"/>
            <a:ext cx="5246830" cy="4224528"/>
          </a:xfrm>
          <a:prstGeom prst="rect">
            <a:avLst/>
          </a:prstGeom>
          <a:solidFill>
            <a:srgbClr val="1B3B3F"/>
          </a:solidFill>
          <a:ln w="28575">
            <a:solidFill>
              <a:srgbClr val="C9952F"/>
            </a:solidFill>
            <a:prstDash val="solid"/>
          </a:ln>
        </p:spPr>
      </p:sp>
      <p:pic>
        <p:nvPicPr>
          <p:cNvPr id="8" name="img-sheet_lukas1-172" descr="유럽 만화 스타일의 루카스 캐릭터 시트 초기 버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3" y="1737360"/>
            <a:ext cx="5118814" cy="4096512"/>
          </a:xfrm>
          <a:prstGeom prst="rect">
            <a:avLst/>
          </a:prstGeom>
        </p:spPr>
      </p:pic>
      <p:sp>
        <p:nvSpPr>
          <p:cNvPr id="9" name="rect-173"/>
          <p:cNvSpPr/>
          <p:nvPr/>
        </p:nvSpPr>
        <p:spPr>
          <a:xfrm>
            <a:off x="6217920" y="1737360"/>
            <a:ext cx="5330952" cy="676656"/>
          </a:xfrm>
          <a:prstGeom prst="rect">
            <a:avLst/>
          </a:prstGeom>
          <a:solidFill>
            <a:srgbClr val="1B3B3F"/>
          </a:solidFill>
          <a:ln w="12700">
            <a:solidFill>
              <a:srgbClr val="2F5357"/>
            </a:solidFill>
            <a:prstDash val="solid"/>
          </a:ln>
        </p:spPr>
      </p:sp>
      <p:sp>
        <p:nvSpPr>
          <p:cNvPr id="10" name="text-174"/>
          <p:cNvSpPr txBox="1"/>
          <p:nvPr/>
        </p:nvSpPr>
        <p:spPr>
          <a:xfrm>
            <a:off x="6400800" y="1737360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그래픽</a:t>
            </a:r>
            <a:endParaRPr lang="en-US" sz="1300" dirty="0"/>
          </a:p>
        </p:txBody>
      </p:sp>
      <p:sp>
        <p:nvSpPr>
          <p:cNvPr id="11" name="text-175"/>
          <p:cNvSpPr txBox="1"/>
          <p:nvPr/>
        </p:nvSpPr>
        <p:spPr>
          <a:xfrm>
            <a:off x="7315200" y="173736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FE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유럽 그래픽 노블의 리뉴 클레르 2D 손그림, 케이블 / 파이프 / 심장 모티브 장식</a:t>
            </a:r>
            <a:endParaRPr lang="en-US" sz="1200" dirty="0"/>
          </a:p>
        </p:txBody>
      </p:sp>
      <p:sp>
        <p:nvSpPr>
          <p:cNvPr id="12" name="rect-176"/>
          <p:cNvSpPr/>
          <p:nvPr/>
        </p:nvSpPr>
        <p:spPr>
          <a:xfrm>
            <a:off x="6217920" y="2523744"/>
            <a:ext cx="5330952" cy="676656"/>
          </a:xfrm>
          <a:prstGeom prst="rect">
            <a:avLst/>
          </a:prstGeom>
          <a:solidFill>
            <a:srgbClr val="1B3B3F"/>
          </a:solidFill>
          <a:ln w="12700">
            <a:solidFill>
              <a:srgbClr val="2F5357"/>
            </a:solidFill>
            <a:prstDash val="solid"/>
          </a:ln>
        </p:spPr>
      </p:sp>
      <p:sp>
        <p:nvSpPr>
          <p:cNvPr id="13" name="text-177"/>
          <p:cNvSpPr txBox="1"/>
          <p:nvPr/>
        </p:nvSpPr>
        <p:spPr>
          <a:xfrm>
            <a:off x="6400800" y="2523744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미학</a:t>
            </a:r>
            <a:endParaRPr lang="en-US" sz="1300" dirty="0"/>
          </a:p>
        </p:txBody>
      </p:sp>
      <p:sp>
        <p:nvSpPr>
          <p:cNvPr id="14" name="text-178"/>
          <p:cNvSpPr txBox="1"/>
          <p:nvPr/>
        </p:nvSpPr>
        <p:spPr>
          <a:xfrm>
            <a:off x="7315200" y="252374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FE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사이버펑크 / 스팀펑크 / 레트로가 혼재된 독자적 디자인</a:t>
            </a:r>
            <a:endParaRPr lang="en-US" sz="1200" dirty="0"/>
          </a:p>
        </p:txBody>
      </p:sp>
      <p:sp>
        <p:nvSpPr>
          <p:cNvPr id="15" name="rect-179"/>
          <p:cNvSpPr/>
          <p:nvPr/>
        </p:nvSpPr>
        <p:spPr>
          <a:xfrm>
            <a:off x="6217920" y="3310128"/>
            <a:ext cx="5330952" cy="676656"/>
          </a:xfrm>
          <a:prstGeom prst="rect">
            <a:avLst/>
          </a:prstGeom>
          <a:solidFill>
            <a:srgbClr val="1B3B3F"/>
          </a:solidFill>
          <a:ln w="12700">
            <a:solidFill>
              <a:srgbClr val="2F5357"/>
            </a:solidFill>
            <a:prstDash val="solid"/>
          </a:ln>
        </p:spPr>
      </p:sp>
      <p:sp>
        <p:nvSpPr>
          <p:cNvPr id="16" name="text-180"/>
          <p:cNvSpPr txBox="1"/>
          <p:nvPr/>
        </p:nvSpPr>
        <p:spPr>
          <a:xfrm>
            <a:off x="6400800" y="3310128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색감</a:t>
            </a:r>
            <a:endParaRPr lang="en-US" sz="1300" dirty="0"/>
          </a:p>
        </p:txBody>
      </p:sp>
      <p:sp>
        <p:nvSpPr>
          <p:cNvPr id="17" name="text-181"/>
          <p:cNvSpPr txBox="1"/>
          <p:nvPr/>
        </p:nvSpPr>
        <p:spPr>
          <a:xfrm>
            <a:off x="7315200" y="3310128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FE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비비드하지 않은 차분한 단일 톤, 청록과 황금의 보색 대비</a:t>
            </a:r>
            <a:endParaRPr lang="en-US" sz="1200" dirty="0"/>
          </a:p>
        </p:txBody>
      </p:sp>
      <p:sp>
        <p:nvSpPr>
          <p:cNvPr id="18" name="rect-182"/>
          <p:cNvSpPr/>
          <p:nvPr/>
        </p:nvSpPr>
        <p:spPr>
          <a:xfrm>
            <a:off x="6217920" y="4096512"/>
            <a:ext cx="5330952" cy="676656"/>
          </a:xfrm>
          <a:prstGeom prst="rect">
            <a:avLst/>
          </a:prstGeom>
          <a:solidFill>
            <a:srgbClr val="1B3B3F"/>
          </a:solidFill>
          <a:ln w="12700">
            <a:solidFill>
              <a:srgbClr val="2F5357"/>
            </a:solidFill>
            <a:prstDash val="solid"/>
          </a:ln>
        </p:spPr>
      </p:sp>
      <p:sp>
        <p:nvSpPr>
          <p:cNvPr id="19" name="text-183"/>
          <p:cNvSpPr txBox="1"/>
          <p:nvPr/>
        </p:nvSpPr>
        <p:spPr>
          <a:xfrm>
            <a:off x="6400800" y="4096512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모션</a:t>
            </a:r>
            <a:endParaRPr lang="en-US" sz="1300" dirty="0"/>
          </a:p>
        </p:txBody>
      </p:sp>
      <p:sp>
        <p:nvSpPr>
          <p:cNvPr id="20" name="text-184"/>
          <p:cNvSpPr txBox="1"/>
          <p:nvPr/>
        </p:nvSpPr>
        <p:spPr>
          <a:xfrm>
            <a:off x="7315200" y="4096512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FE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12~15프레임 리미티드, 감정적 순간에는 풀프레임 전환</a:t>
            </a:r>
            <a:endParaRPr lang="en-US" sz="1200" dirty="0"/>
          </a:p>
        </p:txBody>
      </p:sp>
      <p:sp>
        <p:nvSpPr>
          <p:cNvPr id="21" name="text-185"/>
          <p:cNvSpPr txBox="1"/>
          <p:nvPr/>
        </p:nvSpPr>
        <p:spPr>
          <a:xfrm>
            <a:off x="621792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C2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PALETTE</a:t>
            </a:r>
            <a:endParaRPr lang="en-US" sz="1100" dirty="0"/>
          </a:p>
        </p:txBody>
      </p:sp>
      <p:sp>
        <p:nvSpPr>
          <p:cNvPr id="22" name="rect-186"/>
          <p:cNvSpPr/>
          <p:nvPr/>
        </p:nvSpPr>
        <p:spPr>
          <a:xfrm>
            <a:off x="6217920" y="5285232"/>
            <a:ext cx="420624" cy="420624"/>
          </a:xfrm>
          <a:prstGeom prst="rect">
            <a:avLst/>
          </a:prstGeom>
          <a:solidFill>
            <a:srgbClr val="5E9A9C"/>
          </a:solidFill>
          <a:ln w="12700">
            <a:solidFill>
              <a:srgbClr val="1F1B16"/>
            </a:solidFill>
            <a:prstDash val="solid"/>
          </a:ln>
        </p:spPr>
      </p:sp>
      <p:sp>
        <p:nvSpPr>
          <p:cNvPr id="23" name="rect-187"/>
          <p:cNvSpPr/>
          <p:nvPr/>
        </p:nvSpPr>
        <p:spPr>
          <a:xfrm>
            <a:off x="6748272" y="5285232"/>
            <a:ext cx="420624" cy="420624"/>
          </a:xfrm>
          <a:prstGeom prst="rect">
            <a:avLst/>
          </a:prstGeom>
          <a:solidFill>
            <a:srgbClr val="C9952F"/>
          </a:solidFill>
          <a:ln w="12700">
            <a:solidFill>
              <a:srgbClr val="1F1B16"/>
            </a:solidFill>
            <a:prstDash val="solid"/>
          </a:ln>
        </p:spPr>
      </p:sp>
      <p:sp>
        <p:nvSpPr>
          <p:cNvPr id="24" name="rect-188"/>
          <p:cNvSpPr/>
          <p:nvPr/>
        </p:nvSpPr>
        <p:spPr>
          <a:xfrm>
            <a:off x="7278624" y="5285232"/>
            <a:ext cx="420624" cy="420624"/>
          </a:xfrm>
          <a:prstGeom prst="rect">
            <a:avLst/>
          </a:prstGeom>
          <a:solidFill>
            <a:srgbClr val="D7C5B1"/>
          </a:solidFill>
          <a:ln w="12700">
            <a:solidFill>
              <a:srgbClr val="1F1B16"/>
            </a:solidFill>
            <a:prstDash val="solid"/>
          </a:ln>
        </p:spPr>
      </p:sp>
      <p:sp>
        <p:nvSpPr>
          <p:cNvPr id="25" name="rect-189"/>
          <p:cNvSpPr/>
          <p:nvPr/>
        </p:nvSpPr>
        <p:spPr>
          <a:xfrm>
            <a:off x="7808976" y="5285232"/>
            <a:ext cx="420624" cy="420624"/>
          </a:xfrm>
          <a:prstGeom prst="rect">
            <a:avLst/>
          </a:prstGeom>
          <a:solidFill>
            <a:srgbClr val="B99E7D"/>
          </a:solidFill>
          <a:ln w="12700">
            <a:solidFill>
              <a:srgbClr val="1F1B16"/>
            </a:solidFill>
            <a:prstDash val="solid"/>
          </a:ln>
        </p:spPr>
      </p:sp>
      <p:sp>
        <p:nvSpPr>
          <p:cNvPr id="26" name="rect-190"/>
          <p:cNvSpPr/>
          <p:nvPr/>
        </p:nvSpPr>
        <p:spPr>
          <a:xfrm>
            <a:off x="8339328" y="5285232"/>
            <a:ext cx="420624" cy="420624"/>
          </a:xfrm>
          <a:prstGeom prst="rect">
            <a:avLst/>
          </a:prstGeom>
          <a:solidFill>
            <a:srgbClr val="C3A47E"/>
          </a:solidFill>
          <a:ln w="12700">
            <a:solidFill>
              <a:srgbClr val="1F1B16"/>
            </a:solidFill>
            <a:prstDash val="solid"/>
          </a:ln>
        </p:spPr>
      </p:sp>
      <p:sp>
        <p:nvSpPr>
          <p:cNvPr id="27" name="rect-191"/>
          <p:cNvSpPr/>
          <p:nvPr/>
        </p:nvSpPr>
        <p:spPr>
          <a:xfrm>
            <a:off x="8869680" y="5285232"/>
            <a:ext cx="420624" cy="420624"/>
          </a:xfrm>
          <a:prstGeom prst="rect">
            <a:avLst/>
          </a:prstGeom>
          <a:solidFill>
            <a:srgbClr val="978B78"/>
          </a:solidFill>
          <a:ln w="12700">
            <a:solidFill>
              <a:srgbClr val="1F1B16"/>
            </a:solidFill>
            <a:prstDash val="solid"/>
          </a:ln>
        </p:spPr>
      </p:sp>
      <p:sp>
        <p:nvSpPr>
          <p:cNvPr id="28" name="rect-192"/>
          <p:cNvSpPr/>
          <p:nvPr/>
        </p:nvSpPr>
        <p:spPr>
          <a:xfrm>
            <a:off x="9400032" y="5285232"/>
            <a:ext cx="420624" cy="420624"/>
          </a:xfrm>
          <a:prstGeom prst="rect">
            <a:avLst/>
          </a:prstGeom>
          <a:solidFill>
            <a:srgbClr val="898576"/>
          </a:solidFill>
          <a:ln w="12700">
            <a:solidFill>
              <a:srgbClr val="1F1B16"/>
            </a:solidFill>
            <a:prstDash val="solid"/>
          </a:ln>
        </p:spPr>
      </p:sp>
      <p:sp>
        <p:nvSpPr>
          <p:cNvPr id="29" name="rect-193"/>
          <p:cNvSpPr/>
          <p:nvPr/>
        </p:nvSpPr>
        <p:spPr>
          <a:xfrm>
            <a:off x="9930384" y="5285232"/>
            <a:ext cx="420624" cy="420624"/>
          </a:xfrm>
          <a:prstGeom prst="rect">
            <a:avLst/>
          </a:prstGeom>
          <a:solidFill>
            <a:srgbClr val="8A898B"/>
          </a:solidFill>
          <a:ln w="12700">
            <a:solidFill>
              <a:srgbClr val="1F1B16"/>
            </a:solidFill>
            <a:prstDash val="solid"/>
          </a:ln>
        </p:spPr>
      </p:sp>
      <p:sp>
        <p:nvSpPr>
          <p:cNvPr id="30" name="rect-194"/>
          <p:cNvSpPr/>
          <p:nvPr/>
        </p:nvSpPr>
        <p:spPr>
          <a:xfrm>
            <a:off x="10460736" y="5285232"/>
            <a:ext cx="420624" cy="420624"/>
          </a:xfrm>
          <a:prstGeom prst="rect">
            <a:avLst/>
          </a:prstGeom>
          <a:solidFill>
            <a:srgbClr val="A29384"/>
          </a:solidFill>
          <a:ln w="12700">
            <a:solidFill>
              <a:srgbClr val="1F1B16"/>
            </a:solidFill>
            <a:prstDash val="solid"/>
          </a:ln>
        </p:spPr>
      </p:sp>
      <p:sp>
        <p:nvSpPr>
          <p:cNvPr id="31" name="rect-195"/>
          <p:cNvSpPr/>
          <p:nvPr/>
        </p:nvSpPr>
        <p:spPr>
          <a:xfrm>
            <a:off x="10991088" y="5285232"/>
            <a:ext cx="420624" cy="420624"/>
          </a:xfrm>
          <a:prstGeom prst="rect">
            <a:avLst/>
          </a:prstGeom>
          <a:solidFill>
            <a:srgbClr val="857664"/>
          </a:solidFill>
          <a:ln w="12700">
            <a:solidFill>
              <a:srgbClr val="1F1B16"/>
            </a:solidFill>
            <a:prstDash val="solid"/>
          </a:ln>
        </p:spPr>
      </p:sp>
      <p:sp>
        <p:nvSpPr>
          <p:cNvPr id="32" name="text-196"/>
          <p:cNvSpPr txBox="1"/>
          <p:nvPr/>
        </p:nvSpPr>
        <p:spPr>
          <a:xfrm>
            <a:off x="6217920" y="577900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9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청록 / 황금 대비 색과 캐릭터 시트 팔레트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E6C27A"/>
                </a:solidFill>
                <a:latin typeface="Palatino Linotype"/>
                <a:ea typeface="Palatino Linotype"/>
                <a:cs typeface="Palatino Linotype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arch-197" descr="작품 이미지를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198"/>
          <p:cNvSpPr/>
          <p:nvPr/>
        </p:nvSpPr>
        <p:spPr>
          <a:xfrm>
            <a:off x="640080" y="329184"/>
            <a:ext cx="1572768" cy="310896"/>
          </a:xfrm>
          <a:prstGeom prst="rect">
            <a:avLst/>
          </a:prstGeom>
          <a:solidFill>
            <a:srgbClr val="F7E9B8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4" name="diamond-199"/>
          <p:cNvSpPr/>
          <p:nvPr/>
        </p:nvSpPr>
        <p:spPr>
          <a:xfrm>
            <a:off x="749808" y="420624"/>
            <a:ext cx="128016" cy="128016"/>
          </a:xfrm>
          <a:prstGeom prst="diamond">
            <a:avLst/>
          </a:prstGeom>
          <a:solidFill>
            <a:srgbClr val="C9952F"/>
          </a:solidFill>
          <a:ln/>
        </p:spPr>
      </p:sp>
      <p:sp>
        <p:nvSpPr>
          <p:cNvPr id="5" name="label-200"/>
          <p:cNvSpPr txBox="1"/>
          <p:nvPr/>
        </p:nvSpPr>
        <p:spPr>
          <a:xfrm>
            <a:off x="969264" y="32918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MOTION TEST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키프레임 설계와 영상 테스트로 검증한 움직임</a:t>
            </a:r>
            <a:endParaRPr lang="en-US" sz="2600" dirty="0"/>
          </a:p>
        </p:txBody>
      </p:sp>
      <p:sp>
        <p:nvSpPr>
          <p:cNvPr id="7" name="rect-201"/>
          <p:cNvSpPr/>
          <p:nvPr/>
        </p:nvSpPr>
        <p:spPr>
          <a:xfrm>
            <a:off x="576072" y="1628775"/>
            <a:ext cx="6528816" cy="3728466"/>
          </a:xfrm>
          <a:prstGeom prst="rect">
            <a:avLst/>
          </a:prstGeom>
          <a:solidFill>
            <a:srgbClr val="FFFFFF"/>
          </a:solidFill>
          <a:ln w="28575">
            <a:solidFill>
              <a:srgbClr val="1F1B16"/>
            </a:solidFill>
            <a:prstDash val="solid"/>
          </a:ln>
        </p:spPr>
      </p:sp>
      <p:pic>
        <p:nvPicPr>
          <p:cNvPr id="8" name="img-key_a-202" descr="라푼젤 애니메이션 테스트 키프레임 5장, 16프레임 24fp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2783"/>
            <a:ext cx="6400800" cy="3600450"/>
          </a:xfrm>
          <a:prstGeom prst="rect">
            <a:avLst/>
          </a:prstGeom>
        </p:spPr>
      </p:pic>
      <p:sp>
        <p:nvSpPr>
          <p:cNvPr id="9" name="rect-203"/>
          <p:cNvSpPr/>
          <p:nvPr/>
        </p:nvSpPr>
        <p:spPr>
          <a:xfrm>
            <a:off x="7254123" y="1627632"/>
            <a:ext cx="4355826" cy="1920240"/>
          </a:xfrm>
          <a:prstGeom prst="rect">
            <a:avLst/>
          </a:prstGeom>
          <a:solidFill>
            <a:srgbClr val="FFFFFF"/>
          </a:solidFill>
          <a:ln w="28575">
            <a:solidFill>
              <a:srgbClr val="1F1B16"/>
            </a:solidFill>
            <a:prstDash val="solid"/>
          </a:ln>
        </p:spPr>
      </p:sp>
      <p:pic>
        <p:nvPicPr>
          <p:cNvPr id="10" name="img-poster_anim-204" descr="머리카락 모션 테스트 영상 보기">
            <a:hlinkClick r:id="rId4" tooltip="영상 보기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131" y="1691640"/>
            <a:ext cx="4227810" cy="1792224"/>
          </a:xfrm>
          <a:prstGeom prst="rect">
            <a:avLst/>
          </a:prstGeom>
        </p:spPr>
      </p:pic>
      <p:sp>
        <p:nvSpPr>
          <p:cNvPr id="11" name="rect-205"/>
          <p:cNvSpPr/>
          <p:nvPr/>
        </p:nvSpPr>
        <p:spPr>
          <a:xfrm>
            <a:off x="7427859" y="3264408"/>
            <a:ext cx="1630604" cy="310896"/>
          </a:xfrm>
          <a:prstGeom prst="rect">
            <a:avLst/>
          </a:prstGeom>
          <a:solidFill>
            <a:srgbClr val="F7E9B8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12" name="caption-206"/>
          <p:cNvSpPr txBox="1"/>
          <p:nvPr/>
        </p:nvSpPr>
        <p:spPr>
          <a:xfrm>
            <a:off x="7537587" y="3264408"/>
            <a:ext cx="1447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머리카락 모션 테스트</a:t>
            </a:r>
            <a:endParaRPr lang="en-US" sz="1050" dirty="0"/>
          </a:p>
        </p:txBody>
      </p:sp>
      <p:sp>
        <p:nvSpPr>
          <p:cNvPr id="13" name="rect-207"/>
          <p:cNvSpPr/>
          <p:nvPr/>
        </p:nvSpPr>
        <p:spPr>
          <a:xfrm>
            <a:off x="7254123" y="3639312"/>
            <a:ext cx="4355826" cy="1920240"/>
          </a:xfrm>
          <a:prstGeom prst="rect">
            <a:avLst/>
          </a:prstGeom>
          <a:solidFill>
            <a:srgbClr val="FFFFFF"/>
          </a:solidFill>
          <a:ln w="28575">
            <a:solidFill>
              <a:srgbClr val="1F1B16"/>
            </a:solidFill>
            <a:prstDash val="solid"/>
          </a:ln>
        </p:spPr>
      </p:sp>
      <p:pic>
        <p:nvPicPr>
          <p:cNvPr id="14" name="img-poster_rot-208" descr="루카스 턴어라운드 테스트 영상 보기">
            <a:hlinkClick r:id="rId6" tooltip="영상 보기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131" y="3703320"/>
            <a:ext cx="4227810" cy="1792224"/>
          </a:xfrm>
          <a:prstGeom prst="rect">
            <a:avLst/>
          </a:prstGeom>
        </p:spPr>
      </p:pic>
      <p:sp>
        <p:nvSpPr>
          <p:cNvPr id="15" name="rect-209"/>
          <p:cNvSpPr/>
          <p:nvPr/>
        </p:nvSpPr>
        <p:spPr>
          <a:xfrm>
            <a:off x="7427859" y="5276088"/>
            <a:ext cx="1832229" cy="310896"/>
          </a:xfrm>
          <a:prstGeom prst="rect">
            <a:avLst/>
          </a:prstGeom>
          <a:solidFill>
            <a:srgbClr val="F7E9B8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16" name="caption-210"/>
          <p:cNvSpPr txBox="1"/>
          <p:nvPr/>
        </p:nvSpPr>
        <p:spPr>
          <a:xfrm>
            <a:off x="7537587" y="5276088"/>
            <a:ext cx="164934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루카스 턴어라운드 테스트</a:t>
            </a:r>
            <a:endParaRPr lang="en-US" sz="1050" dirty="0"/>
          </a:p>
        </p:txBody>
      </p:sp>
      <p:sp>
        <p:nvSpPr>
          <p:cNvPr id="17" name="diamond-211"/>
          <p:cNvSpPr/>
          <p:nvPr/>
        </p:nvSpPr>
        <p:spPr>
          <a:xfrm>
            <a:off x="640080" y="5697855"/>
            <a:ext cx="137160" cy="137160"/>
          </a:xfrm>
          <a:prstGeom prst="diamond">
            <a:avLst/>
          </a:prstGeom>
          <a:solidFill>
            <a:srgbClr val="C9952F"/>
          </a:solidFill>
          <a:ln/>
        </p:spPr>
      </p:sp>
      <p:sp>
        <p:nvSpPr>
          <p:cNvPr id="18" name="bullet-212"/>
          <p:cNvSpPr txBox="1"/>
          <p:nvPr/>
        </p:nvSpPr>
        <p:spPr>
          <a:xfrm>
            <a:off x="914400" y="562356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16프레임 / 24fps 키프레임 설계로 머리카락의 흐름과 고개 움직임 테스트</a:t>
            </a:r>
            <a:endParaRPr lang="en-US" sz="1300" dirty="0"/>
          </a:p>
        </p:txBody>
      </p:sp>
      <p:sp>
        <p:nvSpPr>
          <p:cNvPr id="19" name="diamond-213"/>
          <p:cNvSpPr/>
          <p:nvPr/>
        </p:nvSpPr>
        <p:spPr>
          <a:xfrm>
            <a:off x="640080" y="6081903"/>
            <a:ext cx="137160" cy="137160"/>
          </a:xfrm>
          <a:prstGeom prst="diamond">
            <a:avLst/>
          </a:prstGeom>
          <a:solidFill>
            <a:srgbClr val="C9952F"/>
          </a:solidFill>
          <a:ln/>
        </p:spPr>
      </p:sp>
      <p:sp>
        <p:nvSpPr>
          <p:cNvPr id="20" name="bullet-214"/>
          <p:cNvSpPr txBox="1"/>
          <p:nvPr/>
        </p:nvSpPr>
        <p:spPr>
          <a:xfrm>
            <a:off x="914400" y="60076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턴어라운드 영상으로 각도별 캐릭터 일관성 검증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952F"/>
                </a:solidFill>
                <a:latin typeface="Palatino Linotype"/>
                <a:ea typeface="Palatino Linotype"/>
                <a:cs typeface="Palatino Linotype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arch-215" descr="작품 이미지를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216"/>
          <p:cNvSpPr/>
          <p:nvPr/>
        </p:nvSpPr>
        <p:spPr>
          <a:xfrm>
            <a:off x="640080" y="329184"/>
            <a:ext cx="1298448" cy="310896"/>
          </a:xfrm>
          <a:prstGeom prst="rect">
            <a:avLst/>
          </a:prstGeom>
          <a:solidFill>
            <a:srgbClr val="F7E9B8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4" name="diamond-217"/>
          <p:cNvSpPr/>
          <p:nvPr/>
        </p:nvSpPr>
        <p:spPr>
          <a:xfrm>
            <a:off x="749808" y="420624"/>
            <a:ext cx="128016" cy="128016"/>
          </a:xfrm>
          <a:prstGeom prst="diamond">
            <a:avLst/>
          </a:prstGeom>
          <a:solidFill>
            <a:srgbClr val="C9952F"/>
          </a:solidFill>
          <a:ln/>
        </p:spPr>
      </p:sp>
      <p:sp>
        <p:nvSpPr>
          <p:cNvPr id="5" name="label-218"/>
          <p:cNvSpPr txBox="1"/>
          <p:nvPr/>
        </p:nvSpPr>
        <p:spPr>
          <a:xfrm>
            <a:off x="969264" y="329184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RESEARCH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작품 검토와 원작 비평으로 다진 기획의 깊이</a:t>
            </a:r>
            <a:endParaRPr lang="en-US" sz="2600" dirty="0"/>
          </a:p>
        </p:txBody>
      </p:sp>
      <p:sp>
        <p:nvSpPr>
          <p:cNvPr id="7" name="rect-219"/>
          <p:cNvSpPr/>
          <p:nvPr/>
        </p:nvSpPr>
        <p:spPr>
          <a:xfrm>
            <a:off x="640080" y="1737360"/>
            <a:ext cx="3502152" cy="3337560"/>
          </a:xfrm>
          <a:prstGeom prst="rect">
            <a:avLst/>
          </a:prstGeom>
          <a:solidFill>
            <a:srgbClr val="FBF6EC"/>
          </a:solidFill>
          <a:ln w="28575">
            <a:solidFill>
              <a:srgbClr val="1F1B16"/>
            </a:solidFill>
            <a:prstDash val="solid"/>
          </a:ln>
        </p:spPr>
      </p:sp>
      <p:sp>
        <p:nvSpPr>
          <p:cNvPr id="8" name="rect-220"/>
          <p:cNvSpPr/>
          <p:nvPr/>
        </p:nvSpPr>
        <p:spPr>
          <a:xfrm>
            <a:off x="822960" y="1965960"/>
            <a:ext cx="1463040" cy="310896"/>
          </a:xfrm>
          <a:prstGeom prst="rect">
            <a:avLst/>
          </a:prstGeom>
          <a:solidFill>
            <a:srgbClr val="F7E9B8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9" name="caption-221"/>
          <p:cNvSpPr txBox="1"/>
          <p:nvPr/>
        </p:nvSpPr>
        <p:spPr>
          <a:xfrm>
            <a:off x="932688" y="19659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유사성 검토</a:t>
            </a:r>
            <a:endParaRPr lang="en-US" sz="1100" dirty="0"/>
          </a:p>
        </p:txBody>
      </p:sp>
      <p:sp>
        <p:nvSpPr>
          <p:cNvPr id="10" name="text-222"/>
          <p:cNvSpPr txBox="1"/>
          <p:nvPr/>
        </p:nvSpPr>
        <p:spPr>
          <a:xfrm>
            <a:off x="822960" y="2468880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엑스 마키나(2014)</a:t>
            </a:r>
            <a:endParaRPr lang="en-US" sz="1600" dirty="0"/>
          </a:p>
        </p:txBody>
      </p:sp>
      <p:sp>
        <p:nvSpPr>
          <p:cNvPr id="11" name="cable-223"/>
          <p:cNvSpPr/>
          <p:nvPr/>
        </p:nvSpPr>
        <p:spPr>
          <a:xfrm>
            <a:off x="822960" y="3291840"/>
            <a:ext cx="3136392" cy="0"/>
          </a:xfrm>
          <a:prstGeom prst="line">
            <a:avLst/>
          </a:prstGeom>
          <a:noFill/>
          <a:ln w="22225">
            <a:solidFill>
              <a:srgbClr val="C9952F"/>
            </a:solidFill>
            <a:prstDash val="solid"/>
          </a:ln>
        </p:spPr>
      </p:sp>
      <p:sp>
        <p:nvSpPr>
          <p:cNvPr id="12" name="rect-224"/>
          <p:cNvSpPr/>
          <p:nvPr/>
        </p:nvSpPr>
        <p:spPr>
          <a:xfrm>
            <a:off x="1286927" y="3246120"/>
            <a:ext cx="201168" cy="91440"/>
          </a:xfrm>
          <a:prstGeom prst="rect">
            <a:avLst/>
          </a:prstGeom>
          <a:solidFill>
            <a:srgbClr val="C9952F"/>
          </a:solidFill>
          <a:ln/>
        </p:spPr>
      </p:sp>
      <p:sp>
        <p:nvSpPr>
          <p:cNvPr id="13" name="rect-225"/>
          <p:cNvSpPr/>
          <p:nvPr/>
        </p:nvSpPr>
        <p:spPr>
          <a:xfrm>
            <a:off x="2290572" y="3246120"/>
            <a:ext cx="201168" cy="91440"/>
          </a:xfrm>
          <a:prstGeom prst="rect">
            <a:avLst/>
          </a:prstGeom>
          <a:solidFill>
            <a:srgbClr val="C9952F"/>
          </a:solidFill>
          <a:ln/>
        </p:spPr>
      </p:sp>
      <p:sp>
        <p:nvSpPr>
          <p:cNvPr id="14" name="rect-226"/>
          <p:cNvSpPr/>
          <p:nvPr/>
        </p:nvSpPr>
        <p:spPr>
          <a:xfrm>
            <a:off x="3294217" y="3246120"/>
            <a:ext cx="201168" cy="91440"/>
          </a:xfrm>
          <a:prstGeom prst="rect">
            <a:avLst/>
          </a:prstGeom>
          <a:solidFill>
            <a:srgbClr val="C9952F"/>
          </a:solidFill>
          <a:ln/>
        </p:spPr>
      </p:sp>
      <p:sp>
        <p:nvSpPr>
          <p:cNvPr id="15" name="text-227"/>
          <p:cNvSpPr txBox="1"/>
          <p:nvPr/>
        </p:nvSpPr>
        <p:spPr>
          <a:xfrm>
            <a:off x="822960" y="3520440"/>
            <a:ext cx="3136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A42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생명체 설정과 후반 전개의 장르적 유사성을 검토해 차별점 확인</a:t>
            </a:r>
            <a:endParaRPr lang="en-US" sz="1250" dirty="0"/>
          </a:p>
        </p:txBody>
      </p:sp>
      <p:sp>
        <p:nvSpPr>
          <p:cNvPr id="16" name="rect-228"/>
          <p:cNvSpPr/>
          <p:nvPr/>
        </p:nvSpPr>
        <p:spPr>
          <a:xfrm>
            <a:off x="4325112" y="1737360"/>
            <a:ext cx="3502152" cy="3337560"/>
          </a:xfrm>
          <a:prstGeom prst="rect">
            <a:avLst/>
          </a:prstGeom>
          <a:solidFill>
            <a:srgbClr val="FBF6EC"/>
          </a:solidFill>
          <a:ln w="28575">
            <a:solidFill>
              <a:srgbClr val="1F1B16"/>
            </a:solidFill>
            <a:prstDash val="solid"/>
          </a:ln>
        </p:spPr>
      </p:sp>
      <p:sp>
        <p:nvSpPr>
          <p:cNvPr id="17" name="rect-229"/>
          <p:cNvSpPr/>
          <p:nvPr/>
        </p:nvSpPr>
        <p:spPr>
          <a:xfrm>
            <a:off x="4507992" y="1965960"/>
            <a:ext cx="1463040" cy="310896"/>
          </a:xfrm>
          <a:prstGeom prst="rect">
            <a:avLst/>
          </a:prstGeom>
          <a:solidFill>
            <a:srgbClr val="F7E9B8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18" name="caption-230"/>
          <p:cNvSpPr txBox="1"/>
          <p:nvPr/>
        </p:nvSpPr>
        <p:spPr>
          <a:xfrm>
            <a:off x="4617720" y="19659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 원형 계보</a:t>
            </a:r>
            <a:endParaRPr lang="en-US" sz="1100" dirty="0"/>
          </a:p>
        </p:txBody>
      </p:sp>
      <p:sp>
        <p:nvSpPr>
          <p:cNvPr id="19" name="text-231"/>
          <p:cNvSpPr txBox="1"/>
          <p:nvPr/>
        </p:nvSpPr>
        <p:spPr>
          <a:xfrm>
            <a:off x="4507992" y="2468880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죽은 자식을 기술로 재현한다</a:t>
            </a:r>
            <a:endParaRPr lang="en-US" sz="1600" dirty="0"/>
          </a:p>
        </p:txBody>
      </p:sp>
      <p:sp>
        <p:nvSpPr>
          <p:cNvPr id="20" name="cable-232"/>
          <p:cNvSpPr/>
          <p:nvPr/>
        </p:nvSpPr>
        <p:spPr>
          <a:xfrm>
            <a:off x="4507992" y="3291840"/>
            <a:ext cx="3136392" cy="0"/>
          </a:xfrm>
          <a:prstGeom prst="line">
            <a:avLst/>
          </a:prstGeom>
          <a:noFill/>
          <a:ln w="22225">
            <a:solidFill>
              <a:srgbClr val="C9952F"/>
            </a:solidFill>
            <a:prstDash val="solid"/>
          </a:ln>
        </p:spPr>
      </p:sp>
      <p:sp>
        <p:nvSpPr>
          <p:cNvPr id="21" name="rect-233"/>
          <p:cNvSpPr/>
          <p:nvPr/>
        </p:nvSpPr>
        <p:spPr>
          <a:xfrm>
            <a:off x="4971959" y="3246120"/>
            <a:ext cx="201168" cy="91440"/>
          </a:xfrm>
          <a:prstGeom prst="rect">
            <a:avLst/>
          </a:prstGeom>
          <a:solidFill>
            <a:srgbClr val="C9952F"/>
          </a:solidFill>
          <a:ln/>
        </p:spPr>
      </p:sp>
      <p:sp>
        <p:nvSpPr>
          <p:cNvPr id="22" name="rect-234"/>
          <p:cNvSpPr/>
          <p:nvPr/>
        </p:nvSpPr>
        <p:spPr>
          <a:xfrm>
            <a:off x="5975604" y="3246120"/>
            <a:ext cx="201168" cy="91440"/>
          </a:xfrm>
          <a:prstGeom prst="rect">
            <a:avLst/>
          </a:prstGeom>
          <a:solidFill>
            <a:srgbClr val="C9952F"/>
          </a:solidFill>
          <a:ln/>
        </p:spPr>
      </p:sp>
      <p:sp>
        <p:nvSpPr>
          <p:cNvPr id="23" name="rect-235"/>
          <p:cNvSpPr/>
          <p:nvPr/>
        </p:nvSpPr>
        <p:spPr>
          <a:xfrm>
            <a:off x="6979249" y="3246120"/>
            <a:ext cx="201168" cy="91440"/>
          </a:xfrm>
          <a:prstGeom prst="rect">
            <a:avLst/>
          </a:prstGeom>
          <a:solidFill>
            <a:srgbClr val="C9952F"/>
          </a:solidFill>
          <a:ln/>
        </p:spPr>
      </p:sp>
      <p:sp>
        <p:nvSpPr>
          <p:cNvPr id="24" name="text-236"/>
          <p:cNvSpPr txBox="1"/>
          <p:nvPr/>
        </p:nvSpPr>
        <p:spPr>
          <a:xfrm>
            <a:off x="4507992" y="3520440"/>
            <a:ext cx="3136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A42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우주소년 아톰 / 초비츠 / 마조리 프라임 / 블랙 미러 'Be Right Back' / 다큐멘터리 '너를 만났다' 등</a:t>
            </a:r>
            <a:endParaRPr lang="en-US" sz="1250" dirty="0"/>
          </a:p>
        </p:txBody>
      </p:sp>
      <p:sp>
        <p:nvSpPr>
          <p:cNvPr id="25" name="rect-237"/>
          <p:cNvSpPr/>
          <p:nvPr/>
        </p:nvSpPr>
        <p:spPr>
          <a:xfrm>
            <a:off x="8010144" y="1737360"/>
            <a:ext cx="3502152" cy="3337560"/>
          </a:xfrm>
          <a:prstGeom prst="rect">
            <a:avLst/>
          </a:prstGeom>
          <a:solidFill>
            <a:srgbClr val="FBF6EC"/>
          </a:solidFill>
          <a:ln w="28575">
            <a:solidFill>
              <a:srgbClr val="1F1B16"/>
            </a:solidFill>
            <a:prstDash val="solid"/>
          </a:ln>
        </p:spPr>
      </p:sp>
      <p:sp>
        <p:nvSpPr>
          <p:cNvPr id="26" name="rect-238"/>
          <p:cNvSpPr/>
          <p:nvPr/>
        </p:nvSpPr>
        <p:spPr>
          <a:xfrm>
            <a:off x="8193024" y="1965960"/>
            <a:ext cx="1463040" cy="310896"/>
          </a:xfrm>
          <a:prstGeom prst="rect">
            <a:avLst/>
          </a:prstGeom>
          <a:solidFill>
            <a:srgbClr val="F7E9B8"/>
          </a:solidFill>
          <a:ln w="15875">
            <a:solidFill>
              <a:srgbClr val="1F1B16"/>
            </a:solidFill>
            <a:prstDash val="solid"/>
          </a:ln>
        </p:spPr>
      </p:sp>
      <p:sp>
        <p:nvSpPr>
          <p:cNvPr id="27" name="caption-239"/>
          <p:cNvSpPr txBox="1"/>
          <p:nvPr/>
        </p:nvSpPr>
        <p:spPr>
          <a:xfrm>
            <a:off x="8302752" y="19659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원작 해석</a:t>
            </a:r>
            <a:endParaRPr lang="en-US" sz="1100" dirty="0"/>
          </a:p>
        </p:txBody>
      </p:sp>
      <p:sp>
        <p:nvSpPr>
          <p:cNvPr id="28" name="text-240"/>
          <p:cNvSpPr txBox="1"/>
          <p:nvPr/>
        </p:nvSpPr>
        <p:spPr>
          <a:xfrm>
            <a:off x="8193024" y="2468880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마녀와 라푼젤의 관계</a:t>
            </a:r>
            <a:endParaRPr lang="en-US" sz="1600" dirty="0"/>
          </a:p>
        </p:txBody>
      </p:sp>
      <p:sp>
        <p:nvSpPr>
          <p:cNvPr id="29" name="cable-241"/>
          <p:cNvSpPr/>
          <p:nvPr/>
        </p:nvSpPr>
        <p:spPr>
          <a:xfrm>
            <a:off x="8193024" y="3291840"/>
            <a:ext cx="3136392" cy="0"/>
          </a:xfrm>
          <a:prstGeom prst="line">
            <a:avLst/>
          </a:prstGeom>
          <a:noFill/>
          <a:ln w="22225">
            <a:solidFill>
              <a:srgbClr val="C9952F"/>
            </a:solidFill>
            <a:prstDash val="solid"/>
          </a:ln>
        </p:spPr>
      </p:sp>
      <p:sp>
        <p:nvSpPr>
          <p:cNvPr id="30" name="rect-242"/>
          <p:cNvSpPr/>
          <p:nvPr/>
        </p:nvSpPr>
        <p:spPr>
          <a:xfrm>
            <a:off x="8656991" y="3246120"/>
            <a:ext cx="201168" cy="91440"/>
          </a:xfrm>
          <a:prstGeom prst="rect">
            <a:avLst/>
          </a:prstGeom>
          <a:solidFill>
            <a:srgbClr val="C9952F"/>
          </a:solidFill>
          <a:ln/>
        </p:spPr>
      </p:sp>
      <p:sp>
        <p:nvSpPr>
          <p:cNvPr id="31" name="rect-243"/>
          <p:cNvSpPr/>
          <p:nvPr/>
        </p:nvSpPr>
        <p:spPr>
          <a:xfrm>
            <a:off x="9660636" y="3246120"/>
            <a:ext cx="201168" cy="91440"/>
          </a:xfrm>
          <a:prstGeom prst="rect">
            <a:avLst/>
          </a:prstGeom>
          <a:solidFill>
            <a:srgbClr val="C9952F"/>
          </a:solidFill>
          <a:ln/>
        </p:spPr>
      </p:sp>
      <p:sp>
        <p:nvSpPr>
          <p:cNvPr id="32" name="rect-244"/>
          <p:cNvSpPr/>
          <p:nvPr/>
        </p:nvSpPr>
        <p:spPr>
          <a:xfrm>
            <a:off x="10664281" y="3246120"/>
            <a:ext cx="201168" cy="91440"/>
          </a:xfrm>
          <a:prstGeom prst="rect">
            <a:avLst/>
          </a:prstGeom>
          <a:solidFill>
            <a:srgbClr val="C9952F"/>
          </a:solidFill>
          <a:ln/>
        </p:spPr>
      </p:sp>
      <p:sp>
        <p:nvSpPr>
          <p:cNvPr id="33" name="text-245"/>
          <p:cNvSpPr txBox="1"/>
          <p:nvPr/>
        </p:nvSpPr>
        <p:spPr>
          <a:xfrm>
            <a:off x="8193024" y="3520440"/>
            <a:ext cx="3136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A42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나르시시즘적 모성 / 앤 섹스턴의 시 / 페미니즘적 해석 / 융의 '삼키는 어머니' 원형, 탑의 상징성(소유욕 / 심리적 조종 / 수직성)</a:t>
            </a:r>
            <a:endParaRPr lang="en-US" sz="1250" dirty="0"/>
          </a:p>
        </p:txBody>
      </p:sp>
      <p:sp>
        <p:nvSpPr>
          <p:cNvPr id="34" name="diamond-246"/>
          <p:cNvSpPr/>
          <p:nvPr/>
        </p:nvSpPr>
        <p:spPr>
          <a:xfrm>
            <a:off x="640080" y="5517833"/>
            <a:ext cx="137160" cy="137160"/>
          </a:xfrm>
          <a:prstGeom prst="diamond">
            <a:avLst/>
          </a:prstGeom>
          <a:solidFill>
            <a:srgbClr val="C9952F"/>
          </a:solidFill>
          <a:ln/>
        </p:spPr>
      </p:sp>
      <p:sp>
        <p:nvSpPr>
          <p:cNvPr id="35" name="bullet-247"/>
          <p:cNvSpPr txBox="1"/>
          <p:nvPr/>
        </p:nvSpPr>
        <p:spPr>
          <a:xfrm>
            <a:off x="914400" y="5440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 결과를 R / 루카스 / 멜루진 박사의 인물 구축에 반영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952F"/>
                </a:solidFill>
                <a:latin typeface="Palatino Linotype"/>
                <a:ea typeface="Palatino Linotype"/>
                <a:cs typeface="Palatino Linotype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night-248" descr="빛나는 큐브 이미지보드를 흐리고 어둡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cube-249" descr="황금빛으로 빛나는 큐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8" y="685800"/>
            <a:ext cx="5120640" cy="5120640"/>
          </a:xfrm>
          <a:prstGeom prst="rect">
            <a:avLst/>
          </a:prstGeom>
        </p:spPr>
      </p:pic>
      <p:sp>
        <p:nvSpPr>
          <p:cNvPr id="4" name="text-250"/>
          <p:cNvSpPr txBox="1"/>
          <p:nvPr/>
        </p:nvSpPr>
        <p:spPr>
          <a:xfrm>
            <a:off x="3535528" y="2514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E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400" dirty="0"/>
          </a:p>
        </p:txBody>
      </p:sp>
      <p:sp>
        <p:nvSpPr>
          <p:cNvPr id="5" name="text-251"/>
          <p:cNvSpPr txBox="1"/>
          <p:nvPr/>
        </p:nvSpPr>
        <p:spPr>
          <a:xfrm>
            <a:off x="3535528" y="3246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C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고일준</a:t>
            </a:r>
            <a:endParaRPr lang="en-US" sz="1800" dirty="0"/>
          </a:p>
        </p:txBody>
      </p:sp>
      <p:sp>
        <p:nvSpPr>
          <p:cNvPr id="6" name="text-252"/>
          <p:cNvSpPr txBox="1"/>
          <p:nvPr/>
        </p:nvSpPr>
        <p:spPr>
          <a:xfrm>
            <a:off x="0" y="5897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i="1" spc="1000" kern="0" dirty="0">
                <a:solidFill>
                  <a:srgbClr val="E6C2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gne Claire">
  <a:themeElements>
    <a:clrScheme name="Ligne Claire">
      <a:dk1>
        <a:srgbClr val="1F1B16"/>
      </a:dk1>
      <a:lt1>
        <a:srgbClr val="FFFFFF"/>
      </a:lt1>
      <a:dk2>
        <a:srgbClr val="0E2225"/>
      </a:dk2>
      <a:lt2>
        <a:srgbClr val="EFE6D6"/>
      </a:lt2>
      <a:accent1>
        <a:srgbClr val="1B3B3F"/>
      </a:accent1>
      <a:accent2>
        <a:srgbClr val="C9952F"/>
      </a:accent2>
      <a:accent3>
        <a:srgbClr val="5E9A9C"/>
      </a:accent3>
      <a:accent4>
        <a:srgbClr val="E6C27A"/>
      </a:accent4>
      <a:accent5>
        <a:srgbClr val="4A4236"/>
      </a:accent5>
      <a:accent6>
        <a:srgbClr val="7A6E5E"/>
      </a:accent6>
      <a:hlink>
        <a:srgbClr val="1B3B3F"/>
      </a:hlink>
      <a:folHlink>
        <a:srgbClr val="1B3B3F"/>
      </a:folHlink>
    </a:clrScheme>
    <a:fontScheme name="Ligne Clair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고일준 포트폴리오</dc:title>
  <dc:subject>PptxGenJS Presentation</dc:subject>
  <dc:creator>고일준</dc:creator>
  <cp:lastModifiedBy>고일준</cp:lastModifiedBy>
  <cp:revision>1</cp:revision>
  <dcterms:created xsi:type="dcterms:W3CDTF">2026-10-06T03:19:23Z</dcterms:created>
  <dcterms:modified xsi:type="dcterms:W3CDTF">2026-10-06T03:19:23Z</dcterms:modified>
</cp:coreProperties>
</file>