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54cb1d82-6bc5-bc8a-4328-cae6da261bc6}">
          <p14:sldIdLst>
            <p14:sldId id="256"/>
            <p14:sldId id="257"/>
            <p14:sldId id="258"/>
          </p14:sldIdLst>
        </p14:section>
        <p14:section name="01 너와 나의 연결 꼬리" id="{eb1fd10e-2a4b-55c9-6de4-91fdd09785b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2 나는 문어, 말랑" id="{04272427-0882-1bca-986c-c0f21f10e85e}">
          <p14:sldIdLst>
            <p14:sldId id="268"/>
            <p14:sldId id="269"/>
            <p14:sldId id="270"/>
            <p14:sldId id="271"/>
            <p14:sldId id="272"/>
          </p14:sldIdLst>
        </p14:section>
        <p14:section name="03 벅뻑 행복스크래쳐" id="{df0c5ab1-bdd7-38fb-3bd2-6cdb758a7a4b}">
          <p14:sldIdLst>
            <p14:sldId id="273"/>
            <p14:sldId id="274"/>
            <p14:sldId id="275"/>
            <p14:sldId id="276"/>
          </p14:sldIdLst>
        </p14:section>
        <p14:section name="마무리" id="{48e8cf8e-c3d7-f7fa-2597-3c9f7301dc96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4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박진희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464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5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박진희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1A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464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hyperlink" Target="https://drive.google.com/file/d/1syIEN2KBbWDb8Q02cjB6IYgN444v6UqF/view" TargetMode="External"/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image" Target="../media/image-19-5.jpg"/><Relationship Id="rId6" Type="http://schemas.openxmlformats.org/officeDocument/2006/relationships/image" Target="../media/image-19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nawR_erkM8cg4L6-n3Zheibxt1GWwylb/view" TargetMode="External"/><Relationship Id="rId4" Type="http://schemas.openxmlformats.org/officeDocument/2006/relationships/hyperlink" Target="https://drive.google.com/file/d/1nawR_erkM8cg4L6-n3Zheibxt1GWwylb/view" TargetMode="External"/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over-1" descr="불꽃 하트를 띄운 토리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tail-2" descr="세 작품을 잇는 꼬리 곡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dot-3"/>
          <p:cNvSpPr/>
          <p:nvPr/>
        </p:nvSpPr>
        <p:spPr>
          <a:xfrm>
            <a:off x="6382512" y="1033272"/>
            <a:ext cx="2596896" cy="2596896"/>
          </a:xfrm>
          <a:prstGeom prst="ellipse">
            <a:avLst/>
          </a:prstGeom>
          <a:solidFill>
            <a:srgbClr val="E8552B"/>
          </a:solidFill>
          <a:ln/>
        </p:spPr>
      </p:sp>
      <p:pic>
        <p:nvPicPr>
          <p:cNvPr id="5" name="img-circ_tori-4" descr="토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97280"/>
            <a:ext cx="2468880" cy="2468880"/>
          </a:xfrm>
          <a:prstGeom prst="ellipse">
            <a:avLst/>
          </a:prstGeom>
        </p:spPr>
      </p:pic>
      <p:sp>
        <p:nvSpPr>
          <p:cNvPr id="6" name="dot-5"/>
          <p:cNvSpPr/>
          <p:nvPr/>
        </p:nvSpPr>
        <p:spPr>
          <a:xfrm>
            <a:off x="9308592" y="2221992"/>
            <a:ext cx="2139696" cy="2139696"/>
          </a:xfrm>
          <a:prstGeom prst="ellipse">
            <a:avLst/>
          </a:prstGeom>
          <a:solidFill>
            <a:srgbClr val="E8552B"/>
          </a:solidFill>
          <a:ln/>
        </p:spPr>
      </p:sp>
      <p:pic>
        <p:nvPicPr>
          <p:cNvPr id="7" name="img-circ_mallang-6" descr="말랑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286000"/>
            <a:ext cx="2011680" cy="2011680"/>
          </a:xfrm>
          <a:prstGeom prst="ellipse">
            <a:avLst/>
          </a:prstGeom>
        </p:spPr>
      </p:pic>
      <p:sp>
        <p:nvSpPr>
          <p:cNvPr id="8" name="dot-7"/>
          <p:cNvSpPr/>
          <p:nvPr/>
        </p:nvSpPr>
        <p:spPr>
          <a:xfrm>
            <a:off x="7571232" y="4279392"/>
            <a:ext cx="1956816" cy="1956816"/>
          </a:xfrm>
          <a:prstGeom prst="ellipse">
            <a:avLst/>
          </a:prstGeom>
          <a:solidFill>
            <a:srgbClr val="E8552B"/>
          </a:solidFill>
          <a:ln/>
        </p:spPr>
      </p:sp>
      <p:pic>
        <p:nvPicPr>
          <p:cNvPr id="9" name="img-circ_cat-8" descr="벅뻑 고양이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4343400"/>
            <a:ext cx="1828800" cy="1828800"/>
          </a:xfrm>
          <a:prstGeom prst="ellipse">
            <a:avLst/>
          </a:prstGeom>
        </p:spPr>
      </p:pic>
      <p:sp>
        <p:nvSpPr>
          <p:cNvPr id="10" name="text-9"/>
          <p:cNvSpPr txBox="1"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400" kern="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CONTENT CREATOR PORTFOLIO</a:t>
            </a:r>
            <a:endParaRPr lang="en-US" sz="1300" dirty="0"/>
          </a:p>
        </p:txBody>
      </p:sp>
      <p:sp>
        <p:nvSpPr>
          <p:cNvPr id="11" name="text-10"/>
          <p:cNvSpPr txBox="1"/>
          <p:nvPr/>
        </p:nvSpPr>
        <p:spPr>
          <a:xfrm>
            <a:off x="640080" y="1463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박진희</a:t>
            </a:r>
            <a:endParaRPr lang="en-US" sz="6000" dirty="0"/>
          </a:p>
        </p:txBody>
      </p:sp>
      <p:sp>
        <p:nvSpPr>
          <p:cNvPr id="12" name="text-11"/>
          <p:cNvSpPr txBox="1"/>
          <p:nvPr/>
        </p:nvSpPr>
        <p:spPr>
          <a:xfrm>
            <a:off x="64008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중심 스토리텔링의 장르 확장</a:t>
            </a:r>
            <a:endParaRPr lang="en-US" sz="2000" dirty="0"/>
          </a:p>
        </p:txBody>
      </p:sp>
      <p:sp>
        <p:nvSpPr>
          <p:cNvPr id="13" name="rect-12"/>
          <p:cNvSpPr/>
          <p:nvPr/>
        </p:nvSpPr>
        <p:spPr>
          <a:xfrm>
            <a:off x="640080" y="3429000"/>
            <a:ext cx="548640" cy="45720"/>
          </a:xfrm>
          <a:prstGeom prst="rect">
            <a:avLst/>
          </a:prstGeom>
          <a:solidFill>
            <a:srgbClr val="E8552B"/>
          </a:solidFill>
          <a:ln/>
        </p:spPr>
      </p:sp>
      <p:sp>
        <p:nvSpPr>
          <p:cNvPr id="14" name="text-13"/>
          <p:cNvSpPr txBox="1"/>
          <p:nvPr/>
        </p:nvSpPr>
        <p:spPr>
          <a:xfrm>
            <a:off x="640080" y="3749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-14"/>
          <p:cNvSpPr txBox="1"/>
          <p:nvPr/>
        </p:nvSpPr>
        <p:spPr>
          <a:xfrm>
            <a:off x="1234440" y="3749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애니메이션 「너와 나의 연결 꼬리」</a:t>
            </a:r>
            <a:endParaRPr lang="en-US" sz="1500" dirty="0"/>
          </a:p>
        </p:txBody>
      </p:sp>
      <p:sp>
        <p:nvSpPr>
          <p:cNvPr id="16" name="text-15"/>
          <p:cNvSpPr txBox="1"/>
          <p:nvPr/>
        </p:nvSpPr>
        <p:spPr>
          <a:xfrm>
            <a:off x="640080" y="42519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-16"/>
          <p:cNvSpPr txBox="1"/>
          <p:nvPr/>
        </p:nvSpPr>
        <p:spPr>
          <a:xfrm>
            <a:off x="123444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웹툰 「나는 문어, 말랑」</a:t>
            </a:r>
            <a:endParaRPr lang="en-US" sz="1500" dirty="0"/>
          </a:p>
        </p:txBody>
      </p:sp>
      <p:sp>
        <p:nvSpPr>
          <p:cNvPr id="18" name="text-17"/>
          <p:cNvSpPr txBox="1"/>
          <p:nvPr/>
        </p:nvSpPr>
        <p:spPr>
          <a:xfrm>
            <a:off x="640080" y="4754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-18"/>
          <p:cNvSpPr txBox="1"/>
          <p:nvPr/>
        </p:nvSpPr>
        <p:spPr>
          <a:xfrm>
            <a:off x="123444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숏폼 광고 「벅뻑 행복스크래쳐」</a:t>
            </a:r>
            <a:endParaRPr lang="en-US" sz="1500" dirty="0"/>
          </a:p>
        </p:txBody>
      </p:sp>
      <p:sp>
        <p:nvSpPr>
          <p:cNvPr id="20" name="text-19"/>
          <p:cNvSpPr txBox="1"/>
          <p:nvPr/>
        </p:nvSpPr>
        <p:spPr>
          <a:xfrm>
            <a:off x="640080" y="6080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A5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매력일자리 AI 콘텐츠 크리에이터 양성과정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oc-20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21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label-22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pic>
        <p:nvPicPr>
          <p:cNvPr id="6" name="tail-23" descr="목차를 잇는 꼬리 곡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dot-24"/>
          <p:cNvSpPr/>
          <p:nvPr/>
        </p:nvSpPr>
        <p:spPr>
          <a:xfrm>
            <a:off x="1069848" y="1892808"/>
            <a:ext cx="329184" cy="329184"/>
          </a:xfrm>
          <a:prstGeom prst="ellipse">
            <a:avLst/>
          </a:prstGeom>
          <a:solidFill>
            <a:srgbClr val="E8552B"/>
          </a:solidFill>
          <a:ln w="25400">
            <a:solidFill>
              <a:srgbClr val="F7F0E6"/>
            </a:solidFill>
            <a:prstDash val="solid"/>
          </a:ln>
        </p:spPr>
      </p:sp>
      <p:sp>
        <p:nvSpPr>
          <p:cNvPr id="8" name="text-25"/>
          <p:cNvSpPr txBox="1"/>
          <p:nvPr/>
        </p:nvSpPr>
        <p:spPr>
          <a:xfrm>
            <a:off x="1737360" y="1554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E85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9" name="text-26"/>
          <p:cNvSpPr txBox="1"/>
          <p:nvPr/>
        </p:nvSpPr>
        <p:spPr>
          <a:xfrm>
            <a:off x="3246120" y="1618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너와 나의 연결 꼬리</a:t>
            </a:r>
            <a:endParaRPr lang="en-US" sz="2400" dirty="0"/>
          </a:p>
        </p:txBody>
      </p:sp>
      <p:sp>
        <p:nvSpPr>
          <p:cNvPr id="10" name="text-27"/>
          <p:cNvSpPr txBox="1"/>
          <p:nvPr/>
        </p:nvSpPr>
        <p:spPr>
          <a:xfrm>
            <a:off x="3246120" y="2103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애니메이션 / 홍보영상용 티저</a:t>
            </a:r>
            <a:endParaRPr lang="en-US" sz="1300" dirty="0"/>
          </a:p>
        </p:txBody>
      </p:sp>
      <p:sp>
        <p:nvSpPr>
          <p:cNvPr id="11" name="text-28"/>
          <p:cNvSpPr txBox="1"/>
          <p:nvPr/>
        </p:nvSpPr>
        <p:spPr>
          <a:xfrm>
            <a:off x="3246120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나에겐 있고 너에겐 없는 것</a:t>
            </a:r>
            <a:endParaRPr lang="en-US" sz="1200" dirty="0"/>
          </a:p>
        </p:txBody>
      </p:sp>
      <p:sp>
        <p:nvSpPr>
          <p:cNvPr id="12" name="border-29"/>
          <p:cNvSpPr/>
          <p:nvPr/>
        </p:nvSpPr>
        <p:spPr>
          <a:xfrm>
            <a:off x="8835689" y="1481328"/>
            <a:ext cx="2171102" cy="1261872"/>
          </a:xfrm>
          <a:prstGeom prst="rect">
            <a:avLst/>
          </a:prstGeom>
          <a:solidFill>
            <a:srgbClr val="E8552B"/>
          </a:solidFill>
          <a:ln/>
        </p:spPr>
      </p:sp>
      <p:pic>
        <p:nvPicPr>
          <p:cNvPr id="13" name="img-s1c05-30" descr="s1c0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409" y="1527048"/>
            <a:ext cx="2079662" cy="1170432"/>
          </a:xfrm>
          <a:prstGeom prst="rect">
            <a:avLst/>
          </a:prstGeom>
        </p:spPr>
      </p:pic>
      <p:sp>
        <p:nvSpPr>
          <p:cNvPr id="14" name="dot-31"/>
          <p:cNvSpPr/>
          <p:nvPr/>
        </p:nvSpPr>
        <p:spPr>
          <a:xfrm>
            <a:off x="1069848" y="3355848"/>
            <a:ext cx="329184" cy="329184"/>
          </a:xfrm>
          <a:prstGeom prst="ellipse">
            <a:avLst/>
          </a:prstGeom>
          <a:solidFill>
            <a:srgbClr val="EE6F7C"/>
          </a:solidFill>
          <a:ln w="25400">
            <a:solidFill>
              <a:srgbClr val="F7F0E6"/>
            </a:solidFill>
            <a:prstDash val="solid"/>
          </a:ln>
        </p:spPr>
      </p:sp>
      <p:sp>
        <p:nvSpPr>
          <p:cNvPr id="15" name="text-32"/>
          <p:cNvSpPr txBox="1"/>
          <p:nvPr/>
        </p:nvSpPr>
        <p:spPr>
          <a:xfrm>
            <a:off x="1737360" y="30175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EE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16" name="text-33"/>
          <p:cNvSpPr txBox="1"/>
          <p:nvPr/>
        </p:nvSpPr>
        <p:spPr>
          <a:xfrm>
            <a:off x="3246120" y="3081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문어, 말랑</a:t>
            </a:r>
            <a:endParaRPr lang="en-US" sz="2400" dirty="0"/>
          </a:p>
        </p:txBody>
      </p:sp>
      <p:sp>
        <p:nvSpPr>
          <p:cNvPr id="17" name="text-34"/>
          <p:cNvSpPr txBox="1"/>
          <p:nvPr/>
        </p:nvSpPr>
        <p:spPr>
          <a:xfrm>
            <a:off x="3246120" y="3566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E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/ 이모티콘 / 일상 웹툰</a:t>
            </a:r>
            <a:endParaRPr lang="en-US" sz="1300" dirty="0"/>
          </a:p>
        </p:txBody>
      </p:sp>
      <p:sp>
        <p:nvSpPr>
          <p:cNvPr id="18" name="text-35"/>
          <p:cNvSpPr txBox="1"/>
          <p:nvPr/>
        </p:nvSpPr>
        <p:spPr>
          <a:xfrm>
            <a:off x="3246120" y="3867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말랑, 물렁, 말라칸?</a:t>
            </a:r>
            <a:endParaRPr lang="en-US" sz="1200" dirty="0"/>
          </a:p>
        </p:txBody>
      </p:sp>
      <p:sp>
        <p:nvSpPr>
          <p:cNvPr id="19" name="border-36"/>
          <p:cNvSpPr/>
          <p:nvPr/>
        </p:nvSpPr>
        <p:spPr>
          <a:xfrm>
            <a:off x="9072843" y="2944368"/>
            <a:ext cx="1696794" cy="1261872"/>
          </a:xfrm>
          <a:prstGeom prst="rect">
            <a:avLst/>
          </a:prstGeom>
          <a:solidFill>
            <a:srgbClr val="EE6F7C"/>
          </a:solidFill>
          <a:ln/>
        </p:spPr>
      </p:sp>
      <p:pic>
        <p:nvPicPr>
          <p:cNvPr id="20" name="img-conti1-37" descr="conti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8563" y="2990088"/>
            <a:ext cx="1605354" cy="1170432"/>
          </a:xfrm>
          <a:prstGeom prst="rect">
            <a:avLst/>
          </a:prstGeom>
        </p:spPr>
      </p:pic>
      <p:sp>
        <p:nvSpPr>
          <p:cNvPr id="21" name="dot-38"/>
          <p:cNvSpPr/>
          <p:nvPr/>
        </p:nvSpPr>
        <p:spPr>
          <a:xfrm>
            <a:off x="1069848" y="4818888"/>
            <a:ext cx="329184" cy="329184"/>
          </a:xfrm>
          <a:prstGeom prst="ellipse">
            <a:avLst/>
          </a:prstGeom>
          <a:solidFill>
            <a:srgbClr val="B8895A"/>
          </a:solidFill>
          <a:ln w="25400">
            <a:solidFill>
              <a:srgbClr val="F7F0E6"/>
            </a:solidFill>
            <a:prstDash val="solid"/>
          </a:ln>
        </p:spPr>
      </p:sp>
      <p:sp>
        <p:nvSpPr>
          <p:cNvPr id="22" name="text-39"/>
          <p:cNvSpPr txBox="1"/>
          <p:nvPr/>
        </p:nvSpPr>
        <p:spPr>
          <a:xfrm>
            <a:off x="1737360" y="44805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B88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23" name="text-40"/>
          <p:cNvSpPr txBox="1"/>
          <p:nvPr/>
        </p:nvSpPr>
        <p:spPr>
          <a:xfrm>
            <a:off x="3246120" y="4544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벅뻑 행복스크래쳐</a:t>
            </a:r>
            <a:endParaRPr lang="en-US" sz="2400" dirty="0"/>
          </a:p>
        </p:txBody>
      </p:sp>
      <p:sp>
        <p:nvSpPr>
          <p:cNvPr id="24" name="text-41"/>
          <p:cNvSpPr txBox="1"/>
          <p:nvPr/>
        </p:nvSpPr>
        <p:spPr>
          <a:xfrm>
            <a:off x="3246120" y="5029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B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숏폼 광고 / 60초</a:t>
            </a:r>
            <a:endParaRPr lang="en-US" sz="1300" dirty="0"/>
          </a:p>
        </p:txBody>
      </p:sp>
      <p:sp>
        <p:nvSpPr>
          <p:cNvPr id="25" name="text-42"/>
          <p:cNvSpPr txBox="1"/>
          <p:nvPr/>
        </p:nvSpPr>
        <p:spPr>
          <a:xfrm>
            <a:off x="3246120" y="5330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B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소리로 기억되는 고양이 스크래처</a:t>
            </a:r>
            <a:endParaRPr lang="en-US" sz="1200" dirty="0"/>
          </a:p>
        </p:txBody>
      </p:sp>
      <p:sp>
        <p:nvSpPr>
          <p:cNvPr id="26" name="border-43"/>
          <p:cNvSpPr/>
          <p:nvPr/>
        </p:nvSpPr>
        <p:spPr>
          <a:xfrm>
            <a:off x="8785940" y="4407408"/>
            <a:ext cx="2270600" cy="1261872"/>
          </a:xfrm>
          <a:prstGeom prst="rect">
            <a:avLst/>
          </a:prstGeom>
          <a:solidFill>
            <a:srgbClr val="B8895A"/>
          </a:solidFill>
          <a:ln/>
        </p:spPr>
      </p:sp>
      <p:pic>
        <p:nvPicPr>
          <p:cNvPr id="27" name="img-pan_thumb-44" descr="pan_thum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1660" y="4453128"/>
            <a:ext cx="2179160" cy="11704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464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ream-45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46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E8552B"/>
          </a:solidFill>
          <a:ln/>
        </p:spPr>
      </p:sp>
      <p:sp>
        <p:nvSpPr>
          <p:cNvPr id="4" name="label-47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캐릭터에서 출발한 매체별 스토리텔링 역량</a:t>
            </a:r>
            <a:endParaRPr lang="en-US" sz="2800" dirty="0"/>
          </a:p>
        </p:txBody>
      </p:sp>
      <p:sp>
        <p:nvSpPr>
          <p:cNvPr id="6" name="rect-48"/>
          <p:cNvSpPr/>
          <p:nvPr/>
        </p:nvSpPr>
        <p:spPr>
          <a:xfrm>
            <a:off x="640080" y="1828800"/>
            <a:ext cx="2560320" cy="4023360"/>
          </a:xfrm>
          <a:prstGeom prst="rect">
            <a:avLst/>
          </a:prstGeom>
          <a:solidFill>
            <a:srgbClr val="FFFDF9"/>
          </a:solidFill>
          <a:ln w="9525">
            <a:solidFill>
              <a:srgbClr val="E6D9C8"/>
            </a:solidFill>
            <a:prstDash val="solid"/>
          </a:ln>
        </p:spPr>
      </p:sp>
      <p:sp>
        <p:nvSpPr>
          <p:cNvPr id="7" name="rect-49"/>
          <p:cNvSpPr/>
          <p:nvPr/>
        </p:nvSpPr>
        <p:spPr>
          <a:xfrm>
            <a:off x="640080" y="1828800"/>
            <a:ext cx="2560320" cy="109728"/>
          </a:xfrm>
          <a:prstGeom prst="rect">
            <a:avLst/>
          </a:prstGeom>
          <a:solidFill>
            <a:srgbClr val="E8552B"/>
          </a:solidFill>
          <a:ln/>
        </p:spPr>
      </p:sp>
      <p:sp>
        <p:nvSpPr>
          <p:cNvPr id="8" name="text-50"/>
          <p:cNvSpPr txBox="1"/>
          <p:nvPr/>
        </p:nvSpPr>
        <p:spPr>
          <a:xfrm>
            <a:off x="91440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85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-51"/>
          <p:cNvSpPr txBox="1"/>
          <p:nvPr/>
        </p:nvSpPr>
        <p:spPr>
          <a:xfrm>
            <a:off x="9144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설계</a:t>
            </a:r>
            <a:endParaRPr lang="en-US" sz="2000" dirty="0"/>
          </a:p>
        </p:txBody>
      </p:sp>
      <p:sp>
        <p:nvSpPr>
          <p:cNvPr id="10" name="text-52"/>
          <p:cNvSpPr txBox="1"/>
          <p:nvPr/>
        </p:nvSpPr>
        <p:spPr>
          <a:xfrm>
            <a:off x="914400" y="38404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능력과 결핍, 평상시와 변신의 반전으로 관계와 갈등이 살아 있는 캐릭터 기획</a:t>
            </a:r>
            <a:endParaRPr lang="en-US" sz="1400" dirty="0"/>
          </a:p>
        </p:txBody>
      </p:sp>
      <p:sp>
        <p:nvSpPr>
          <p:cNvPr id="11" name="rect-53"/>
          <p:cNvSpPr/>
          <p:nvPr/>
        </p:nvSpPr>
        <p:spPr>
          <a:xfrm>
            <a:off x="3383280" y="1828800"/>
            <a:ext cx="2560320" cy="4023360"/>
          </a:xfrm>
          <a:prstGeom prst="rect">
            <a:avLst/>
          </a:prstGeom>
          <a:solidFill>
            <a:srgbClr val="FFFDF9"/>
          </a:solidFill>
          <a:ln w="9525">
            <a:solidFill>
              <a:srgbClr val="E6D9C8"/>
            </a:solidFill>
            <a:prstDash val="solid"/>
          </a:ln>
        </p:spPr>
      </p:sp>
      <p:sp>
        <p:nvSpPr>
          <p:cNvPr id="12" name="rect-54"/>
          <p:cNvSpPr/>
          <p:nvPr/>
        </p:nvSpPr>
        <p:spPr>
          <a:xfrm>
            <a:off x="3383280" y="1828800"/>
            <a:ext cx="2560320" cy="109728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13" name="text-55"/>
          <p:cNvSpPr txBox="1"/>
          <p:nvPr/>
        </p:nvSpPr>
        <p:spPr>
          <a:xfrm>
            <a:off x="365760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-56"/>
          <p:cNvSpPr txBox="1"/>
          <p:nvPr/>
        </p:nvSpPr>
        <p:spPr>
          <a:xfrm>
            <a:off x="36576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연출</a:t>
            </a:r>
            <a:endParaRPr lang="en-US" sz="2000" dirty="0"/>
          </a:p>
        </p:txBody>
      </p:sp>
      <p:sp>
        <p:nvSpPr>
          <p:cNvPr id="15" name="text-57"/>
          <p:cNvSpPr txBox="1"/>
          <p:nvPr/>
        </p:nvSpPr>
        <p:spPr>
          <a:xfrm>
            <a:off x="3657600" y="38404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단위 샷/앵글/조명/카메라 설계로 감정선 연출 구체화</a:t>
            </a:r>
            <a:endParaRPr lang="en-US" sz="1400" dirty="0"/>
          </a:p>
        </p:txBody>
      </p:sp>
      <p:sp>
        <p:nvSpPr>
          <p:cNvPr id="16" name="rect-58"/>
          <p:cNvSpPr/>
          <p:nvPr/>
        </p:nvSpPr>
        <p:spPr>
          <a:xfrm>
            <a:off x="6126480" y="1828800"/>
            <a:ext cx="2560320" cy="4023360"/>
          </a:xfrm>
          <a:prstGeom prst="rect">
            <a:avLst/>
          </a:prstGeom>
          <a:solidFill>
            <a:srgbClr val="FFFDF9"/>
          </a:solidFill>
          <a:ln w="9525">
            <a:solidFill>
              <a:srgbClr val="E6D9C8"/>
            </a:solidFill>
            <a:prstDash val="solid"/>
          </a:ln>
        </p:spPr>
      </p:sp>
      <p:sp>
        <p:nvSpPr>
          <p:cNvPr id="17" name="rect-59"/>
          <p:cNvSpPr/>
          <p:nvPr/>
        </p:nvSpPr>
        <p:spPr>
          <a:xfrm>
            <a:off x="6126480" y="1828800"/>
            <a:ext cx="2560320" cy="109728"/>
          </a:xfrm>
          <a:prstGeom prst="rect">
            <a:avLst/>
          </a:prstGeom>
          <a:solidFill>
            <a:srgbClr val="EE6F7C"/>
          </a:solidFill>
          <a:ln/>
        </p:spPr>
      </p:sp>
      <p:sp>
        <p:nvSpPr>
          <p:cNvPr id="18" name="text-60"/>
          <p:cNvSpPr txBox="1"/>
          <p:nvPr/>
        </p:nvSpPr>
        <p:spPr>
          <a:xfrm>
            <a:off x="640080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E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-61"/>
          <p:cNvSpPr txBox="1"/>
          <p:nvPr/>
        </p:nvSpPr>
        <p:spPr>
          <a:xfrm>
            <a:off x="64008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 확장</a:t>
            </a:r>
            <a:endParaRPr lang="en-US" sz="2000" dirty="0"/>
          </a:p>
        </p:txBody>
      </p:sp>
      <p:sp>
        <p:nvSpPr>
          <p:cNvPr id="20" name="text-62"/>
          <p:cNvSpPr txBox="1"/>
          <p:nvPr/>
        </p:nvSpPr>
        <p:spPr>
          <a:xfrm>
            <a:off x="6400800" y="38404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애니메이션/웹툰/광고까지 매체별 문법에 맞춘 이야기 전개</a:t>
            </a:r>
            <a:endParaRPr lang="en-US" sz="1400" dirty="0"/>
          </a:p>
        </p:txBody>
      </p:sp>
      <p:sp>
        <p:nvSpPr>
          <p:cNvPr id="21" name="rect-63"/>
          <p:cNvSpPr/>
          <p:nvPr/>
        </p:nvSpPr>
        <p:spPr>
          <a:xfrm>
            <a:off x="8869680" y="1828800"/>
            <a:ext cx="2560320" cy="4023360"/>
          </a:xfrm>
          <a:prstGeom prst="rect">
            <a:avLst/>
          </a:prstGeom>
          <a:solidFill>
            <a:srgbClr val="FFFDF9"/>
          </a:solidFill>
          <a:ln w="9525">
            <a:solidFill>
              <a:srgbClr val="E6D9C8"/>
            </a:solidFill>
            <a:prstDash val="solid"/>
          </a:ln>
        </p:spPr>
      </p:sp>
      <p:sp>
        <p:nvSpPr>
          <p:cNvPr id="22" name="rect-64"/>
          <p:cNvSpPr/>
          <p:nvPr/>
        </p:nvSpPr>
        <p:spPr>
          <a:xfrm>
            <a:off x="8869680" y="1828800"/>
            <a:ext cx="2560320" cy="109728"/>
          </a:xfrm>
          <a:prstGeom prst="rect">
            <a:avLst/>
          </a:prstGeom>
          <a:solidFill>
            <a:srgbClr val="B8895A"/>
          </a:solidFill>
          <a:ln/>
        </p:spPr>
      </p:sp>
      <p:sp>
        <p:nvSpPr>
          <p:cNvPr id="23" name="text-65"/>
          <p:cNvSpPr txBox="1"/>
          <p:nvPr/>
        </p:nvSpPr>
        <p:spPr>
          <a:xfrm>
            <a:off x="914400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B889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-66"/>
          <p:cNvSpPr txBox="1"/>
          <p:nvPr/>
        </p:nvSpPr>
        <p:spPr>
          <a:xfrm>
            <a:off x="914400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</a:t>
            </a:r>
            <a:endParaRPr lang="en-US" sz="2000" dirty="0"/>
          </a:p>
        </p:txBody>
      </p:sp>
      <p:sp>
        <p:nvSpPr>
          <p:cNvPr id="25" name="text-67"/>
          <p:cNvSpPr txBox="1"/>
          <p:nvPr/>
        </p:nvSpPr>
        <p:spPr>
          <a:xfrm>
            <a:off x="9144000" y="3840480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AI툴을 사용하여 창작/기획/연출 역량 극대화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-ch1_img-68" descr="토리의 꼬리 불꽃이 공중에 고리를 그리는 장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6"/>
            <a:ext cx="8168335" cy="6857907"/>
          </a:xfrm>
          <a:prstGeom prst="rect">
            <a:avLst/>
          </a:prstGeom>
        </p:spPr>
      </p:pic>
      <p:sp>
        <p:nvSpPr>
          <p:cNvPr id="3" name="rect-69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E8552B"/>
          </a:solidFill>
          <a:ln/>
        </p:spPr>
      </p:sp>
      <p:sp>
        <p:nvSpPr>
          <p:cNvPr id="4" name="ch-label-70"/>
          <p:cNvSpPr txBox="1"/>
          <p:nvPr/>
        </p:nvSpPr>
        <p:spPr>
          <a:xfrm>
            <a:off x="566928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</a:t>
            </a:r>
            <a:endParaRPr lang="en-US" sz="1300" dirty="0"/>
          </a:p>
        </p:txBody>
      </p:sp>
      <p:sp>
        <p:nvSpPr>
          <p:cNvPr id="5" name="ch-num-71"/>
          <p:cNvSpPr txBox="1"/>
          <p:nvPr/>
        </p:nvSpPr>
        <p:spPr>
          <a:xfrm>
            <a:off x="384048" y="777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0" dirty="0"/>
          </a:p>
        </p:txBody>
      </p:sp>
      <p:sp>
        <p:nvSpPr>
          <p:cNvPr id="6" name="ch-en-72"/>
          <p:cNvSpPr txBox="1"/>
          <p:nvPr/>
        </p:nvSpPr>
        <p:spPr>
          <a:xfrm>
            <a:off x="566928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Animation Teaser</a:t>
            </a:r>
            <a:endParaRPr lang="en-US" sz="1200" dirty="0"/>
          </a:p>
        </p:txBody>
      </p:sp>
      <p:pic>
        <p:nvPicPr>
          <p:cNvPr id="7" name="tail-73" descr="연결 꼬리 곡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ch-title-74"/>
          <p:cNvSpPr txBox="1"/>
          <p:nvPr/>
        </p:nvSpPr>
        <p:spPr>
          <a:xfrm>
            <a:off x="566928" y="4206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너와 나의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꼬리</a:t>
            </a:r>
            <a:endParaRPr lang="en-US" sz="3200" dirty="0"/>
          </a:p>
        </p:txBody>
      </p:sp>
      <p:sp>
        <p:nvSpPr>
          <p:cNvPr id="9" name="ch-sub-75"/>
          <p:cNvSpPr txBox="1"/>
          <p:nvPr/>
        </p:nvSpPr>
        <p:spPr>
          <a:xfrm>
            <a:off x="566928" y="5532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애니메이션 홍보영상용 티저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나에겐 있고 너에겐 없는 것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warm-76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77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label-78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너와 나의 연결 꼬리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다르다는 것은 틀림이 아니다</a:t>
            </a:r>
            <a:endParaRPr lang="en-US" sz="2800" dirty="0"/>
          </a:p>
        </p:txBody>
      </p:sp>
      <p:sp>
        <p:nvSpPr>
          <p:cNvPr id="6" name="border-79"/>
          <p:cNvSpPr/>
          <p:nvPr/>
        </p:nvSpPr>
        <p:spPr>
          <a:xfrm>
            <a:off x="594360" y="1656530"/>
            <a:ext cx="5577840" cy="3179181"/>
          </a:xfrm>
          <a:prstGeom prst="rect">
            <a:avLst/>
          </a:prstGeom>
          <a:solidFill>
            <a:srgbClr val="3A2A22"/>
          </a:solidFill>
          <a:ln/>
        </p:spPr>
      </p:sp>
      <p:pic>
        <p:nvPicPr>
          <p:cNvPr id="7" name="img-s1c01-80" descr="어두운 가을 숲 속 창 하나만 불 켜진 오두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2250"/>
            <a:ext cx="5486400" cy="3087741"/>
          </a:xfrm>
          <a:prstGeom prst="rect">
            <a:avLst/>
          </a:prstGeom>
        </p:spPr>
      </p:pic>
      <p:sp>
        <p:nvSpPr>
          <p:cNvPr id="8" name="text-81"/>
          <p:cNvSpPr txBox="1"/>
          <p:nvPr/>
        </p:nvSpPr>
        <p:spPr>
          <a:xfrm>
            <a:off x="64008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5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C#1  숲속 오두막, 창 하나에서 새어 나오는 불빛</a:t>
            </a:r>
            <a:endParaRPr lang="en-US" sz="1100" dirty="0"/>
          </a:p>
        </p:txBody>
      </p:sp>
      <p:sp>
        <p:nvSpPr>
          <p:cNvPr id="9" name="dot-82"/>
          <p:cNvSpPr/>
          <p:nvPr/>
        </p:nvSpPr>
        <p:spPr>
          <a:xfrm>
            <a:off x="6556248" y="1792224"/>
            <a:ext cx="91440" cy="91440"/>
          </a:xfrm>
          <a:prstGeom prst="ellipse">
            <a:avLst/>
          </a:prstGeom>
          <a:solidFill>
            <a:srgbClr val="E8552B"/>
          </a:solidFill>
          <a:ln/>
        </p:spPr>
      </p:sp>
      <p:sp>
        <p:nvSpPr>
          <p:cNvPr id="10" name="bullet-83"/>
          <p:cNvSpPr txBox="1"/>
          <p:nvPr/>
        </p:nvSpPr>
        <p:spPr>
          <a:xfrm>
            <a:off x="6812280" y="169164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코믹한 불꽃 마술 소동 이면에 찌르의 부러움을 따라가는 감정선 설계</a:t>
            </a:r>
            <a:endParaRPr lang="en-US" sz="1500" dirty="0"/>
          </a:p>
        </p:txBody>
      </p:sp>
      <p:sp>
        <p:nvSpPr>
          <p:cNvPr id="11" name="dot-84"/>
          <p:cNvSpPr/>
          <p:nvPr/>
        </p:nvSpPr>
        <p:spPr>
          <a:xfrm>
            <a:off x="6556248" y="2542032"/>
            <a:ext cx="91440" cy="91440"/>
          </a:xfrm>
          <a:prstGeom prst="ellipse">
            <a:avLst/>
          </a:prstGeom>
          <a:solidFill>
            <a:srgbClr val="E8552B"/>
          </a:solidFill>
          <a:ln/>
        </p:spPr>
      </p:sp>
      <p:sp>
        <p:nvSpPr>
          <p:cNvPr id="12" name="bullet-85"/>
          <p:cNvSpPr txBox="1"/>
          <p:nvPr/>
        </p:nvSpPr>
        <p:spPr>
          <a:xfrm>
            <a:off x="6812280" y="244144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부제 '나에겐 있고 너에겐 없는 것'으로 본편에서 회수할 질문 제시</a:t>
            </a:r>
            <a:endParaRPr lang="en-US" sz="1500" dirty="0"/>
          </a:p>
        </p:txBody>
      </p:sp>
      <p:sp>
        <p:nvSpPr>
          <p:cNvPr id="13" name="dot-86"/>
          <p:cNvSpPr/>
          <p:nvPr/>
        </p:nvSpPr>
        <p:spPr>
          <a:xfrm>
            <a:off x="6556248" y="3291840"/>
            <a:ext cx="91440" cy="91440"/>
          </a:xfrm>
          <a:prstGeom prst="ellipse">
            <a:avLst/>
          </a:prstGeom>
          <a:solidFill>
            <a:srgbClr val="E8552B"/>
          </a:solidFill>
          <a:ln/>
        </p:spPr>
      </p:sp>
      <p:sp>
        <p:nvSpPr>
          <p:cNvPr id="14" name="bullet-87"/>
          <p:cNvSpPr txBox="1"/>
          <p:nvPr/>
        </p:nvSpPr>
        <p:spPr>
          <a:xfrm>
            <a:off x="6812280" y="3191256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전반부 코미디에서 후반부 미스터리로 톤 전환, 본편 기대감 조성</a:t>
            </a:r>
            <a:endParaRPr lang="en-US" sz="1500" dirty="0"/>
          </a:p>
        </p:txBody>
      </p:sp>
      <p:sp>
        <p:nvSpPr>
          <p:cNvPr id="15" name="rect-88"/>
          <p:cNvSpPr/>
          <p:nvPr/>
        </p:nvSpPr>
        <p:spPr>
          <a:xfrm>
            <a:off x="6537960" y="4069080"/>
            <a:ext cx="5029200" cy="402336"/>
          </a:xfrm>
          <a:prstGeom prst="rect">
            <a:avLst/>
          </a:prstGeom>
          <a:solidFill>
            <a:srgbClr val="2A1C16">
              <a:alpha val="85000"/>
            </a:srgbClr>
          </a:solidFill>
          <a:ln/>
        </p:spPr>
      </p:sp>
      <p:sp>
        <p:nvSpPr>
          <p:cNvPr id="16" name="text-89"/>
          <p:cNvSpPr txBox="1"/>
          <p:nvPr/>
        </p:nvSpPr>
        <p:spPr>
          <a:xfrm>
            <a:off x="6720840" y="40690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 코미디</a:t>
            </a:r>
            <a:endParaRPr lang="en-US" sz="1300" dirty="0"/>
          </a:p>
        </p:txBody>
      </p:sp>
      <p:sp>
        <p:nvSpPr>
          <p:cNvPr id="17" name="text-90"/>
          <p:cNvSpPr txBox="1"/>
          <p:nvPr/>
        </p:nvSpPr>
        <p:spPr>
          <a:xfrm>
            <a:off x="9052560" y="40690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17컷</a:t>
            </a:r>
            <a:endParaRPr lang="en-US" sz="1300" dirty="0"/>
          </a:p>
        </p:txBody>
      </p:sp>
      <p:sp>
        <p:nvSpPr>
          <p:cNvPr id="18" name="text-91"/>
          <p:cNvSpPr txBox="1"/>
          <p:nvPr/>
        </p:nvSpPr>
        <p:spPr>
          <a:xfrm>
            <a:off x="9966960" y="4069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2분 17초</a:t>
            </a:r>
            <a:endParaRPr lang="en-US" sz="1300" dirty="0"/>
          </a:p>
        </p:txBody>
      </p:sp>
      <p:sp>
        <p:nvSpPr>
          <p:cNvPr id="19" name="rect-92"/>
          <p:cNvSpPr/>
          <p:nvPr/>
        </p:nvSpPr>
        <p:spPr>
          <a:xfrm>
            <a:off x="6537960" y="4526280"/>
            <a:ext cx="5029200" cy="402336"/>
          </a:xfrm>
          <a:prstGeom prst="rect">
            <a:avLst/>
          </a:prstGeom>
          <a:solidFill>
            <a:srgbClr val="2A1C16">
              <a:alpha val="85000"/>
            </a:srgbClr>
          </a:solidFill>
          <a:ln/>
        </p:spPr>
      </p:sp>
      <p:sp>
        <p:nvSpPr>
          <p:cNvPr id="20" name="text-93"/>
          <p:cNvSpPr txBox="1"/>
          <p:nvPr/>
        </p:nvSpPr>
        <p:spPr>
          <a:xfrm>
            <a:off x="6720840" y="45262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  미스터리</a:t>
            </a:r>
            <a:endParaRPr lang="en-US" sz="1300" dirty="0"/>
          </a:p>
        </p:txBody>
      </p:sp>
      <p:sp>
        <p:nvSpPr>
          <p:cNvPr id="21" name="text-94"/>
          <p:cNvSpPr txBox="1"/>
          <p:nvPr/>
        </p:nvSpPr>
        <p:spPr>
          <a:xfrm>
            <a:off x="9052560" y="45262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8컷</a:t>
            </a:r>
            <a:endParaRPr lang="en-US" sz="1300" dirty="0"/>
          </a:p>
        </p:txBody>
      </p:sp>
      <p:sp>
        <p:nvSpPr>
          <p:cNvPr id="22" name="text-95"/>
          <p:cNvSpPr txBox="1"/>
          <p:nvPr/>
        </p:nvSpPr>
        <p:spPr>
          <a:xfrm>
            <a:off x="9966960" y="45262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39초</a:t>
            </a:r>
            <a:endParaRPr lang="en-US" sz="1300" dirty="0"/>
          </a:p>
        </p:txBody>
      </p:sp>
      <p:sp>
        <p:nvSpPr>
          <p:cNvPr id="23" name="rect-96"/>
          <p:cNvSpPr/>
          <p:nvPr/>
        </p:nvSpPr>
        <p:spPr>
          <a:xfrm>
            <a:off x="6537960" y="4983480"/>
            <a:ext cx="5029200" cy="402336"/>
          </a:xfrm>
          <a:prstGeom prst="rect">
            <a:avLst/>
          </a:prstGeom>
          <a:solidFill>
            <a:srgbClr val="2A1C16">
              <a:alpha val="85000"/>
            </a:srgbClr>
          </a:solidFill>
          <a:ln/>
        </p:spPr>
      </p:sp>
      <p:sp>
        <p:nvSpPr>
          <p:cNvPr id="24" name="text-97"/>
          <p:cNvSpPr txBox="1"/>
          <p:nvPr/>
        </p:nvSpPr>
        <p:spPr>
          <a:xfrm>
            <a:off x="6720840" y="49834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 카드</a:t>
            </a:r>
            <a:endParaRPr lang="en-US" sz="1300" dirty="0"/>
          </a:p>
        </p:txBody>
      </p:sp>
      <p:sp>
        <p:nvSpPr>
          <p:cNvPr id="25" name="text-98"/>
          <p:cNvSpPr txBox="1"/>
          <p:nvPr/>
        </p:nvSpPr>
        <p:spPr>
          <a:xfrm>
            <a:off x="9052560" y="49834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6" name="text-99"/>
          <p:cNvSpPr txBox="1"/>
          <p:nvPr/>
        </p:nvSpPr>
        <p:spPr>
          <a:xfrm>
            <a:off x="9966960" y="49834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4초</a:t>
            </a:r>
            <a:endParaRPr lang="en-US" sz="1300" dirty="0"/>
          </a:p>
        </p:txBody>
      </p:sp>
      <p:sp>
        <p:nvSpPr>
          <p:cNvPr id="27" name="rect-100"/>
          <p:cNvSpPr/>
          <p:nvPr/>
        </p:nvSpPr>
        <p:spPr>
          <a:xfrm>
            <a:off x="6537960" y="5440680"/>
            <a:ext cx="5029200" cy="402336"/>
          </a:xfrm>
          <a:prstGeom prst="rect">
            <a:avLst/>
          </a:prstGeom>
          <a:solidFill>
            <a:srgbClr val="E8552B"/>
          </a:solidFill>
          <a:ln/>
        </p:spPr>
      </p:sp>
      <p:sp>
        <p:nvSpPr>
          <p:cNvPr id="28" name="text-101"/>
          <p:cNvSpPr txBox="1"/>
          <p:nvPr/>
        </p:nvSpPr>
        <p:spPr>
          <a:xfrm>
            <a:off x="6720840" y="54406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러닝타임</a:t>
            </a:r>
            <a:endParaRPr lang="en-US" sz="1300" dirty="0"/>
          </a:p>
        </p:txBody>
      </p:sp>
      <p:sp>
        <p:nvSpPr>
          <p:cNvPr id="29" name="text-102"/>
          <p:cNvSpPr txBox="1"/>
          <p:nvPr/>
        </p:nvSpPr>
        <p:spPr>
          <a:xfrm>
            <a:off x="9052560" y="54406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0" name="text-103"/>
          <p:cNvSpPr txBox="1"/>
          <p:nvPr/>
        </p:nvSpPr>
        <p:spPr>
          <a:xfrm>
            <a:off x="9966960" y="54406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0초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464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ream-104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105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E8552B"/>
          </a:solidFill>
          <a:ln/>
        </p:spPr>
      </p:sp>
      <p:sp>
        <p:nvSpPr>
          <p:cNvPr id="4" name="label-106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너와 나의 연결 꼬리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능력과 결핍의 대비로 설계한 캐릭터 관계</a:t>
            </a:r>
            <a:endParaRPr lang="en-US" sz="2800" dirty="0"/>
          </a:p>
        </p:txBody>
      </p:sp>
      <p:sp>
        <p:nvSpPr>
          <p:cNvPr id="6" name="rect-107"/>
          <p:cNvSpPr/>
          <p:nvPr/>
        </p:nvSpPr>
        <p:spPr>
          <a:xfrm>
            <a:off x="640080" y="1645920"/>
            <a:ext cx="25603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9C8"/>
            </a:solidFill>
            <a:prstDash val="solid"/>
          </a:ln>
        </p:spPr>
      </p:sp>
      <p:pic>
        <p:nvPicPr>
          <p:cNvPr id="7" name="img-tori3d-108" descr="토리 입체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51148"/>
            <a:ext cx="2377440" cy="1487024"/>
          </a:xfrm>
          <a:prstGeom prst="rect">
            <a:avLst/>
          </a:prstGeom>
        </p:spPr>
      </p:pic>
      <p:sp>
        <p:nvSpPr>
          <p:cNvPr id="8" name="rect-109"/>
          <p:cNvSpPr/>
          <p:nvPr/>
        </p:nvSpPr>
        <p:spPr>
          <a:xfrm>
            <a:off x="914400" y="4434840"/>
            <a:ext cx="457200" cy="45720"/>
          </a:xfrm>
          <a:prstGeom prst="rect">
            <a:avLst/>
          </a:prstGeom>
          <a:solidFill>
            <a:srgbClr val="E8552B"/>
          </a:solidFill>
          <a:ln/>
        </p:spPr>
      </p:sp>
      <p:sp>
        <p:nvSpPr>
          <p:cNvPr id="9" name="text-110"/>
          <p:cNvSpPr txBox="1"/>
          <p:nvPr/>
        </p:nvSpPr>
        <p:spPr>
          <a:xfrm>
            <a:off x="914400" y="4572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토리</a:t>
            </a:r>
            <a:endParaRPr lang="en-US" sz="2000" dirty="0"/>
          </a:p>
        </p:txBody>
      </p:sp>
      <p:sp>
        <p:nvSpPr>
          <p:cNvPr id="10" name="text-111"/>
          <p:cNvSpPr txBox="1"/>
          <p:nvPr/>
        </p:nvSpPr>
        <p:spPr>
          <a:xfrm>
            <a:off x="91440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꼬리 불꽃 마술로 인정받고 싶은 무대의 주인공</a:t>
            </a:r>
            <a:endParaRPr lang="en-US" sz="1250" dirty="0"/>
          </a:p>
        </p:txBody>
      </p:sp>
      <p:sp>
        <p:nvSpPr>
          <p:cNvPr id="11" name="rect-112"/>
          <p:cNvSpPr/>
          <p:nvPr/>
        </p:nvSpPr>
        <p:spPr>
          <a:xfrm>
            <a:off x="3383280" y="1645920"/>
            <a:ext cx="25603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9C8"/>
            </a:solidFill>
            <a:prstDash val="solid"/>
          </a:ln>
        </p:spPr>
      </p:sp>
      <p:pic>
        <p:nvPicPr>
          <p:cNvPr id="12" name="img-jjir3d-113" descr="찌르 입체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066470"/>
            <a:ext cx="2377440" cy="1856380"/>
          </a:xfrm>
          <a:prstGeom prst="rect">
            <a:avLst/>
          </a:prstGeom>
        </p:spPr>
      </p:pic>
      <p:sp>
        <p:nvSpPr>
          <p:cNvPr id="13" name="rect-114"/>
          <p:cNvSpPr/>
          <p:nvPr/>
        </p:nvSpPr>
        <p:spPr>
          <a:xfrm>
            <a:off x="3657600" y="4434840"/>
            <a:ext cx="457200" cy="45720"/>
          </a:xfrm>
          <a:prstGeom prst="rect">
            <a:avLst/>
          </a:prstGeom>
          <a:solidFill>
            <a:srgbClr val="C9822E"/>
          </a:solidFill>
          <a:ln/>
        </p:spPr>
      </p:sp>
      <p:sp>
        <p:nvSpPr>
          <p:cNvPr id="14" name="text-115"/>
          <p:cNvSpPr txBox="1"/>
          <p:nvPr/>
        </p:nvSpPr>
        <p:spPr>
          <a:xfrm>
            <a:off x="3657600" y="4572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찌르</a:t>
            </a:r>
            <a:endParaRPr lang="en-US" sz="2000" dirty="0"/>
          </a:p>
        </p:txBody>
      </p:sp>
      <p:sp>
        <p:nvSpPr>
          <p:cNvPr id="15" name="text-116"/>
          <p:cNvSpPr txBox="1"/>
          <p:nvPr/>
        </p:nvSpPr>
        <p:spPr>
          <a:xfrm>
            <a:off x="365760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부러움을 무심한 말투로 감춘 감정선의 중심</a:t>
            </a:r>
            <a:endParaRPr lang="en-US" sz="1250" dirty="0"/>
          </a:p>
        </p:txBody>
      </p:sp>
      <p:sp>
        <p:nvSpPr>
          <p:cNvPr id="16" name="rect-117"/>
          <p:cNvSpPr/>
          <p:nvPr/>
        </p:nvSpPr>
        <p:spPr>
          <a:xfrm>
            <a:off x="6126480" y="1645920"/>
            <a:ext cx="25603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9C8"/>
            </a:solidFill>
            <a:prstDash val="solid"/>
          </a:ln>
        </p:spPr>
      </p:sp>
      <p:pic>
        <p:nvPicPr>
          <p:cNvPr id="17" name="img-nana3d-118" descr="나나 입체 캐릭터 시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203681"/>
            <a:ext cx="2377440" cy="1581958"/>
          </a:xfrm>
          <a:prstGeom prst="rect">
            <a:avLst/>
          </a:prstGeom>
        </p:spPr>
      </p:pic>
      <p:sp>
        <p:nvSpPr>
          <p:cNvPr id="18" name="rect-119"/>
          <p:cNvSpPr/>
          <p:nvPr/>
        </p:nvSpPr>
        <p:spPr>
          <a:xfrm>
            <a:off x="6400800" y="4434840"/>
            <a:ext cx="457200" cy="45720"/>
          </a:xfrm>
          <a:prstGeom prst="rect">
            <a:avLst/>
          </a:prstGeom>
          <a:solidFill>
            <a:srgbClr val="6F7FA3"/>
          </a:solidFill>
          <a:ln/>
        </p:spPr>
      </p:sp>
      <p:sp>
        <p:nvSpPr>
          <p:cNvPr id="19" name="text-120"/>
          <p:cNvSpPr txBox="1"/>
          <p:nvPr/>
        </p:nvSpPr>
        <p:spPr>
          <a:xfrm>
            <a:off x="6400800" y="4572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나나</a:t>
            </a:r>
            <a:endParaRPr lang="en-US" sz="2000" dirty="0"/>
          </a:p>
        </p:txBody>
      </p:sp>
      <p:sp>
        <p:nvSpPr>
          <p:cNvPr id="20" name="text-121"/>
          <p:cNvSpPr txBox="1"/>
          <p:nvPr/>
        </p:nvSpPr>
        <p:spPr>
          <a:xfrm>
            <a:off x="640080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결계 마법으로 위기를 수습하는 조력자</a:t>
            </a:r>
            <a:endParaRPr lang="en-US" sz="1250" dirty="0"/>
          </a:p>
        </p:txBody>
      </p:sp>
      <p:sp>
        <p:nvSpPr>
          <p:cNvPr id="21" name="rect-122"/>
          <p:cNvSpPr/>
          <p:nvPr/>
        </p:nvSpPr>
        <p:spPr>
          <a:xfrm>
            <a:off x="8869680" y="1645920"/>
            <a:ext cx="25603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9C8"/>
            </a:solidFill>
            <a:prstDash val="solid"/>
          </a:ln>
        </p:spPr>
      </p:sp>
      <p:pic>
        <p:nvPicPr>
          <p:cNvPr id="22" name="img-witch3d-123" descr="마녀 입체 캐릭터 시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1853303"/>
            <a:ext cx="2377440" cy="2282714"/>
          </a:xfrm>
          <a:prstGeom prst="rect">
            <a:avLst/>
          </a:prstGeom>
        </p:spPr>
      </p:pic>
      <p:sp>
        <p:nvSpPr>
          <p:cNvPr id="23" name="rect-124"/>
          <p:cNvSpPr/>
          <p:nvPr/>
        </p:nvSpPr>
        <p:spPr>
          <a:xfrm>
            <a:off x="9144000" y="4434840"/>
            <a:ext cx="457200" cy="45720"/>
          </a:xfrm>
          <a:prstGeom prst="rect">
            <a:avLst/>
          </a:prstGeom>
          <a:solidFill>
            <a:srgbClr val="7A5A4A"/>
          </a:solidFill>
          <a:ln/>
        </p:spPr>
      </p:sp>
      <p:sp>
        <p:nvSpPr>
          <p:cNvPr id="24" name="text-125"/>
          <p:cNvSpPr txBox="1"/>
          <p:nvPr/>
        </p:nvSpPr>
        <p:spPr>
          <a:xfrm>
            <a:off x="9144000" y="4572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마녀</a:t>
            </a:r>
            <a:endParaRPr lang="en-US" sz="2000" dirty="0"/>
          </a:p>
        </p:txBody>
      </p:sp>
      <p:sp>
        <p:nvSpPr>
          <p:cNvPr id="25" name="text-126"/>
          <p:cNvSpPr txBox="1"/>
          <p:nvPr/>
        </p:nvSpPr>
        <p:spPr>
          <a:xfrm>
            <a:off x="914400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한마디로 소동을 제지하는 오두막의 주인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ream-12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128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E8552B"/>
          </a:solidFill>
          <a:ln/>
        </p:spPr>
      </p:sp>
      <p:sp>
        <p:nvSpPr>
          <p:cNvPr id="4" name="label-129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너와 나의 연결 꼬리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초안에서 입체 캐릭터로 완성도 고도화</a:t>
            </a:r>
            <a:endParaRPr lang="en-US" sz="2800" dirty="0"/>
          </a:p>
        </p:txBody>
      </p:sp>
      <p:sp>
        <p:nvSpPr>
          <p:cNvPr id="6" name="rect-130"/>
          <p:cNvSpPr/>
          <p:nvPr/>
        </p:nvSpPr>
        <p:spPr>
          <a:xfrm>
            <a:off x="640080" y="1645920"/>
            <a:ext cx="5029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9C8"/>
            </a:solidFill>
            <a:prstDash val="solid"/>
          </a:ln>
        </p:spPr>
      </p:sp>
      <p:pic>
        <p:nvPicPr>
          <p:cNvPr id="7" name="img-tori1st-131" descr="토리 1차 초안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91665"/>
            <a:ext cx="4846320" cy="3028950"/>
          </a:xfrm>
          <a:prstGeom prst="rect">
            <a:avLst/>
          </a:prstGeom>
        </p:spPr>
      </p:pic>
      <p:sp>
        <p:nvSpPr>
          <p:cNvPr id="8" name="rect-132"/>
          <p:cNvSpPr/>
          <p:nvPr/>
        </p:nvSpPr>
        <p:spPr>
          <a:xfrm>
            <a:off x="6519672" y="1645920"/>
            <a:ext cx="5029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6D9C8"/>
            </a:solidFill>
            <a:prstDash val="solid"/>
          </a:ln>
        </p:spPr>
      </p:sp>
      <p:pic>
        <p:nvPicPr>
          <p:cNvPr id="9" name="img-tori3d-133" descr="토리 입체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890519"/>
            <a:ext cx="4846320" cy="3031242"/>
          </a:xfrm>
          <a:prstGeom prst="rect">
            <a:avLst/>
          </a:prstGeom>
        </p:spPr>
      </p:pic>
      <p:sp>
        <p:nvSpPr>
          <p:cNvPr id="10" name="arrow-134"/>
          <p:cNvSpPr/>
          <p:nvPr/>
        </p:nvSpPr>
        <p:spPr>
          <a:xfrm>
            <a:off x="5824728" y="3154680"/>
            <a:ext cx="548640" cy="502920"/>
          </a:xfrm>
          <a:prstGeom prst="rightArrow">
            <a:avLst/>
          </a:prstGeom>
          <a:solidFill>
            <a:srgbClr val="E8552B"/>
          </a:solidFill>
          <a:ln/>
        </p:spPr>
      </p:sp>
      <p:sp>
        <p:nvSpPr>
          <p:cNvPr id="11" name="rect-135"/>
          <p:cNvSpPr/>
          <p:nvPr/>
        </p:nvSpPr>
        <p:spPr>
          <a:xfrm>
            <a:off x="640080" y="53035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B1D16"/>
          </a:solidFill>
          <a:ln/>
        </p:spPr>
      </p:sp>
      <p:sp>
        <p:nvSpPr>
          <p:cNvPr id="12" name="chip-136"/>
          <p:cNvSpPr txBox="1"/>
          <p:nvPr/>
        </p:nvSpPr>
        <p:spPr>
          <a:xfrm>
            <a:off x="640080" y="5303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초안</a:t>
            </a:r>
            <a:endParaRPr lang="en-US" sz="1000" dirty="0"/>
          </a:p>
        </p:txBody>
      </p:sp>
      <p:sp>
        <p:nvSpPr>
          <p:cNvPr id="13" name="rect-137"/>
          <p:cNvSpPr/>
          <p:nvPr/>
        </p:nvSpPr>
        <p:spPr>
          <a:xfrm>
            <a:off x="6519672" y="530352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552B"/>
          </a:solidFill>
          <a:ln/>
        </p:spPr>
      </p:sp>
      <p:sp>
        <p:nvSpPr>
          <p:cNvPr id="14" name="chip-138"/>
          <p:cNvSpPr txBox="1"/>
          <p:nvPr/>
        </p:nvSpPr>
        <p:spPr>
          <a:xfrm>
            <a:off x="6519672" y="5303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입체 시트</a:t>
            </a:r>
            <a:endParaRPr lang="en-US" sz="1000" dirty="0"/>
          </a:p>
        </p:txBody>
      </p:sp>
      <p:sp>
        <p:nvSpPr>
          <p:cNvPr id="15" name="text-139"/>
          <p:cNvSpPr txBox="1"/>
          <p:nvPr/>
        </p:nvSpPr>
        <p:spPr>
          <a:xfrm>
            <a:off x="1783080" y="5303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선화 중심 초안으로 성격과 실루엣 확정</a:t>
            </a:r>
            <a:endParaRPr lang="en-US" sz="1300" dirty="0"/>
          </a:p>
        </p:txBody>
      </p:sp>
      <p:sp>
        <p:nvSpPr>
          <p:cNvPr id="16" name="text-140"/>
          <p:cNvSpPr txBox="1"/>
          <p:nvPr/>
        </p:nvSpPr>
        <p:spPr>
          <a:xfrm>
            <a:off x="7662672" y="5303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정면/측면/후면/표정 시트로 캐릭터 일관성 확보</a:t>
            </a:r>
            <a:endParaRPr lang="en-US" sz="1300" dirty="0"/>
          </a:p>
        </p:txBody>
      </p:sp>
      <p:sp>
        <p:nvSpPr>
          <p:cNvPr id="17" name="text-141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5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 스카프와 꼬리 불꽃을 시그니처로 유지한 채 입체 질감/조명 반응을 더한 영상용 캐릭터 완성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warm-142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143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label-144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너와 나의 연결 꼬리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이야기가 벌어지는 오두막 공간 설계</a:t>
            </a:r>
            <a:endParaRPr lang="en-US" sz="2800" dirty="0"/>
          </a:p>
        </p:txBody>
      </p:sp>
      <p:sp>
        <p:nvSpPr>
          <p:cNvPr id="6" name="border-145"/>
          <p:cNvSpPr/>
          <p:nvPr/>
        </p:nvSpPr>
        <p:spPr>
          <a:xfrm>
            <a:off x="594360" y="1724599"/>
            <a:ext cx="4663440" cy="3134482"/>
          </a:xfrm>
          <a:prstGeom prst="rect">
            <a:avLst/>
          </a:prstGeom>
          <a:solidFill>
            <a:srgbClr val="3A2A22"/>
          </a:solidFill>
          <a:ln/>
        </p:spPr>
      </p:sp>
      <p:pic>
        <p:nvPicPr>
          <p:cNvPr id="7" name="img-cottage-146" descr="이끼 덮인 지붕의 숲속 마녀 오두막 외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70319"/>
            <a:ext cx="4572000" cy="3043042"/>
          </a:xfrm>
          <a:prstGeom prst="rect">
            <a:avLst/>
          </a:prstGeom>
        </p:spPr>
      </p:pic>
      <p:sp>
        <p:nvSpPr>
          <p:cNvPr id="8" name="border-147"/>
          <p:cNvSpPr/>
          <p:nvPr/>
        </p:nvSpPr>
        <p:spPr>
          <a:xfrm>
            <a:off x="5615439" y="1600200"/>
            <a:ext cx="5914122" cy="3383280"/>
          </a:xfrm>
          <a:prstGeom prst="rect">
            <a:avLst/>
          </a:prstGeom>
          <a:solidFill>
            <a:srgbClr val="3A2A22"/>
          </a:solidFill>
          <a:ln/>
        </p:spPr>
      </p:sp>
      <p:pic>
        <p:nvPicPr>
          <p:cNvPr id="9" name="img-kitchen-148" descr="출입문을 바라본 오두막 부엌 밤 전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159" y="1645920"/>
            <a:ext cx="5822682" cy="3291840"/>
          </a:xfrm>
          <a:prstGeom prst="rect">
            <a:avLst/>
          </a:prstGeom>
        </p:spPr>
      </p:pic>
      <p:sp>
        <p:nvSpPr>
          <p:cNvPr id="10" name="rect-149"/>
          <p:cNvSpPr/>
          <p:nvPr/>
        </p:nvSpPr>
        <p:spPr>
          <a:xfrm>
            <a:off x="640080" y="5120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11" name="chip-150"/>
          <p:cNvSpPr txBox="1"/>
          <p:nvPr/>
        </p:nvSpPr>
        <p:spPr>
          <a:xfrm>
            <a:off x="640080" y="5120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10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설정화</a:t>
            </a:r>
            <a:endParaRPr lang="en-US" sz="1000" dirty="0"/>
          </a:p>
        </p:txBody>
      </p:sp>
      <p:sp>
        <p:nvSpPr>
          <p:cNvPr id="12" name="rect-151"/>
          <p:cNvSpPr/>
          <p:nvPr/>
        </p:nvSpPr>
        <p:spPr>
          <a:xfrm>
            <a:off x="5623560" y="5120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13" name="chip-152"/>
          <p:cNvSpPr txBox="1"/>
          <p:nvPr/>
        </p:nvSpPr>
        <p:spPr>
          <a:xfrm>
            <a:off x="5623560" y="5120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10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부엌 설정화</a:t>
            </a:r>
            <a:endParaRPr lang="en-US" sz="1000" dirty="0"/>
          </a:p>
        </p:txBody>
      </p:sp>
      <p:sp>
        <p:nvSpPr>
          <p:cNvPr id="14" name="text-153"/>
          <p:cNvSpPr txBox="1"/>
          <p:nvPr/>
        </p:nvSpPr>
        <p:spPr>
          <a:xfrm>
            <a:off x="640080" y="5486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숲속 오두막 외관을 설정화로 선제작, 세계관 분위기 통일</a:t>
            </a:r>
            <a:endParaRPr lang="en-US" sz="1300" dirty="0"/>
          </a:p>
        </p:txBody>
      </p:sp>
      <p:sp>
        <p:nvSpPr>
          <p:cNvPr id="15" name="text-154"/>
          <p:cNvSpPr txBox="1"/>
          <p:nvPr/>
        </p:nvSpPr>
        <p:spPr>
          <a:xfrm>
            <a:off x="5623560" y="5486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화로/싱크대/창가 벤치 배치를 시나리오의 인물 동선과 구도에 반영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464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warm-155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156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label-157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너와 나의 연결 꼬리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불꽃 마술 소동 속 찌르의 감정선 연출</a:t>
            </a:r>
            <a:endParaRPr lang="en-US" sz="2800" dirty="0"/>
          </a:p>
        </p:txBody>
      </p:sp>
      <p:sp>
        <p:nvSpPr>
          <p:cNvPr id="6" name="border-158"/>
          <p:cNvSpPr/>
          <p:nvPr/>
        </p:nvSpPr>
        <p:spPr>
          <a:xfrm>
            <a:off x="594360" y="1648674"/>
            <a:ext cx="2697480" cy="1558117"/>
          </a:xfrm>
          <a:prstGeom prst="rect">
            <a:avLst/>
          </a:prstGeom>
          <a:solidFill>
            <a:srgbClr val="3A2A22"/>
          </a:solidFill>
          <a:ln/>
        </p:spPr>
      </p:sp>
      <p:pic>
        <p:nvPicPr>
          <p:cNvPr id="7" name="img-s1c03-159" descr="S#1 C#3 장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4394"/>
            <a:ext cx="2606040" cy="1466677"/>
          </a:xfrm>
          <a:prstGeom prst="rect">
            <a:avLst/>
          </a:prstGeom>
        </p:spPr>
      </p:pic>
      <p:sp>
        <p:nvSpPr>
          <p:cNvPr id="8" name="rect-160"/>
          <p:cNvSpPr/>
          <p:nvPr/>
        </p:nvSpPr>
        <p:spPr>
          <a:xfrm>
            <a:off x="640080" y="331012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552B"/>
          </a:solidFill>
          <a:ln/>
        </p:spPr>
      </p:sp>
      <p:sp>
        <p:nvSpPr>
          <p:cNvPr id="9" name="chip-161"/>
          <p:cNvSpPr txBox="1"/>
          <p:nvPr/>
        </p:nvSpPr>
        <p:spPr>
          <a:xfrm>
            <a:off x="640080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C#3</a:t>
            </a:r>
            <a:endParaRPr lang="en-US" sz="1000" dirty="0"/>
          </a:p>
        </p:txBody>
      </p:sp>
      <p:sp>
        <p:nvSpPr>
          <p:cNvPr id="10" name="text-162"/>
          <p:cNvSpPr txBox="1"/>
          <p:nvPr/>
        </p:nvSpPr>
        <p:spPr>
          <a:xfrm>
            <a:off x="640080" y="3657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역작 시리즈를 선보이는 토리의 등장</a:t>
            </a:r>
            <a:endParaRPr lang="en-US" sz="1250" dirty="0"/>
          </a:p>
        </p:txBody>
      </p:sp>
      <p:sp>
        <p:nvSpPr>
          <p:cNvPr id="11" name="border-163"/>
          <p:cNvSpPr/>
          <p:nvPr/>
        </p:nvSpPr>
        <p:spPr>
          <a:xfrm>
            <a:off x="3337560" y="1648674"/>
            <a:ext cx="2697480" cy="1558117"/>
          </a:xfrm>
          <a:prstGeom prst="rect">
            <a:avLst/>
          </a:prstGeom>
          <a:solidFill>
            <a:srgbClr val="3A2A22"/>
          </a:solidFill>
          <a:ln/>
        </p:spPr>
      </p:sp>
      <p:pic>
        <p:nvPicPr>
          <p:cNvPr id="12" name="img-s1c05-164" descr="S#1 C#5 장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94394"/>
            <a:ext cx="2606040" cy="1466677"/>
          </a:xfrm>
          <a:prstGeom prst="rect">
            <a:avLst/>
          </a:prstGeom>
        </p:spPr>
      </p:pic>
      <p:sp>
        <p:nvSpPr>
          <p:cNvPr id="13" name="rect-165"/>
          <p:cNvSpPr/>
          <p:nvPr/>
        </p:nvSpPr>
        <p:spPr>
          <a:xfrm>
            <a:off x="3383280" y="331012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552B"/>
          </a:solidFill>
          <a:ln/>
        </p:spPr>
      </p:sp>
      <p:sp>
        <p:nvSpPr>
          <p:cNvPr id="14" name="chip-166"/>
          <p:cNvSpPr txBox="1"/>
          <p:nvPr/>
        </p:nvSpPr>
        <p:spPr>
          <a:xfrm>
            <a:off x="3383280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C#5</a:t>
            </a:r>
            <a:endParaRPr lang="en-US" sz="1000" dirty="0"/>
          </a:p>
        </p:txBody>
      </p:sp>
      <p:sp>
        <p:nvSpPr>
          <p:cNvPr id="15" name="text-167"/>
          <p:cNvSpPr txBox="1"/>
          <p:nvPr/>
        </p:nvSpPr>
        <p:spPr>
          <a:xfrm>
            <a:off x="3383280" y="3657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불꽃 하트 완성, 부엌 전체가 밝아지는 정점</a:t>
            </a:r>
            <a:endParaRPr lang="en-US" sz="1250" dirty="0"/>
          </a:p>
        </p:txBody>
      </p:sp>
      <p:sp>
        <p:nvSpPr>
          <p:cNvPr id="16" name="border-168"/>
          <p:cNvSpPr/>
          <p:nvPr/>
        </p:nvSpPr>
        <p:spPr>
          <a:xfrm>
            <a:off x="6080760" y="1647015"/>
            <a:ext cx="2697480" cy="1561434"/>
          </a:xfrm>
          <a:prstGeom prst="rect">
            <a:avLst/>
          </a:prstGeom>
          <a:solidFill>
            <a:srgbClr val="3A2A22"/>
          </a:solidFill>
          <a:ln/>
        </p:spPr>
      </p:sp>
      <p:pic>
        <p:nvPicPr>
          <p:cNvPr id="17" name="img-s1c07-169" descr="S#1 C#7 장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92735"/>
            <a:ext cx="2606040" cy="1469994"/>
          </a:xfrm>
          <a:prstGeom prst="rect">
            <a:avLst/>
          </a:prstGeom>
        </p:spPr>
      </p:pic>
      <p:sp>
        <p:nvSpPr>
          <p:cNvPr id="18" name="rect-170"/>
          <p:cNvSpPr/>
          <p:nvPr/>
        </p:nvSpPr>
        <p:spPr>
          <a:xfrm>
            <a:off x="6126480" y="331012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552B"/>
          </a:solidFill>
          <a:ln/>
        </p:spPr>
      </p:sp>
      <p:sp>
        <p:nvSpPr>
          <p:cNvPr id="19" name="chip-171"/>
          <p:cNvSpPr txBox="1"/>
          <p:nvPr/>
        </p:nvSpPr>
        <p:spPr>
          <a:xfrm>
            <a:off x="6126480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C#7</a:t>
            </a:r>
            <a:endParaRPr lang="en-US" sz="1000" dirty="0"/>
          </a:p>
        </p:txBody>
      </p:sp>
      <p:sp>
        <p:nvSpPr>
          <p:cNvPr id="20" name="text-172"/>
          <p:cNvSpPr txBox="1"/>
          <p:nvPr/>
        </p:nvSpPr>
        <p:spPr>
          <a:xfrm>
            <a:off x="6126480" y="3657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찌르의 "...잘하네." 한마디에 꺼지는 하트</a:t>
            </a:r>
            <a:endParaRPr lang="en-US" sz="1250" dirty="0"/>
          </a:p>
        </p:txBody>
      </p:sp>
      <p:sp>
        <p:nvSpPr>
          <p:cNvPr id="21" name="border-173"/>
          <p:cNvSpPr/>
          <p:nvPr/>
        </p:nvSpPr>
        <p:spPr>
          <a:xfrm>
            <a:off x="8823960" y="1648674"/>
            <a:ext cx="2697480" cy="1558117"/>
          </a:xfrm>
          <a:prstGeom prst="rect">
            <a:avLst/>
          </a:prstGeom>
          <a:solidFill>
            <a:srgbClr val="3A2A22"/>
          </a:solidFill>
          <a:ln/>
        </p:spPr>
      </p:sp>
      <p:pic>
        <p:nvPicPr>
          <p:cNvPr id="22" name="img-s1c14a-174" descr="S#1 C#14 장면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1694394"/>
            <a:ext cx="2606040" cy="1466677"/>
          </a:xfrm>
          <a:prstGeom prst="rect">
            <a:avLst/>
          </a:prstGeom>
        </p:spPr>
      </p:pic>
      <p:sp>
        <p:nvSpPr>
          <p:cNvPr id="23" name="rect-175"/>
          <p:cNvSpPr/>
          <p:nvPr/>
        </p:nvSpPr>
        <p:spPr>
          <a:xfrm>
            <a:off x="8869680" y="331012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E8552B"/>
          </a:solidFill>
          <a:ln/>
        </p:spPr>
      </p:sp>
      <p:sp>
        <p:nvSpPr>
          <p:cNvPr id="24" name="chip-176"/>
          <p:cNvSpPr txBox="1"/>
          <p:nvPr/>
        </p:nvSpPr>
        <p:spPr>
          <a:xfrm>
            <a:off x="8869680" y="33101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C#14</a:t>
            </a:r>
            <a:endParaRPr lang="en-US" sz="1000" dirty="0"/>
          </a:p>
        </p:txBody>
      </p:sp>
      <p:sp>
        <p:nvSpPr>
          <p:cNvPr id="25" name="text-177"/>
          <p:cNvSpPr txBox="1"/>
          <p:nvPr/>
        </p:nvSpPr>
        <p:spPr>
          <a:xfrm>
            <a:off x="8869680" y="36576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커튼으로 옮겨붙는 불씨, 소동의 클라이맥스</a:t>
            </a:r>
            <a:endParaRPr lang="en-US" sz="1250" dirty="0"/>
          </a:p>
        </p:txBody>
      </p:sp>
      <p:sp>
        <p:nvSpPr>
          <p:cNvPr id="26" name="rect-178"/>
          <p:cNvSpPr/>
          <p:nvPr/>
        </p:nvSpPr>
        <p:spPr>
          <a:xfrm>
            <a:off x="640080" y="4709160"/>
            <a:ext cx="10881360" cy="1371600"/>
          </a:xfrm>
          <a:prstGeom prst="rect">
            <a:avLst/>
          </a:prstGeom>
          <a:solidFill>
            <a:srgbClr val="2A1C16">
              <a:alpha val="80000"/>
            </a:srgbClr>
          </a:solidFill>
          <a:ln/>
        </p:spPr>
      </p:sp>
      <p:sp>
        <p:nvSpPr>
          <p:cNvPr id="27" name="rect-179"/>
          <p:cNvSpPr/>
          <p:nvPr/>
        </p:nvSpPr>
        <p:spPr>
          <a:xfrm>
            <a:off x="640080" y="4709160"/>
            <a:ext cx="73152" cy="13716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28" name="text-180"/>
          <p:cNvSpPr txBox="1"/>
          <p:nvPr/>
        </p:nvSpPr>
        <p:spPr>
          <a:xfrm>
            <a:off x="96012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C#17  찌르</a:t>
            </a:r>
            <a:endParaRPr lang="en-US" sz="1100" dirty="0"/>
          </a:p>
        </p:txBody>
      </p:sp>
      <p:sp>
        <p:nvSpPr>
          <p:cNvPr id="29" name="text-181"/>
          <p:cNvSpPr txBox="1"/>
          <p:nvPr/>
        </p:nvSpPr>
        <p:spPr>
          <a:xfrm>
            <a:off x="960120" y="5166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"...뭐, 오늘은 실패했지만 다음이라는 것도 있으니깐!"</a:t>
            </a:r>
            <a:endParaRPr lang="en-US" sz="2000" dirty="0"/>
          </a:p>
        </p:txBody>
      </p:sp>
      <p:sp>
        <p:nvSpPr>
          <p:cNvPr id="30" name="text-182"/>
          <p:cNvSpPr txBox="1"/>
          <p:nvPr/>
        </p:nvSpPr>
        <p:spPr>
          <a:xfrm>
            <a:off x="96012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소동이 가라앉은 뒤 찌르의 클로즈업으로 티저의 시작과 끝을 한 인물에게 수렴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464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warm-183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184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label-185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너와 나의 연결 꼬리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빛의 온도로 인물의 감정 대비 표현</a:t>
            </a:r>
            <a:endParaRPr lang="en-US" sz="2800" dirty="0"/>
          </a:p>
        </p:txBody>
      </p:sp>
      <p:sp>
        <p:nvSpPr>
          <p:cNvPr id="6" name="border-186"/>
          <p:cNvSpPr/>
          <p:nvPr/>
        </p:nvSpPr>
        <p:spPr>
          <a:xfrm>
            <a:off x="599486" y="1645920"/>
            <a:ext cx="5430428" cy="3099816"/>
          </a:xfrm>
          <a:prstGeom prst="rect">
            <a:avLst/>
          </a:prstGeom>
          <a:solidFill>
            <a:srgbClr val="F2A65A"/>
          </a:solidFill>
          <a:ln/>
        </p:spPr>
      </p:sp>
      <p:pic>
        <p:nvPicPr>
          <p:cNvPr id="7" name="img-s1c11a-187" descr="화로 앰버 빛을 받은 토리 클로즈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6" y="1691640"/>
            <a:ext cx="5338988" cy="3008376"/>
          </a:xfrm>
          <a:prstGeom prst="rect">
            <a:avLst/>
          </a:prstGeom>
        </p:spPr>
      </p:pic>
      <p:sp>
        <p:nvSpPr>
          <p:cNvPr id="8" name="border-188"/>
          <p:cNvSpPr/>
          <p:nvPr/>
        </p:nvSpPr>
        <p:spPr>
          <a:xfrm>
            <a:off x="6134440" y="1645920"/>
            <a:ext cx="5424761" cy="3099816"/>
          </a:xfrm>
          <a:prstGeom prst="rect">
            <a:avLst/>
          </a:prstGeom>
          <a:solidFill>
            <a:srgbClr val="6F7FA3"/>
          </a:solidFill>
          <a:ln/>
        </p:spPr>
      </p:sp>
      <p:pic>
        <p:nvPicPr>
          <p:cNvPr id="9" name="img-s1c09-189" descr="벽 그늘 속 쿠션에 웅크린 찌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160" y="1691640"/>
            <a:ext cx="5333321" cy="3008376"/>
          </a:xfrm>
          <a:prstGeom prst="rect">
            <a:avLst/>
          </a:prstGeom>
        </p:spPr>
      </p:pic>
      <p:sp>
        <p:nvSpPr>
          <p:cNvPr id="10" name="rect-190"/>
          <p:cNvSpPr/>
          <p:nvPr/>
        </p:nvSpPr>
        <p:spPr>
          <a:xfrm>
            <a:off x="640080" y="486460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11" name="chip-191"/>
          <p:cNvSpPr txBox="1"/>
          <p:nvPr/>
        </p:nvSpPr>
        <p:spPr>
          <a:xfrm>
            <a:off x="640080" y="4864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10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화로 앰버</a:t>
            </a:r>
            <a:endParaRPr lang="en-US" sz="1000" dirty="0"/>
          </a:p>
        </p:txBody>
      </p:sp>
      <p:sp>
        <p:nvSpPr>
          <p:cNvPr id="12" name="rect-192"/>
          <p:cNvSpPr/>
          <p:nvPr/>
        </p:nvSpPr>
        <p:spPr>
          <a:xfrm>
            <a:off x="6172200" y="4864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6F7FA3"/>
          </a:solidFill>
          <a:ln/>
        </p:spPr>
      </p:sp>
      <p:sp>
        <p:nvSpPr>
          <p:cNvPr id="13" name="chip-193"/>
          <p:cNvSpPr txBox="1"/>
          <p:nvPr/>
        </p:nvSpPr>
        <p:spPr>
          <a:xfrm>
            <a:off x="6172200" y="4864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 그늘 냉기</a:t>
            </a:r>
            <a:endParaRPr lang="en-US" sz="1000" dirty="0"/>
          </a:p>
        </p:txBody>
      </p:sp>
      <p:sp>
        <p:nvSpPr>
          <p:cNvPr id="14" name="text-194"/>
          <p:cNvSpPr txBox="1"/>
          <p:nvPr/>
        </p:nvSpPr>
        <p:spPr>
          <a:xfrm>
            <a:off x="640080" y="52578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화로 앰버 키라이트로 토리의 자신감과 무안함을 함께 부각</a:t>
            </a:r>
            <a:endParaRPr lang="en-US" sz="1300" dirty="0"/>
          </a:p>
        </p:txBody>
      </p:sp>
      <p:sp>
        <p:nvSpPr>
          <p:cNvPr id="15" name="text-195"/>
          <p:cNvSpPr txBox="1"/>
          <p:nvPr/>
        </p:nvSpPr>
        <p:spPr>
          <a:xfrm>
            <a:off x="6172200" y="52578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 그늘의 냉기 단독 조명으로 시선을 피하는 찌르의 결핍 표현</a:t>
            </a:r>
            <a:endParaRPr lang="en-US" sz="1300" dirty="0"/>
          </a:p>
        </p:txBody>
      </p:sp>
      <p:sp>
        <p:nvSpPr>
          <p:cNvPr id="16" name="text-196"/>
          <p:cNvSpPr txBox="1"/>
          <p:nvPr/>
        </p:nvSpPr>
        <p:spPr>
          <a:xfrm>
            <a:off x="640080" y="58704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투샷에서도 두 빛의 대비를 유지해 같은 공간 속 감정의 거리감 시각화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464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ight-19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198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8FA3C7"/>
          </a:solidFill>
          <a:ln/>
        </p:spPr>
      </p:sp>
      <p:sp>
        <p:nvSpPr>
          <p:cNvPr id="4" name="label-199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3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너와 나의 연결 꼬리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코미디에서 미스터리로 장르 톤 전환</a:t>
            </a:r>
            <a:endParaRPr lang="en-US" sz="2800" dirty="0"/>
          </a:p>
        </p:txBody>
      </p:sp>
      <p:sp>
        <p:nvSpPr>
          <p:cNvPr id="6" name="border-200"/>
          <p:cNvSpPr/>
          <p:nvPr/>
        </p:nvSpPr>
        <p:spPr>
          <a:xfrm>
            <a:off x="594360" y="1646543"/>
            <a:ext cx="3566160" cy="2047009"/>
          </a:xfrm>
          <a:prstGeom prst="rect">
            <a:avLst/>
          </a:prstGeom>
          <a:solidFill>
            <a:srgbClr val="2A3550"/>
          </a:solidFill>
          <a:ln/>
        </p:spPr>
      </p:sp>
      <p:pic>
        <p:nvPicPr>
          <p:cNvPr id="7" name="img-s2c01-201" descr="S#2 C#1 심야 부엌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263"/>
            <a:ext cx="3474720" cy="1955569"/>
          </a:xfrm>
          <a:prstGeom prst="rect">
            <a:avLst/>
          </a:prstGeom>
        </p:spPr>
      </p:pic>
      <p:sp>
        <p:nvSpPr>
          <p:cNvPr id="8" name="rect-202"/>
          <p:cNvSpPr/>
          <p:nvPr/>
        </p:nvSpPr>
        <p:spPr>
          <a:xfrm>
            <a:off x="640080" y="37947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8FA3C7"/>
          </a:solidFill>
          <a:ln/>
        </p:spPr>
      </p:sp>
      <p:sp>
        <p:nvSpPr>
          <p:cNvPr id="9" name="chip-203"/>
          <p:cNvSpPr txBox="1"/>
          <p:nvPr/>
        </p:nvSpPr>
        <p:spPr>
          <a:xfrm>
            <a:off x="64008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C#1</a:t>
            </a:r>
            <a:endParaRPr lang="en-US" sz="1000" dirty="0"/>
          </a:p>
        </p:txBody>
      </p:sp>
      <p:sp>
        <p:nvSpPr>
          <p:cNvPr id="10" name="text-204"/>
          <p:cNvSpPr txBox="1"/>
          <p:nvPr/>
        </p:nvSpPr>
        <p:spPr>
          <a:xfrm>
            <a:off x="64008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 꺼진 심야 부엌 창가의 정적</a:t>
            </a:r>
            <a:endParaRPr lang="en-US" sz="1300" dirty="0"/>
          </a:p>
        </p:txBody>
      </p:sp>
      <p:sp>
        <p:nvSpPr>
          <p:cNvPr id="11" name="border-205"/>
          <p:cNvSpPr/>
          <p:nvPr/>
        </p:nvSpPr>
        <p:spPr>
          <a:xfrm>
            <a:off x="4251960" y="1646543"/>
            <a:ext cx="3566160" cy="2047009"/>
          </a:xfrm>
          <a:prstGeom prst="rect">
            <a:avLst/>
          </a:prstGeom>
          <a:solidFill>
            <a:srgbClr val="2A3550"/>
          </a:solidFill>
          <a:ln/>
        </p:spPr>
      </p:sp>
      <p:pic>
        <p:nvPicPr>
          <p:cNvPr id="12" name="img-s2c02-206" descr="S#2 C#2 심야 부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92263"/>
            <a:ext cx="3474720" cy="1955569"/>
          </a:xfrm>
          <a:prstGeom prst="rect">
            <a:avLst/>
          </a:prstGeom>
        </p:spPr>
      </p:pic>
      <p:sp>
        <p:nvSpPr>
          <p:cNvPr id="13" name="rect-207"/>
          <p:cNvSpPr/>
          <p:nvPr/>
        </p:nvSpPr>
        <p:spPr>
          <a:xfrm>
            <a:off x="4297680" y="37947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8FA3C7"/>
          </a:solidFill>
          <a:ln/>
        </p:spPr>
      </p:sp>
      <p:sp>
        <p:nvSpPr>
          <p:cNvPr id="14" name="chip-208"/>
          <p:cNvSpPr txBox="1"/>
          <p:nvPr/>
        </p:nvSpPr>
        <p:spPr>
          <a:xfrm>
            <a:off x="429768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C#2</a:t>
            </a:r>
            <a:endParaRPr lang="en-US" sz="1000" dirty="0"/>
          </a:p>
        </p:txBody>
      </p:sp>
      <p:sp>
        <p:nvSpPr>
          <p:cNvPr id="15" name="text-209"/>
          <p:cNvSpPr txBox="1"/>
          <p:nvPr/>
        </p:nvSpPr>
        <p:spPr>
          <a:xfrm>
            <a:off x="429768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꺼진 화로를 확인하다 부스럭 소리에 흔들리는 카메라</a:t>
            </a:r>
            <a:endParaRPr lang="en-US" sz="1300" dirty="0"/>
          </a:p>
        </p:txBody>
      </p:sp>
      <p:sp>
        <p:nvSpPr>
          <p:cNvPr id="16" name="border-210"/>
          <p:cNvSpPr/>
          <p:nvPr/>
        </p:nvSpPr>
        <p:spPr>
          <a:xfrm>
            <a:off x="7912375" y="1645920"/>
            <a:ext cx="3560530" cy="2048256"/>
          </a:xfrm>
          <a:prstGeom prst="rect">
            <a:avLst/>
          </a:prstGeom>
          <a:solidFill>
            <a:srgbClr val="2A3550"/>
          </a:solidFill>
          <a:ln/>
        </p:spPr>
      </p:sp>
      <p:pic>
        <p:nvPicPr>
          <p:cNvPr id="17" name="img-s2c33-211" descr="S#2 C#3 심야 부엌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095" y="1691640"/>
            <a:ext cx="3469090" cy="1956816"/>
          </a:xfrm>
          <a:prstGeom prst="rect">
            <a:avLst/>
          </a:prstGeom>
        </p:spPr>
      </p:pic>
      <p:sp>
        <p:nvSpPr>
          <p:cNvPr id="18" name="rect-212"/>
          <p:cNvSpPr/>
          <p:nvPr/>
        </p:nvSpPr>
        <p:spPr>
          <a:xfrm>
            <a:off x="7955280" y="379476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8FA3C7"/>
          </a:solidFill>
          <a:ln/>
        </p:spPr>
      </p:sp>
      <p:sp>
        <p:nvSpPr>
          <p:cNvPr id="19" name="chip-213"/>
          <p:cNvSpPr txBox="1"/>
          <p:nvPr/>
        </p:nvSpPr>
        <p:spPr>
          <a:xfrm>
            <a:off x="795528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C#3</a:t>
            </a:r>
            <a:endParaRPr lang="en-US" sz="1000" dirty="0"/>
          </a:p>
        </p:txBody>
      </p:sp>
      <p:sp>
        <p:nvSpPr>
          <p:cNvPr id="20" name="text-214"/>
          <p:cNvSpPr txBox="1"/>
          <p:nvPr/>
        </p:nvSpPr>
        <p:spPr>
          <a:xfrm>
            <a:off x="795528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따라 출입문에서 벽장으로 이동하는 시선</a:t>
            </a:r>
            <a:endParaRPr lang="en-US" sz="1300" dirty="0"/>
          </a:p>
        </p:txBody>
      </p:sp>
      <p:sp>
        <p:nvSpPr>
          <p:cNvPr id="21" name="dot-215"/>
          <p:cNvSpPr/>
          <p:nvPr/>
        </p:nvSpPr>
        <p:spPr>
          <a:xfrm>
            <a:off x="658368" y="5129784"/>
            <a:ext cx="91440" cy="91440"/>
          </a:xfrm>
          <a:prstGeom prst="ellipse">
            <a:avLst/>
          </a:prstGeom>
          <a:solidFill>
            <a:srgbClr val="8FA3C7"/>
          </a:solidFill>
          <a:ln/>
        </p:spPr>
      </p:sp>
      <p:sp>
        <p:nvSpPr>
          <p:cNvPr id="22" name="bullet-216"/>
          <p:cNvSpPr txBox="1"/>
          <p:nvPr/>
        </p:nvSpPr>
        <p:spPr>
          <a:xfrm>
            <a:off x="914400" y="5029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달빛 한 줄기만 남긴 무광 조명과 1인칭 카메라 움직임으로 긴장감 조성</a:t>
            </a:r>
            <a:endParaRPr lang="en-US" sz="1400" dirty="0"/>
          </a:p>
        </p:txBody>
      </p:sp>
      <p:sp>
        <p:nvSpPr>
          <p:cNvPr id="23" name="dot-217"/>
          <p:cNvSpPr/>
          <p:nvPr/>
        </p:nvSpPr>
        <p:spPr>
          <a:xfrm>
            <a:off x="658368" y="5632704"/>
            <a:ext cx="91440" cy="91440"/>
          </a:xfrm>
          <a:prstGeom prst="ellipse">
            <a:avLst/>
          </a:prstGeom>
          <a:solidFill>
            <a:srgbClr val="8FA3C7"/>
          </a:solidFill>
          <a:ln/>
        </p:spPr>
      </p:sp>
      <p:sp>
        <p:nvSpPr>
          <p:cNvPr id="24" name="bullet-218"/>
          <p:cNvSpPr txBox="1"/>
          <p:nvPr/>
        </p:nvSpPr>
        <p:spPr>
          <a:xfrm>
            <a:off x="914400" y="5532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봉인의 서 스파크와 어둠 속 웃음소리로 본편 복선 제시, 타이틀 카드로 담백하게 마무리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464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warm-219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220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label-221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너와 나의 연결 꼬리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티저 영상</a:t>
            </a:r>
            <a:endParaRPr lang="en-US" sz="2800" dirty="0"/>
          </a:p>
        </p:txBody>
      </p:sp>
      <p:sp>
        <p:nvSpPr>
          <p:cNvPr id="6" name="border-222"/>
          <p:cNvSpPr/>
          <p:nvPr/>
        </p:nvSpPr>
        <p:spPr>
          <a:xfrm>
            <a:off x="594360" y="1648206"/>
            <a:ext cx="7040880" cy="4000500"/>
          </a:xfrm>
          <a:prstGeom prst="rect">
            <a:avLst/>
          </a:prstGeom>
          <a:solidFill>
            <a:srgbClr val="3A2A22"/>
          </a:solidFill>
          <a:ln/>
        </p:spPr>
      </p:sp>
      <p:pic>
        <p:nvPicPr>
          <p:cNvPr id="7" name="img-poster_teaser-223" descr="티저 대표 장면, 불꽃 하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3926"/>
            <a:ext cx="6949440" cy="3909060"/>
          </a:xfrm>
          <a:prstGeom prst="rect">
            <a:avLst/>
          </a:prstGeom>
        </p:spPr>
      </p:pic>
      <p:sp>
        <p:nvSpPr>
          <p:cNvPr id="8" name="rect-224"/>
          <p:cNvSpPr/>
          <p:nvPr/>
        </p:nvSpPr>
        <p:spPr>
          <a:xfrm>
            <a:off x="3337560" y="344728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552B"/>
          </a:solidFill>
          <a:ln/>
        </p:spPr>
      </p:sp>
      <p:sp>
        <p:nvSpPr>
          <p:cNvPr id="9" name="chip-225"/>
          <p:cNvSpPr txBox="1"/>
          <p:nvPr/>
        </p:nvSpPr>
        <p:spPr>
          <a:xfrm>
            <a:off x="3337560" y="3447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진행 중</a:t>
            </a:r>
            <a:endParaRPr lang="en-US" sz="1400" dirty="0"/>
          </a:p>
        </p:txBody>
      </p:sp>
      <p:sp>
        <p:nvSpPr>
          <p:cNvPr id="10" name="text-226"/>
          <p:cNvSpPr txBox="1"/>
          <p:nvPr/>
        </p:nvSpPr>
        <p:spPr>
          <a:xfrm>
            <a:off x="640080" y="5760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B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너와 나의 연결 꼬리 / 홍보영상용 티저 / 3분</a:t>
            </a:r>
            <a:endParaRPr lang="en-US" sz="1300" dirty="0"/>
          </a:p>
        </p:txBody>
      </p:sp>
      <p:sp>
        <p:nvSpPr>
          <p:cNvPr id="11" name="rect-227"/>
          <p:cNvSpPr/>
          <p:nvPr/>
        </p:nvSpPr>
        <p:spPr>
          <a:xfrm>
            <a:off x="8001000" y="1691640"/>
            <a:ext cx="3520440" cy="3913632"/>
          </a:xfrm>
          <a:prstGeom prst="rect">
            <a:avLst/>
          </a:prstGeom>
          <a:solidFill>
            <a:srgbClr val="2A1C16">
              <a:alpha val="90000"/>
            </a:srgbClr>
          </a:solidFill>
          <a:ln w="9525">
            <a:solidFill>
              <a:srgbClr val="3A2A22"/>
            </a:solidFill>
            <a:prstDash val="solid"/>
          </a:ln>
        </p:spPr>
      </p:sp>
      <p:pic>
        <p:nvPicPr>
          <p:cNvPr id="12" name="img-circ_tori-228" descr="토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965960"/>
            <a:ext cx="1417320" cy="1417320"/>
          </a:xfrm>
          <a:prstGeom prst="ellipse">
            <a:avLst/>
          </a:prstGeom>
        </p:spPr>
      </p:pic>
      <p:sp>
        <p:nvSpPr>
          <p:cNvPr id="13" name="text-229"/>
          <p:cNvSpPr txBox="1"/>
          <p:nvPr/>
        </p:nvSpPr>
        <p:spPr>
          <a:xfrm>
            <a:off x="8229600" y="3611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모션 테스트</a:t>
            </a:r>
            <a:endParaRPr lang="en-US" sz="1700" dirty="0"/>
          </a:p>
        </p:txBody>
      </p:sp>
      <p:sp>
        <p:nvSpPr>
          <p:cNvPr id="14" name="text-230"/>
          <p:cNvSpPr txBox="1"/>
          <p:nvPr/>
        </p:nvSpPr>
        <p:spPr>
          <a:xfrm>
            <a:off x="8229600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토리의 표정/동작을 영상으로 검증한 모션 테스트</a:t>
            </a:r>
            <a:endParaRPr lang="en-US" sz="1250" dirty="0"/>
          </a:p>
        </p:txBody>
      </p:sp>
      <p:sp>
        <p:nvSpPr>
          <p:cNvPr id="15" name="rect-231"/>
          <p:cNvSpPr/>
          <p:nvPr/>
        </p:nvSpPr>
        <p:spPr>
          <a:xfrm>
            <a:off x="8641080" y="48006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E8552B"/>
          </a:solidFill>
          <a:ln/>
        </p:spPr>
      </p:sp>
      <p:sp>
        <p:nvSpPr>
          <p:cNvPr id="16" name="link-232"/>
          <p:cNvSpPr txBox="1"/>
          <p:nvPr/>
        </p:nvSpPr>
        <p:spPr>
          <a:xfrm>
            <a:off x="8641080" y="4800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syIEN2KBbWDb8Q02cjB6IYgN444v6UqF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영상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7464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233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g-mallang-234" descr="문어 캐릭터 말랑 기본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411480"/>
            <a:ext cx="6035040" cy="6035040"/>
          </a:xfrm>
          <a:prstGeom prst="rect">
            <a:avLst/>
          </a:prstGeom>
        </p:spPr>
      </p:pic>
      <p:sp>
        <p:nvSpPr>
          <p:cNvPr id="4" name="border-235"/>
          <p:cNvSpPr/>
          <p:nvPr/>
        </p:nvSpPr>
        <p:spPr>
          <a:xfrm>
            <a:off x="9189720" y="3931920"/>
            <a:ext cx="2606040" cy="2159901"/>
          </a:xfrm>
          <a:prstGeom prst="rect">
            <a:avLst/>
          </a:prstGeom>
          <a:solidFill>
            <a:srgbClr val="2B1D1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g-malakan-236" descr="말라칸으로 변신한 말랑, 웹툰 1화 마지막 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3977640"/>
            <a:ext cx="2514600" cy="2068461"/>
          </a:xfrm>
          <a:prstGeom prst="rect">
            <a:avLst/>
          </a:prstGeom>
        </p:spPr>
      </p:pic>
      <p:sp>
        <p:nvSpPr>
          <p:cNvPr id="6" name="text-237"/>
          <p:cNvSpPr txBox="1"/>
          <p:nvPr/>
        </p:nvSpPr>
        <p:spPr>
          <a:xfrm>
            <a:off x="9235440" y="36118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변신!  말라칸</a:t>
            </a:r>
            <a:endParaRPr lang="en-US" sz="1200" dirty="0"/>
          </a:p>
        </p:txBody>
      </p:sp>
      <p:sp>
        <p:nvSpPr>
          <p:cNvPr id="7" name="rect-238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EE6F7C"/>
          </a:solidFill>
          <a:ln/>
        </p:spPr>
      </p:sp>
      <p:sp>
        <p:nvSpPr>
          <p:cNvPr id="8" name="ch-label-239"/>
          <p:cNvSpPr txBox="1"/>
          <p:nvPr/>
        </p:nvSpPr>
        <p:spPr>
          <a:xfrm>
            <a:off x="566928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</a:t>
            </a:r>
            <a:endParaRPr lang="en-US" sz="1300" dirty="0"/>
          </a:p>
        </p:txBody>
      </p:sp>
      <p:sp>
        <p:nvSpPr>
          <p:cNvPr id="9" name="ch-num-240"/>
          <p:cNvSpPr txBox="1"/>
          <p:nvPr/>
        </p:nvSpPr>
        <p:spPr>
          <a:xfrm>
            <a:off x="384048" y="777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0" dirty="0"/>
          </a:p>
        </p:txBody>
      </p:sp>
      <p:sp>
        <p:nvSpPr>
          <p:cNvPr id="10" name="ch-en-241"/>
          <p:cNvSpPr txBox="1"/>
          <p:nvPr/>
        </p:nvSpPr>
        <p:spPr>
          <a:xfrm>
            <a:off x="566928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 IP &amp; Webtoon</a:t>
            </a:r>
            <a:endParaRPr lang="en-US" sz="1200" dirty="0"/>
          </a:p>
        </p:txBody>
      </p:sp>
      <p:pic>
        <p:nvPicPr>
          <p:cNvPr id="11" name="tail-242" descr="연결 꼬리 곡선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ch-title-243"/>
          <p:cNvSpPr txBox="1"/>
          <p:nvPr/>
        </p:nvSpPr>
        <p:spPr>
          <a:xfrm>
            <a:off x="566928" y="4206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문어,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말랑</a:t>
            </a:r>
            <a:endParaRPr lang="en-US" sz="3200" dirty="0"/>
          </a:p>
        </p:txBody>
      </p:sp>
      <p:sp>
        <p:nvSpPr>
          <p:cNvPr id="13" name="ch-sub-244"/>
          <p:cNvSpPr txBox="1"/>
          <p:nvPr/>
        </p:nvSpPr>
        <p:spPr>
          <a:xfrm>
            <a:off x="566928" y="5532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/ 이모티콘 / 일상 웹툰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말랑, 물렁, 말라칸?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245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246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D2505F"/>
          </a:solidFill>
          <a:ln/>
        </p:spPr>
      </p:sp>
      <p:sp>
        <p:nvSpPr>
          <p:cNvPr id="4" name="label-247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나는 문어, 말랑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반전 변신으로 임팩트를 더한 캐릭터 IP</a:t>
            </a:r>
            <a:endParaRPr lang="en-US" sz="2800" dirty="0"/>
          </a:p>
        </p:txBody>
      </p:sp>
      <p:sp>
        <p:nvSpPr>
          <p:cNvPr id="6" name="rect-248"/>
          <p:cNvSpPr/>
          <p:nvPr/>
        </p:nvSpPr>
        <p:spPr>
          <a:xfrm>
            <a:off x="640080" y="1645920"/>
            <a:ext cx="44348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F1D5D2"/>
            </a:solidFill>
            <a:prstDash val="solid"/>
          </a:ln>
        </p:spPr>
      </p:sp>
      <p:pic>
        <p:nvPicPr>
          <p:cNvPr id="7" name="img-mallang-249" descr="말랑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4343400" cy="4343400"/>
          </a:xfrm>
          <a:prstGeom prst="rect">
            <a:avLst/>
          </a:prstGeom>
        </p:spPr>
      </p:pic>
      <p:sp>
        <p:nvSpPr>
          <p:cNvPr id="8" name="rect-250"/>
          <p:cNvSpPr/>
          <p:nvPr/>
        </p:nvSpPr>
        <p:spPr>
          <a:xfrm>
            <a:off x="5349240" y="1645920"/>
            <a:ext cx="6172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F1D5D2"/>
            </a:solidFill>
            <a:prstDash val="solid"/>
          </a:ln>
        </p:spPr>
      </p:sp>
      <p:sp>
        <p:nvSpPr>
          <p:cNvPr id="9" name="rect-251"/>
          <p:cNvSpPr/>
          <p:nvPr/>
        </p:nvSpPr>
        <p:spPr>
          <a:xfrm>
            <a:off x="5349240" y="1645920"/>
            <a:ext cx="91440" cy="1417320"/>
          </a:xfrm>
          <a:prstGeom prst="rect">
            <a:avLst/>
          </a:prstGeom>
          <a:solidFill>
            <a:srgbClr val="EE6F7C"/>
          </a:solidFill>
          <a:ln/>
        </p:spPr>
      </p:sp>
      <p:sp>
        <p:nvSpPr>
          <p:cNvPr id="10" name="text-252"/>
          <p:cNvSpPr txBox="1"/>
          <p:nvPr/>
        </p:nvSpPr>
        <p:spPr>
          <a:xfrm>
            <a:off x="56692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6F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말랑</a:t>
            </a:r>
            <a:endParaRPr lang="en-US" sz="2200" dirty="0"/>
          </a:p>
        </p:txBody>
      </p:sp>
      <p:sp>
        <p:nvSpPr>
          <p:cNvPr id="11" name="rect-253"/>
          <p:cNvSpPr/>
          <p:nvPr/>
        </p:nvSpPr>
        <p:spPr>
          <a:xfrm>
            <a:off x="708660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E6F7C"/>
          </a:solidFill>
          <a:ln/>
        </p:spPr>
      </p:sp>
      <p:sp>
        <p:nvSpPr>
          <p:cNvPr id="12" name="chip-254"/>
          <p:cNvSpPr txBox="1"/>
          <p:nvPr/>
        </p:nvSpPr>
        <p:spPr>
          <a:xfrm>
            <a:off x="708660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기본형</a:t>
            </a:r>
            <a:endParaRPr lang="en-US" sz="1000" dirty="0"/>
          </a:p>
        </p:txBody>
      </p:sp>
      <p:sp>
        <p:nvSpPr>
          <p:cNvPr id="13" name="text-255"/>
          <p:cNvSpPr txBox="1"/>
          <p:nvPr/>
        </p:nvSpPr>
        <p:spPr>
          <a:xfrm>
            <a:off x="5669280" y="23957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밝고 긍정적이지만 비실비실하고 눈치 없는 관종 캐릭터</a:t>
            </a:r>
            <a:endParaRPr lang="en-US" sz="1350" dirty="0"/>
          </a:p>
        </p:txBody>
      </p:sp>
      <p:sp>
        <p:nvSpPr>
          <p:cNvPr id="14" name="rect-256"/>
          <p:cNvSpPr/>
          <p:nvPr/>
        </p:nvSpPr>
        <p:spPr>
          <a:xfrm>
            <a:off x="5349240" y="3246120"/>
            <a:ext cx="6172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F1D5D2"/>
            </a:solidFill>
            <a:prstDash val="solid"/>
          </a:ln>
        </p:spPr>
      </p:sp>
      <p:sp>
        <p:nvSpPr>
          <p:cNvPr id="15" name="rect-257"/>
          <p:cNvSpPr/>
          <p:nvPr/>
        </p:nvSpPr>
        <p:spPr>
          <a:xfrm>
            <a:off x="5349240" y="3246120"/>
            <a:ext cx="91440" cy="1417320"/>
          </a:xfrm>
          <a:prstGeom prst="rect">
            <a:avLst/>
          </a:prstGeom>
          <a:solidFill>
            <a:srgbClr val="2B1D16"/>
          </a:solidFill>
          <a:ln/>
        </p:spPr>
      </p:sp>
      <p:sp>
        <p:nvSpPr>
          <p:cNvPr id="16" name="text-258"/>
          <p:cNvSpPr txBox="1"/>
          <p:nvPr/>
        </p:nvSpPr>
        <p:spPr>
          <a:xfrm>
            <a:off x="56692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말라칸</a:t>
            </a:r>
            <a:endParaRPr lang="en-US" sz="2200" dirty="0"/>
          </a:p>
        </p:txBody>
      </p:sp>
      <p:sp>
        <p:nvSpPr>
          <p:cNvPr id="17" name="rect-259"/>
          <p:cNvSpPr/>
          <p:nvPr/>
        </p:nvSpPr>
        <p:spPr>
          <a:xfrm>
            <a:off x="7086600" y="35021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B1D16"/>
          </a:solidFill>
          <a:ln/>
        </p:spPr>
      </p:sp>
      <p:sp>
        <p:nvSpPr>
          <p:cNvPr id="18" name="chip-260"/>
          <p:cNvSpPr txBox="1"/>
          <p:nvPr/>
        </p:nvSpPr>
        <p:spPr>
          <a:xfrm>
            <a:off x="7086600" y="3502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분노폭발형</a:t>
            </a:r>
            <a:endParaRPr lang="en-US" sz="1000" dirty="0"/>
          </a:p>
        </p:txBody>
      </p:sp>
      <p:sp>
        <p:nvSpPr>
          <p:cNvPr id="19" name="text-261"/>
          <p:cNvSpPr txBox="1"/>
          <p:nvPr/>
        </p:nvSpPr>
        <p:spPr>
          <a:xfrm>
            <a:off x="5669280" y="39959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화가 나면 산을 넘는 덩치로 각성하는 과격하고 파괴적인 변신 캐릭터</a:t>
            </a:r>
            <a:endParaRPr lang="en-US" sz="1350" dirty="0"/>
          </a:p>
        </p:txBody>
      </p:sp>
      <p:sp>
        <p:nvSpPr>
          <p:cNvPr id="20" name="rect-262"/>
          <p:cNvSpPr/>
          <p:nvPr/>
        </p:nvSpPr>
        <p:spPr>
          <a:xfrm>
            <a:off x="5349240" y="4937760"/>
            <a:ext cx="6172200" cy="1143000"/>
          </a:xfrm>
          <a:prstGeom prst="rect">
            <a:avLst/>
          </a:prstGeom>
          <a:solidFill>
            <a:srgbClr val="EE6F7C">
              <a:alpha val="12000"/>
            </a:srgbClr>
          </a:solidFill>
          <a:ln/>
        </p:spPr>
      </p:sp>
      <p:sp>
        <p:nvSpPr>
          <p:cNvPr id="21" name="text-263"/>
          <p:cNvSpPr txBox="1"/>
          <p:nvPr/>
        </p:nvSpPr>
        <p:spPr>
          <a:xfrm>
            <a:off x="5669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스타일</a:t>
            </a:r>
            <a:endParaRPr lang="en-US" sz="1200" dirty="0"/>
          </a:p>
        </p:txBody>
      </p:sp>
      <p:sp>
        <p:nvSpPr>
          <p:cNvPr id="22" name="text-264"/>
          <p:cNvSpPr txBox="1"/>
          <p:nvPr/>
        </p:nvSpPr>
        <p:spPr>
          <a:xfrm>
            <a:off x="5669280" y="5394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선화에 포인트 컬러, 눈동자 등 사물은 실사풍으로 표현한 시그니처 스타일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265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266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D2505F"/>
          </a:solidFill>
          <a:ln/>
        </p:spPr>
      </p:sp>
      <p:sp>
        <p:nvSpPr>
          <p:cNvPr id="4" name="label-267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나는 문어, 말랑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감정별 대사로 구성한 이모티콘 라인업 기획</a:t>
            </a:r>
            <a:endParaRPr lang="en-US" sz="2800" dirty="0"/>
          </a:p>
        </p:txBody>
      </p:sp>
      <p:sp>
        <p:nvSpPr>
          <p:cNvPr id="6" name="rect-268"/>
          <p:cNvSpPr/>
          <p:nvPr/>
        </p:nvSpPr>
        <p:spPr>
          <a:xfrm>
            <a:off x="640080" y="16459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5D2"/>
            </a:solidFill>
            <a:prstDash val="solid"/>
          </a:ln>
        </p:spPr>
      </p:sp>
      <p:sp>
        <p:nvSpPr>
          <p:cNvPr id="7" name="text-269"/>
          <p:cNvSpPr txBox="1"/>
          <p:nvPr/>
        </p:nvSpPr>
        <p:spPr>
          <a:xfrm>
            <a:off x="914400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플러팅형</a:t>
            </a:r>
            <a:endParaRPr lang="en-US" sz="1200" dirty="0"/>
          </a:p>
        </p:txBody>
      </p:sp>
      <p:sp>
        <p:nvSpPr>
          <p:cNvPr id="8" name="text-270"/>
          <p:cNvSpPr txBox="1"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나랑 오징어 먹을래?"</a:t>
            </a:r>
            <a:endParaRPr lang="en-US" sz="1800" dirty="0"/>
          </a:p>
        </p:txBody>
      </p:sp>
      <p:sp>
        <p:nvSpPr>
          <p:cNvPr id="9" name="text-271"/>
          <p:cNvSpPr txBox="1"/>
          <p:nvPr/>
        </p:nvSpPr>
        <p:spPr>
          <a:xfrm>
            <a:off x="91440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5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순한 기본형에서 클로즈업으로 확장되는 플러팅</a:t>
            </a:r>
            <a:endParaRPr lang="en-US" sz="1200" dirty="0"/>
          </a:p>
        </p:txBody>
      </p:sp>
      <p:sp>
        <p:nvSpPr>
          <p:cNvPr id="10" name="rect-272"/>
          <p:cNvSpPr/>
          <p:nvPr/>
        </p:nvSpPr>
        <p:spPr>
          <a:xfrm>
            <a:off x="4297680" y="16459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5D2"/>
            </a:solidFill>
            <a:prstDash val="solid"/>
          </a:ln>
        </p:spPr>
      </p:sp>
      <p:sp>
        <p:nvSpPr>
          <p:cNvPr id="11" name="text-273"/>
          <p:cNvSpPr txBox="1"/>
          <p:nvPr/>
        </p:nvSpPr>
        <p:spPr>
          <a:xfrm>
            <a:off x="4572000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분노폭발형</a:t>
            </a:r>
            <a:endParaRPr lang="en-US" sz="1200" dirty="0"/>
          </a:p>
        </p:txBody>
      </p:sp>
      <p:sp>
        <p:nvSpPr>
          <p:cNvPr id="12" name="text-274"/>
          <p:cNvSpPr txBox="1"/>
          <p:nvPr/>
        </p:nvSpPr>
        <p:spPr>
          <a:xfrm>
            <a:off x="45720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"우에해해해~~"</a:t>
            </a:r>
            <a:endParaRPr lang="en-US" sz="1800" dirty="0"/>
          </a:p>
        </p:txBody>
      </p:sp>
      <p:sp>
        <p:nvSpPr>
          <p:cNvPr id="13" name="text-275"/>
          <p:cNvSpPr txBox="1"/>
          <p:nvPr/>
        </p:nvSpPr>
        <p:spPr>
          <a:xfrm>
            <a:off x="457200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5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해골에 깜짝 놀라 말라칸으로 변신</a:t>
            </a:r>
            <a:endParaRPr lang="en-US" sz="1200" dirty="0"/>
          </a:p>
        </p:txBody>
      </p:sp>
      <p:sp>
        <p:nvSpPr>
          <p:cNvPr id="14" name="rect-276"/>
          <p:cNvSpPr/>
          <p:nvPr/>
        </p:nvSpPr>
        <p:spPr>
          <a:xfrm>
            <a:off x="7955280" y="164592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5D2"/>
            </a:solidFill>
            <a:prstDash val="solid"/>
          </a:ln>
        </p:spPr>
      </p:sp>
      <p:sp>
        <p:nvSpPr>
          <p:cNvPr id="15" name="text-277"/>
          <p:cNvSpPr txBox="1"/>
          <p:nvPr/>
        </p:nvSpPr>
        <p:spPr>
          <a:xfrm>
            <a:off x="8229600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내숭형</a:t>
            </a:r>
            <a:endParaRPr lang="en-US" sz="1200" dirty="0"/>
          </a:p>
        </p:txBody>
      </p:sp>
      <p:sp>
        <p:nvSpPr>
          <p:cNvPr id="16" name="text-278"/>
          <p:cNvSpPr txBox="1"/>
          <p:nvPr/>
        </p:nvSpPr>
        <p:spPr>
          <a:xfrm>
            <a:off x="82296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"난 질기지 않아"</a:t>
            </a:r>
            <a:endParaRPr lang="en-US" sz="1800" dirty="0"/>
          </a:p>
        </p:txBody>
      </p:sp>
      <p:sp>
        <p:nvSpPr>
          <p:cNvPr id="17" name="text-279"/>
          <p:cNvSpPr txBox="1"/>
          <p:nvPr/>
        </p:nvSpPr>
        <p:spPr>
          <a:xfrm>
            <a:off x="822960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5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말랑다운 능청스러운 내숭</a:t>
            </a:r>
            <a:endParaRPr lang="en-US" sz="1200" dirty="0"/>
          </a:p>
        </p:txBody>
      </p:sp>
      <p:sp>
        <p:nvSpPr>
          <p:cNvPr id="18" name="rect-280"/>
          <p:cNvSpPr/>
          <p:nvPr/>
        </p:nvSpPr>
        <p:spPr>
          <a:xfrm>
            <a:off x="640080" y="36576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5D2"/>
            </a:solidFill>
            <a:prstDash val="solid"/>
          </a:ln>
        </p:spPr>
      </p:sp>
      <p:sp>
        <p:nvSpPr>
          <p:cNvPr id="19" name="text-281"/>
          <p:cNvSpPr txBox="1"/>
          <p:nvPr/>
        </p:nvSpPr>
        <p:spPr>
          <a:xfrm>
            <a:off x="91440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기쁨형</a:t>
            </a:r>
            <a:endParaRPr lang="en-US" sz="1200" dirty="0"/>
          </a:p>
        </p:txBody>
      </p:sp>
      <p:sp>
        <p:nvSpPr>
          <p:cNvPr id="20" name="text-282"/>
          <p:cNvSpPr txBox="1"/>
          <p:nvPr/>
        </p:nvSpPr>
        <p:spPr>
          <a:xfrm>
            <a:off x="91440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"가오리 사세요~"</a:t>
            </a:r>
            <a:endParaRPr lang="en-US" sz="1800" dirty="0"/>
          </a:p>
        </p:txBody>
      </p:sp>
      <p:sp>
        <p:nvSpPr>
          <p:cNvPr id="21" name="text-283"/>
          <p:cNvSpPr txBox="1"/>
          <p:nvPr/>
        </p:nvSpPr>
        <p:spPr>
          <a:xfrm>
            <a:off x="914400" y="4800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5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가오리를 타고 하늘을 나는 기쁨의 춤</a:t>
            </a:r>
            <a:endParaRPr lang="en-US" sz="1200" dirty="0"/>
          </a:p>
        </p:txBody>
      </p:sp>
      <p:sp>
        <p:nvSpPr>
          <p:cNvPr id="22" name="rect-284"/>
          <p:cNvSpPr/>
          <p:nvPr/>
        </p:nvSpPr>
        <p:spPr>
          <a:xfrm>
            <a:off x="4297680" y="36576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5D2"/>
            </a:solidFill>
            <a:prstDash val="solid"/>
          </a:ln>
        </p:spPr>
      </p:sp>
      <p:sp>
        <p:nvSpPr>
          <p:cNvPr id="23" name="text-285"/>
          <p:cNvSpPr txBox="1"/>
          <p:nvPr/>
        </p:nvSpPr>
        <p:spPr>
          <a:xfrm>
            <a:off x="457200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우울형 (블루문)</a:t>
            </a:r>
            <a:endParaRPr lang="en-US" sz="1200" dirty="0"/>
          </a:p>
        </p:txBody>
      </p:sp>
      <p:sp>
        <p:nvSpPr>
          <p:cNvPr id="24" name="text-286"/>
          <p:cNvSpPr txBox="1"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"문리버~"</a:t>
            </a:r>
            <a:endParaRPr lang="en-US" sz="1800" dirty="0"/>
          </a:p>
        </p:txBody>
      </p:sp>
      <p:sp>
        <p:nvSpPr>
          <p:cNvPr id="25" name="text-287"/>
          <p:cNvSpPr txBox="1"/>
          <p:nvPr/>
        </p:nvSpPr>
        <p:spPr>
          <a:xfrm>
            <a:off x="4572000" y="4800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5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블루문 아래 눈물 한 방울, 알아봐 달라는 표정</a:t>
            </a:r>
            <a:endParaRPr lang="en-US" sz="1200" dirty="0"/>
          </a:p>
        </p:txBody>
      </p:sp>
      <p:sp>
        <p:nvSpPr>
          <p:cNvPr id="26" name="rect-288"/>
          <p:cNvSpPr/>
          <p:nvPr/>
        </p:nvSpPr>
        <p:spPr>
          <a:xfrm>
            <a:off x="7955280" y="36576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1D5D2"/>
            </a:solidFill>
            <a:prstDash val="solid"/>
          </a:ln>
        </p:spPr>
      </p:sp>
      <p:sp>
        <p:nvSpPr>
          <p:cNvPr id="27" name="text-289"/>
          <p:cNvSpPr txBox="1"/>
          <p:nvPr/>
        </p:nvSpPr>
        <p:spPr>
          <a:xfrm>
            <a:off x="822960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민망형</a:t>
            </a:r>
            <a:endParaRPr lang="en-US" sz="1200" dirty="0"/>
          </a:p>
        </p:txBody>
      </p:sp>
      <p:sp>
        <p:nvSpPr>
          <p:cNvPr id="28" name="text-290"/>
          <p:cNvSpPr txBox="1"/>
          <p:nvPr/>
        </p:nvSpPr>
        <p:spPr>
          <a:xfrm>
            <a:off x="8229600" y="4206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"난 질기지 않아!"</a:t>
            </a:r>
            <a:endParaRPr lang="en-US" sz="1800" dirty="0"/>
          </a:p>
        </p:txBody>
      </p:sp>
      <p:sp>
        <p:nvSpPr>
          <p:cNvPr id="29" name="text-291"/>
          <p:cNvSpPr txBox="1"/>
          <p:nvPr/>
        </p:nvSpPr>
        <p:spPr>
          <a:xfrm>
            <a:off x="8229600" y="4800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5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쑥스러움을 감추려 화난 척하는 말라칸</a:t>
            </a:r>
            <a:endParaRPr lang="en-US" sz="1200" dirty="0"/>
          </a:p>
        </p:txBody>
      </p:sp>
      <p:sp>
        <p:nvSpPr>
          <p:cNvPr id="30" name="text-292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기본형 + 변형 최소 6종 기획  /  첫 인사 "나는 문어, 말랑!"을 시리즈 제목으로 연결  /  클립스튜디오, 포토샵, 프리미어 활용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293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294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D2505F"/>
          </a:solidFill>
          <a:ln/>
        </p:spPr>
      </p:sp>
      <p:sp>
        <p:nvSpPr>
          <p:cNvPr id="4" name="label-295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나는 문어, 말랑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웹툰 제1화  복권 대신, 문어 당첨</a:t>
            </a:r>
            <a:endParaRPr lang="en-US" sz="2800" dirty="0"/>
          </a:p>
        </p:txBody>
      </p:sp>
      <p:sp>
        <p:nvSpPr>
          <p:cNvPr id="6" name="border-296"/>
          <p:cNvSpPr/>
          <p:nvPr/>
        </p:nvSpPr>
        <p:spPr>
          <a:xfrm>
            <a:off x="594360" y="1554480"/>
            <a:ext cx="6613190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g-conti1-297" descr="나는 문어 1화 콘티, 낚시줄에 걸린 문어 말랑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521750" cy="4754880"/>
          </a:xfrm>
          <a:prstGeom prst="rect">
            <a:avLst/>
          </a:prstGeom>
        </p:spPr>
      </p:pic>
      <p:sp>
        <p:nvSpPr>
          <p:cNvPr id="8" name="rect-298"/>
          <p:cNvSpPr/>
          <p:nvPr/>
        </p:nvSpPr>
        <p:spPr>
          <a:xfrm>
            <a:off x="7726680" y="16459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E6F7C"/>
          </a:solidFill>
          <a:ln/>
        </p:spPr>
      </p:sp>
      <p:sp>
        <p:nvSpPr>
          <p:cNvPr id="9" name="chip-299"/>
          <p:cNvSpPr txBox="1"/>
          <p:nvPr/>
        </p:nvSpPr>
        <p:spPr>
          <a:xfrm>
            <a:off x="772668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18컷 일상 개그툰</a:t>
            </a:r>
            <a:endParaRPr lang="en-US" sz="1000" dirty="0"/>
          </a:p>
        </p:txBody>
      </p:sp>
      <p:sp>
        <p:nvSpPr>
          <p:cNvPr id="10" name="text-300"/>
          <p:cNvSpPr txBox="1"/>
          <p:nvPr/>
        </p:nvSpPr>
        <p:spPr>
          <a:xfrm>
            <a:off x="7726680" y="2103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복권 당첨 꿈을 꾼 낚시꾼 박씨가 다 함께 끌어올린 월척은 문어 말랑 한 마리</a:t>
            </a:r>
            <a:endParaRPr lang="en-US" sz="1500" dirty="0"/>
          </a:p>
        </p:txBody>
      </p:sp>
      <p:sp>
        <p:nvSpPr>
          <p:cNvPr id="11" name="dot-301"/>
          <p:cNvSpPr/>
          <p:nvPr/>
        </p:nvSpPr>
        <p:spPr>
          <a:xfrm>
            <a:off x="7744968" y="3392424"/>
            <a:ext cx="91440" cy="91440"/>
          </a:xfrm>
          <a:prstGeom prst="ellipse">
            <a:avLst/>
          </a:prstGeom>
          <a:solidFill>
            <a:srgbClr val="EE6F7C"/>
          </a:solidFill>
          <a:ln/>
        </p:spPr>
      </p:sp>
      <p:sp>
        <p:nvSpPr>
          <p:cNvPr id="12" name="bullet-302"/>
          <p:cNvSpPr txBox="1"/>
          <p:nvPr/>
        </p:nvSpPr>
        <p:spPr>
          <a:xfrm>
            <a:off x="8001000" y="32918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낚시꾼들의 속마음을 말풍선 속 그림으로 표현한 위트</a:t>
            </a:r>
            <a:endParaRPr lang="en-US" sz="1350" dirty="0"/>
          </a:p>
        </p:txBody>
      </p:sp>
      <p:sp>
        <p:nvSpPr>
          <p:cNvPr id="13" name="dot-303"/>
          <p:cNvSpPr/>
          <p:nvPr/>
        </p:nvSpPr>
        <p:spPr>
          <a:xfrm>
            <a:off x="7744968" y="4169664"/>
            <a:ext cx="91440" cy="91440"/>
          </a:xfrm>
          <a:prstGeom prst="ellipse">
            <a:avLst/>
          </a:prstGeom>
          <a:solidFill>
            <a:srgbClr val="EE6F7C"/>
          </a:solidFill>
          <a:ln/>
        </p:spPr>
      </p:sp>
      <p:sp>
        <p:nvSpPr>
          <p:cNvPr id="14" name="bullet-304"/>
          <p:cNvSpPr txBox="1"/>
          <p:nvPr/>
        </p:nvSpPr>
        <p:spPr>
          <a:xfrm>
            <a:off x="8001000" y="4069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'초고추장' 한마디에 말라칸으로 즉각 변신하는 반전 결말</a:t>
            </a:r>
            <a:endParaRPr lang="en-US" sz="1350" dirty="0"/>
          </a:p>
        </p:txBody>
      </p:sp>
      <p:sp>
        <p:nvSpPr>
          <p:cNvPr id="15" name="dot-305"/>
          <p:cNvSpPr/>
          <p:nvPr/>
        </p:nvSpPr>
        <p:spPr>
          <a:xfrm>
            <a:off x="7744968" y="4946904"/>
            <a:ext cx="91440" cy="91440"/>
          </a:xfrm>
          <a:prstGeom prst="ellipse">
            <a:avLst/>
          </a:prstGeom>
          <a:solidFill>
            <a:srgbClr val="EE6F7C"/>
          </a:solidFill>
          <a:ln/>
        </p:spPr>
      </p:sp>
      <p:sp>
        <p:nvSpPr>
          <p:cNvPr id="16" name="bullet-306"/>
          <p:cNvSpPr txBox="1"/>
          <p:nvPr/>
        </p:nvSpPr>
        <p:spPr>
          <a:xfrm>
            <a:off x="8001000" y="4846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인물은 간단한 선화, 주인공은 포인트 컬러로 시선 집중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30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308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D2505F"/>
          </a:solidFill>
          <a:ln/>
        </p:spPr>
      </p:sp>
      <p:sp>
        <p:nvSpPr>
          <p:cNvPr id="4" name="label-309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나는 문어, 말랑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웹툰 제2화  AI 챗너어 대 말랑</a:t>
            </a:r>
            <a:endParaRPr lang="en-US" sz="2800" dirty="0"/>
          </a:p>
        </p:txBody>
      </p:sp>
      <p:sp>
        <p:nvSpPr>
          <p:cNvPr id="6" name="border-310"/>
          <p:cNvSpPr/>
          <p:nvPr/>
        </p:nvSpPr>
        <p:spPr>
          <a:xfrm>
            <a:off x="594360" y="1463040"/>
            <a:ext cx="3352800" cy="4983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g-conti2-311" descr="나는 문어 2화 세로 콘티, 다리 6개의 반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3261360" cy="4892040"/>
          </a:xfrm>
          <a:prstGeom prst="rect">
            <a:avLst/>
          </a:prstGeom>
        </p:spPr>
      </p:pic>
      <p:sp>
        <p:nvSpPr>
          <p:cNvPr id="8" name="rect-312"/>
          <p:cNvSpPr/>
          <p:nvPr/>
        </p:nvSpPr>
        <p:spPr>
          <a:xfrm>
            <a:off x="4572000" y="164592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E6F7C"/>
          </a:solidFill>
          <a:ln/>
        </p:spPr>
      </p:sp>
      <p:sp>
        <p:nvSpPr>
          <p:cNvPr id="9" name="chip-313"/>
          <p:cNvSpPr txBox="1"/>
          <p:nvPr/>
        </p:nvSpPr>
        <p:spPr>
          <a:xfrm>
            <a:off x="457200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26컷 세로 스크롤</a:t>
            </a:r>
            <a:endParaRPr lang="en-US" sz="1000" dirty="0"/>
          </a:p>
        </p:txBody>
      </p:sp>
      <p:sp>
        <p:nvSpPr>
          <p:cNvPr id="10" name="text-314"/>
          <p:cNvSpPr txBox="1"/>
          <p:nvPr/>
        </p:nvSpPr>
        <p:spPr>
          <a:xfrm>
            <a:off x="457200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다리 6개의 반란</a:t>
            </a:r>
            <a:endParaRPr lang="en-US" sz="2600" dirty="0"/>
          </a:p>
        </p:txBody>
      </p:sp>
      <p:sp>
        <p:nvSpPr>
          <p:cNvPr id="11" name="text-315"/>
          <p:cNvSpPr txBox="1"/>
          <p:nvPr/>
        </p:nvSpPr>
        <p:spPr>
          <a:xfrm>
            <a:off x="457200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외로운 말랑이 AI 챗봇에게 프로필 그림을 맡기며 벌어지는 소동</a:t>
            </a:r>
            <a:endParaRPr lang="en-US" sz="1500" dirty="0"/>
          </a:p>
        </p:txBody>
      </p:sp>
      <p:sp>
        <p:nvSpPr>
          <p:cNvPr id="12" name="dot-316"/>
          <p:cNvSpPr/>
          <p:nvPr/>
        </p:nvSpPr>
        <p:spPr>
          <a:xfrm>
            <a:off x="4590288" y="3529584"/>
            <a:ext cx="91440" cy="91440"/>
          </a:xfrm>
          <a:prstGeom prst="ellipse">
            <a:avLst/>
          </a:prstGeom>
          <a:solidFill>
            <a:srgbClr val="EE6F7C"/>
          </a:solidFill>
          <a:ln/>
        </p:spPr>
      </p:sp>
      <p:sp>
        <p:nvSpPr>
          <p:cNvPr id="13" name="bullet-317"/>
          <p:cNvSpPr txBox="1"/>
          <p:nvPr/>
        </p:nvSpPr>
        <p:spPr>
          <a:xfrm>
            <a:off x="4846320" y="34290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챗봇과의 대화라는 일상 소재를 캐릭터 개그로 풀어낸 시의성</a:t>
            </a:r>
            <a:endParaRPr lang="en-US" sz="1400" dirty="0"/>
          </a:p>
        </p:txBody>
      </p:sp>
      <p:sp>
        <p:nvSpPr>
          <p:cNvPr id="14" name="dot-318"/>
          <p:cNvSpPr/>
          <p:nvPr/>
        </p:nvSpPr>
        <p:spPr>
          <a:xfrm>
            <a:off x="4590288" y="4096512"/>
            <a:ext cx="91440" cy="91440"/>
          </a:xfrm>
          <a:prstGeom prst="ellipse">
            <a:avLst/>
          </a:prstGeom>
          <a:solidFill>
            <a:srgbClr val="EE6F7C"/>
          </a:solidFill>
          <a:ln/>
        </p:spPr>
      </p:sp>
      <p:sp>
        <p:nvSpPr>
          <p:cNvPr id="15" name="bullet-319"/>
          <p:cNvSpPr txBox="1"/>
          <p:nvPr/>
        </p:nvSpPr>
        <p:spPr>
          <a:xfrm>
            <a:off x="4846320" y="399592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명화 패러디 프로필 그림으로 장면마다 새로운 볼거리 제공</a:t>
            </a:r>
            <a:endParaRPr lang="en-US" sz="1400" dirty="0"/>
          </a:p>
        </p:txBody>
      </p:sp>
      <p:sp>
        <p:nvSpPr>
          <p:cNvPr id="16" name="dot-320"/>
          <p:cNvSpPr/>
          <p:nvPr/>
        </p:nvSpPr>
        <p:spPr>
          <a:xfrm>
            <a:off x="4590288" y="4663440"/>
            <a:ext cx="91440" cy="91440"/>
          </a:xfrm>
          <a:prstGeom prst="ellipse">
            <a:avLst/>
          </a:prstGeom>
          <a:solidFill>
            <a:srgbClr val="EE6F7C"/>
          </a:solidFill>
          <a:ln/>
        </p:spPr>
      </p:sp>
      <p:sp>
        <p:nvSpPr>
          <p:cNvPr id="17" name="bullet-321"/>
          <p:cNvSpPr txBox="1"/>
          <p:nvPr/>
        </p:nvSpPr>
        <p:spPr>
          <a:xfrm>
            <a:off x="4846320" y="456285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다리를 6개만 그리는 AI에 폭발해 말라칸으로 각성하는 시리즈 공식 유지</a:t>
            </a:r>
            <a:endParaRPr lang="en-US" sz="1400" dirty="0"/>
          </a:p>
        </p:txBody>
      </p:sp>
      <p:sp>
        <p:nvSpPr>
          <p:cNvPr id="18" name="dot-322"/>
          <p:cNvSpPr/>
          <p:nvPr/>
        </p:nvSpPr>
        <p:spPr>
          <a:xfrm>
            <a:off x="4590288" y="5230368"/>
            <a:ext cx="91440" cy="91440"/>
          </a:xfrm>
          <a:prstGeom prst="ellipse">
            <a:avLst/>
          </a:prstGeom>
          <a:solidFill>
            <a:srgbClr val="EE6F7C"/>
          </a:solidFill>
          <a:ln/>
        </p:spPr>
      </p:sp>
      <p:sp>
        <p:nvSpPr>
          <p:cNvPr id="19" name="bullet-323"/>
          <p:cNvSpPr txBox="1"/>
          <p:nvPr/>
        </p:nvSpPr>
        <p:spPr>
          <a:xfrm>
            <a:off x="4846320" y="512978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스크롤 흐름에 맞춘 컷 분할과 감정 고조</a:t>
            </a:r>
            <a:endParaRPr lang="en-US" sz="1400" dirty="0"/>
          </a:p>
        </p:txBody>
      </p:sp>
      <p:sp>
        <p:nvSpPr>
          <p:cNvPr id="20" name="rect-324"/>
          <p:cNvSpPr/>
          <p:nvPr/>
        </p:nvSpPr>
        <p:spPr>
          <a:xfrm>
            <a:off x="4572000" y="5806440"/>
            <a:ext cx="6949440" cy="54864"/>
          </a:xfrm>
          <a:prstGeom prst="rect">
            <a:avLst/>
          </a:prstGeom>
          <a:solidFill>
            <a:srgbClr val="EE6F7C">
              <a:alpha val="60000"/>
            </a:srgbClr>
          </a:solidFill>
          <a:ln/>
        </p:spPr>
      </p:sp>
      <p:sp>
        <p:nvSpPr>
          <p:cNvPr id="21" name="text-325"/>
          <p:cNvSpPr txBox="1"/>
          <p:nvPr/>
        </p:nvSpPr>
        <p:spPr>
          <a:xfrm>
            <a:off x="4572000" y="58978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250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"나는…… 자연인(산 문어)이다~!!"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3_bg-326" descr="스크래처 옆 고양이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order-327"/>
          <p:cNvSpPr/>
          <p:nvPr/>
        </p:nvSpPr>
        <p:spPr>
          <a:xfrm>
            <a:off x="4531393" y="822960"/>
            <a:ext cx="6390573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g-pan_thumb-328" descr="엄지를 치켜든 고양이와 스크래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113" y="868680"/>
            <a:ext cx="6299133" cy="3383280"/>
          </a:xfrm>
          <a:prstGeom prst="rect">
            <a:avLst/>
          </a:prstGeom>
        </p:spPr>
      </p:pic>
      <p:sp>
        <p:nvSpPr>
          <p:cNvPr id="5" name="border-329"/>
          <p:cNvSpPr/>
          <p:nvPr/>
        </p:nvSpPr>
        <p:spPr>
          <a:xfrm>
            <a:off x="7589520" y="3613964"/>
            <a:ext cx="4114800" cy="23092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g-pan_product-330" descr="벅뻑 행복 고양이 스크래처 제품 풀샷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59684"/>
            <a:ext cx="4023360" cy="2217824"/>
          </a:xfrm>
          <a:prstGeom prst="rect">
            <a:avLst/>
          </a:prstGeom>
        </p:spPr>
      </p:pic>
      <p:sp>
        <p:nvSpPr>
          <p:cNvPr id="7" name="rect-33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B8895A"/>
          </a:solidFill>
          <a:ln/>
        </p:spPr>
      </p:sp>
      <p:sp>
        <p:nvSpPr>
          <p:cNvPr id="8" name="ch-label-332"/>
          <p:cNvSpPr txBox="1"/>
          <p:nvPr/>
        </p:nvSpPr>
        <p:spPr>
          <a:xfrm>
            <a:off x="566928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</a:t>
            </a:r>
            <a:endParaRPr lang="en-US" sz="1300" dirty="0"/>
          </a:p>
        </p:txBody>
      </p:sp>
      <p:sp>
        <p:nvSpPr>
          <p:cNvPr id="9" name="ch-num-333"/>
          <p:cNvSpPr txBox="1"/>
          <p:nvPr/>
        </p:nvSpPr>
        <p:spPr>
          <a:xfrm>
            <a:off x="384048" y="777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0" dirty="0"/>
          </a:p>
        </p:txBody>
      </p:sp>
      <p:sp>
        <p:nvSpPr>
          <p:cNvPr id="10" name="ch-en-334"/>
          <p:cNvSpPr txBox="1"/>
          <p:nvPr/>
        </p:nvSpPr>
        <p:spPr>
          <a:xfrm>
            <a:off x="566928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Short-form Ad</a:t>
            </a:r>
            <a:endParaRPr lang="en-US" sz="1200" dirty="0"/>
          </a:p>
        </p:txBody>
      </p:sp>
      <p:pic>
        <p:nvPicPr>
          <p:cNvPr id="11" name="tail-335" descr="연결 꼬리 곡선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ch-title-336"/>
          <p:cNvSpPr txBox="1"/>
          <p:nvPr/>
        </p:nvSpPr>
        <p:spPr>
          <a:xfrm>
            <a:off x="566928" y="4206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벅뻑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행복스크래쳐</a:t>
            </a:r>
            <a:endParaRPr lang="en-US" sz="3200" dirty="0"/>
          </a:p>
        </p:txBody>
      </p:sp>
      <p:sp>
        <p:nvSpPr>
          <p:cNvPr id="13" name="ch-sub-337"/>
          <p:cNvSpPr txBox="1"/>
          <p:nvPr/>
        </p:nvSpPr>
        <p:spPr>
          <a:xfrm>
            <a:off x="566928" y="5532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숏폼 광고 / 60초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스크래처 브랜드 광고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kraft-338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339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8E6236"/>
          </a:solidFill>
          <a:ln/>
        </p:spPr>
      </p:sp>
      <p:sp>
        <p:nvSpPr>
          <p:cNvPr id="4" name="label-340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6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벅뻑 행복스크래쳐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소리로 기억되는 브랜드, 사운드 반전 구조 설계</a:t>
            </a:r>
            <a:endParaRPr lang="en-US" sz="2800" dirty="0"/>
          </a:p>
        </p:txBody>
      </p:sp>
      <p:sp>
        <p:nvSpPr>
          <p:cNvPr id="6" name="border-341"/>
          <p:cNvSpPr/>
          <p:nvPr/>
        </p:nvSpPr>
        <p:spPr>
          <a:xfrm>
            <a:off x="594360" y="1648206"/>
            <a:ext cx="2011680" cy="11201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g-pan_season1-342" descr="여름 빗소리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3926"/>
            <a:ext cx="1920240" cy="1028700"/>
          </a:xfrm>
          <a:prstGeom prst="rect">
            <a:avLst/>
          </a:prstGeom>
        </p:spPr>
      </p:pic>
      <p:sp>
        <p:nvSpPr>
          <p:cNvPr id="8" name="text-343"/>
          <p:cNvSpPr txBox="1"/>
          <p:nvPr/>
        </p:nvSpPr>
        <p:spPr>
          <a:xfrm>
            <a:off x="64008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46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 빗소리</a:t>
            </a:r>
            <a:endParaRPr lang="en-US" sz="1150" dirty="0"/>
          </a:p>
        </p:txBody>
      </p:sp>
      <p:sp>
        <p:nvSpPr>
          <p:cNvPr id="9" name="border-344"/>
          <p:cNvSpPr/>
          <p:nvPr/>
        </p:nvSpPr>
        <p:spPr>
          <a:xfrm>
            <a:off x="2651760" y="1648206"/>
            <a:ext cx="2011680" cy="11201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g-pan_season2-345" descr="가을 낙엽 소리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693926"/>
            <a:ext cx="1920240" cy="1028700"/>
          </a:xfrm>
          <a:prstGeom prst="rect">
            <a:avLst/>
          </a:prstGeom>
        </p:spPr>
      </p:pic>
      <p:sp>
        <p:nvSpPr>
          <p:cNvPr id="11" name="text-346"/>
          <p:cNvSpPr txBox="1"/>
          <p:nvPr/>
        </p:nvSpPr>
        <p:spPr>
          <a:xfrm>
            <a:off x="269748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46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가을 낙엽 소리</a:t>
            </a:r>
            <a:endParaRPr lang="en-US" sz="1150" dirty="0"/>
          </a:p>
        </p:txBody>
      </p:sp>
      <p:sp>
        <p:nvSpPr>
          <p:cNvPr id="12" name="border-347"/>
          <p:cNvSpPr/>
          <p:nvPr/>
        </p:nvSpPr>
        <p:spPr>
          <a:xfrm>
            <a:off x="4709160" y="1648206"/>
            <a:ext cx="2011680" cy="11201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g-pan_season3-348" descr="겨울 눈 밟는 소리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93926"/>
            <a:ext cx="1920240" cy="1028700"/>
          </a:xfrm>
          <a:prstGeom prst="rect">
            <a:avLst/>
          </a:prstGeom>
        </p:spPr>
      </p:pic>
      <p:sp>
        <p:nvSpPr>
          <p:cNvPr id="14" name="text-349"/>
          <p:cNvSpPr txBox="1"/>
          <p:nvPr/>
        </p:nvSpPr>
        <p:spPr>
          <a:xfrm>
            <a:off x="475488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46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 눈 밟는 소리</a:t>
            </a:r>
            <a:endParaRPr lang="en-US" sz="1150" dirty="0"/>
          </a:p>
        </p:txBody>
      </p:sp>
      <p:sp>
        <p:nvSpPr>
          <p:cNvPr id="15" name="border-350"/>
          <p:cNvSpPr/>
          <p:nvPr/>
        </p:nvSpPr>
        <p:spPr>
          <a:xfrm>
            <a:off x="6766560" y="1648206"/>
            <a:ext cx="2011680" cy="11201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g-pan_season4-351" descr="봄 시냇물 소리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693926"/>
            <a:ext cx="1920240" cy="1028700"/>
          </a:xfrm>
          <a:prstGeom prst="rect">
            <a:avLst/>
          </a:prstGeom>
        </p:spPr>
      </p:pic>
      <p:sp>
        <p:nvSpPr>
          <p:cNvPr id="17" name="text-352"/>
          <p:cNvSpPr txBox="1"/>
          <p:nvPr/>
        </p:nvSpPr>
        <p:spPr>
          <a:xfrm>
            <a:off x="681228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46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봄 시냇물 소리</a:t>
            </a:r>
            <a:endParaRPr lang="en-US" sz="1150" dirty="0"/>
          </a:p>
        </p:txBody>
      </p:sp>
      <p:sp>
        <p:nvSpPr>
          <p:cNvPr id="18" name="text-353"/>
          <p:cNvSpPr txBox="1"/>
          <p:nvPr/>
        </p:nvSpPr>
        <p:spPr>
          <a:xfrm>
            <a:off x="640080" y="3200400"/>
            <a:ext cx="8092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E6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소리가 아닙니다"</a:t>
            </a:r>
            <a:endParaRPr lang="en-US" sz="1300" dirty="0"/>
          </a:p>
        </p:txBody>
      </p:sp>
      <p:sp>
        <p:nvSpPr>
          <p:cNvPr id="19" name="arrow-354"/>
          <p:cNvSpPr/>
          <p:nvPr/>
        </p:nvSpPr>
        <p:spPr>
          <a:xfrm>
            <a:off x="8851392" y="1965960"/>
            <a:ext cx="457200" cy="457200"/>
          </a:xfrm>
          <a:prstGeom prst="rightArrow">
            <a:avLst/>
          </a:prstGeom>
          <a:solidFill>
            <a:srgbClr val="8E6236"/>
          </a:solidFill>
          <a:ln/>
        </p:spPr>
      </p:sp>
      <p:sp>
        <p:nvSpPr>
          <p:cNvPr id="20" name="border-355"/>
          <p:cNvSpPr/>
          <p:nvPr/>
        </p:nvSpPr>
        <p:spPr>
          <a:xfrm>
            <a:off x="9418320" y="1648043"/>
            <a:ext cx="2148840" cy="1193619"/>
          </a:xfrm>
          <a:prstGeom prst="rect">
            <a:avLst/>
          </a:prstGeom>
          <a:solidFill>
            <a:srgbClr val="8E6236"/>
          </a:solidFill>
          <a:ln/>
        </p:spPr>
      </p:sp>
      <p:pic>
        <p:nvPicPr>
          <p:cNvPr id="21" name="img-pan_scratch-356" descr="스크래처를 긁는 고양이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1693763"/>
            <a:ext cx="2057400" cy="1102179"/>
          </a:xfrm>
          <a:prstGeom prst="rect">
            <a:avLst/>
          </a:prstGeom>
        </p:spPr>
      </p:pic>
      <p:sp>
        <p:nvSpPr>
          <p:cNvPr id="22" name="text-357"/>
          <p:cNvSpPr txBox="1"/>
          <p:nvPr/>
        </p:nvSpPr>
        <p:spPr>
          <a:xfrm>
            <a:off x="9464040" y="2880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E6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"벅벅, 벅벅벅벅"</a:t>
            </a:r>
            <a:endParaRPr lang="en-US" sz="1200" dirty="0"/>
          </a:p>
        </p:txBody>
      </p:sp>
      <p:sp>
        <p:nvSpPr>
          <p:cNvPr id="23" name="rect-358"/>
          <p:cNvSpPr/>
          <p:nvPr/>
        </p:nvSpPr>
        <p:spPr>
          <a:xfrm>
            <a:off x="640080" y="3749040"/>
            <a:ext cx="10881360" cy="27432"/>
          </a:xfrm>
          <a:prstGeom prst="rect">
            <a:avLst/>
          </a:prstGeom>
          <a:solidFill>
            <a:srgbClr val="D8C4AA"/>
          </a:solidFill>
          <a:ln/>
        </p:spPr>
      </p:sp>
      <p:sp>
        <p:nvSpPr>
          <p:cNvPr id="24" name="dot-359"/>
          <p:cNvSpPr/>
          <p:nvPr/>
        </p:nvSpPr>
        <p:spPr>
          <a:xfrm>
            <a:off x="658368" y="4078224"/>
            <a:ext cx="91440" cy="91440"/>
          </a:xfrm>
          <a:prstGeom prst="ellipse">
            <a:avLst/>
          </a:prstGeom>
          <a:solidFill>
            <a:srgbClr val="B8895A"/>
          </a:solidFill>
          <a:ln/>
        </p:spPr>
      </p:sp>
      <p:sp>
        <p:nvSpPr>
          <p:cNvPr id="25" name="bullet-360"/>
          <p:cNvSpPr txBox="1"/>
          <p:nvPr/>
        </p:nvSpPr>
        <p:spPr>
          <a:xfrm>
            <a:off x="914400" y="39776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사계절 자연의 소리를 하나씩 부정하는 내레이션으로 궁금증 유발</a:t>
            </a:r>
            <a:endParaRPr lang="en-US" sz="1500" dirty="0"/>
          </a:p>
        </p:txBody>
      </p:sp>
      <p:sp>
        <p:nvSpPr>
          <p:cNvPr id="26" name="dot-361"/>
          <p:cNvSpPr/>
          <p:nvPr/>
        </p:nvSpPr>
        <p:spPr>
          <a:xfrm>
            <a:off x="658368" y="4700016"/>
            <a:ext cx="91440" cy="91440"/>
          </a:xfrm>
          <a:prstGeom prst="ellipse">
            <a:avLst/>
          </a:prstGeom>
          <a:solidFill>
            <a:srgbClr val="B8895A"/>
          </a:solidFill>
          <a:ln/>
        </p:spPr>
      </p:sp>
      <p:sp>
        <p:nvSpPr>
          <p:cNvPr id="27" name="bullet-362"/>
          <p:cNvSpPr txBox="1"/>
          <p:nvPr/>
        </p:nvSpPr>
        <p:spPr>
          <a:xfrm>
            <a:off x="914400" y="45994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스크래처 긁는 소리를 브랜드명 '벅뻑'과 연결해 소리만으로 브랜드 각인</a:t>
            </a:r>
            <a:endParaRPr lang="en-US" sz="1500" dirty="0"/>
          </a:p>
        </p:txBody>
      </p:sp>
      <p:sp>
        <p:nvSpPr>
          <p:cNvPr id="28" name="dot-363"/>
          <p:cNvSpPr/>
          <p:nvPr/>
        </p:nvSpPr>
        <p:spPr>
          <a:xfrm>
            <a:off x="658368" y="5321808"/>
            <a:ext cx="91440" cy="91440"/>
          </a:xfrm>
          <a:prstGeom prst="ellipse">
            <a:avLst/>
          </a:prstGeom>
          <a:solidFill>
            <a:srgbClr val="B8895A"/>
          </a:solidFill>
          <a:ln/>
        </p:spPr>
      </p:sp>
      <p:sp>
        <p:nvSpPr>
          <p:cNvPr id="29" name="bullet-364"/>
          <p:cNvSpPr txBox="1"/>
          <p:nvPr/>
        </p:nvSpPr>
        <p:spPr>
          <a:xfrm>
            <a:off x="914400" y="5221224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 클로즈업과 제품 풀샷으로 '행복 스크래처' 메시지 마무리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kraft-365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366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8E6236"/>
          </a:solidFill>
          <a:ln/>
        </p:spPr>
      </p:sp>
      <p:sp>
        <p:nvSpPr>
          <p:cNvPr id="4" name="label-367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6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벅뻑 행복스크래쳐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씬/컷/타임 단위 스토리보드 설계</a:t>
            </a:r>
            <a:endParaRPr lang="en-US" sz="2800" dirty="0"/>
          </a:p>
        </p:txBody>
      </p:sp>
      <p:sp>
        <p:nvSpPr>
          <p:cNvPr id="6" name="border-368"/>
          <p:cNvSpPr/>
          <p:nvPr/>
        </p:nvSpPr>
        <p:spPr>
          <a:xfrm>
            <a:off x="637540" y="1554480"/>
            <a:ext cx="1088644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g-sb1-369" descr="벅뻑 행복스크래쳐 스토리보드 1, 씬1~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1600200"/>
            <a:ext cx="10795000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kraft-370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dot-371"/>
          <p:cNvSpPr/>
          <p:nvPr/>
        </p:nvSpPr>
        <p:spPr>
          <a:xfrm>
            <a:off x="640080" y="448056"/>
            <a:ext cx="109728" cy="109728"/>
          </a:xfrm>
          <a:prstGeom prst="ellipse">
            <a:avLst/>
          </a:prstGeom>
          <a:solidFill>
            <a:srgbClr val="8E6236"/>
          </a:solidFill>
          <a:ln/>
        </p:spPr>
      </p:sp>
      <p:sp>
        <p:nvSpPr>
          <p:cNvPr id="4" name="label-372"/>
          <p:cNvSpPr txBox="1"/>
          <p:nvPr/>
        </p:nvSpPr>
        <p:spPr>
          <a:xfrm>
            <a:off x="859536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62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벅뻑 행복스크래쳐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60초 숏폼 광고 완성본</a:t>
            </a:r>
            <a:endParaRPr lang="en-US" sz="2800" dirty="0"/>
          </a:p>
        </p:txBody>
      </p:sp>
      <p:sp>
        <p:nvSpPr>
          <p:cNvPr id="6" name="border-373"/>
          <p:cNvSpPr/>
          <p:nvPr/>
        </p:nvSpPr>
        <p:spPr>
          <a:xfrm>
            <a:off x="594360" y="1600475"/>
            <a:ext cx="7040880" cy="392222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g-poster_ad-374" descr="벅뻑 행복스크래쳐 광고 영상 보기">
            <a:hlinkClick r:id="rId3" tooltip="영상 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6195"/>
            <a:ext cx="6949440" cy="3830787"/>
          </a:xfrm>
          <a:prstGeom prst="rect">
            <a:avLst/>
          </a:prstGeom>
        </p:spPr>
      </p:pic>
      <p:sp>
        <p:nvSpPr>
          <p:cNvPr id="8" name="text-375"/>
          <p:cNvSpPr txBox="1"/>
          <p:nvPr/>
        </p:nvSpPr>
        <p:spPr>
          <a:xfrm>
            <a:off x="640080" y="5623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75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클릭하면 영상이 재생됩니다</a:t>
            </a:r>
            <a:endParaRPr lang="en-US" sz="1100" dirty="0"/>
          </a:p>
        </p:txBody>
      </p:sp>
      <p:sp>
        <p:nvSpPr>
          <p:cNvPr id="9" name="rect-376"/>
          <p:cNvSpPr/>
          <p:nvPr/>
        </p:nvSpPr>
        <p:spPr>
          <a:xfrm>
            <a:off x="8001000" y="169164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B8895A"/>
          </a:solidFill>
          <a:ln/>
        </p:spPr>
      </p:sp>
      <p:sp>
        <p:nvSpPr>
          <p:cNvPr id="10" name="chip-377"/>
          <p:cNvSpPr txBox="1"/>
          <p:nvPr/>
        </p:nvSpPr>
        <p:spPr>
          <a:xfrm>
            <a:off x="800100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무대사 / 60초</a:t>
            </a:r>
            <a:endParaRPr lang="en-US" sz="1000" dirty="0"/>
          </a:p>
        </p:txBody>
      </p:sp>
      <p:sp>
        <p:nvSpPr>
          <p:cNvPr id="11" name="text-378"/>
          <p:cNvSpPr txBox="1"/>
          <p:nvPr/>
        </p:nvSpPr>
        <p:spPr>
          <a:xfrm>
            <a:off x="8001000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D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벅뻑 행복 고양이 스크래처</a:t>
            </a:r>
            <a:endParaRPr lang="en-US" sz="2000" dirty="0"/>
          </a:p>
        </p:txBody>
      </p:sp>
      <p:sp>
        <p:nvSpPr>
          <p:cNvPr id="12" name="dot-379"/>
          <p:cNvSpPr/>
          <p:nvPr/>
        </p:nvSpPr>
        <p:spPr>
          <a:xfrm>
            <a:off x="8019288" y="2935224"/>
            <a:ext cx="91440" cy="91440"/>
          </a:xfrm>
          <a:prstGeom prst="ellipse">
            <a:avLst/>
          </a:prstGeom>
          <a:solidFill>
            <a:srgbClr val="B8895A"/>
          </a:solidFill>
          <a:ln/>
        </p:spPr>
      </p:sp>
      <p:sp>
        <p:nvSpPr>
          <p:cNvPr id="13" name="bullet-380"/>
          <p:cNvSpPr txBox="1"/>
          <p:nvPr/>
        </p:nvSpPr>
        <p:spPr>
          <a:xfrm>
            <a:off x="8275320" y="28346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사운드와 화면만으로 메시지를 전달한 무대사 편집</a:t>
            </a:r>
            <a:endParaRPr lang="en-US" sz="1350" dirty="0"/>
          </a:p>
        </p:txBody>
      </p:sp>
      <p:sp>
        <p:nvSpPr>
          <p:cNvPr id="14" name="dot-381"/>
          <p:cNvSpPr/>
          <p:nvPr/>
        </p:nvSpPr>
        <p:spPr>
          <a:xfrm>
            <a:off x="8019288" y="3685032"/>
            <a:ext cx="91440" cy="91440"/>
          </a:xfrm>
          <a:prstGeom prst="ellipse">
            <a:avLst/>
          </a:prstGeom>
          <a:solidFill>
            <a:srgbClr val="B8895A"/>
          </a:solidFill>
          <a:ln/>
        </p:spPr>
      </p:sp>
      <p:sp>
        <p:nvSpPr>
          <p:cNvPr id="15" name="bullet-382"/>
          <p:cNvSpPr txBox="1"/>
          <p:nvPr/>
        </p:nvSpPr>
        <p:spPr>
          <a:xfrm>
            <a:off x="8275320" y="358444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따뜻한 자연광 거실 톤으로 제품의 편안한 이미지 강화</a:t>
            </a:r>
            <a:endParaRPr lang="en-US" sz="1350" dirty="0"/>
          </a:p>
        </p:txBody>
      </p:sp>
      <p:sp>
        <p:nvSpPr>
          <p:cNvPr id="16" name="dot-383"/>
          <p:cNvSpPr/>
          <p:nvPr/>
        </p:nvSpPr>
        <p:spPr>
          <a:xfrm>
            <a:off x="8019288" y="4434840"/>
            <a:ext cx="91440" cy="91440"/>
          </a:xfrm>
          <a:prstGeom prst="ellipse">
            <a:avLst/>
          </a:prstGeom>
          <a:solidFill>
            <a:srgbClr val="B8895A"/>
          </a:solidFill>
          <a:ln/>
        </p:spPr>
      </p:sp>
      <p:sp>
        <p:nvSpPr>
          <p:cNvPr id="17" name="bullet-384"/>
          <p:cNvSpPr txBox="1"/>
          <p:nvPr/>
        </p:nvSpPr>
        <p:spPr>
          <a:xfrm>
            <a:off x="8275320" y="433425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3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엄지를 치켜든 고양이로 브랜드 호감도 극대화</a:t>
            </a:r>
            <a:endParaRPr lang="en-US" sz="1350" dirty="0"/>
          </a:p>
        </p:txBody>
      </p:sp>
      <p:sp>
        <p:nvSpPr>
          <p:cNvPr id="18" name="rect-385"/>
          <p:cNvSpPr/>
          <p:nvPr/>
        </p:nvSpPr>
        <p:spPr>
          <a:xfrm>
            <a:off x="8001000" y="507492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8E6236"/>
          </a:solidFill>
          <a:ln/>
        </p:spPr>
      </p:sp>
      <p:sp>
        <p:nvSpPr>
          <p:cNvPr id="19" name="link-386"/>
          <p:cNvSpPr txBox="1"/>
          <p:nvPr/>
        </p:nvSpPr>
        <p:spPr>
          <a:xfrm>
            <a:off x="800100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nawR_erkM8cg4L6-n3Zheibxt1GWwylb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영상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7566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end-387" descr="창 하나만 불 켜진 숲속 오두막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tail-388" descr="꼬리 곡선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-389"/>
          <p:cNvSpPr txBox="1"/>
          <p:nvPr/>
        </p:nvSpPr>
        <p:spPr>
          <a:xfrm>
            <a:off x="0" y="1920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spc="800" kern="0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-390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6" name="text-39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0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박진희</a:t>
            </a:r>
            <a:endParaRPr lang="en-US" sz="2000" dirty="0"/>
          </a:p>
        </p:txBody>
      </p:sp>
      <p:sp>
        <p:nvSpPr>
          <p:cNvPr id="7" name="text-392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애니메이션 / 캐릭터 IP 웹툰 / 숏폼 광고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nected Tail">
  <a:themeElements>
    <a:clrScheme name="Connected Tail">
      <a:dk1>
        <a:srgbClr val="1A110D"/>
      </a:dk1>
      <a:lt1>
        <a:srgbClr val="F7F0E6"/>
      </a:lt1>
      <a:dk2>
        <a:srgbClr val="2A1C16"/>
      </a:dk2>
      <a:lt2>
        <a:srgbClr val="FFFDF9"/>
      </a:lt2>
      <a:accent1>
        <a:srgbClr val="E8552B"/>
      </a:accent1>
      <a:accent2>
        <a:srgbClr val="F2A65A"/>
      </a:accent2>
      <a:accent3>
        <a:srgbClr val="EE6F7C"/>
      </a:accent3>
      <a:accent4>
        <a:srgbClr val="B8895A"/>
      </a:accent4>
      <a:accent5>
        <a:srgbClr val="8FA3C7"/>
      </a:accent5>
      <a:accent6>
        <a:srgbClr val="8A7566"/>
      </a:accent6>
      <a:hlink>
        <a:srgbClr val="F2A65A"/>
      </a:hlink>
      <a:folHlink>
        <a:srgbClr val="F2A65A"/>
      </a:folHlink>
    </a:clrScheme>
    <a:fontScheme name="Connected Tai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박진희 포트폴리오</dc:title>
  <dc:subject>PptxGenJS Presentation</dc:subject>
  <dc:creator>박진희</dc:creator>
  <cp:lastModifiedBy>박진희</cp:lastModifiedBy>
  <cp:revision>1</cp:revision>
  <dcterms:created xsi:type="dcterms:W3CDTF">2026-10-02T02:31:50Z</dcterms:created>
  <dcterms:modified xsi:type="dcterms:W3CDTF">2026-10-02T02:31:50Z</dcterms:modified>
</cp:coreProperties>
</file>