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작품" id="{ce720d95-4697-7834-3a54-fb9f4d3e8067}">
          <p14:sldIdLst>
            <p14:sldId id="256"/>
            <p14:sldId id="257"/>
            <p14:sldId id="258"/>
          </p14:sldIdLst>
        </p14:section>
        <p14:section name="세계관 · 인물" id="{a1638937-252d-2e0c-2b5a-d709ac1c3391}">
          <p14:sldIdLst>
            <p14:sldId id="259"/>
            <p14:sldId id="260"/>
            <p14:sldId id="261"/>
          </p14:sldIdLst>
        </p14:section>
        <p14:section name="연출" id="{f7a87332-f167-38bc-d378-0ae93f3fc340}">
          <p14:sldIdLst>
            <p14:sldId id="262"/>
            <p14:sldId id="263"/>
            <p14:sldId id="264"/>
            <p14:sldId id="265"/>
            <p14:sldId id="266"/>
          </p14:sldIdLst>
        </p14:section>
        <p14:section name="제작 과정" id="{650b9779-db0a-abd7-e0a4-06757542b92b}">
          <p14:sldIdLst>
            <p14:sldId id="267"/>
            <p14:sldId id="268"/>
          </p14:sldIdLst>
        </p14:section>
        <p14:section name="결과물 · IP" id="{5944a3b0-d0cf-bc5a-ca6d-86bb2dc37a3d}">
          <p14:sldIdLst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K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김은상  ·  삼국무신전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GI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6B4A2E"/>
                </a:solidFill>
                <a:latin typeface="Gungsuh" pitchFamily="34" charset="0"/>
                <a:ea typeface="Gungsuh" pitchFamily="34" charset="-122"/>
                <a:cs typeface="Gungsuh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김은상  ·  삼국무신전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image" Target="../media/image-11-7.jpg"/><Relationship Id="rId8" Type="http://schemas.openxmlformats.org/officeDocument/2006/relationships/image" Target="../media/image-11-8.jpg"/><Relationship Id="rId9" Type="http://schemas.openxmlformats.org/officeDocument/2006/relationships/image" Target="../media/image-11-9.jp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wwMN4ngbUAvgDN58iO2qLhRP2ic8gfBX/view" TargetMode="External"/><Relationship Id="rId4" Type="http://schemas.openxmlformats.org/officeDocument/2006/relationships/hyperlink" Target="https://drive.google.com/file/d/1wwMN4ngbUAvgDN58iO2qLhRP2ic8gfBX/view" TargetMode="External"/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G3ppCFwc6yH5SNcySnm3HA5aJxHTdTLz/view" TargetMode="External"/><Relationship Id="rId5" Type="http://schemas.openxmlformats.org/officeDocument/2006/relationships/hyperlink" Target="https://drive.google.com/file/d/1iZv3gmaNhSpLXgV4h9pFB1rm82GRha4J/view" TargetMode="External"/><Relationship Id="rId6" Type="http://schemas.openxmlformats.org/officeDocument/2006/relationships/hyperlink" Target="https://drive.google.com/file/d/1G3ppCFwc6yH5SNcySnm3HA5aJxHTdTLz/view" TargetMode="External"/><Relationship Id="rId7" Type="http://schemas.openxmlformats.org/officeDocument/2006/relationships/hyperlink" Target="https://drive.google.com/file/d/1iZv3gmaNhSpLXgV4h9pFB1rm82GRha4J/view" TargetMode="External"/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4" Type="http://schemas.openxmlformats.org/officeDocument/2006/relationships/image" Target="../media/image-15-3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image" Target="../media/image-17-6.jpg"/><Relationship Id="rId7" Type="http://schemas.openxmlformats.org/officeDocument/2006/relationships/image" Target="../media/image-17-7.jpg"/><Relationship Id="rId8" Type="http://schemas.openxmlformats.org/officeDocument/2006/relationships/image" Target="../media/image-17-8.jpg"/><Relationship Id="rId9" Type="http://schemas.openxmlformats.org/officeDocument/2006/relationships/image" Target="../media/image-17-9.jpg"/><Relationship Id="rId10" Type="http://schemas.openxmlformats.org/officeDocument/2006/relationships/image" Target="../media/image-17-10.jp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1" descr="새벽 한강 위의 삼국무신전 타이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-2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AE1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601년</a:t>
            </a:r>
            <a:endParaRPr lang="en-US" sz="1800" dirty="0"/>
          </a:p>
        </p:txBody>
      </p:sp>
      <p:sp>
        <p:nvSpPr>
          <p:cNvPr id="4" name="text-3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「삼국무신전」 공식 티저 · AI 애니메이션 포트폴리오 2026</a:t>
            </a:r>
            <a:endParaRPr lang="en-US" sz="1400" dirty="0"/>
          </a:p>
        </p:txBody>
      </p:sp>
      <p:sp>
        <p:nvSpPr>
          <p:cNvPr id="5" name="text-4"/>
          <p:cNvSpPr txBox="1"/>
          <p:nvPr/>
        </p:nvSpPr>
        <p:spPr>
          <a:xfrm>
            <a:off x="640080" y="54864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김은상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5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6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LOGLINE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작품 소개</a:t>
            </a:r>
            <a:endParaRPr lang="en-US" sz="3000" dirty="0"/>
          </a:p>
        </p:txBody>
      </p:sp>
      <p:sp>
        <p:nvSpPr>
          <p:cNvPr id="5" name="text-7"/>
          <p:cNvSpPr txBox="1"/>
          <p:nvPr/>
        </p:nvSpPr>
        <p:spPr>
          <a:xfrm>
            <a:off x="640080" y="16459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전설의 검을 품은 소년 김운.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그의 선택이 삼국의 운명을 바꾼다.</a:t>
            </a:r>
            <a:endParaRPr lang="en-US" sz="2600" dirty="0"/>
          </a:p>
        </p:txBody>
      </p:sp>
      <p:sp>
        <p:nvSpPr>
          <p:cNvPr id="6" name="rect-8"/>
          <p:cNvSpPr/>
          <p:nvPr/>
        </p:nvSpPr>
        <p:spPr>
          <a:xfrm>
            <a:off x="640080" y="3337560"/>
            <a:ext cx="5852160" cy="548640"/>
          </a:xfrm>
          <a:prstGeom prst="rect">
            <a:avLst/>
          </a:prstGeom>
          <a:solidFill>
            <a:srgbClr val="1A2230">
              <a:alpha val="85000"/>
            </a:srgbClr>
          </a:solidFill>
          <a:ln/>
        </p:spPr>
      </p:sp>
      <p:sp>
        <p:nvSpPr>
          <p:cNvPr id="7" name="text-9"/>
          <p:cNvSpPr txBox="1"/>
          <p:nvPr/>
        </p:nvSpPr>
        <p:spPr>
          <a:xfrm>
            <a:off x="86868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1200" dirty="0"/>
          </a:p>
        </p:txBody>
      </p:sp>
      <p:sp>
        <p:nvSpPr>
          <p:cNvPr id="8" name="text-10"/>
          <p:cNvSpPr txBox="1"/>
          <p:nvPr/>
        </p:nvSpPr>
        <p:spPr>
          <a:xfrm>
            <a:off x="2560320" y="3337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 무협</a:t>
            </a:r>
            <a:endParaRPr lang="en-US" sz="1300" dirty="0"/>
          </a:p>
        </p:txBody>
      </p:sp>
      <p:sp>
        <p:nvSpPr>
          <p:cNvPr id="9" name="rect-11"/>
          <p:cNvSpPr/>
          <p:nvPr/>
        </p:nvSpPr>
        <p:spPr>
          <a:xfrm>
            <a:off x="640080" y="3995928"/>
            <a:ext cx="5852160" cy="548640"/>
          </a:xfrm>
          <a:prstGeom prst="rect">
            <a:avLst/>
          </a:prstGeom>
          <a:solidFill>
            <a:srgbClr val="1A2230">
              <a:alpha val="85000"/>
            </a:srgbClr>
          </a:solidFill>
          <a:ln/>
        </p:spPr>
      </p:sp>
      <p:sp>
        <p:nvSpPr>
          <p:cNvPr id="10" name="text-12"/>
          <p:cNvSpPr txBox="1"/>
          <p:nvPr/>
        </p:nvSpPr>
        <p:spPr>
          <a:xfrm>
            <a:off x="868680" y="3995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11" name="text-13"/>
          <p:cNvSpPr txBox="1"/>
          <p:nvPr/>
        </p:nvSpPr>
        <p:spPr>
          <a:xfrm>
            <a:off x="2560320" y="39959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</a:t>
            </a:r>
            <a:endParaRPr lang="en-US" sz="1300" dirty="0"/>
          </a:p>
        </p:txBody>
      </p:sp>
      <p:sp>
        <p:nvSpPr>
          <p:cNvPr id="12" name="rect-14"/>
          <p:cNvSpPr/>
          <p:nvPr/>
        </p:nvSpPr>
        <p:spPr>
          <a:xfrm>
            <a:off x="640080" y="4654296"/>
            <a:ext cx="5852160" cy="548640"/>
          </a:xfrm>
          <a:prstGeom prst="rect">
            <a:avLst/>
          </a:prstGeom>
          <a:solidFill>
            <a:srgbClr val="1A2230">
              <a:alpha val="85000"/>
            </a:srgbClr>
          </a:solidFill>
          <a:ln/>
        </p:spPr>
      </p:sp>
      <p:sp>
        <p:nvSpPr>
          <p:cNvPr id="13" name="text-15"/>
          <p:cNvSpPr txBox="1"/>
          <p:nvPr/>
        </p:nvSpPr>
        <p:spPr>
          <a:xfrm>
            <a:off x="868680" y="46542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티저 러닝타임</a:t>
            </a:r>
            <a:endParaRPr lang="en-US" sz="1200" dirty="0"/>
          </a:p>
        </p:txBody>
      </p:sp>
      <p:sp>
        <p:nvSpPr>
          <p:cNvPr id="14" name="text-16"/>
          <p:cNvSpPr txBox="1"/>
          <p:nvPr/>
        </p:nvSpPr>
        <p:spPr>
          <a:xfrm>
            <a:off x="2560320" y="46542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90초 · 16:9 FHD</a:t>
            </a:r>
            <a:endParaRPr lang="en-US" sz="1300" dirty="0"/>
          </a:p>
        </p:txBody>
      </p:sp>
      <p:sp>
        <p:nvSpPr>
          <p:cNvPr id="15" name="rect-17"/>
          <p:cNvSpPr/>
          <p:nvPr/>
        </p:nvSpPr>
        <p:spPr>
          <a:xfrm>
            <a:off x="640080" y="5312664"/>
            <a:ext cx="5852160" cy="548640"/>
          </a:xfrm>
          <a:prstGeom prst="rect">
            <a:avLst/>
          </a:prstGeom>
          <a:solidFill>
            <a:srgbClr val="1A2230">
              <a:alpha val="85000"/>
            </a:srgbClr>
          </a:solidFill>
          <a:ln/>
        </p:spPr>
      </p:sp>
      <p:sp>
        <p:nvSpPr>
          <p:cNvPr id="16" name="text-18"/>
          <p:cNvSpPr txBox="1"/>
          <p:nvPr/>
        </p:nvSpPr>
        <p:spPr>
          <a:xfrm>
            <a:off x="868680" y="531266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</a:t>
            </a:r>
            <a:endParaRPr lang="en-US" sz="1200" dirty="0"/>
          </a:p>
        </p:txBody>
      </p:sp>
      <p:sp>
        <p:nvSpPr>
          <p:cNvPr id="17" name="text-19"/>
          <p:cNvSpPr txBox="1"/>
          <p:nvPr/>
        </p:nvSpPr>
        <p:spPr>
          <a:xfrm>
            <a:off x="2560320" y="53126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전연령, 30~50대 남성 메인</a:t>
            </a:r>
            <a:endParaRPr lang="en-US" sz="1300" dirty="0"/>
          </a:p>
        </p:txBody>
      </p:sp>
      <p:sp>
        <p:nvSpPr>
          <p:cNvPr id="18" name="border-20"/>
          <p:cNvSpPr/>
          <p:nvPr/>
        </p:nvSpPr>
        <p:spPr>
          <a:xfrm>
            <a:off x="6784848" y="1672166"/>
            <a:ext cx="4791456" cy="2690708"/>
          </a:xfrm>
          <a:prstGeom prst="rect">
            <a:avLst/>
          </a:prstGeom>
          <a:solidFill>
            <a:srgbClr val="8E96A3"/>
          </a:solidFill>
          <a:ln/>
        </p:spPr>
      </p:sp>
      <p:pic>
        <p:nvPicPr>
          <p:cNvPr id="19" name="img-f_raise-21" descr="천야검을 들어 올린 김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99598"/>
            <a:ext cx="4736592" cy="2635844"/>
          </a:xfrm>
          <a:prstGeom prst="rect">
            <a:avLst/>
          </a:prstGeom>
        </p:spPr>
      </p:pic>
      <p:sp>
        <p:nvSpPr>
          <p:cNvPr id="20" name="text-22"/>
          <p:cNvSpPr txBox="1"/>
          <p:nvPr/>
        </p:nvSpPr>
        <p:spPr>
          <a:xfrm>
            <a:off x="6812280" y="444517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티저 S#10  천야검을 들어 올린 김운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23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24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기획의도: 한국형 역사 무협</a:t>
            </a:r>
            <a:endParaRPr lang="en-US" sz="3000" dirty="0"/>
          </a:p>
        </p:txBody>
      </p:sp>
      <p:sp>
        <p:nvSpPr>
          <p:cNvPr id="5" name="rect-25"/>
          <p:cNvSpPr/>
          <p:nvPr/>
        </p:nvSpPr>
        <p:spPr>
          <a:xfrm>
            <a:off x="640080" y="1691640"/>
            <a:ext cx="3547872" cy="3383280"/>
          </a:xfrm>
          <a:prstGeom prst="rect">
            <a:avLst/>
          </a:prstGeom>
          <a:solidFill>
            <a:srgbClr val="1A2230">
              <a:alpha val="80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6" name="text-26"/>
          <p:cNvSpPr txBox="1"/>
          <p:nvPr/>
        </p:nvSpPr>
        <p:spPr>
          <a:xfrm>
            <a:off x="91440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-27"/>
          <p:cNvSpPr txBox="1"/>
          <p:nvPr/>
        </p:nvSpPr>
        <p:spPr>
          <a:xfrm>
            <a:off x="91440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대체역사 설정</a:t>
            </a:r>
            <a:endParaRPr lang="en-US" sz="2000" dirty="0"/>
          </a:p>
        </p:txBody>
      </p:sp>
      <p:sp>
        <p:nvSpPr>
          <p:cNvPr id="8" name="text-28"/>
          <p:cNvSpPr txBox="1"/>
          <p:nvPr/>
        </p:nvSpPr>
        <p:spPr>
          <a:xfrm>
            <a:off x="914400" y="31546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삼국시대 실제 역사에 무협적 상상력 결합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한강 패권을 전쟁 대신 삼국무술대회로 결정</a:t>
            </a:r>
            <a:endParaRPr lang="en-US" sz="1250" dirty="0"/>
          </a:p>
        </p:txBody>
      </p:sp>
      <p:sp>
        <p:nvSpPr>
          <p:cNvPr id="9" name="rect-29"/>
          <p:cNvSpPr/>
          <p:nvPr/>
        </p:nvSpPr>
        <p:spPr>
          <a:xfrm>
            <a:off x="4352544" y="1691640"/>
            <a:ext cx="3547872" cy="3383280"/>
          </a:xfrm>
          <a:prstGeom prst="rect">
            <a:avLst/>
          </a:prstGeom>
          <a:solidFill>
            <a:srgbClr val="1A2230">
              <a:alpha val="80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0" name="text-30"/>
          <p:cNvSpPr txBox="1"/>
          <p:nvPr/>
        </p:nvSpPr>
        <p:spPr>
          <a:xfrm>
            <a:off x="4626864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-31"/>
          <p:cNvSpPr txBox="1"/>
          <p:nvPr/>
        </p:nvSpPr>
        <p:spPr>
          <a:xfrm>
            <a:off x="4626864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인물의 선택</a:t>
            </a:r>
            <a:endParaRPr lang="en-US" sz="2000" dirty="0"/>
          </a:p>
        </p:txBody>
      </p:sp>
      <p:sp>
        <p:nvSpPr>
          <p:cNvPr id="12" name="text-32"/>
          <p:cNvSpPr txBox="1"/>
          <p:nvPr/>
        </p:nvSpPr>
        <p:spPr>
          <a:xfrm>
            <a:off x="4626864" y="31546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복수와 화해, 나라와 백성, 과거와 미래 사이에서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진정한 영웅의 선택을 그리는 서사</a:t>
            </a:r>
            <a:endParaRPr lang="en-US" sz="1250" dirty="0"/>
          </a:p>
        </p:txBody>
      </p:sp>
      <p:sp>
        <p:nvSpPr>
          <p:cNvPr id="13" name="rect-33"/>
          <p:cNvSpPr/>
          <p:nvPr/>
        </p:nvSpPr>
        <p:spPr>
          <a:xfrm>
            <a:off x="8065008" y="1691640"/>
            <a:ext cx="3547872" cy="3383280"/>
          </a:xfrm>
          <a:prstGeom prst="rect">
            <a:avLst/>
          </a:prstGeom>
          <a:solidFill>
            <a:srgbClr val="1A2230">
              <a:alpha val="80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4" name="text-34"/>
          <p:cNvSpPr txBox="1"/>
          <p:nvPr/>
        </p:nvSpPr>
        <p:spPr>
          <a:xfrm>
            <a:off x="8339328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-35"/>
          <p:cNvSpPr txBox="1"/>
          <p:nvPr/>
        </p:nvSpPr>
        <p:spPr>
          <a:xfrm>
            <a:off x="8339328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확장 세계관</a:t>
            </a:r>
            <a:endParaRPr lang="en-US" sz="2000" dirty="0"/>
          </a:p>
        </p:txBody>
      </p:sp>
      <p:sp>
        <p:nvSpPr>
          <p:cNvPr id="16" name="text-36"/>
          <p:cNvSpPr txBox="1"/>
          <p:nvPr/>
        </p:nvSpPr>
        <p:spPr>
          <a:xfrm>
            <a:off x="8339328" y="31546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개성 있는 인물 · 무공 · 삼국의 대립과 연대 기반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웹소설 · 웹툰 · 애니메이션 확장 가능한 세계관 구축</a:t>
            </a:r>
            <a:endParaRPr lang="en-US" sz="1250" dirty="0"/>
          </a:p>
        </p:txBody>
      </p:sp>
      <p:sp>
        <p:nvSpPr>
          <p:cNvPr id="17" name="text-37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장르: 무협 웹소설 · 웹툰 · 극장판 2D 애니메이션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38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39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  601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세계관: 한강을 둘러싼 삼국</a:t>
            </a:r>
            <a:endParaRPr lang="en-US" sz="3000" dirty="0"/>
          </a:p>
        </p:txBody>
      </p:sp>
      <p:sp>
        <p:nvSpPr>
          <p:cNvPr id="5" name="border-40"/>
          <p:cNvSpPr/>
          <p:nvPr/>
        </p:nvSpPr>
        <p:spPr>
          <a:xfrm>
            <a:off x="624078" y="1618488"/>
            <a:ext cx="4969764" cy="2798064"/>
          </a:xfrm>
          <a:prstGeom prst="rect">
            <a:avLst/>
          </a:prstGeom>
          <a:solidFill>
            <a:srgbClr val="8E96A3"/>
          </a:solidFill>
          <a:ln/>
        </p:spPr>
      </p:sp>
      <p:pic>
        <p:nvPicPr>
          <p:cNvPr id="6" name="img-f_flag-41" descr="고구려 군기와 한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1645920"/>
            <a:ext cx="4914900" cy="2743200"/>
          </a:xfrm>
          <a:prstGeom prst="rect">
            <a:avLst/>
          </a:prstGeom>
        </p:spPr>
      </p:pic>
      <p:sp>
        <p:nvSpPr>
          <p:cNvPr id="7" name="text-42"/>
          <p:cNvSpPr txBox="1"/>
          <p:nvPr/>
        </p:nvSpPr>
        <p:spPr>
          <a:xfrm>
            <a:off x="651510" y="4498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티저 S#2  한강을 내려다보는 군기</a:t>
            </a:r>
            <a:endParaRPr lang="en-US" sz="1000" dirty="0"/>
          </a:p>
        </p:txBody>
      </p:sp>
      <p:sp>
        <p:nvSpPr>
          <p:cNvPr id="8" name="text-43"/>
          <p:cNvSpPr txBox="1"/>
          <p:nvPr/>
        </p:nvSpPr>
        <p:spPr>
          <a:xfrm>
            <a:off x="640080" y="4983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「한강을 차지하는 자가… 천하를 얻는다.」</a:t>
            </a:r>
            <a:endParaRPr lang="en-US" sz="1700" dirty="0"/>
          </a:p>
        </p:txBody>
      </p:sp>
      <p:sp>
        <p:nvSpPr>
          <p:cNvPr id="9" name="text-44"/>
          <p:cNvSpPr txBox="1"/>
          <p:nvPr/>
        </p:nvSpPr>
        <p:spPr>
          <a:xfrm>
            <a:off x="64008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티저 오프닝 내레이션</a:t>
            </a:r>
            <a:endParaRPr lang="en-US" sz="1000" dirty="0"/>
          </a:p>
        </p:txBody>
      </p:sp>
      <p:sp>
        <p:nvSpPr>
          <p:cNvPr id="10" name="rect-45"/>
          <p:cNvSpPr/>
          <p:nvPr/>
        </p:nvSpPr>
        <p:spPr>
          <a:xfrm>
            <a:off x="5897880" y="1645920"/>
            <a:ext cx="5653735" cy="841248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1" name="text-46"/>
          <p:cNvSpPr txBox="1"/>
          <p:nvPr/>
        </p:nvSpPr>
        <p:spPr>
          <a:xfrm>
            <a:off x="6172200" y="164592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고구려</a:t>
            </a:r>
            <a:endParaRPr lang="en-US" sz="2000" dirty="0"/>
          </a:p>
        </p:txBody>
      </p:sp>
      <p:sp>
        <p:nvSpPr>
          <p:cNvPr id="12" name="text-47"/>
          <p:cNvSpPr txBox="1"/>
          <p:nvPr/>
        </p:nvSpPr>
        <p:spPr>
          <a:xfrm>
            <a:off x="7498080" y="1773936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삼족오 군기</a:t>
            </a:r>
            <a:endParaRPr lang="en-US" sz="1200" dirty="0"/>
          </a:p>
        </p:txBody>
      </p:sp>
      <p:sp>
        <p:nvSpPr>
          <p:cNvPr id="13" name="text-48"/>
          <p:cNvSpPr txBox="1"/>
          <p:nvPr/>
        </p:nvSpPr>
        <p:spPr>
          <a:xfrm>
            <a:off x="7498080" y="2084832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최강의 권법가 연호개</a:t>
            </a:r>
            <a:endParaRPr lang="en-US" sz="1100" dirty="0"/>
          </a:p>
        </p:txBody>
      </p:sp>
      <p:sp>
        <p:nvSpPr>
          <p:cNvPr id="14" name="rect-49"/>
          <p:cNvSpPr/>
          <p:nvPr/>
        </p:nvSpPr>
        <p:spPr>
          <a:xfrm>
            <a:off x="5897880" y="2606040"/>
            <a:ext cx="5653735" cy="841248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5" name="text-50"/>
          <p:cNvSpPr txBox="1"/>
          <p:nvPr/>
        </p:nvSpPr>
        <p:spPr>
          <a:xfrm>
            <a:off x="6172200" y="260604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백제</a:t>
            </a:r>
            <a:endParaRPr lang="en-US" sz="2000" dirty="0"/>
          </a:p>
        </p:txBody>
      </p:sp>
      <p:sp>
        <p:nvSpPr>
          <p:cNvPr id="16" name="text-51"/>
          <p:cNvSpPr txBox="1"/>
          <p:nvPr/>
        </p:nvSpPr>
        <p:spPr>
          <a:xfrm>
            <a:off x="7498080" y="2734056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 군기</a:t>
            </a:r>
            <a:endParaRPr lang="en-US" sz="1200" dirty="0"/>
          </a:p>
        </p:txBody>
      </p:sp>
      <p:sp>
        <p:nvSpPr>
          <p:cNvPr id="17" name="text-52"/>
          <p:cNvSpPr txBox="1"/>
          <p:nvPr/>
        </p:nvSpPr>
        <p:spPr>
          <a:xfrm>
            <a:off x="7498080" y="3044952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최고의 여성 검객 부여설화</a:t>
            </a:r>
            <a:endParaRPr lang="en-US" sz="1100" dirty="0"/>
          </a:p>
        </p:txBody>
      </p:sp>
      <p:sp>
        <p:nvSpPr>
          <p:cNvPr id="18" name="rect-53"/>
          <p:cNvSpPr/>
          <p:nvPr/>
        </p:nvSpPr>
        <p:spPr>
          <a:xfrm>
            <a:off x="5897880" y="3566160"/>
            <a:ext cx="5653735" cy="841248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9" name="text-54"/>
          <p:cNvSpPr txBox="1"/>
          <p:nvPr/>
        </p:nvSpPr>
        <p:spPr>
          <a:xfrm>
            <a:off x="6172200" y="356616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신라</a:t>
            </a:r>
            <a:endParaRPr lang="en-US" sz="2000" dirty="0"/>
          </a:p>
        </p:txBody>
      </p:sp>
      <p:sp>
        <p:nvSpPr>
          <p:cNvPr id="20" name="text-55"/>
          <p:cNvSpPr txBox="1"/>
          <p:nvPr/>
        </p:nvSpPr>
        <p:spPr>
          <a:xfrm>
            <a:off x="7498080" y="3694176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뿔 달린 천마 군기</a:t>
            </a:r>
            <a:endParaRPr lang="en-US" sz="1200" dirty="0"/>
          </a:p>
        </p:txBody>
      </p:sp>
      <p:sp>
        <p:nvSpPr>
          <p:cNvPr id="21" name="text-56"/>
          <p:cNvSpPr txBox="1"/>
          <p:nvPr/>
        </p:nvSpPr>
        <p:spPr>
          <a:xfrm>
            <a:off x="7498080" y="4005072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화랑 김운 · 김유신</a:t>
            </a:r>
            <a:endParaRPr lang="en-US" sz="1100" dirty="0"/>
          </a:p>
        </p:txBody>
      </p:sp>
      <p:sp>
        <p:nvSpPr>
          <p:cNvPr id="22" name="rect-57"/>
          <p:cNvSpPr/>
          <p:nvPr/>
        </p:nvSpPr>
        <p:spPr>
          <a:xfrm>
            <a:off x="5897880" y="4572000"/>
            <a:ext cx="5653735" cy="1371600"/>
          </a:xfrm>
          <a:prstGeom prst="rect">
            <a:avLst/>
          </a:prstGeom>
          <a:solidFill>
            <a:srgbClr val="2A1614">
              <a:alpha val="90000"/>
            </a:srgbClr>
          </a:solidFill>
          <a:ln w="9525">
            <a:solidFill>
              <a:srgbClr val="5A2A24"/>
            </a:solidFill>
            <a:prstDash val="solid"/>
          </a:ln>
        </p:spPr>
      </p:sp>
      <p:sp>
        <p:nvSpPr>
          <p:cNvPr id="23" name="text-58"/>
          <p:cNvSpPr txBox="1"/>
          <p:nvPr/>
        </p:nvSpPr>
        <p:spPr>
          <a:xfrm>
            <a:off x="6172200" y="4681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삼국무신전</a:t>
            </a:r>
            <a:endParaRPr lang="en-US" sz="2000" dirty="0"/>
          </a:p>
        </p:txBody>
      </p:sp>
      <p:sp>
        <p:nvSpPr>
          <p:cNvPr id="24" name="text-59"/>
          <p:cNvSpPr txBox="1"/>
          <p:nvPr/>
        </p:nvSpPr>
        <p:spPr>
          <a:xfrm>
            <a:off x="6172200" y="5138928"/>
            <a:ext cx="5105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10년마다 삼국 대표 무인이 겨루는 대회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우승국이 한강 지배권 획득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60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61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티저 등장인물</a:t>
            </a:r>
            <a:endParaRPr lang="en-US" sz="3000" dirty="0"/>
          </a:p>
        </p:txBody>
      </p:sp>
      <p:sp>
        <p:nvSpPr>
          <p:cNvPr id="5" name="rect-62"/>
          <p:cNvSpPr/>
          <p:nvPr/>
        </p:nvSpPr>
        <p:spPr>
          <a:xfrm>
            <a:off x="640080" y="1645920"/>
            <a:ext cx="2395728" cy="457200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pic>
        <p:nvPicPr>
          <p:cNvPr id="6" name="img-c_김운-63" descr="c_김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2212848" cy="2212848"/>
          </a:xfrm>
          <a:prstGeom prst="rect">
            <a:avLst/>
          </a:prstGeom>
        </p:spPr>
      </p:pic>
      <p:sp>
        <p:nvSpPr>
          <p:cNvPr id="7" name="text-64"/>
          <p:cNvSpPr txBox="1"/>
          <p:nvPr/>
        </p:nvSpPr>
        <p:spPr>
          <a:xfrm>
            <a:off x="822960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김운</a:t>
            </a:r>
            <a:endParaRPr lang="en-US" sz="2000" dirty="0"/>
          </a:p>
        </p:txBody>
      </p:sp>
      <p:sp>
        <p:nvSpPr>
          <p:cNvPr id="8" name="text-65"/>
          <p:cNvSpPr txBox="1"/>
          <p:nvPr/>
        </p:nvSpPr>
        <p:spPr>
          <a:xfrm>
            <a:off x="1920240" y="406908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</a:t>
            </a:r>
            <a:endParaRPr lang="en-US" sz="1100" dirty="0"/>
          </a:p>
        </p:txBody>
      </p:sp>
      <p:sp>
        <p:nvSpPr>
          <p:cNvPr id="9" name="text-66"/>
          <p:cNvSpPr txBox="1"/>
          <p:nvPr/>
        </p:nvSpPr>
        <p:spPr>
          <a:xfrm>
            <a:off x="822960" y="46177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가야 무인 가문의 아들, 신라 화랑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의리와 정의감, 냉철한 판단력</a:t>
            </a:r>
            <a:endParaRPr lang="en-US" sz="1100" dirty="0"/>
          </a:p>
        </p:txBody>
      </p:sp>
      <p:sp>
        <p:nvSpPr>
          <p:cNvPr id="10" name="rect-67"/>
          <p:cNvSpPr/>
          <p:nvPr/>
        </p:nvSpPr>
        <p:spPr>
          <a:xfrm>
            <a:off x="3182112" y="1645920"/>
            <a:ext cx="2395728" cy="457200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pic>
        <p:nvPicPr>
          <p:cNvPr id="11" name="img-c_김진백-68" descr="c_김진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1737360"/>
            <a:ext cx="2212848" cy="2212848"/>
          </a:xfrm>
          <a:prstGeom prst="rect">
            <a:avLst/>
          </a:prstGeom>
        </p:spPr>
      </p:pic>
      <p:sp>
        <p:nvSpPr>
          <p:cNvPr id="12" name="text-69"/>
          <p:cNvSpPr txBox="1"/>
          <p:nvPr/>
        </p:nvSpPr>
        <p:spPr>
          <a:xfrm>
            <a:off x="3364992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김진백</a:t>
            </a:r>
            <a:endParaRPr lang="en-US" sz="2000" dirty="0"/>
          </a:p>
        </p:txBody>
      </p:sp>
      <p:sp>
        <p:nvSpPr>
          <p:cNvPr id="13" name="text-70"/>
          <p:cNvSpPr txBox="1"/>
          <p:nvPr/>
        </p:nvSpPr>
        <p:spPr>
          <a:xfrm>
            <a:off x="4462272" y="406908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</a:t>
            </a:r>
            <a:endParaRPr lang="en-US" sz="1100" dirty="0"/>
          </a:p>
        </p:txBody>
      </p:sp>
      <p:sp>
        <p:nvSpPr>
          <p:cNvPr id="14" name="text-71"/>
          <p:cNvSpPr txBox="1"/>
          <p:nvPr/>
        </p:nvSpPr>
        <p:spPr>
          <a:xfrm>
            <a:off x="3364992" y="46177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문무를 겸비한 인재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천야검의 비밀을 아는 마지막 인물</a:t>
            </a:r>
            <a:endParaRPr lang="en-US" sz="1100" dirty="0"/>
          </a:p>
        </p:txBody>
      </p:sp>
      <p:sp>
        <p:nvSpPr>
          <p:cNvPr id="15" name="rect-72"/>
          <p:cNvSpPr/>
          <p:nvPr/>
        </p:nvSpPr>
        <p:spPr>
          <a:xfrm>
            <a:off x="5724144" y="1645920"/>
            <a:ext cx="2395728" cy="457200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pic>
        <p:nvPicPr>
          <p:cNvPr id="16" name="img-c_설연화-73" descr="c_설연화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737360"/>
            <a:ext cx="2212848" cy="2212848"/>
          </a:xfrm>
          <a:prstGeom prst="rect">
            <a:avLst/>
          </a:prstGeom>
        </p:spPr>
      </p:pic>
      <p:sp>
        <p:nvSpPr>
          <p:cNvPr id="17" name="text-74"/>
          <p:cNvSpPr txBox="1"/>
          <p:nvPr/>
        </p:nvSpPr>
        <p:spPr>
          <a:xfrm>
            <a:off x="5907024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설연화</a:t>
            </a:r>
            <a:endParaRPr lang="en-US" sz="2000" dirty="0"/>
          </a:p>
        </p:txBody>
      </p:sp>
      <p:sp>
        <p:nvSpPr>
          <p:cNvPr id="18" name="text-75"/>
          <p:cNvSpPr txBox="1"/>
          <p:nvPr/>
        </p:nvSpPr>
        <p:spPr>
          <a:xfrm>
            <a:off x="7004304" y="406908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endParaRPr lang="en-US" sz="1100" dirty="0"/>
          </a:p>
        </p:txBody>
      </p:sp>
      <p:sp>
        <p:nvSpPr>
          <p:cNvPr id="19" name="text-76"/>
          <p:cNvSpPr txBox="1"/>
          <p:nvPr/>
        </p:nvSpPr>
        <p:spPr>
          <a:xfrm>
            <a:off x="5907024" y="46177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신라 귀족 출신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김운을 지키는 강인한 어머니</a:t>
            </a:r>
            <a:endParaRPr lang="en-US" sz="1100" dirty="0"/>
          </a:p>
        </p:txBody>
      </p:sp>
      <p:sp>
        <p:nvSpPr>
          <p:cNvPr id="20" name="rect-77"/>
          <p:cNvSpPr/>
          <p:nvPr/>
        </p:nvSpPr>
        <p:spPr>
          <a:xfrm>
            <a:off x="8357616" y="1645920"/>
            <a:ext cx="3193999" cy="457200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21" name="text-78"/>
          <p:cNvSpPr txBox="1"/>
          <p:nvPr/>
        </p:nvSpPr>
        <p:spPr>
          <a:xfrm>
            <a:off x="8631936" y="1810512"/>
            <a:ext cx="26453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티저 속 운명의 인물들</a:t>
            </a:r>
            <a:endParaRPr lang="en-US" sz="1300" dirty="0"/>
          </a:p>
        </p:txBody>
      </p:sp>
      <p:sp>
        <p:nvSpPr>
          <p:cNvPr id="22" name="text-79"/>
          <p:cNvSpPr txBox="1"/>
          <p:nvPr/>
        </p:nvSpPr>
        <p:spPr>
          <a:xfrm>
            <a:off x="8631936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무진</a:t>
            </a:r>
            <a:endParaRPr lang="en-US" sz="1500" dirty="0"/>
          </a:p>
        </p:txBody>
      </p:sp>
      <p:sp>
        <p:nvSpPr>
          <p:cNvPr id="23" name="text-80"/>
          <p:cNvSpPr txBox="1"/>
          <p:nvPr/>
        </p:nvSpPr>
        <p:spPr>
          <a:xfrm>
            <a:off x="9866376" y="2286000"/>
            <a:ext cx="1456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은둔 고수, 천야검의 주인</a:t>
            </a:r>
            <a:endParaRPr lang="en-US" sz="1100" dirty="0"/>
          </a:p>
        </p:txBody>
      </p:sp>
      <p:sp>
        <p:nvSpPr>
          <p:cNvPr id="24" name="text-81"/>
          <p:cNvSpPr txBox="1"/>
          <p:nvPr/>
        </p:nvSpPr>
        <p:spPr>
          <a:xfrm>
            <a:off x="8631936" y="29077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김유신</a:t>
            </a:r>
            <a:endParaRPr lang="en-US" sz="1500" dirty="0"/>
          </a:p>
        </p:txBody>
      </p:sp>
      <p:sp>
        <p:nvSpPr>
          <p:cNvPr id="25" name="text-82"/>
          <p:cNvSpPr txBox="1"/>
          <p:nvPr/>
        </p:nvSpPr>
        <p:spPr>
          <a:xfrm>
            <a:off x="9866376" y="2907792"/>
            <a:ext cx="1456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의형제, 문무 겸비의 전략가</a:t>
            </a:r>
            <a:endParaRPr lang="en-US" sz="1100" dirty="0"/>
          </a:p>
        </p:txBody>
      </p:sp>
      <p:sp>
        <p:nvSpPr>
          <p:cNvPr id="26" name="text-83"/>
          <p:cNvSpPr txBox="1"/>
          <p:nvPr/>
        </p:nvSpPr>
        <p:spPr>
          <a:xfrm>
            <a:off x="8631936" y="35295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부여설화</a:t>
            </a:r>
            <a:endParaRPr lang="en-US" sz="1500" dirty="0"/>
          </a:p>
        </p:txBody>
      </p:sp>
      <p:sp>
        <p:nvSpPr>
          <p:cNvPr id="27" name="text-84"/>
          <p:cNvSpPr txBox="1"/>
          <p:nvPr/>
        </p:nvSpPr>
        <p:spPr>
          <a:xfrm>
            <a:off x="9866376" y="3529584"/>
            <a:ext cx="1456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백제 최고의 검객</a:t>
            </a:r>
            <a:endParaRPr lang="en-US" sz="1100" dirty="0"/>
          </a:p>
        </p:txBody>
      </p:sp>
      <p:sp>
        <p:nvSpPr>
          <p:cNvPr id="28" name="text-85"/>
          <p:cNvSpPr txBox="1"/>
          <p:nvPr/>
        </p:nvSpPr>
        <p:spPr>
          <a:xfrm>
            <a:off x="8631936" y="415137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연호개</a:t>
            </a:r>
            <a:endParaRPr lang="en-US" sz="1500" dirty="0"/>
          </a:p>
        </p:txBody>
      </p:sp>
      <p:sp>
        <p:nvSpPr>
          <p:cNvPr id="29" name="text-86"/>
          <p:cNvSpPr txBox="1"/>
          <p:nvPr/>
        </p:nvSpPr>
        <p:spPr>
          <a:xfrm>
            <a:off x="9866376" y="4151376"/>
            <a:ext cx="1456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고구려 최강의 권법가</a:t>
            </a:r>
            <a:endParaRPr lang="en-US" sz="1100" dirty="0"/>
          </a:p>
        </p:txBody>
      </p:sp>
      <p:sp>
        <p:nvSpPr>
          <p:cNvPr id="30" name="text-87"/>
          <p:cNvSpPr txBox="1"/>
          <p:nvPr/>
        </p:nvSpPr>
        <p:spPr>
          <a:xfrm>
            <a:off x="8631936" y="4773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소명공주</a:t>
            </a:r>
            <a:endParaRPr lang="en-US" sz="1500" dirty="0"/>
          </a:p>
        </p:txBody>
      </p:sp>
      <p:sp>
        <p:nvSpPr>
          <p:cNvPr id="31" name="text-88"/>
          <p:cNvSpPr txBox="1"/>
          <p:nvPr/>
        </p:nvSpPr>
        <p:spPr>
          <a:xfrm>
            <a:off x="9866376" y="4773168"/>
            <a:ext cx="1456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신라 왕실, 김운을 사랑하는 여인</a:t>
            </a:r>
            <a:endParaRPr lang="en-US" sz="1100" dirty="0"/>
          </a:p>
        </p:txBody>
      </p:sp>
      <p:sp>
        <p:nvSpPr>
          <p:cNvPr id="32" name="text-89"/>
          <p:cNvSpPr txBox="1"/>
          <p:nvPr/>
        </p:nvSpPr>
        <p:spPr>
          <a:xfrm>
            <a:off x="8631936" y="5394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살수</a:t>
            </a:r>
            <a:endParaRPr lang="en-US" sz="1500" dirty="0"/>
          </a:p>
        </p:txBody>
      </p:sp>
      <p:sp>
        <p:nvSpPr>
          <p:cNvPr id="33" name="text-90"/>
          <p:cNvSpPr txBox="1"/>
          <p:nvPr/>
        </p:nvSpPr>
        <p:spPr>
          <a:xfrm>
            <a:off x="9866376" y="5394960"/>
            <a:ext cx="1456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정체를 감춘 암살 조직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91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9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CAST  15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세계관 인물 설계: 캐릭터 시트 15인</a:t>
            </a:r>
            <a:endParaRPr lang="en-US" sz="3000" dirty="0"/>
          </a:p>
        </p:txBody>
      </p:sp>
      <p:sp>
        <p:nvSpPr>
          <p:cNvPr id="5" name="rect-93"/>
          <p:cNvSpPr/>
          <p:nvPr/>
        </p:nvSpPr>
        <p:spPr>
          <a:xfrm>
            <a:off x="640080" y="1691640"/>
            <a:ext cx="2670048" cy="420624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6" name="text-94"/>
          <p:cNvSpPr txBox="1"/>
          <p:nvPr/>
        </p:nvSpPr>
        <p:spPr>
          <a:xfrm>
            <a:off x="914400" y="18745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5DAE1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가야 · 가족</a:t>
            </a:r>
            <a:endParaRPr lang="en-US" sz="1800" dirty="0"/>
          </a:p>
        </p:txBody>
      </p:sp>
      <p:sp>
        <p:nvSpPr>
          <p:cNvPr id="7" name="names-95"/>
          <p:cNvSpPr txBox="1"/>
          <p:nvPr/>
        </p:nvSpPr>
        <p:spPr>
          <a:xfrm>
            <a:off x="914400" y="2468880"/>
            <a:ext cx="21214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김운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김진백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설연화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무진</a:t>
            </a:r>
            <a:endParaRPr lang="en-US" sz="1400" dirty="0"/>
          </a:p>
        </p:txBody>
      </p:sp>
      <p:sp>
        <p:nvSpPr>
          <p:cNvPr id="8" name="rect-96"/>
          <p:cNvSpPr/>
          <p:nvPr/>
        </p:nvSpPr>
        <p:spPr>
          <a:xfrm>
            <a:off x="3410712" y="1691640"/>
            <a:ext cx="2670048" cy="420624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9" name="text-97"/>
          <p:cNvSpPr txBox="1"/>
          <p:nvPr/>
        </p:nvSpPr>
        <p:spPr>
          <a:xfrm>
            <a:off x="3685032" y="18745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45C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신라 · 화랑</a:t>
            </a:r>
            <a:endParaRPr lang="en-US" sz="1800" dirty="0"/>
          </a:p>
        </p:txBody>
      </p:sp>
      <p:sp>
        <p:nvSpPr>
          <p:cNvPr id="10" name="names-98"/>
          <p:cNvSpPr txBox="1"/>
          <p:nvPr/>
        </p:nvSpPr>
        <p:spPr>
          <a:xfrm>
            <a:off x="3685032" y="2468880"/>
            <a:ext cx="21214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김유신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비형랑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석도윤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모가대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소명공주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천관녀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진평왕</a:t>
            </a:r>
            <a:endParaRPr lang="en-US" sz="1400" dirty="0"/>
          </a:p>
        </p:txBody>
      </p:sp>
      <p:sp>
        <p:nvSpPr>
          <p:cNvPr id="11" name="rect-99"/>
          <p:cNvSpPr/>
          <p:nvPr/>
        </p:nvSpPr>
        <p:spPr>
          <a:xfrm>
            <a:off x="6181344" y="1691640"/>
            <a:ext cx="2670048" cy="420624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2" name="text-100"/>
          <p:cNvSpPr txBox="1"/>
          <p:nvPr/>
        </p:nvSpPr>
        <p:spPr>
          <a:xfrm>
            <a:off x="6455664" y="18745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96A3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삼국 라이벌</a:t>
            </a:r>
            <a:endParaRPr lang="en-US" sz="1800" dirty="0"/>
          </a:p>
        </p:txBody>
      </p:sp>
      <p:sp>
        <p:nvSpPr>
          <p:cNvPr id="13" name="names-101"/>
          <p:cNvSpPr txBox="1"/>
          <p:nvPr/>
        </p:nvSpPr>
        <p:spPr>
          <a:xfrm>
            <a:off x="6455664" y="2468880"/>
            <a:ext cx="21214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부여설화 (백제)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연호개 (고구려)</a:t>
            </a:r>
            <a:endParaRPr lang="en-US" sz="1400" dirty="0"/>
          </a:p>
        </p:txBody>
      </p:sp>
      <p:sp>
        <p:nvSpPr>
          <p:cNvPr id="14" name="rect-102"/>
          <p:cNvSpPr/>
          <p:nvPr/>
        </p:nvSpPr>
        <p:spPr>
          <a:xfrm>
            <a:off x="8951976" y="1691640"/>
            <a:ext cx="2670048" cy="420624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5" name="text-103"/>
          <p:cNvSpPr txBox="1"/>
          <p:nvPr/>
        </p:nvSpPr>
        <p:spPr>
          <a:xfrm>
            <a:off x="9226296" y="18745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흑막 · 암살</a:t>
            </a:r>
            <a:endParaRPr lang="en-US" sz="1800" dirty="0"/>
          </a:p>
        </p:txBody>
      </p:sp>
      <p:sp>
        <p:nvSpPr>
          <p:cNvPr id="16" name="names-104"/>
          <p:cNvSpPr txBox="1"/>
          <p:nvPr/>
        </p:nvSpPr>
        <p:spPr>
          <a:xfrm>
            <a:off x="9226296" y="2468880"/>
            <a:ext cx="21214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사마령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살수</a:t>
            </a:r>
            <a:endParaRPr lang="en-US" sz="1400" dirty="0"/>
          </a:p>
        </p:txBody>
      </p:sp>
      <p:sp>
        <p:nvSpPr>
          <p:cNvPr id="17" name="text-105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웹소설 · 웹툰 확장을 전제로 한 인물 관계와 소속 설계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106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107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STRUCTURE  00:00 - 01:30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티저 구성: 11씬 90초</a:t>
            </a:r>
            <a:endParaRPr lang="en-US" sz="3000" dirty="0"/>
          </a:p>
        </p:txBody>
      </p:sp>
      <p:sp>
        <p:nvSpPr>
          <p:cNvPr id="5" name="rect-108"/>
          <p:cNvSpPr/>
          <p:nvPr/>
        </p:nvSpPr>
        <p:spPr>
          <a:xfrm>
            <a:off x="653796" y="1828800"/>
            <a:ext cx="454889" cy="1463040"/>
          </a:xfrm>
          <a:prstGeom prst="rect">
            <a:avLst/>
          </a:prstGeom>
          <a:solidFill>
            <a:srgbClr val="243042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6" name="text-109"/>
          <p:cNvSpPr txBox="1"/>
          <p:nvPr/>
        </p:nvSpPr>
        <p:spPr>
          <a:xfrm>
            <a:off x="685800" y="1920240"/>
            <a:ext cx="3908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</a:t>
            </a:r>
            <a:endParaRPr lang="en-US" sz="1000" dirty="0"/>
          </a:p>
        </p:txBody>
      </p:sp>
      <p:sp>
        <p:nvSpPr>
          <p:cNvPr id="7" name="text-110"/>
          <p:cNvSpPr txBox="1"/>
          <p:nvPr/>
        </p:nvSpPr>
        <p:spPr>
          <a:xfrm>
            <a:off x="685800" y="2240280"/>
            <a:ext cx="3908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601년</a:t>
            </a:r>
            <a:endParaRPr lang="en-US" sz="950" dirty="0"/>
          </a:p>
        </p:txBody>
      </p:sp>
      <p:sp>
        <p:nvSpPr>
          <p:cNvPr id="8" name="text-111"/>
          <p:cNvSpPr txBox="1"/>
          <p:nvPr/>
        </p:nvSpPr>
        <p:spPr>
          <a:xfrm>
            <a:off x="685800" y="2926080"/>
            <a:ext cx="3908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4초</a:t>
            </a:r>
            <a:endParaRPr lang="en-US" sz="950" dirty="0"/>
          </a:p>
        </p:txBody>
      </p:sp>
      <p:sp>
        <p:nvSpPr>
          <p:cNvPr id="9" name="rect-112"/>
          <p:cNvSpPr/>
          <p:nvPr/>
        </p:nvSpPr>
        <p:spPr>
          <a:xfrm>
            <a:off x="1136117" y="1828800"/>
            <a:ext cx="816630" cy="1463040"/>
          </a:xfrm>
          <a:prstGeom prst="rect">
            <a:avLst/>
          </a:prstGeom>
          <a:solidFill>
            <a:srgbClr val="243042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0" name="text-113"/>
          <p:cNvSpPr txBox="1"/>
          <p:nvPr/>
        </p:nvSpPr>
        <p:spPr>
          <a:xfrm>
            <a:off x="1168121" y="1920240"/>
            <a:ext cx="752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</a:t>
            </a:r>
            <a:endParaRPr lang="en-US" sz="1000" dirty="0"/>
          </a:p>
        </p:txBody>
      </p:sp>
      <p:sp>
        <p:nvSpPr>
          <p:cNvPr id="11" name="text-114"/>
          <p:cNvSpPr txBox="1"/>
          <p:nvPr/>
        </p:nvSpPr>
        <p:spPr>
          <a:xfrm>
            <a:off x="1168121" y="2240280"/>
            <a:ext cx="7526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한강</a:t>
            </a:r>
            <a:endParaRPr lang="en-US" sz="950" dirty="0"/>
          </a:p>
        </p:txBody>
      </p:sp>
      <p:sp>
        <p:nvSpPr>
          <p:cNvPr id="12" name="text-115"/>
          <p:cNvSpPr txBox="1"/>
          <p:nvPr/>
        </p:nvSpPr>
        <p:spPr>
          <a:xfrm>
            <a:off x="1168121" y="2926080"/>
            <a:ext cx="752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7초</a:t>
            </a:r>
            <a:endParaRPr lang="en-US" sz="950" dirty="0"/>
          </a:p>
        </p:txBody>
      </p:sp>
      <p:sp>
        <p:nvSpPr>
          <p:cNvPr id="13" name="rect-116"/>
          <p:cNvSpPr/>
          <p:nvPr/>
        </p:nvSpPr>
        <p:spPr>
          <a:xfrm>
            <a:off x="1980178" y="1828800"/>
            <a:ext cx="696049" cy="1463040"/>
          </a:xfrm>
          <a:prstGeom prst="rect">
            <a:avLst/>
          </a:prstGeom>
          <a:solidFill>
            <a:srgbClr val="243042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4" name="text-117"/>
          <p:cNvSpPr txBox="1"/>
          <p:nvPr/>
        </p:nvSpPr>
        <p:spPr>
          <a:xfrm>
            <a:off x="2012182" y="1920240"/>
            <a:ext cx="6320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</a:t>
            </a:r>
            <a:endParaRPr lang="en-US" sz="1000" dirty="0"/>
          </a:p>
        </p:txBody>
      </p:sp>
      <p:sp>
        <p:nvSpPr>
          <p:cNvPr id="15" name="text-118"/>
          <p:cNvSpPr txBox="1"/>
          <p:nvPr/>
        </p:nvSpPr>
        <p:spPr>
          <a:xfrm>
            <a:off x="2012182" y="2240280"/>
            <a:ext cx="63204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삼국 대치</a:t>
            </a:r>
            <a:endParaRPr lang="en-US" sz="950" dirty="0"/>
          </a:p>
        </p:txBody>
      </p:sp>
      <p:sp>
        <p:nvSpPr>
          <p:cNvPr id="16" name="text-119"/>
          <p:cNvSpPr txBox="1"/>
          <p:nvPr/>
        </p:nvSpPr>
        <p:spPr>
          <a:xfrm>
            <a:off x="2012182" y="2926080"/>
            <a:ext cx="6320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6초</a:t>
            </a:r>
            <a:endParaRPr lang="en-US" sz="950" dirty="0"/>
          </a:p>
        </p:txBody>
      </p:sp>
      <p:sp>
        <p:nvSpPr>
          <p:cNvPr id="17" name="rect-120"/>
          <p:cNvSpPr/>
          <p:nvPr/>
        </p:nvSpPr>
        <p:spPr>
          <a:xfrm>
            <a:off x="2703660" y="1828800"/>
            <a:ext cx="1057790" cy="1463040"/>
          </a:xfrm>
          <a:prstGeom prst="rect">
            <a:avLst/>
          </a:prstGeom>
          <a:solidFill>
            <a:srgbClr val="243042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8" name="text-121"/>
          <p:cNvSpPr txBox="1"/>
          <p:nvPr/>
        </p:nvSpPr>
        <p:spPr>
          <a:xfrm>
            <a:off x="2735664" y="1920240"/>
            <a:ext cx="993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</a:t>
            </a:r>
            <a:endParaRPr lang="en-US" sz="1000" dirty="0"/>
          </a:p>
        </p:txBody>
      </p:sp>
      <p:sp>
        <p:nvSpPr>
          <p:cNvPr id="19" name="text-122"/>
          <p:cNvSpPr txBox="1"/>
          <p:nvPr/>
        </p:nvSpPr>
        <p:spPr>
          <a:xfrm>
            <a:off x="2735664" y="2240280"/>
            <a:ext cx="9937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삼국무신전</a:t>
            </a:r>
            <a:endParaRPr lang="en-US" sz="950" dirty="0"/>
          </a:p>
        </p:txBody>
      </p:sp>
      <p:sp>
        <p:nvSpPr>
          <p:cNvPr id="20" name="text-123"/>
          <p:cNvSpPr txBox="1"/>
          <p:nvPr/>
        </p:nvSpPr>
        <p:spPr>
          <a:xfrm>
            <a:off x="2735664" y="2926080"/>
            <a:ext cx="993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9초</a:t>
            </a:r>
            <a:endParaRPr lang="en-US" sz="950" dirty="0"/>
          </a:p>
        </p:txBody>
      </p:sp>
      <p:sp>
        <p:nvSpPr>
          <p:cNvPr id="21" name="rect-124"/>
          <p:cNvSpPr/>
          <p:nvPr/>
        </p:nvSpPr>
        <p:spPr>
          <a:xfrm>
            <a:off x="3788882" y="1828800"/>
            <a:ext cx="1419531" cy="1463040"/>
          </a:xfrm>
          <a:prstGeom prst="rect">
            <a:avLst/>
          </a:prstGeom>
          <a:solidFill>
            <a:srgbClr val="6A4A2A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22" name="text-125"/>
          <p:cNvSpPr txBox="1"/>
          <p:nvPr/>
        </p:nvSpPr>
        <p:spPr>
          <a:xfrm>
            <a:off x="3820886" y="1920240"/>
            <a:ext cx="1355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S#4</a:t>
            </a:r>
            <a:endParaRPr lang="en-US" sz="1000" dirty="0"/>
          </a:p>
        </p:txBody>
      </p:sp>
      <p:sp>
        <p:nvSpPr>
          <p:cNvPr id="23" name="text-126"/>
          <p:cNvSpPr txBox="1"/>
          <p:nvPr/>
        </p:nvSpPr>
        <p:spPr>
          <a:xfrm>
            <a:off x="3820886" y="2240280"/>
            <a:ext cx="13555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어린 시절</a:t>
            </a:r>
            <a:endParaRPr lang="en-US" sz="950" dirty="0"/>
          </a:p>
        </p:txBody>
      </p:sp>
      <p:sp>
        <p:nvSpPr>
          <p:cNvPr id="24" name="text-127"/>
          <p:cNvSpPr txBox="1"/>
          <p:nvPr/>
        </p:nvSpPr>
        <p:spPr>
          <a:xfrm>
            <a:off x="3820886" y="2926080"/>
            <a:ext cx="1355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12초</a:t>
            </a:r>
            <a:endParaRPr lang="en-US" sz="950" dirty="0"/>
          </a:p>
        </p:txBody>
      </p:sp>
      <p:sp>
        <p:nvSpPr>
          <p:cNvPr id="25" name="rect-128"/>
          <p:cNvSpPr/>
          <p:nvPr/>
        </p:nvSpPr>
        <p:spPr>
          <a:xfrm>
            <a:off x="5235844" y="1828800"/>
            <a:ext cx="1178370" cy="1463040"/>
          </a:xfrm>
          <a:prstGeom prst="rect">
            <a:avLst/>
          </a:prstGeom>
          <a:solidFill>
            <a:srgbClr val="6E2420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26" name="text-129"/>
          <p:cNvSpPr txBox="1"/>
          <p:nvPr/>
        </p:nvSpPr>
        <p:spPr>
          <a:xfrm>
            <a:off x="5267848" y="1920240"/>
            <a:ext cx="111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S#5</a:t>
            </a:r>
            <a:endParaRPr lang="en-US" sz="1000" dirty="0"/>
          </a:p>
        </p:txBody>
      </p:sp>
      <p:sp>
        <p:nvSpPr>
          <p:cNvPr id="27" name="text-130"/>
          <p:cNvSpPr txBox="1"/>
          <p:nvPr/>
        </p:nvSpPr>
        <p:spPr>
          <a:xfrm>
            <a:off x="5267848" y="2240280"/>
            <a:ext cx="11143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운명의 밤</a:t>
            </a:r>
            <a:endParaRPr lang="en-US" sz="950" dirty="0"/>
          </a:p>
        </p:txBody>
      </p:sp>
      <p:sp>
        <p:nvSpPr>
          <p:cNvPr id="28" name="text-131"/>
          <p:cNvSpPr txBox="1"/>
          <p:nvPr/>
        </p:nvSpPr>
        <p:spPr>
          <a:xfrm>
            <a:off x="5267848" y="2926080"/>
            <a:ext cx="111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10초</a:t>
            </a:r>
            <a:endParaRPr lang="en-US" sz="950" dirty="0"/>
          </a:p>
        </p:txBody>
      </p:sp>
      <p:sp>
        <p:nvSpPr>
          <p:cNvPr id="29" name="rect-132"/>
          <p:cNvSpPr/>
          <p:nvPr/>
        </p:nvSpPr>
        <p:spPr>
          <a:xfrm>
            <a:off x="6441647" y="1828800"/>
            <a:ext cx="454889" cy="1463040"/>
          </a:xfrm>
          <a:prstGeom prst="rect">
            <a:avLst/>
          </a:prstGeom>
          <a:solidFill>
            <a:srgbClr val="243042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30" name="text-133"/>
          <p:cNvSpPr txBox="1"/>
          <p:nvPr/>
        </p:nvSpPr>
        <p:spPr>
          <a:xfrm>
            <a:off x="6473651" y="1920240"/>
            <a:ext cx="3908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S#6</a:t>
            </a:r>
            <a:endParaRPr lang="en-US" sz="1000" dirty="0"/>
          </a:p>
        </p:txBody>
      </p:sp>
      <p:sp>
        <p:nvSpPr>
          <p:cNvPr id="31" name="text-134"/>
          <p:cNvSpPr txBox="1"/>
          <p:nvPr/>
        </p:nvSpPr>
        <p:spPr>
          <a:xfrm>
            <a:off x="6473651" y="2240280"/>
            <a:ext cx="3908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무진</a:t>
            </a:r>
            <a:endParaRPr lang="en-US" sz="950" dirty="0"/>
          </a:p>
        </p:txBody>
      </p:sp>
      <p:sp>
        <p:nvSpPr>
          <p:cNvPr id="32" name="text-135"/>
          <p:cNvSpPr txBox="1"/>
          <p:nvPr/>
        </p:nvSpPr>
        <p:spPr>
          <a:xfrm>
            <a:off x="6473651" y="2926080"/>
            <a:ext cx="3908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4초</a:t>
            </a:r>
            <a:endParaRPr lang="en-US" sz="950" dirty="0"/>
          </a:p>
        </p:txBody>
      </p:sp>
      <p:sp>
        <p:nvSpPr>
          <p:cNvPr id="33" name="rect-136"/>
          <p:cNvSpPr/>
          <p:nvPr/>
        </p:nvSpPr>
        <p:spPr>
          <a:xfrm>
            <a:off x="6923967" y="1828800"/>
            <a:ext cx="816630" cy="1463040"/>
          </a:xfrm>
          <a:prstGeom prst="rect">
            <a:avLst/>
          </a:prstGeom>
          <a:solidFill>
            <a:srgbClr val="243042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34" name="text-137"/>
          <p:cNvSpPr txBox="1"/>
          <p:nvPr/>
        </p:nvSpPr>
        <p:spPr>
          <a:xfrm>
            <a:off x="6955971" y="1920240"/>
            <a:ext cx="752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S#7</a:t>
            </a:r>
            <a:endParaRPr lang="en-US" sz="1000" dirty="0"/>
          </a:p>
        </p:txBody>
      </p:sp>
      <p:sp>
        <p:nvSpPr>
          <p:cNvPr id="35" name="text-138"/>
          <p:cNvSpPr txBox="1"/>
          <p:nvPr/>
        </p:nvSpPr>
        <p:spPr>
          <a:xfrm>
            <a:off x="6955971" y="2240280"/>
            <a:ext cx="7526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천야검</a:t>
            </a:r>
            <a:endParaRPr lang="en-US" sz="950" dirty="0"/>
          </a:p>
        </p:txBody>
      </p:sp>
      <p:sp>
        <p:nvSpPr>
          <p:cNvPr id="36" name="text-139"/>
          <p:cNvSpPr txBox="1"/>
          <p:nvPr/>
        </p:nvSpPr>
        <p:spPr>
          <a:xfrm>
            <a:off x="6955971" y="2926080"/>
            <a:ext cx="752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7초</a:t>
            </a:r>
            <a:endParaRPr lang="en-US" sz="950" dirty="0"/>
          </a:p>
        </p:txBody>
      </p:sp>
      <p:sp>
        <p:nvSpPr>
          <p:cNvPr id="37" name="rect-140"/>
          <p:cNvSpPr/>
          <p:nvPr/>
        </p:nvSpPr>
        <p:spPr>
          <a:xfrm>
            <a:off x="7768029" y="1828800"/>
            <a:ext cx="454889" cy="1463040"/>
          </a:xfrm>
          <a:prstGeom prst="rect">
            <a:avLst/>
          </a:prstGeom>
          <a:solidFill>
            <a:srgbClr val="4A2A26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38" name="text-141"/>
          <p:cNvSpPr txBox="1"/>
          <p:nvPr/>
        </p:nvSpPr>
        <p:spPr>
          <a:xfrm>
            <a:off x="7800033" y="1920240"/>
            <a:ext cx="3908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S#8</a:t>
            </a:r>
            <a:endParaRPr lang="en-US" sz="1000" dirty="0"/>
          </a:p>
        </p:txBody>
      </p:sp>
      <p:sp>
        <p:nvSpPr>
          <p:cNvPr id="39" name="text-142"/>
          <p:cNvSpPr txBox="1"/>
          <p:nvPr/>
        </p:nvSpPr>
        <p:spPr>
          <a:xfrm>
            <a:off x="7800033" y="2240280"/>
            <a:ext cx="3908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전쟁</a:t>
            </a:r>
            <a:endParaRPr lang="en-US" sz="950" dirty="0"/>
          </a:p>
        </p:txBody>
      </p:sp>
      <p:sp>
        <p:nvSpPr>
          <p:cNvPr id="40" name="text-143"/>
          <p:cNvSpPr txBox="1"/>
          <p:nvPr/>
        </p:nvSpPr>
        <p:spPr>
          <a:xfrm>
            <a:off x="7800033" y="2926080"/>
            <a:ext cx="3908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4초</a:t>
            </a:r>
            <a:endParaRPr lang="en-US" sz="950" dirty="0"/>
          </a:p>
        </p:txBody>
      </p:sp>
      <p:sp>
        <p:nvSpPr>
          <p:cNvPr id="41" name="rect-144"/>
          <p:cNvSpPr/>
          <p:nvPr/>
        </p:nvSpPr>
        <p:spPr>
          <a:xfrm>
            <a:off x="8250350" y="1828800"/>
            <a:ext cx="1660691" cy="1463040"/>
          </a:xfrm>
          <a:prstGeom prst="rect">
            <a:avLst/>
          </a:prstGeom>
          <a:solidFill>
            <a:srgbClr val="243042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42" name="text-145"/>
          <p:cNvSpPr txBox="1"/>
          <p:nvPr/>
        </p:nvSpPr>
        <p:spPr>
          <a:xfrm>
            <a:off x="8282354" y="1920240"/>
            <a:ext cx="1596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S#9</a:t>
            </a:r>
            <a:endParaRPr lang="en-US" sz="1000" dirty="0"/>
          </a:p>
        </p:txBody>
      </p:sp>
      <p:sp>
        <p:nvSpPr>
          <p:cNvPr id="43" name="text-146"/>
          <p:cNvSpPr txBox="1"/>
          <p:nvPr/>
        </p:nvSpPr>
        <p:spPr>
          <a:xfrm>
            <a:off x="8282354" y="2240280"/>
            <a:ext cx="1596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운명의 인물들</a:t>
            </a:r>
            <a:endParaRPr lang="en-US" sz="950" dirty="0"/>
          </a:p>
        </p:txBody>
      </p:sp>
      <p:sp>
        <p:nvSpPr>
          <p:cNvPr id="44" name="text-147"/>
          <p:cNvSpPr txBox="1"/>
          <p:nvPr/>
        </p:nvSpPr>
        <p:spPr>
          <a:xfrm>
            <a:off x="8282354" y="2926080"/>
            <a:ext cx="1596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14초</a:t>
            </a:r>
            <a:endParaRPr lang="en-US" sz="950" dirty="0"/>
          </a:p>
        </p:txBody>
      </p:sp>
      <p:sp>
        <p:nvSpPr>
          <p:cNvPr id="45" name="rect-148"/>
          <p:cNvSpPr/>
          <p:nvPr/>
        </p:nvSpPr>
        <p:spPr>
          <a:xfrm>
            <a:off x="9938473" y="1828800"/>
            <a:ext cx="1178370" cy="1463040"/>
          </a:xfrm>
          <a:prstGeom prst="rect">
            <a:avLst/>
          </a:prstGeom>
          <a:solidFill>
            <a:srgbClr val="243042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46" name="text-149"/>
          <p:cNvSpPr txBox="1"/>
          <p:nvPr/>
        </p:nvSpPr>
        <p:spPr>
          <a:xfrm>
            <a:off x="9970477" y="1920240"/>
            <a:ext cx="111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S#10</a:t>
            </a:r>
            <a:endParaRPr lang="en-US" sz="1000" dirty="0"/>
          </a:p>
        </p:txBody>
      </p:sp>
      <p:sp>
        <p:nvSpPr>
          <p:cNvPr id="47" name="text-150"/>
          <p:cNvSpPr txBox="1"/>
          <p:nvPr/>
        </p:nvSpPr>
        <p:spPr>
          <a:xfrm>
            <a:off x="9970477" y="2240280"/>
            <a:ext cx="11143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결의</a:t>
            </a:r>
            <a:endParaRPr lang="en-US" sz="950" dirty="0"/>
          </a:p>
        </p:txBody>
      </p:sp>
      <p:sp>
        <p:nvSpPr>
          <p:cNvPr id="48" name="text-151"/>
          <p:cNvSpPr txBox="1"/>
          <p:nvPr/>
        </p:nvSpPr>
        <p:spPr>
          <a:xfrm>
            <a:off x="9970477" y="2926080"/>
            <a:ext cx="111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10초</a:t>
            </a:r>
            <a:endParaRPr lang="en-US" sz="950" dirty="0"/>
          </a:p>
        </p:txBody>
      </p:sp>
      <p:sp>
        <p:nvSpPr>
          <p:cNvPr id="49" name="rect-152"/>
          <p:cNvSpPr/>
          <p:nvPr/>
        </p:nvSpPr>
        <p:spPr>
          <a:xfrm>
            <a:off x="11144275" y="1828800"/>
            <a:ext cx="454889" cy="1463040"/>
          </a:xfrm>
          <a:prstGeom prst="rect">
            <a:avLst/>
          </a:prstGeom>
          <a:solidFill>
            <a:srgbClr val="243042"/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50" name="text-153"/>
          <p:cNvSpPr txBox="1"/>
          <p:nvPr/>
        </p:nvSpPr>
        <p:spPr>
          <a:xfrm>
            <a:off x="11176279" y="1920240"/>
            <a:ext cx="3908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S#11</a:t>
            </a:r>
            <a:endParaRPr lang="en-US" sz="1000" dirty="0"/>
          </a:p>
        </p:txBody>
      </p:sp>
      <p:sp>
        <p:nvSpPr>
          <p:cNvPr id="51" name="text-154"/>
          <p:cNvSpPr txBox="1"/>
          <p:nvPr/>
        </p:nvSpPr>
        <p:spPr>
          <a:xfrm>
            <a:off x="11176279" y="2240280"/>
            <a:ext cx="3908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</a:t>
            </a:r>
            <a:endParaRPr lang="en-US" sz="950" dirty="0"/>
          </a:p>
        </p:txBody>
      </p:sp>
      <p:sp>
        <p:nvSpPr>
          <p:cNvPr id="52" name="text-155"/>
          <p:cNvSpPr txBox="1"/>
          <p:nvPr/>
        </p:nvSpPr>
        <p:spPr>
          <a:xfrm>
            <a:off x="11176279" y="2926080"/>
            <a:ext cx="3908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4초</a:t>
            </a:r>
            <a:endParaRPr lang="en-US" sz="950" dirty="0"/>
          </a:p>
        </p:txBody>
      </p:sp>
      <p:sp>
        <p:nvSpPr>
          <p:cNvPr id="53" name="text-156"/>
          <p:cNvSpPr txBox="1"/>
          <p:nvPr/>
        </p:nvSpPr>
        <p:spPr>
          <a:xfrm>
            <a:off x="64008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기준 컷 길이 합산 (교차편집 구간은 일부 겹침)</a:t>
            </a:r>
            <a:endParaRPr lang="en-US" sz="1000" dirty="0"/>
          </a:p>
        </p:txBody>
      </p:sp>
      <p:sp>
        <p:nvSpPr>
          <p:cNvPr id="54" name="rect-157"/>
          <p:cNvSpPr/>
          <p:nvPr/>
        </p:nvSpPr>
        <p:spPr>
          <a:xfrm>
            <a:off x="640080" y="3977640"/>
            <a:ext cx="3547872" cy="201168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55" name="rect-158"/>
          <p:cNvSpPr/>
          <p:nvPr/>
        </p:nvSpPr>
        <p:spPr>
          <a:xfrm>
            <a:off x="914400" y="4206240"/>
            <a:ext cx="274320" cy="274320"/>
          </a:xfrm>
          <a:prstGeom prst="rect">
            <a:avLst/>
          </a:prstGeom>
          <a:solidFill>
            <a:srgbClr val="243042"/>
          </a:solidFill>
          <a:ln/>
        </p:spPr>
      </p:sp>
      <p:sp>
        <p:nvSpPr>
          <p:cNvPr id="56" name="text-159"/>
          <p:cNvSpPr txBox="1"/>
          <p:nvPr/>
        </p:nvSpPr>
        <p:spPr>
          <a:xfrm>
            <a:off x="132588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웅장함</a:t>
            </a:r>
            <a:endParaRPr lang="en-US" sz="1800" dirty="0"/>
          </a:p>
        </p:txBody>
      </p:sp>
      <p:sp>
        <p:nvSpPr>
          <p:cNvPr id="57" name="text-160"/>
          <p:cNvSpPr txBox="1"/>
          <p:nvPr/>
        </p:nvSpPr>
        <p:spPr>
          <a:xfrm>
            <a:off x="91440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한강 · 삼국 대치 · 무신전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버드아이 뷰와 로우 앵글의 스케일</a:t>
            </a:r>
            <a:endParaRPr lang="en-US" sz="1200" dirty="0"/>
          </a:p>
        </p:txBody>
      </p:sp>
      <p:sp>
        <p:nvSpPr>
          <p:cNvPr id="58" name="rect-161"/>
          <p:cNvSpPr/>
          <p:nvPr/>
        </p:nvSpPr>
        <p:spPr>
          <a:xfrm>
            <a:off x="4352544" y="3977640"/>
            <a:ext cx="3547872" cy="201168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59" name="rect-162"/>
          <p:cNvSpPr/>
          <p:nvPr/>
        </p:nvSpPr>
        <p:spPr>
          <a:xfrm>
            <a:off x="4626864" y="4206240"/>
            <a:ext cx="274320" cy="274320"/>
          </a:xfrm>
          <a:prstGeom prst="rect">
            <a:avLst/>
          </a:prstGeom>
          <a:solidFill>
            <a:srgbClr val="6E2420"/>
          </a:solidFill>
          <a:ln/>
        </p:spPr>
      </p:sp>
      <p:sp>
        <p:nvSpPr>
          <p:cNvPr id="60" name="text-163"/>
          <p:cNvSpPr txBox="1"/>
          <p:nvPr/>
        </p:nvSpPr>
        <p:spPr>
          <a:xfrm>
            <a:off x="5038344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따뜻함과 상실</a:t>
            </a:r>
            <a:endParaRPr lang="en-US" sz="1800" dirty="0"/>
          </a:p>
        </p:txBody>
      </p:sp>
      <p:sp>
        <p:nvSpPr>
          <p:cNvPr id="61" name="text-164"/>
          <p:cNvSpPr txBox="1"/>
          <p:nvPr/>
        </p:nvSpPr>
        <p:spPr>
          <a:xfrm>
            <a:off x="4626864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가을빛 김해의 가족에서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검붉은 밤의 습격으로 하드컷</a:t>
            </a:r>
            <a:endParaRPr lang="en-US" sz="1200" dirty="0"/>
          </a:p>
        </p:txBody>
      </p:sp>
      <p:sp>
        <p:nvSpPr>
          <p:cNvPr id="62" name="rect-165"/>
          <p:cNvSpPr/>
          <p:nvPr/>
        </p:nvSpPr>
        <p:spPr>
          <a:xfrm>
            <a:off x="8065008" y="3977640"/>
            <a:ext cx="3547872" cy="201168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63" name="rect-166"/>
          <p:cNvSpPr/>
          <p:nvPr/>
        </p:nvSpPr>
        <p:spPr>
          <a:xfrm>
            <a:off x="8339328" y="4206240"/>
            <a:ext cx="274320" cy="274320"/>
          </a:xfrm>
          <a:prstGeom prst="rect">
            <a:avLst/>
          </a:prstGeom>
          <a:solidFill>
            <a:srgbClr val="8E96A3"/>
          </a:solidFill>
          <a:ln/>
        </p:spPr>
      </p:sp>
      <p:sp>
        <p:nvSpPr>
          <p:cNvPr id="64" name="text-167"/>
          <p:cNvSpPr txBox="1"/>
          <p:nvPr/>
        </p:nvSpPr>
        <p:spPr>
          <a:xfrm>
            <a:off x="8750808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결의</a:t>
            </a:r>
            <a:endParaRPr lang="en-US" sz="1800" dirty="0"/>
          </a:p>
        </p:txBody>
      </p:sp>
      <p:sp>
        <p:nvSpPr>
          <p:cNvPr id="65" name="text-168"/>
          <p:cNvSpPr txBox="1"/>
          <p:nvPr/>
        </p:nvSpPr>
        <p:spPr>
          <a:xfrm>
            <a:off x="8339328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답의 구조 위에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천야검 검광으로 타이틀 연결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169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170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SPEC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공통 비주얼 사양</a:t>
            </a:r>
            <a:endParaRPr lang="en-US" sz="3000" dirty="0"/>
          </a:p>
        </p:txBody>
      </p:sp>
      <p:sp>
        <p:nvSpPr>
          <p:cNvPr id="5" name="rect-171"/>
          <p:cNvSpPr/>
          <p:nvPr/>
        </p:nvSpPr>
        <p:spPr>
          <a:xfrm>
            <a:off x="640080" y="1645920"/>
            <a:ext cx="7315200" cy="576072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6" name="text-172"/>
          <p:cNvSpPr txBox="1"/>
          <p:nvPr/>
        </p:nvSpPr>
        <p:spPr>
          <a:xfrm>
            <a:off x="868680" y="164592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endParaRPr lang="en-US" sz="1250" dirty="0"/>
          </a:p>
        </p:txBody>
      </p:sp>
      <p:sp>
        <p:nvSpPr>
          <p:cNvPr id="7" name="text-173"/>
          <p:cNvSpPr txBox="1"/>
          <p:nvPr/>
        </p:nvSpPr>
        <p:spPr>
          <a:xfrm>
            <a:off x="2103120" y="1645920"/>
            <a:ext cx="5715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2D 애니메이션 · 웹툰 영향의 시네마틱 2D 애니메이션</a:t>
            </a:r>
            <a:endParaRPr lang="en-US" sz="1200" dirty="0"/>
          </a:p>
        </p:txBody>
      </p:sp>
      <p:sp>
        <p:nvSpPr>
          <p:cNvPr id="8" name="rect-174"/>
          <p:cNvSpPr/>
          <p:nvPr/>
        </p:nvSpPr>
        <p:spPr>
          <a:xfrm>
            <a:off x="640080" y="2331720"/>
            <a:ext cx="7315200" cy="576072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9" name="text-175"/>
          <p:cNvSpPr txBox="1"/>
          <p:nvPr/>
        </p:nvSpPr>
        <p:spPr>
          <a:xfrm>
            <a:off x="868680" y="233172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작화</a:t>
            </a:r>
            <a:endParaRPr lang="en-US" sz="1250" dirty="0"/>
          </a:p>
        </p:txBody>
      </p:sp>
      <p:sp>
        <p:nvSpPr>
          <p:cNvPr id="10" name="text-176"/>
          <p:cNvSpPr txBox="1"/>
          <p:nvPr/>
        </p:nvSpPr>
        <p:spPr>
          <a:xfrm>
            <a:off x="2103120" y="2331720"/>
            <a:ext cx="5715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깨끗한 선화, 셀 셰이딩, 영화적인 빛과 대기 원근감</a:t>
            </a:r>
            <a:endParaRPr lang="en-US" sz="1200" dirty="0"/>
          </a:p>
        </p:txBody>
      </p:sp>
      <p:sp>
        <p:nvSpPr>
          <p:cNvPr id="11" name="rect-177"/>
          <p:cNvSpPr/>
          <p:nvPr/>
        </p:nvSpPr>
        <p:spPr>
          <a:xfrm>
            <a:off x="640080" y="3017520"/>
            <a:ext cx="7315200" cy="576072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2" name="text-178"/>
          <p:cNvSpPr txBox="1"/>
          <p:nvPr/>
        </p:nvSpPr>
        <p:spPr>
          <a:xfrm>
            <a:off x="868680" y="301752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</a:t>
            </a:r>
            <a:endParaRPr lang="en-US" sz="1250" dirty="0"/>
          </a:p>
        </p:txBody>
      </p:sp>
      <p:sp>
        <p:nvSpPr>
          <p:cNvPr id="13" name="text-179"/>
          <p:cNvSpPr txBox="1"/>
          <p:nvPr/>
        </p:nvSpPr>
        <p:spPr>
          <a:xfrm>
            <a:off x="2103120" y="3017520"/>
            <a:ext cx="5715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웅장함 / 신비 / 비장함 / 역사 판타지</a:t>
            </a:r>
            <a:endParaRPr lang="en-US" sz="1200" dirty="0"/>
          </a:p>
        </p:txBody>
      </p:sp>
      <p:sp>
        <p:nvSpPr>
          <p:cNvPr id="14" name="rect-180"/>
          <p:cNvSpPr/>
          <p:nvPr/>
        </p:nvSpPr>
        <p:spPr>
          <a:xfrm>
            <a:off x="640080" y="3703320"/>
            <a:ext cx="7315200" cy="576072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5" name="text-181"/>
          <p:cNvSpPr txBox="1"/>
          <p:nvPr/>
        </p:nvSpPr>
        <p:spPr>
          <a:xfrm>
            <a:off x="868680" y="370332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250" dirty="0"/>
          </a:p>
        </p:txBody>
      </p:sp>
      <p:sp>
        <p:nvSpPr>
          <p:cNvPr id="16" name="text-182"/>
          <p:cNvSpPr txBox="1"/>
          <p:nvPr/>
        </p:nvSpPr>
        <p:spPr>
          <a:xfrm>
            <a:off x="2103120" y="3703320"/>
            <a:ext cx="5715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극장판 2D 애니메이션의 안정적이고 역동적인 카메라 워크</a:t>
            </a:r>
            <a:endParaRPr lang="en-US" sz="1200" dirty="0"/>
          </a:p>
        </p:txBody>
      </p:sp>
      <p:sp>
        <p:nvSpPr>
          <p:cNvPr id="17" name="rect-183"/>
          <p:cNvSpPr/>
          <p:nvPr/>
        </p:nvSpPr>
        <p:spPr>
          <a:xfrm>
            <a:off x="640080" y="4389120"/>
            <a:ext cx="7315200" cy="576072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8" name="text-184"/>
          <p:cNvSpPr txBox="1"/>
          <p:nvPr/>
        </p:nvSpPr>
        <p:spPr>
          <a:xfrm>
            <a:off x="868680" y="438912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영상화</a:t>
            </a:r>
            <a:endParaRPr lang="en-US" sz="1250" dirty="0"/>
          </a:p>
        </p:txBody>
      </p:sp>
      <p:sp>
        <p:nvSpPr>
          <p:cNvPr id="19" name="text-185"/>
          <p:cNvSpPr txBox="1"/>
          <p:nvPr/>
        </p:nvSpPr>
        <p:spPr>
          <a:xfrm>
            <a:off x="2103120" y="4389120"/>
            <a:ext cx="5715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안개 · 강물 · 불꽃 · 깃발 · 머리카락 · 옷자락의 움직임 공간 확보</a:t>
            </a:r>
            <a:endParaRPr lang="en-US" sz="1200" dirty="0"/>
          </a:p>
        </p:txBody>
      </p:sp>
      <p:sp>
        <p:nvSpPr>
          <p:cNvPr id="20" name="rect-186"/>
          <p:cNvSpPr/>
          <p:nvPr/>
        </p:nvSpPr>
        <p:spPr>
          <a:xfrm>
            <a:off x="640080" y="5074920"/>
            <a:ext cx="7315200" cy="576072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21" name="text-187"/>
          <p:cNvSpPr txBox="1"/>
          <p:nvPr/>
        </p:nvSpPr>
        <p:spPr>
          <a:xfrm>
            <a:off x="868680" y="507492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</a:t>
            </a:r>
            <a:endParaRPr lang="en-US" sz="1250" dirty="0"/>
          </a:p>
        </p:txBody>
      </p:sp>
      <p:sp>
        <p:nvSpPr>
          <p:cNvPr id="22" name="text-188"/>
          <p:cNvSpPr txBox="1"/>
          <p:nvPr/>
        </p:nvSpPr>
        <p:spPr>
          <a:xfrm>
            <a:off x="2103120" y="5074920"/>
            <a:ext cx="5715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등록 확정 이미지를 최우선 레퍼런스로 고정</a:t>
            </a:r>
            <a:endParaRPr lang="en-US" sz="1200" dirty="0"/>
          </a:p>
        </p:txBody>
      </p:sp>
      <p:sp>
        <p:nvSpPr>
          <p:cNvPr id="23" name="rect-189"/>
          <p:cNvSpPr/>
          <p:nvPr/>
        </p:nvSpPr>
        <p:spPr>
          <a:xfrm>
            <a:off x="8229600" y="1645920"/>
            <a:ext cx="3322015" cy="205740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24" name="text-190"/>
          <p:cNvSpPr txBox="1"/>
          <p:nvPr/>
        </p:nvSpPr>
        <p:spPr>
          <a:xfrm>
            <a:off x="8503920" y="1783080"/>
            <a:ext cx="2773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천야검 검신 색 (확정)</a:t>
            </a:r>
            <a:endParaRPr lang="en-US" sz="1200" dirty="0"/>
          </a:p>
        </p:txBody>
      </p:sp>
      <p:sp>
        <p:nvSpPr>
          <p:cNvPr id="25" name="swatch-191"/>
          <p:cNvSpPr/>
          <p:nvPr/>
        </p:nvSpPr>
        <p:spPr>
          <a:xfrm>
            <a:off x="8503920" y="2240280"/>
            <a:ext cx="2773375" cy="685800"/>
          </a:xfrm>
          <a:prstGeom prst="rect">
            <a:avLst/>
          </a:prstGeom>
          <a:solidFill>
            <a:srgbClr val="B9BEC6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26" name="text-192"/>
          <p:cNvSpPr txBox="1"/>
          <p:nvPr/>
        </p:nvSpPr>
        <p:spPr>
          <a:xfrm>
            <a:off x="8503920" y="3063240"/>
            <a:ext cx="2773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은회색, 모든 컷 통일</a:t>
            </a:r>
            <a:endParaRPr lang="en-US" sz="1200" dirty="0"/>
          </a:p>
        </p:txBody>
      </p:sp>
      <p:sp>
        <p:nvSpPr>
          <p:cNvPr id="27" name="rect-193"/>
          <p:cNvSpPr/>
          <p:nvPr/>
        </p:nvSpPr>
        <p:spPr>
          <a:xfrm>
            <a:off x="8229600" y="3886200"/>
            <a:ext cx="3322015" cy="2057400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28" name="text-194"/>
          <p:cNvSpPr txBox="1"/>
          <p:nvPr/>
        </p:nvSpPr>
        <p:spPr>
          <a:xfrm>
            <a:off x="8503920" y="4023360"/>
            <a:ext cx="2773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자막 서체</a:t>
            </a:r>
            <a:endParaRPr lang="en-US" sz="1200" dirty="0"/>
          </a:p>
        </p:txBody>
      </p:sp>
      <p:sp>
        <p:nvSpPr>
          <p:cNvPr id="29" name="text-195"/>
          <p:cNvSpPr txBox="1"/>
          <p:nvPr/>
        </p:nvSpPr>
        <p:spPr>
          <a:xfrm>
            <a:off x="8503920" y="4434840"/>
            <a:ext cx="27733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「601년」과 엔딩 「삼국무신전」을 같은 서체와 은회색 톤으로 통일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196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197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NARRATION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내레이션 설계: 4인 보이스와 질문 · 답 구조</a:t>
            </a:r>
            <a:endParaRPr lang="en-US" sz="3000" dirty="0"/>
          </a:p>
        </p:txBody>
      </p:sp>
      <p:sp>
        <p:nvSpPr>
          <p:cNvPr id="5" name="rect-198"/>
          <p:cNvSpPr/>
          <p:nvPr/>
        </p:nvSpPr>
        <p:spPr>
          <a:xfrm>
            <a:off x="640080" y="1645920"/>
            <a:ext cx="4937760" cy="749808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6" name="text-199"/>
          <p:cNvSpPr txBox="1"/>
          <p:nvPr/>
        </p:nvSpPr>
        <p:spPr>
          <a:xfrm>
            <a:off x="86868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내레이터</a:t>
            </a:r>
            <a:endParaRPr lang="en-US" sz="1500" dirty="0"/>
          </a:p>
        </p:txBody>
      </p:sp>
      <p:sp>
        <p:nvSpPr>
          <p:cNvPr id="7" name="text-200"/>
          <p:cNvSpPr txBox="1"/>
          <p:nvPr/>
        </p:nvSpPr>
        <p:spPr>
          <a:xfrm>
            <a:off x="29260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내레이션</a:t>
            </a:r>
            <a:endParaRPr lang="en-US" sz="1050" dirty="0"/>
          </a:p>
        </p:txBody>
      </p:sp>
      <p:sp>
        <p:nvSpPr>
          <p:cNvPr id="8" name="text-201"/>
          <p:cNvSpPr txBox="1"/>
          <p:nvPr/>
        </p:nvSpPr>
        <p:spPr>
          <a:xfrm>
            <a:off x="8686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40대 남성, 중저음의 중후한 톤</a:t>
            </a:r>
            <a:endParaRPr lang="en-US" sz="1100" dirty="0"/>
          </a:p>
        </p:txBody>
      </p:sp>
      <p:sp>
        <p:nvSpPr>
          <p:cNvPr id="9" name="rect-202"/>
          <p:cNvSpPr/>
          <p:nvPr/>
        </p:nvSpPr>
        <p:spPr>
          <a:xfrm>
            <a:off x="640080" y="2514600"/>
            <a:ext cx="4937760" cy="749808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0" name="text-203"/>
          <p:cNvSpPr txBox="1"/>
          <p:nvPr/>
        </p:nvSpPr>
        <p:spPr>
          <a:xfrm>
            <a:off x="868680" y="2587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김운 V.O.</a:t>
            </a:r>
            <a:endParaRPr lang="en-US" sz="1500" dirty="0"/>
          </a:p>
        </p:txBody>
      </p:sp>
      <p:sp>
        <p:nvSpPr>
          <p:cNvPr id="11" name="text-204"/>
          <p:cNvSpPr txBox="1"/>
          <p:nvPr/>
        </p:nvSpPr>
        <p:spPr>
          <a:xfrm>
            <a:off x="292608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회상과 독백</a:t>
            </a:r>
            <a:endParaRPr lang="en-US" sz="1050" dirty="0"/>
          </a:p>
        </p:txBody>
      </p:sp>
      <p:sp>
        <p:nvSpPr>
          <p:cNvPr id="12" name="text-205"/>
          <p:cNvSpPr txBox="1"/>
          <p:nvPr/>
        </p:nvSpPr>
        <p:spPr>
          <a:xfrm>
            <a:off x="8686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10대 후반, 슬프지만 차분한 톤</a:t>
            </a:r>
            <a:endParaRPr lang="en-US" sz="1100" dirty="0"/>
          </a:p>
        </p:txBody>
      </p:sp>
      <p:sp>
        <p:nvSpPr>
          <p:cNvPr id="13" name="rect-206"/>
          <p:cNvSpPr/>
          <p:nvPr/>
        </p:nvSpPr>
        <p:spPr>
          <a:xfrm>
            <a:off x="640080" y="3383280"/>
            <a:ext cx="4937760" cy="749808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4" name="text-207"/>
          <p:cNvSpPr txBox="1"/>
          <p:nvPr/>
        </p:nvSpPr>
        <p:spPr>
          <a:xfrm>
            <a:off x="868680" y="3456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무진</a:t>
            </a:r>
            <a:endParaRPr lang="en-US" sz="1500" dirty="0"/>
          </a:p>
        </p:txBody>
      </p:sp>
      <p:sp>
        <p:nvSpPr>
          <p:cNvPr id="15" name="text-208"/>
          <p:cNvSpPr txBox="1"/>
          <p:nvPr/>
        </p:nvSpPr>
        <p:spPr>
          <a:xfrm>
            <a:off x="292608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050" dirty="0"/>
          </a:p>
        </p:txBody>
      </p:sp>
      <p:sp>
        <p:nvSpPr>
          <p:cNvPr id="16" name="text-209"/>
          <p:cNvSpPr txBox="1"/>
          <p:nvPr/>
        </p:nvSpPr>
        <p:spPr>
          <a:xfrm>
            <a:off x="86868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60대, 차분한 톤</a:t>
            </a:r>
            <a:endParaRPr lang="en-US" sz="1100" dirty="0"/>
          </a:p>
        </p:txBody>
      </p:sp>
      <p:sp>
        <p:nvSpPr>
          <p:cNvPr id="17" name="rect-210"/>
          <p:cNvSpPr/>
          <p:nvPr/>
        </p:nvSpPr>
        <p:spPr>
          <a:xfrm>
            <a:off x="640080" y="4251960"/>
            <a:ext cx="4937760" cy="749808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8" name="text-211"/>
          <p:cNvSpPr txBox="1"/>
          <p:nvPr/>
        </p:nvSpPr>
        <p:spPr>
          <a:xfrm>
            <a:off x="868680" y="4325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김진백</a:t>
            </a:r>
            <a:endParaRPr lang="en-US" sz="1500" dirty="0"/>
          </a:p>
        </p:txBody>
      </p:sp>
      <p:sp>
        <p:nvSpPr>
          <p:cNvPr id="19" name="text-212"/>
          <p:cNvSpPr txBox="1"/>
          <p:nvPr/>
        </p:nvSpPr>
        <p:spPr>
          <a:xfrm>
            <a:off x="292608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「빨리 가시오.」</a:t>
            </a:r>
            <a:endParaRPr lang="en-US" sz="1050" dirty="0"/>
          </a:p>
        </p:txBody>
      </p:sp>
      <p:sp>
        <p:nvSpPr>
          <p:cNvPr id="20" name="text-213"/>
          <p:cNvSpPr txBox="1"/>
          <p:nvPr/>
        </p:nvSpPr>
        <p:spPr>
          <a:xfrm>
            <a:off x="8686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40대, 적과 대치한 급한 톤</a:t>
            </a:r>
            <a:endParaRPr lang="en-US" sz="1100" dirty="0"/>
          </a:p>
        </p:txBody>
      </p:sp>
      <p:sp>
        <p:nvSpPr>
          <p:cNvPr id="21" name="text-214"/>
          <p:cNvSpPr txBox="1"/>
          <p:nvPr/>
        </p:nvSpPr>
        <p:spPr>
          <a:xfrm>
            <a:off x="5897880" y="1645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S#4</a:t>
            </a:r>
            <a:endParaRPr lang="en-US" sz="1100" dirty="0"/>
          </a:p>
        </p:txBody>
      </p:sp>
      <p:sp>
        <p:nvSpPr>
          <p:cNvPr id="22" name="text-215"/>
          <p:cNvSpPr txBox="1"/>
          <p:nvPr/>
        </p:nvSpPr>
        <p:spPr>
          <a:xfrm>
            <a:off x="6675120" y="1645920"/>
            <a:ext cx="4876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AE1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「그 시절의 나는 아무것도 몰랐다.」</a:t>
            </a:r>
            <a:endParaRPr lang="en-US" sz="1400" dirty="0"/>
          </a:p>
        </p:txBody>
      </p:sp>
      <p:sp>
        <p:nvSpPr>
          <p:cNvPr id="23" name="text-216"/>
          <p:cNvSpPr txBox="1"/>
          <p:nvPr/>
        </p:nvSpPr>
        <p:spPr>
          <a:xfrm>
            <a:off x="5897880" y="224942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S#5</a:t>
            </a:r>
            <a:endParaRPr lang="en-US" sz="1100" dirty="0"/>
          </a:p>
        </p:txBody>
      </p:sp>
      <p:sp>
        <p:nvSpPr>
          <p:cNvPr id="24" name="text-217"/>
          <p:cNvSpPr txBox="1"/>
          <p:nvPr/>
        </p:nvSpPr>
        <p:spPr>
          <a:xfrm>
            <a:off x="6675120" y="2249424"/>
            <a:ext cx="4876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「그날 밤 모든 것이 끝났다.」</a:t>
            </a:r>
            <a:endParaRPr lang="en-US" sz="1400" dirty="0"/>
          </a:p>
        </p:txBody>
      </p:sp>
      <p:sp>
        <p:nvSpPr>
          <p:cNvPr id="25" name="text-218"/>
          <p:cNvSpPr txBox="1"/>
          <p:nvPr/>
        </p:nvSpPr>
        <p:spPr>
          <a:xfrm>
            <a:off x="5897880" y="28529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S#6</a:t>
            </a:r>
            <a:endParaRPr lang="en-US" sz="1100" dirty="0"/>
          </a:p>
        </p:txBody>
      </p:sp>
      <p:sp>
        <p:nvSpPr>
          <p:cNvPr id="26" name="text-219"/>
          <p:cNvSpPr txBox="1"/>
          <p:nvPr/>
        </p:nvSpPr>
        <p:spPr>
          <a:xfrm>
            <a:off x="6675120" y="2852928"/>
            <a:ext cx="4876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45C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무진  「너는 무엇을 위해 검을 드느냐?」</a:t>
            </a:r>
            <a:endParaRPr lang="en-US" sz="1400" dirty="0"/>
          </a:p>
        </p:txBody>
      </p:sp>
      <p:sp>
        <p:nvSpPr>
          <p:cNvPr id="27" name="text-220"/>
          <p:cNvSpPr txBox="1"/>
          <p:nvPr/>
        </p:nvSpPr>
        <p:spPr>
          <a:xfrm>
            <a:off x="5897880" y="345643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S#7</a:t>
            </a:r>
            <a:endParaRPr lang="en-US" sz="1100" dirty="0"/>
          </a:p>
        </p:txBody>
      </p:sp>
      <p:sp>
        <p:nvSpPr>
          <p:cNvPr id="28" name="text-221"/>
          <p:cNvSpPr txBox="1"/>
          <p:nvPr/>
        </p:nvSpPr>
        <p:spPr>
          <a:xfrm>
            <a:off x="6675120" y="3456432"/>
            <a:ext cx="4876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6A3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「그때 나는 답하지 못했다.」</a:t>
            </a:r>
            <a:endParaRPr lang="en-US" sz="1400" dirty="0"/>
          </a:p>
        </p:txBody>
      </p:sp>
      <p:sp>
        <p:nvSpPr>
          <p:cNvPr id="29" name="text-222"/>
          <p:cNvSpPr txBox="1"/>
          <p:nvPr/>
        </p:nvSpPr>
        <p:spPr>
          <a:xfrm>
            <a:off x="5897880" y="40599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S#10</a:t>
            </a:r>
            <a:endParaRPr lang="en-US" sz="1100" dirty="0"/>
          </a:p>
        </p:txBody>
      </p:sp>
      <p:sp>
        <p:nvSpPr>
          <p:cNvPr id="30" name="text-223"/>
          <p:cNvSpPr txBox="1"/>
          <p:nvPr/>
        </p:nvSpPr>
        <p:spPr>
          <a:xfrm>
            <a:off x="6675120" y="4059936"/>
            <a:ext cx="4876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AE1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「이제는 답할 수 있다.」</a:t>
            </a:r>
            <a:endParaRPr lang="en-US" sz="1400" dirty="0"/>
          </a:p>
        </p:txBody>
      </p:sp>
      <p:sp>
        <p:nvSpPr>
          <p:cNvPr id="31" name="text-224"/>
          <p:cNvSpPr txBox="1"/>
          <p:nvPr/>
        </p:nvSpPr>
        <p:spPr>
          <a:xfrm>
            <a:off x="5897880" y="4663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S#10</a:t>
            </a:r>
            <a:endParaRPr lang="en-US" sz="1100" dirty="0"/>
          </a:p>
        </p:txBody>
      </p:sp>
      <p:sp>
        <p:nvSpPr>
          <p:cNvPr id="32" name="text-225"/>
          <p:cNvSpPr txBox="1"/>
          <p:nvPr/>
        </p:nvSpPr>
        <p:spPr>
          <a:xfrm>
            <a:off x="6675120" y="4663440"/>
            <a:ext cx="4876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「…이 검은 사람을 지키기 위해 있다.」</a:t>
            </a:r>
            <a:endParaRPr lang="en-US" sz="1700" dirty="0"/>
          </a:p>
        </p:txBody>
      </p:sp>
      <p:sp>
        <p:nvSpPr>
          <p:cNvPr id="33" name="text-226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질문에서 답으로 이어지는 독백 구조를 통한 주인공 성장 압축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22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228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DIRECTING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연출 포인트: 하드컷과 교차편집</a:t>
            </a:r>
            <a:endParaRPr lang="en-US" sz="3000" dirty="0"/>
          </a:p>
        </p:txBody>
      </p:sp>
      <p:sp>
        <p:nvSpPr>
          <p:cNvPr id="5" name="border-229"/>
          <p:cNvSpPr/>
          <p:nvPr/>
        </p:nvSpPr>
        <p:spPr>
          <a:xfrm>
            <a:off x="614399" y="1618488"/>
            <a:ext cx="5400603" cy="3063240"/>
          </a:xfrm>
          <a:prstGeom prst="rect">
            <a:avLst/>
          </a:prstGeom>
          <a:solidFill>
            <a:srgbClr val="C9A45C"/>
          </a:solidFill>
          <a:ln/>
        </p:spPr>
      </p:sp>
      <p:pic>
        <p:nvPicPr>
          <p:cNvPr id="6" name="img-f_family-230" descr="가족의 마지막 평화로운 식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31" y="1645920"/>
            <a:ext cx="5345739" cy="3008376"/>
          </a:xfrm>
          <a:prstGeom prst="rect">
            <a:avLst/>
          </a:prstGeom>
        </p:spPr>
      </p:pic>
      <p:sp>
        <p:nvSpPr>
          <p:cNvPr id="7" name="border-231"/>
          <p:cNvSpPr/>
          <p:nvPr/>
        </p:nvSpPr>
        <p:spPr>
          <a:xfrm>
            <a:off x="6177925" y="1618488"/>
            <a:ext cx="5398141" cy="3063240"/>
          </a:xfrm>
          <a:prstGeom prst="rect">
            <a:avLst/>
          </a:prstGeom>
          <a:solidFill>
            <a:srgbClr val="C0453A"/>
          </a:solidFill>
          <a:ln/>
        </p:spPr>
      </p:sp>
      <p:pic>
        <p:nvPicPr>
          <p:cNvPr id="8" name="img-s_assassin-232" descr="검은 후드의 살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357" y="1645920"/>
            <a:ext cx="5343277" cy="3008376"/>
          </a:xfrm>
          <a:prstGeom prst="rect">
            <a:avLst/>
          </a:prstGeom>
        </p:spPr>
      </p:pic>
      <p:sp>
        <p:nvSpPr>
          <p:cNvPr id="9" name="text-233"/>
          <p:cNvSpPr txBox="1"/>
          <p:nvPr/>
        </p:nvSpPr>
        <p:spPr>
          <a:xfrm>
            <a:off x="641831" y="476402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A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S#4  가족의 마지막 평화로운 식사</a:t>
            </a:r>
            <a:endParaRPr lang="en-US" sz="1100" dirty="0"/>
          </a:p>
        </p:txBody>
      </p:sp>
      <p:sp>
        <p:nvSpPr>
          <p:cNvPr id="10" name="text-234"/>
          <p:cNvSpPr txBox="1"/>
          <p:nvPr/>
        </p:nvSpPr>
        <p:spPr>
          <a:xfrm>
            <a:off x="6205357" y="476402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S#9  어둠 속 검은 후드의 살수</a:t>
            </a:r>
            <a:endParaRPr lang="en-US" sz="1100" dirty="0"/>
          </a:p>
        </p:txBody>
      </p:sp>
      <p:sp>
        <p:nvSpPr>
          <p:cNvPr id="11" name="text-235"/>
          <p:cNvSpPr txBox="1"/>
          <p:nvPr/>
        </p:nvSpPr>
        <p:spPr>
          <a:xfrm>
            <a:off x="640080" y="5166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하드컷</a:t>
            </a:r>
            <a:endParaRPr lang="en-US" sz="1250" dirty="0"/>
          </a:p>
        </p:txBody>
      </p:sp>
      <p:sp>
        <p:nvSpPr>
          <p:cNvPr id="12" name="text-236"/>
          <p:cNvSpPr txBox="1"/>
          <p:nvPr/>
        </p:nvSpPr>
        <p:spPr>
          <a:xfrm>
            <a:off x="2194560" y="5166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평화로운 가을 낮에서 검붉은 밤으로 급전환</a:t>
            </a:r>
            <a:endParaRPr lang="en-US" sz="1200" dirty="0"/>
          </a:p>
        </p:txBody>
      </p:sp>
      <p:sp>
        <p:nvSpPr>
          <p:cNvPr id="13" name="text-237"/>
          <p:cNvSpPr txBox="1"/>
          <p:nvPr/>
        </p:nvSpPr>
        <p:spPr>
          <a:xfrm>
            <a:off x="640080" y="5577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교차편집</a:t>
            </a:r>
            <a:endParaRPr lang="en-US" sz="1250" dirty="0"/>
          </a:p>
        </p:txBody>
      </p:sp>
      <p:sp>
        <p:nvSpPr>
          <p:cNvPr id="14" name="text-238"/>
          <p:cNvSpPr txBox="1"/>
          <p:nvPr/>
        </p:nvSpPr>
        <p:spPr>
          <a:xfrm>
            <a:off x="2194560" y="5577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삼국 대치 · 인물 소개 · 결의 구간의 장면 교차</a:t>
            </a:r>
            <a:endParaRPr lang="en-US" sz="1200" dirty="0"/>
          </a:p>
        </p:txBody>
      </p:sp>
      <p:sp>
        <p:nvSpPr>
          <p:cNvPr id="15" name="text-239"/>
          <p:cNvSpPr txBox="1"/>
          <p:nvPr/>
        </p:nvSpPr>
        <p:spPr>
          <a:xfrm>
            <a:off x="640080" y="5989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설계</a:t>
            </a:r>
            <a:endParaRPr lang="en-US" sz="1250" dirty="0"/>
          </a:p>
        </p:txBody>
      </p:sp>
      <p:sp>
        <p:nvSpPr>
          <p:cNvPr id="16" name="text-240"/>
          <p:cNvSpPr txBox="1"/>
          <p:nvPr/>
        </p:nvSpPr>
        <p:spPr>
          <a:xfrm>
            <a:off x="2194560" y="59893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00:07 배경음악 시작, 어린 시절에서 따뜻한 톤 전환, 타이틀에서 페이드아웃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241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24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SCENES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주요 장면</a:t>
            </a:r>
            <a:endParaRPr lang="en-US" sz="3000" dirty="0"/>
          </a:p>
        </p:txBody>
      </p:sp>
      <p:sp>
        <p:nvSpPr>
          <p:cNvPr id="5" name="border-243"/>
          <p:cNvSpPr/>
          <p:nvPr/>
        </p:nvSpPr>
        <p:spPr>
          <a:xfrm>
            <a:off x="613294" y="1572768"/>
            <a:ext cx="2700761" cy="1544559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6" name="img-s_river-244" descr="s_ri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26" y="1600200"/>
            <a:ext cx="2645897" cy="1489695"/>
          </a:xfrm>
          <a:prstGeom prst="rect">
            <a:avLst/>
          </a:prstGeom>
        </p:spPr>
      </p:pic>
      <p:sp>
        <p:nvSpPr>
          <p:cNvPr id="7" name="text-245"/>
          <p:cNvSpPr txBox="1"/>
          <p:nvPr/>
        </p:nvSpPr>
        <p:spPr>
          <a:xfrm>
            <a:off x="640080" y="3181335"/>
            <a:ext cx="2647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   </a:t>
            </a:r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 한강, 버드아이 뷰</a:t>
            </a:r>
            <a:endParaRPr lang="en-US" sz="1100" dirty="0"/>
          </a:p>
        </p:txBody>
      </p:sp>
      <p:sp>
        <p:nvSpPr>
          <p:cNvPr id="8" name="border-246"/>
          <p:cNvSpPr/>
          <p:nvPr/>
        </p:nvSpPr>
        <p:spPr>
          <a:xfrm>
            <a:off x="3387852" y="1572768"/>
            <a:ext cx="2702052" cy="1532364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9" name="img-f_flag-247" descr="f_fl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284" y="1600200"/>
            <a:ext cx="2647188" cy="1477500"/>
          </a:xfrm>
          <a:prstGeom prst="rect">
            <a:avLst/>
          </a:prstGeom>
        </p:spPr>
      </p:pic>
      <p:sp>
        <p:nvSpPr>
          <p:cNvPr id="10" name="text-248"/>
          <p:cNvSpPr txBox="1"/>
          <p:nvPr/>
        </p:nvSpPr>
        <p:spPr>
          <a:xfrm>
            <a:off x="3415284" y="3169140"/>
            <a:ext cx="2647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   </a:t>
            </a:r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삼국 대치의 군기</a:t>
            </a:r>
            <a:endParaRPr lang="en-US" sz="1100" dirty="0"/>
          </a:p>
        </p:txBody>
      </p:sp>
      <p:sp>
        <p:nvSpPr>
          <p:cNvPr id="11" name="border-249"/>
          <p:cNvSpPr/>
          <p:nvPr/>
        </p:nvSpPr>
        <p:spPr>
          <a:xfrm>
            <a:off x="6163056" y="1572768"/>
            <a:ext cx="2702052" cy="1539061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12" name="img-f_arena-250" descr="f_aren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600200"/>
            <a:ext cx="2647188" cy="1484197"/>
          </a:xfrm>
          <a:prstGeom prst="rect">
            <a:avLst/>
          </a:prstGeom>
        </p:spPr>
      </p:pic>
      <p:sp>
        <p:nvSpPr>
          <p:cNvPr id="13" name="text-251"/>
          <p:cNvSpPr txBox="1"/>
          <p:nvPr/>
        </p:nvSpPr>
        <p:spPr>
          <a:xfrm>
            <a:off x="6190488" y="3175837"/>
            <a:ext cx="2647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   </a:t>
            </a:r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거대한 야외 삼국무신전</a:t>
            </a:r>
            <a:endParaRPr lang="en-US" sz="1100" dirty="0"/>
          </a:p>
        </p:txBody>
      </p:sp>
      <p:sp>
        <p:nvSpPr>
          <p:cNvPr id="14" name="border-252"/>
          <p:cNvSpPr/>
          <p:nvPr/>
        </p:nvSpPr>
        <p:spPr>
          <a:xfrm>
            <a:off x="8938296" y="1572768"/>
            <a:ext cx="2701980" cy="1544559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15" name="img-f_family-253" descr="f_famil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5728" y="1600200"/>
            <a:ext cx="2647116" cy="1489695"/>
          </a:xfrm>
          <a:prstGeom prst="rect">
            <a:avLst/>
          </a:prstGeom>
        </p:spPr>
      </p:pic>
      <p:sp>
        <p:nvSpPr>
          <p:cNvPr id="16" name="text-254"/>
          <p:cNvSpPr txBox="1"/>
          <p:nvPr/>
        </p:nvSpPr>
        <p:spPr>
          <a:xfrm>
            <a:off x="8965692" y="3181335"/>
            <a:ext cx="2647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S#4   </a:t>
            </a:r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가족의 마지막 식사</a:t>
            </a:r>
            <a:endParaRPr lang="en-US" sz="1100" dirty="0"/>
          </a:p>
        </p:txBody>
      </p:sp>
      <p:sp>
        <p:nvSpPr>
          <p:cNvPr id="17" name="border-255"/>
          <p:cNvSpPr/>
          <p:nvPr/>
        </p:nvSpPr>
        <p:spPr>
          <a:xfrm>
            <a:off x="613294" y="3720831"/>
            <a:ext cx="2700761" cy="1544559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18" name="img-s_assassin-256" descr="s_assass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726" y="3748263"/>
            <a:ext cx="2645897" cy="1489695"/>
          </a:xfrm>
          <a:prstGeom prst="rect">
            <a:avLst/>
          </a:prstGeom>
        </p:spPr>
      </p:pic>
      <p:sp>
        <p:nvSpPr>
          <p:cNvPr id="19" name="text-257"/>
          <p:cNvSpPr txBox="1"/>
          <p:nvPr/>
        </p:nvSpPr>
        <p:spPr>
          <a:xfrm>
            <a:off x="640080" y="5329398"/>
            <a:ext cx="2647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S#9   </a:t>
            </a:r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후드의 살수</a:t>
            </a:r>
            <a:endParaRPr lang="en-US" sz="1100" dirty="0"/>
          </a:p>
        </p:txBody>
      </p:sp>
      <p:sp>
        <p:nvSpPr>
          <p:cNvPr id="20" name="border-258"/>
          <p:cNvSpPr/>
          <p:nvPr/>
        </p:nvSpPr>
        <p:spPr>
          <a:xfrm>
            <a:off x="3387852" y="3720831"/>
            <a:ext cx="2702052" cy="1527985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21" name="img-f_raise-259" descr="f_rai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5284" y="3748263"/>
            <a:ext cx="2647188" cy="1473121"/>
          </a:xfrm>
          <a:prstGeom prst="rect">
            <a:avLst/>
          </a:prstGeom>
        </p:spPr>
      </p:pic>
      <p:sp>
        <p:nvSpPr>
          <p:cNvPr id="22" name="text-260"/>
          <p:cNvSpPr txBox="1"/>
          <p:nvPr/>
        </p:nvSpPr>
        <p:spPr>
          <a:xfrm>
            <a:off x="3415284" y="5312824"/>
            <a:ext cx="2647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S#10   </a:t>
            </a:r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천야검을 들어 올린 김운</a:t>
            </a:r>
            <a:endParaRPr lang="en-US" sz="1100" dirty="0"/>
          </a:p>
        </p:txBody>
      </p:sp>
      <p:sp>
        <p:nvSpPr>
          <p:cNvPr id="23" name="border-261"/>
          <p:cNvSpPr/>
          <p:nvPr/>
        </p:nvSpPr>
        <p:spPr>
          <a:xfrm>
            <a:off x="6165998" y="3720831"/>
            <a:ext cx="2696167" cy="1544559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24" name="img-f_slash-262" descr="f_slas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3430" y="3748263"/>
            <a:ext cx="2641303" cy="1489695"/>
          </a:xfrm>
          <a:prstGeom prst="rect">
            <a:avLst/>
          </a:prstGeom>
        </p:spPr>
      </p:pic>
      <p:sp>
        <p:nvSpPr>
          <p:cNvPr id="25" name="text-263"/>
          <p:cNvSpPr txBox="1"/>
          <p:nvPr/>
        </p:nvSpPr>
        <p:spPr>
          <a:xfrm>
            <a:off x="6190488" y="5329398"/>
            <a:ext cx="2647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S#10   </a:t>
            </a:r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천야검, 마지막 일격</a:t>
            </a:r>
            <a:endParaRPr lang="en-US" sz="1100" dirty="0"/>
          </a:p>
        </p:txBody>
      </p:sp>
      <p:sp>
        <p:nvSpPr>
          <p:cNvPr id="26" name="border-264"/>
          <p:cNvSpPr/>
          <p:nvPr/>
        </p:nvSpPr>
        <p:spPr>
          <a:xfrm>
            <a:off x="8973469" y="3720831"/>
            <a:ext cx="2631634" cy="1544559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27" name="img-s_title-265" descr="s_tit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0901" y="3748263"/>
            <a:ext cx="2576770" cy="1489695"/>
          </a:xfrm>
          <a:prstGeom prst="rect">
            <a:avLst/>
          </a:prstGeom>
        </p:spPr>
      </p:pic>
      <p:sp>
        <p:nvSpPr>
          <p:cNvPr id="28" name="text-266"/>
          <p:cNvSpPr txBox="1"/>
          <p:nvPr/>
        </p:nvSpPr>
        <p:spPr>
          <a:xfrm>
            <a:off x="8965692" y="5329398"/>
            <a:ext cx="2647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S#11   </a:t>
            </a:r>
            <a:pPr indent="0" marL="0">
              <a:buNone/>
            </a:pPr>
            <a:r>
              <a:rPr lang="en-US" sz="110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은회색 타이틀</a:t>
            </a:r>
            <a:endParaRPr lang="en-US" sz="1100" dirty="0"/>
          </a:p>
        </p:txBody>
      </p:sp>
      <p:sp>
        <p:nvSpPr>
          <p:cNvPr id="29" name="text-267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 · S#3 · S#4 · S#10 장면은 제작 과정 캡처에서 발췌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268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269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1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AI 제작 워크플로우 ①</a:t>
            </a:r>
            <a:endParaRPr lang="en-US" sz="3000" dirty="0"/>
          </a:p>
        </p:txBody>
      </p:sp>
      <p:sp>
        <p:nvSpPr>
          <p:cNvPr id="5" name="border-270"/>
          <p:cNvSpPr/>
          <p:nvPr/>
        </p:nvSpPr>
        <p:spPr>
          <a:xfrm>
            <a:off x="612648" y="1618488"/>
            <a:ext cx="3590544" cy="1942902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6" name="img-w_시나리오작업컷-271" descr="시나리오 설계 작업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3535680" cy="1888038"/>
          </a:xfrm>
          <a:prstGeom prst="rect">
            <a:avLst/>
          </a:prstGeom>
        </p:spPr>
      </p:pic>
      <p:sp>
        <p:nvSpPr>
          <p:cNvPr id="7" name="text-272"/>
          <p:cNvSpPr txBox="1"/>
          <p:nvPr/>
        </p:nvSpPr>
        <p:spPr>
          <a:xfrm>
            <a:off x="640080" y="371683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-273"/>
          <p:cNvSpPr txBox="1"/>
          <p:nvPr/>
        </p:nvSpPr>
        <p:spPr>
          <a:xfrm>
            <a:off x="1325880" y="3716838"/>
            <a:ext cx="284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시나리오 설계</a:t>
            </a:r>
            <a:endParaRPr lang="en-US" sz="1700" dirty="0"/>
          </a:p>
        </p:txBody>
      </p:sp>
      <p:sp>
        <p:nvSpPr>
          <p:cNvPr id="9" name="text-274"/>
          <p:cNvSpPr txBox="1"/>
          <p:nvPr/>
        </p:nvSpPr>
        <p:spPr>
          <a:xfrm>
            <a:off x="640080" y="4265478"/>
            <a:ext cx="353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대화를 활용한 시나리오 초안과 공통 비주얼 사양 정리, 컷별 초 단위 확정</a:t>
            </a:r>
            <a:endParaRPr lang="en-US" sz="1150" dirty="0"/>
          </a:p>
        </p:txBody>
      </p:sp>
      <p:sp>
        <p:nvSpPr>
          <p:cNvPr id="10" name="border-275"/>
          <p:cNvSpPr/>
          <p:nvPr/>
        </p:nvSpPr>
        <p:spPr>
          <a:xfrm>
            <a:off x="4331208" y="1618488"/>
            <a:ext cx="3590544" cy="1942902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11" name="img-w_캐릭터시트컷2-276" descr="캐릭터 시트 작업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40" y="1645920"/>
            <a:ext cx="3535680" cy="1888038"/>
          </a:xfrm>
          <a:prstGeom prst="rect">
            <a:avLst/>
          </a:prstGeom>
        </p:spPr>
      </p:pic>
      <p:sp>
        <p:nvSpPr>
          <p:cNvPr id="12" name="text-277"/>
          <p:cNvSpPr txBox="1"/>
          <p:nvPr/>
        </p:nvSpPr>
        <p:spPr>
          <a:xfrm>
            <a:off x="4358640" y="371683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-278"/>
          <p:cNvSpPr txBox="1"/>
          <p:nvPr/>
        </p:nvSpPr>
        <p:spPr>
          <a:xfrm>
            <a:off x="5044440" y="3716838"/>
            <a:ext cx="284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캐릭터 시트</a:t>
            </a:r>
            <a:endParaRPr lang="en-US" sz="1700" dirty="0"/>
          </a:p>
        </p:txBody>
      </p:sp>
      <p:sp>
        <p:nvSpPr>
          <p:cNvPr id="14" name="text-279"/>
          <p:cNvSpPr txBox="1"/>
          <p:nvPr/>
        </p:nvSpPr>
        <p:spPr>
          <a:xfrm>
            <a:off x="4358640" y="4265478"/>
            <a:ext cx="353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 · 측면 · 후면 · 얼굴의 4분할 턴어라운드, 15인 캐릭터 고정</a:t>
            </a:r>
            <a:endParaRPr lang="en-US" sz="1150" dirty="0"/>
          </a:p>
        </p:txBody>
      </p:sp>
      <p:sp>
        <p:nvSpPr>
          <p:cNvPr id="15" name="border-280"/>
          <p:cNvSpPr/>
          <p:nvPr/>
        </p:nvSpPr>
        <p:spPr>
          <a:xfrm>
            <a:off x="8049768" y="1618488"/>
            <a:ext cx="3590544" cy="1942902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16" name="img-w_티저영상컷1-281" descr="장면 영상 생성 작업 화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45920"/>
            <a:ext cx="3535680" cy="1888038"/>
          </a:xfrm>
          <a:prstGeom prst="rect">
            <a:avLst/>
          </a:prstGeom>
        </p:spPr>
      </p:pic>
      <p:sp>
        <p:nvSpPr>
          <p:cNvPr id="17" name="text-282"/>
          <p:cNvSpPr txBox="1"/>
          <p:nvPr/>
        </p:nvSpPr>
        <p:spPr>
          <a:xfrm>
            <a:off x="8077200" y="371683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-283"/>
          <p:cNvSpPr txBox="1"/>
          <p:nvPr/>
        </p:nvSpPr>
        <p:spPr>
          <a:xfrm>
            <a:off x="8763000" y="3716838"/>
            <a:ext cx="284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장면 영상 생성</a:t>
            </a:r>
            <a:endParaRPr lang="en-US" sz="1700" dirty="0"/>
          </a:p>
        </p:txBody>
      </p:sp>
      <p:sp>
        <p:nvSpPr>
          <p:cNvPr id="19" name="text-284"/>
          <p:cNvSpPr txBox="1"/>
          <p:nvPr/>
        </p:nvSpPr>
        <p:spPr>
          <a:xfrm>
            <a:off x="8077200" y="4265478"/>
            <a:ext cx="353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캐릭터 이미지를 레퍼런스로 한 컷별 영상 생성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285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286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2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AI 제작 워크플로우 ②</a:t>
            </a:r>
            <a:endParaRPr lang="en-US" sz="3000" dirty="0"/>
          </a:p>
        </p:txBody>
      </p:sp>
      <p:sp>
        <p:nvSpPr>
          <p:cNvPr id="5" name="border-287"/>
          <p:cNvSpPr/>
          <p:nvPr/>
        </p:nvSpPr>
        <p:spPr>
          <a:xfrm>
            <a:off x="612648" y="1618488"/>
            <a:ext cx="3590544" cy="1942902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6" name="img-w_나레이션컷2-288" descr="내레이션 작업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3535680" cy="1888038"/>
          </a:xfrm>
          <a:prstGeom prst="rect">
            <a:avLst/>
          </a:prstGeom>
        </p:spPr>
      </p:pic>
      <p:sp>
        <p:nvSpPr>
          <p:cNvPr id="7" name="text-289"/>
          <p:cNvSpPr txBox="1"/>
          <p:nvPr/>
        </p:nvSpPr>
        <p:spPr>
          <a:xfrm>
            <a:off x="640080" y="371683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04</a:t>
            </a:r>
            <a:endParaRPr lang="en-US" sz="2400" dirty="0"/>
          </a:p>
        </p:txBody>
      </p:sp>
      <p:sp>
        <p:nvSpPr>
          <p:cNvPr id="8" name="text-290"/>
          <p:cNvSpPr txBox="1"/>
          <p:nvPr/>
        </p:nvSpPr>
        <p:spPr>
          <a:xfrm>
            <a:off x="1325880" y="3716838"/>
            <a:ext cx="284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내레이션</a:t>
            </a:r>
            <a:endParaRPr lang="en-US" sz="1700" dirty="0"/>
          </a:p>
        </p:txBody>
      </p:sp>
      <p:sp>
        <p:nvSpPr>
          <p:cNvPr id="9" name="text-291"/>
          <p:cNvSpPr txBox="1"/>
          <p:nvPr/>
        </p:nvSpPr>
        <p:spPr>
          <a:xfrm>
            <a:off x="640080" y="4265478"/>
            <a:ext cx="353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4인 보이스 구성, 장면별 대사 톤 지정</a:t>
            </a:r>
            <a:endParaRPr lang="en-US" sz="1150" dirty="0"/>
          </a:p>
        </p:txBody>
      </p:sp>
      <p:sp>
        <p:nvSpPr>
          <p:cNvPr id="10" name="border-292"/>
          <p:cNvSpPr/>
          <p:nvPr/>
        </p:nvSpPr>
        <p:spPr>
          <a:xfrm>
            <a:off x="4331208" y="1618488"/>
            <a:ext cx="3590544" cy="1942902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11" name="img-w_티저배경음악컷-293" descr="배경음악 작업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40" y="1645920"/>
            <a:ext cx="3535680" cy="1888038"/>
          </a:xfrm>
          <a:prstGeom prst="rect">
            <a:avLst/>
          </a:prstGeom>
        </p:spPr>
      </p:pic>
      <p:sp>
        <p:nvSpPr>
          <p:cNvPr id="12" name="text-294"/>
          <p:cNvSpPr txBox="1"/>
          <p:nvPr/>
        </p:nvSpPr>
        <p:spPr>
          <a:xfrm>
            <a:off x="4358640" y="371683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05</a:t>
            </a:r>
            <a:endParaRPr lang="en-US" sz="2400" dirty="0"/>
          </a:p>
        </p:txBody>
      </p:sp>
      <p:sp>
        <p:nvSpPr>
          <p:cNvPr id="13" name="text-295"/>
          <p:cNvSpPr txBox="1"/>
          <p:nvPr/>
        </p:nvSpPr>
        <p:spPr>
          <a:xfrm>
            <a:off x="5044440" y="3716838"/>
            <a:ext cx="284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배경음악</a:t>
            </a:r>
            <a:endParaRPr lang="en-US" sz="1700" dirty="0"/>
          </a:p>
        </p:txBody>
      </p:sp>
      <p:sp>
        <p:nvSpPr>
          <p:cNvPr id="14" name="text-296"/>
          <p:cNvSpPr txBox="1"/>
          <p:nvPr/>
        </p:nvSpPr>
        <p:spPr>
          <a:xfrm>
            <a:off x="4358640" y="4265478"/>
            <a:ext cx="353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무협 OST 분위기의 배경음악, 구간별 길이 조정</a:t>
            </a:r>
            <a:endParaRPr lang="en-US" sz="1150" dirty="0"/>
          </a:p>
        </p:txBody>
      </p:sp>
      <p:sp>
        <p:nvSpPr>
          <p:cNvPr id="15" name="border-297"/>
          <p:cNvSpPr/>
          <p:nvPr/>
        </p:nvSpPr>
        <p:spPr>
          <a:xfrm>
            <a:off x="8049768" y="1618488"/>
            <a:ext cx="3590544" cy="1942902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16" name="img-w_프리미어편집컷-298" descr="편집 작업 화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45920"/>
            <a:ext cx="3535680" cy="1888038"/>
          </a:xfrm>
          <a:prstGeom prst="rect">
            <a:avLst/>
          </a:prstGeom>
        </p:spPr>
      </p:pic>
      <p:sp>
        <p:nvSpPr>
          <p:cNvPr id="17" name="text-299"/>
          <p:cNvSpPr txBox="1"/>
          <p:nvPr/>
        </p:nvSpPr>
        <p:spPr>
          <a:xfrm>
            <a:off x="8077200" y="371683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53A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06</a:t>
            </a:r>
            <a:endParaRPr lang="en-US" sz="2400" dirty="0"/>
          </a:p>
        </p:txBody>
      </p:sp>
      <p:sp>
        <p:nvSpPr>
          <p:cNvPr id="18" name="text-300"/>
          <p:cNvSpPr txBox="1"/>
          <p:nvPr/>
        </p:nvSpPr>
        <p:spPr>
          <a:xfrm>
            <a:off x="8763000" y="3716838"/>
            <a:ext cx="284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편집</a:t>
            </a:r>
            <a:endParaRPr lang="en-US" sz="1700" dirty="0"/>
          </a:p>
        </p:txBody>
      </p:sp>
      <p:sp>
        <p:nvSpPr>
          <p:cNvPr id="19" name="text-301"/>
          <p:cNvSpPr txBox="1"/>
          <p:nvPr/>
        </p:nvSpPr>
        <p:spPr>
          <a:xfrm>
            <a:off x="8077200" y="4265478"/>
            <a:ext cx="353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프리미어 프로 편집, 교차편집과 조정 레이어 적용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302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30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TEASER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영상 결과물: 삼국무신전 공식 티저 (1차)</a:t>
            </a:r>
            <a:endParaRPr lang="en-US" sz="3000" dirty="0"/>
          </a:p>
        </p:txBody>
      </p:sp>
      <p:sp>
        <p:nvSpPr>
          <p:cNvPr id="5" name="border-304"/>
          <p:cNvSpPr/>
          <p:nvPr/>
        </p:nvSpPr>
        <p:spPr>
          <a:xfrm>
            <a:off x="615696" y="1572768"/>
            <a:ext cx="7272528" cy="4114800"/>
          </a:xfrm>
          <a:prstGeom prst="rect">
            <a:avLst/>
          </a:prstGeom>
          <a:solidFill>
            <a:srgbClr val="8E96A3"/>
          </a:solidFill>
          <a:ln/>
        </p:spPr>
      </p:sp>
      <p:pic>
        <p:nvPicPr>
          <p:cNvPr id="6" name="img-poster_film-305" descr="티저 대표 이미지 (클릭 시 영상 재생)">
            <a:hlinkClick r:id="rId3" tooltip="영상 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8" y="1600200"/>
            <a:ext cx="7217664" cy="4059936"/>
          </a:xfrm>
          <a:prstGeom prst="rect">
            <a:avLst/>
          </a:prstGeom>
        </p:spPr>
      </p:pic>
      <p:sp>
        <p:nvSpPr>
          <p:cNvPr id="7" name="text-306"/>
          <p:cNvSpPr txBox="1"/>
          <p:nvPr/>
        </p:nvSpPr>
        <p:spPr>
          <a:xfrm>
            <a:off x="640080" y="5797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클릭 시 영상 재생 (Google Drive)</a:t>
            </a:r>
            <a:endParaRPr lang="en-US" sz="1000" dirty="0"/>
          </a:p>
        </p:txBody>
      </p:sp>
      <p:sp>
        <p:nvSpPr>
          <p:cNvPr id="8" name="rect-307"/>
          <p:cNvSpPr/>
          <p:nvPr/>
        </p:nvSpPr>
        <p:spPr>
          <a:xfrm>
            <a:off x="8138160" y="1600200"/>
            <a:ext cx="3413455" cy="4059936"/>
          </a:xfrm>
          <a:prstGeom prst="rect">
            <a:avLst/>
          </a:prstGeom>
          <a:solidFill>
            <a:srgbClr val="1A2230">
              <a:alpha val="85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9" name="text-308"/>
          <p:cNvSpPr txBox="1"/>
          <p:nvPr/>
        </p:nvSpPr>
        <p:spPr>
          <a:xfrm>
            <a:off x="8412480" y="182880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endParaRPr lang="en-US" sz="1100" dirty="0"/>
          </a:p>
        </p:txBody>
      </p:sp>
      <p:sp>
        <p:nvSpPr>
          <p:cNvPr id="10" name="text-309"/>
          <p:cNvSpPr txBox="1"/>
          <p:nvPr/>
        </p:nvSpPr>
        <p:spPr>
          <a:xfrm>
            <a:off x="8412480" y="2130552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편집본</a:t>
            </a:r>
            <a:endParaRPr lang="en-US" sz="1400" dirty="0"/>
          </a:p>
        </p:txBody>
      </p:sp>
      <p:sp>
        <p:nvSpPr>
          <p:cNvPr id="11" name="text-310"/>
          <p:cNvSpPr txBox="1"/>
          <p:nvPr/>
        </p:nvSpPr>
        <p:spPr>
          <a:xfrm>
            <a:off x="8412480" y="2724912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러닝타임</a:t>
            </a:r>
            <a:endParaRPr lang="en-US" sz="1100" dirty="0"/>
          </a:p>
        </p:txBody>
      </p:sp>
      <p:sp>
        <p:nvSpPr>
          <p:cNvPr id="12" name="text-311"/>
          <p:cNvSpPr txBox="1"/>
          <p:nvPr/>
        </p:nvSpPr>
        <p:spPr>
          <a:xfrm>
            <a:off x="8412480" y="3026664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90초 (시나리오 기준)</a:t>
            </a:r>
            <a:endParaRPr lang="en-US" sz="1400" dirty="0"/>
          </a:p>
        </p:txBody>
      </p:sp>
      <p:sp>
        <p:nvSpPr>
          <p:cNvPr id="13" name="text-312"/>
          <p:cNvSpPr txBox="1"/>
          <p:nvPr/>
        </p:nvSpPr>
        <p:spPr>
          <a:xfrm>
            <a:off x="8412480" y="3621024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화면비</a:t>
            </a:r>
            <a:endParaRPr lang="en-US" sz="1100" dirty="0"/>
          </a:p>
        </p:txBody>
      </p:sp>
      <p:sp>
        <p:nvSpPr>
          <p:cNvPr id="14" name="text-313"/>
          <p:cNvSpPr txBox="1"/>
          <p:nvPr/>
        </p:nvSpPr>
        <p:spPr>
          <a:xfrm>
            <a:off x="8412480" y="3922776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16:9 FHD</a:t>
            </a:r>
            <a:endParaRPr lang="en-US" sz="1400" dirty="0"/>
          </a:p>
        </p:txBody>
      </p:sp>
      <p:sp>
        <p:nvSpPr>
          <p:cNvPr id="15" name="text-314"/>
          <p:cNvSpPr txBox="1"/>
          <p:nvPr/>
        </p:nvSpPr>
        <p:spPr>
          <a:xfrm>
            <a:off x="8412480" y="4517136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100" dirty="0"/>
          </a:p>
        </p:txBody>
      </p:sp>
      <p:sp>
        <p:nvSpPr>
          <p:cNvPr id="16" name="text-315"/>
          <p:cNvSpPr txBox="1"/>
          <p:nvPr/>
        </p:nvSpPr>
        <p:spPr>
          <a:xfrm>
            <a:off x="8412480" y="4818888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11씬, 4인 내레이션</a:t>
            </a:r>
            <a:endParaRPr lang="en-US" sz="1400" dirty="0"/>
          </a:p>
        </p:txBody>
      </p:sp>
      <p:sp>
        <p:nvSpPr>
          <p:cNvPr id="17" name="link-316"/>
          <p:cNvSpPr txBox="1"/>
          <p:nvPr/>
        </p:nvSpPr>
        <p:spPr>
          <a:xfrm>
            <a:off x="8138160" y="58064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https://drive.google.com/file/d/1wwMN4ngbUAvgDN58iO2qLhRP2ic8gfBX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티저 영상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31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318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SHORT-FORM AD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AI 숏폼 광고: 향이나</a:t>
            </a:r>
            <a:endParaRPr lang="en-US" sz="3000" dirty="0"/>
          </a:p>
        </p:txBody>
      </p:sp>
      <p:sp>
        <p:nvSpPr>
          <p:cNvPr id="5" name="border-319"/>
          <p:cNvSpPr/>
          <p:nvPr/>
        </p:nvSpPr>
        <p:spPr>
          <a:xfrm>
            <a:off x="613156" y="1618488"/>
            <a:ext cx="5403088" cy="3063240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6" name="img-poster_ad_실사-320" descr="향이나 실사 버전 (클릭 시 재생)">
            <a:hlinkClick r:id="rId3" tooltip="영상 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88" y="1645920"/>
            <a:ext cx="5348224" cy="3008376"/>
          </a:xfrm>
          <a:prstGeom prst="rect">
            <a:avLst/>
          </a:prstGeom>
        </p:spPr>
      </p:pic>
      <p:sp>
        <p:nvSpPr>
          <p:cNvPr id="7" name="border-321"/>
          <p:cNvSpPr/>
          <p:nvPr/>
        </p:nvSpPr>
        <p:spPr>
          <a:xfrm>
            <a:off x="6175451" y="1618488"/>
            <a:ext cx="5403088" cy="3063240"/>
          </a:xfrm>
          <a:prstGeom prst="rect">
            <a:avLst/>
          </a:prstGeom>
          <a:solidFill>
            <a:srgbClr val="2E3A4C"/>
          </a:solidFill>
          <a:ln/>
        </p:spPr>
      </p:sp>
      <p:pic>
        <p:nvPicPr>
          <p:cNvPr id="8" name="img-poster_ad_2D-322" descr="향이나 2D 버전 (클릭 시 재생)">
            <a:hlinkClick r:id="rId5" tooltip="영상 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883" y="1645920"/>
            <a:ext cx="5348224" cy="3008376"/>
          </a:xfrm>
          <a:prstGeom prst="rect">
            <a:avLst/>
          </a:prstGeom>
        </p:spPr>
      </p:pic>
      <p:sp>
        <p:nvSpPr>
          <p:cNvPr id="9" name="text-323"/>
          <p:cNvSpPr txBox="1"/>
          <p:nvPr/>
        </p:nvSpPr>
        <p:spPr>
          <a:xfrm>
            <a:off x="640588" y="4791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실사 버전</a:t>
            </a:r>
            <a:endParaRPr lang="en-US" sz="1700" dirty="0"/>
          </a:p>
        </p:txBody>
      </p:sp>
      <p:sp>
        <p:nvSpPr>
          <p:cNvPr id="10" name="text-324"/>
          <p:cNvSpPr txBox="1"/>
          <p:nvPr/>
        </p:nvSpPr>
        <p:spPr>
          <a:xfrm>
            <a:off x="6202883" y="4791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2D 버전</a:t>
            </a:r>
            <a:endParaRPr lang="en-US" sz="1700" dirty="0"/>
          </a:p>
        </p:txBody>
      </p:sp>
      <p:sp>
        <p:nvSpPr>
          <p:cNvPr id="11" name="link-325"/>
          <p:cNvSpPr txBox="1"/>
          <p:nvPr/>
        </p:nvSpPr>
        <p:spPr>
          <a:xfrm>
            <a:off x="4160012" y="4791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https://drive.google.com/file/d/1G3ppCFwc6yH5SNcySnm3HA5aJxHTdTLz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영상 보기</a:t>
            </a:r>
            <a:endParaRPr lang="en-US" sz="1300" dirty="0"/>
          </a:p>
        </p:txBody>
      </p:sp>
      <p:sp>
        <p:nvSpPr>
          <p:cNvPr id="12" name="link-326"/>
          <p:cNvSpPr txBox="1"/>
          <p:nvPr/>
        </p:nvSpPr>
        <p:spPr>
          <a:xfrm>
            <a:off x="9722307" y="4791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https://drive.google.com/file/d/1iZv3gmaNhSpLXgV4h9pFB1rm82GRha4J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영상 보기</a:t>
            </a:r>
            <a:endParaRPr lang="en-US" sz="1300" dirty="0"/>
          </a:p>
        </p:txBody>
      </p:sp>
      <p:sp>
        <p:nvSpPr>
          <p:cNvPr id="13" name="text-327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5D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광고를 실사와 2D 두 가지 스타일로 제작한 비교 결과물</a:t>
            </a:r>
            <a:endParaRPr lang="en-US" sz="1300" dirty="0"/>
          </a:p>
        </p:txBody>
      </p:sp>
      <p:sp>
        <p:nvSpPr>
          <p:cNvPr id="14" name="text-328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내용 · 길이: [영상 확인 후 기입]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96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329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330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 IP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4A2E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캐릭터 IP: 콩이</a:t>
            </a:r>
            <a:endParaRPr lang="en-US" sz="3000" dirty="0"/>
          </a:p>
        </p:txBody>
      </p:sp>
      <p:sp>
        <p:nvSpPr>
          <p:cNvPr id="5" name="border-331"/>
          <p:cNvSpPr/>
          <p:nvPr/>
        </p:nvSpPr>
        <p:spPr>
          <a:xfrm>
            <a:off x="612648" y="1572768"/>
            <a:ext cx="5541264" cy="3712464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6" name="img-k_캐릭터시트-332" descr="콩이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486400" cy="3657600"/>
          </a:xfrm>
          <a:prstGeom prst="rect">
            <a:avLst/>
          </a:prstGeom>
        </p:spPr>
      </p:pic>
      <p:pic>
        <p:nvPicPr>
          <p:cNvPr id="7" name="img-k_브랜드로고-333" descr="콩이 브랜드 로고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2377440" cy="2377440"/>
          </a:xfrm>
          <a:prstGeom prst="rect">
            <a:avLst/>
          </a:prstGeom>
        </p:spPr>
      </p:pic>
      <p:sp>
        <p:nvSpPr>
          <p:cNvPr id="8" name="text-334"/>
          <p:cNvSpPr txBox="1"/>
          <p:nvPr/>
        </p:nvSpPr>
        <p:spPr>
          <a:xfrm>
            <a:off x="9006840" y="1783080"/>
            <a:ext cx="2544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4A2E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작은 콩, 큰 행복</a:t>
            </a:r>
            <a:endParaRPr lang="en-US" sz="2200" dirty="0"/>
          </a:p>
        </p:txBody>
      </p:sp>
      <p:sp>
        <p:nvSpPr>
          <p:cNvPr id="9" name="text-335"/>
          <p:cNvSpPr txBox="1"/>
          <p:nvPr/>
        </p:nvSpPr>
        <p:spPr>
          <a:xfrm>
            <a:off x="9006840" y="2377440"/>
            <a:ext cx="2544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08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SMALL BEAN, BIG HAPPINESS</a:t>
            </a:r>
            <a:endParaRPr lang="en-US" sz="900" dirty="0"/>
          </a:p>
        </p:txBody>
      </p:sp>
      <p:sp>
        <p:nvSpPr>
          <p:cNvPr id="10" name="swatch-336"/>
          <p:cNvSpPr/>
          <p:nvPr/>
        </p:nvSpPr>
        <p:spPr>
          <a:xfrm>
            <a:off x="9006840" y="2926080"/>
            <a:ext cx="502920" cy="502920"/>
          </a:xfrm>
          <a:prstGeom prst="rect">
            <a:avLst/>
          </a:prstGeom>
          <a:solidFill>
            <a:srgbClr val="D9B98A"/>
          </a:solidFill>
          <a:ln w="9525">
            <a:solidFill>
              <a:srgbClr val="B08A5A"/>
            </a:solidFill>
            <a:prstDash val="solid"/>
          </a:ln>
        </p:spPr>
      </p:sp>
      <p:sp>
        <p:nvSpPr>
          <p:cNvPr id="11" name="text-337"/>
          <p:cNvSpPr txBox="1"/>
          <p:nvPr/>
        </p:nvSpPr>
        <p:spPr>
          <a:xfrm>
            <a:off x="9646920" y="2880360"/>
            <a:ext cx="1904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컬러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볶은 콩 베이지 #D9B98A</a:t>
            </a:r>
            <a:endParaRPr lang="en-US" sz="1100" dirty="0"/>
          </a:p>
        </p:txBody>
      </p:sp>
      <p:sp>
        <p:nvSpPr>
          <p:cNvPr id="12" name="border-338"/>
          <p:cNvSpPr/>
          <p:nvPr/>
        </p:nvSpPr>
        <p:spPr>
          <a:xfrm>
            <a:off x="6373368" y="4133088"/>
            <a:ext cx="3072384" cy="2066544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13" name="img-k_서브로고-339" descr="콩이 서브 로고 시스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60520"/>
            <a:ext cx="3017520" cy="2011680"/>
          </a:xfrm>
          <a:prstGeom prst="rect">
            <a:avLst/>
          </a:prstGeom>
        </p:spPr>
      </p:pic>
      <p:sp>
        <p:nvSpPr>
          <p:cNvPr id="14" name="text-340"/>
          <p:cNvSpPr txBox="1"/>
          <p:nvPr/>
        </p:nvSpPr>
        <p:spPr>
          <a:xfrm>
            <a:off x="64008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로고 · 서브 로고 4종 · 캐릭터 심볼 체계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341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-34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EXPANSION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4A2E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콩이 IP 확장: 이모티콘 · 일상툰 · 굿즈</a:t>
            </a:r>
            <a:endParaRPr lang="en-US" sz="3000" dirty="0"/>
          </a:p>
        </p:txBody>
      </p:sp>
      <p:sp>
        <p:nvSpPr>
          <p:cNvPr id="5" name="border-343"/>
          <p:cNvSpPr/>
          <p:nvPr/>
        </p:nvSpPr>
        <p:spPr>
          <a:xfrm>
            <a:off x="612648" y="1527048"/>
            <a:ext cx="2203704" cy="2203704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6" name="img-k_24가지_표정-344" descr="k_24가지_표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2148840" cy="2148840"/>
          </a:xfrm>
          <a:prstGeom prst="rect">
            <a:avLst/>
          </a:prstGeom>
        </p:spPr>
      </p:pic>
      <p:sp>
        <p:nvSpPr>
          <p:cNvPr id="7" name="text-345"/>
          <p:cNvSpPr txBox="1"/>
          <p:nvPr/>
        </p:nvSpPr>
        <p:spPr>
          <a:xfrm>
            <a:off x="640080" y="37581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이모티콘 24종</a:t>
            </a:r>
            <a:endParaRPr lang="en-US" sz="1100" dirty="0"/>
          </a:p>
        </p:txBody>
      </p:sp>
      <p:sp>
        <p:nvSpPr>
          <p:cNvPr id="8" name="border-346"/>
          <p:cNvSpPr/>
          <p:nvPr/>
        </p:nvSpPr>
        <p:spPr>
          <a:xfrm>
            <a:off x="2898648" y="1527048"/>
            <a:ext cx="2203704" cy="2203704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9" name="img-k_이불-347" descr="k_이불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554480"/>
            <a:ext cx="2148840" cy="2148840"/>
          </a:xfrm>
          <a:prstGeom prst="rect">
            <a:avLst/>
          </a:prstGeom>
        </p:spPr>
      </p:pic>
      <p:sp>
        <p:nvSpPr>
          <p:cNvPr id="10" name="text-348"/>
          <p:cNvSpPr txBox="1"/>
          <p:nvPr/>
        </p:nvSpPr>
        <p:spPr>
          <a:xfrm>
            <a:off x="2926080" y="37581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일상툰 「이불」</a:t>
            </a:r>
            <a:endParaRPr lang="en-US" sz="1100" dirty="0"/>
          </a:p>
        </p:txBody>
      </p:sp>
      <p:sp>
        <p:nvSpPr>
          <p:cNvPr id="11" name="border-349"/>
          <p:cNvSpPr/>
          <p:nvPr/>
        </p:nvSpPr>
        <p:spPr>
          <a:xfrm>
            <a:off x="5184648" y="1527048"/>
            <a:ext cx="2203704" cy="2203704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12" name="img-k_알람-350" descr="k_알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554480"/>
            <a:ext cx="2148840" cy="2148840"/>
          </a:xfrm>
          <a:prstGeom prst="rect">
            <a:avLst/>
          </a:prstGeom>
        </p:spPr>
      </p:pic>
      <p:sp>
        <p:nvSpPr>
          <p:cNvPr id="13" name="text-351"/>
          <p:cNvSpPr txBox="1"/>
          <p:nvPr/>
        </p:nvSpPr>
        <p:spPr>
          <a:xfrm>
            <a:off x="5212080" y="37581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일상툰 「알람」</a:t>
            </a:r>
            <a:endParaRPr lang="en-US" sz="1100" dirty="0"/>
          </a:p>
        </p:txBody>
      </p:sp>
      <p:sp>
        <p:nvSpPr>
          <p:cNvPr id="14" name="border-352"/>
          <p:cNvSpPr/>
          <p:nvPr/>
        </p:nvSpPr>
        <p:spPr>
          <a:xfrm>
            <a:off x="7470648" y="1527048"/>
            <a:ext cx="2203704" cy="2203704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15" name="img-k_과자-353" descr="k_과자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554480"/>
            <a:ext cx="2148840" cy="2148840"/>
          </a:xfrm>
          <a:prstGeom prst="rect">
            <a:avLst/>
          </a:prstGeom>
        </p:spPr>
      </p:pic>
      <p:sp>
        <p:nvSpPr>
          <p:cNvPr id="16" name="text-354"/>
          <p:cNvSpPr txBox="1"/>
          <p:nvPr/>
        </p:nvSpPr>
        <p:spPr>
          <a:xfrm>
            <a:off x="7498080" y="37581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일상툰 「과자」</a:t>
            </a:r>
            <a:endParaRPr lang="en-US" sz="1100" dirty="0"/>
          </a:p>
        </p:txBody>
      </p:sp>
      <p:sp>
        <p:nvSpPr>
          <p:cNvPr id="17" name="text-355"/>
          <p:cNvSpPr txBox="1"/>
          <p:nvPr/>
        </p:nvSpPr>
        <p:spPr>
          <a:xfrm>
            <a:off x="9875520" y="1600200"/>
            <a:ext cx="1676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6B4A2E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이모티콘 24종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6B4A2E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일상툰 4컷 3편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6B4A2E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굿즈 5종</a:t>
            </a:r>
            <a:endParaRPr lang="en-US" sz="1600" dirty="0"/>
          </a:p>
        </p:txBody>
      </p:sp>
      <p:sp>
        <p:nvSpPr>
          <p:cNvPr id="18" name="text-356"/>
          <p:cNvSpPr txBox="1"/>
          <p:nvPr/>
        </p:nvSpPr>
        <p:spPr>
          <a:xfrm>
            <a:off x="9875520" y="2880360"/>
            <a:ext cx="1676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상품별 컬러 옵션과 패키지 예시까지 정리한 굿즈 기획</a:t>
            </a:r>
            <a:endParaRPr lang="en-US" sz="1100" dirty="0"/>
          </a:p>
        </p:txBody>
      </p:sp>
      <p:sp>
        <p:nvSpPr>
          <p:cNvPr id="19" name="border-357"/>
          <p:cNvSpPr/>
          <p:nvPr/>
        </p:nvSpPr>
        <p:spPr>
          <a:xfrm>
            <a:off x="612648" y="4224528"/>
            <a:ext cx="2147011" cy="1449629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20" name="img-k_인형-358" descr="k_인형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51960"/>
            <a:ext cx="2092147" cy="1394765"/>
          </a:xfrm>
          <a:prstGeom prst="rect">
            <a:avLst/>
          </a:prstGeom>
        </p:spPr>
      </p:pic>
      <p:sp>
        <p:nvSpPr>
          <p:cNvPr id="21" name="text-359"/>
          <p:cNvSpPr txBox="1"/>
          <p:nvPr/>
        </p:nvSpPr>
        <p:spPr>
          <a:xfrm>
            <a:off x="640080" y="5719877"/>
            <a:ext cx="2092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</a:t>
            </a:r>
            <a:endParaRPr lang="en-US" sz="1100" dirty="0"/>
          </a:p>
        </p:txBody>
      </p:sp>
      <p:sp>
        <p:nvSpPr>
          <p:cNvPr id="22" name="border-360"/>
          <p:cNvSpPr/>
          <p:nvPr/>
        </p:nvSpPr>
        <p:spPr>
          <a:xfrm>
            <a:off x="3127236" y="4224528"/>
            <a:ext cx="1558162" cy="1449629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23" name="img-k_펜-361" descr="k_펜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4668" y="4251960"/>
            <a:ext cx="1503298" cy="1394765"/>
          </a:xfrm>
          <a:prstGeom prst="rect">
            <a:avLst/>
          </a:prstGeom>
        </p:spPr>
      </p:pic>
      <p:sp>
        <p:nvSpPr>
          <p:cNvPr id="24" name="text-362"/>
          <p:cNvSpPr txBox="1"/>
          <p:nvPr/>
        </p:nvSpPr>
        <p:spPr>
          <a:xfrm>
            <a:off x="2860243" y="5719877"/>
            <a:ext cx="2092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볼펜</a:t>
            </a:r>
            <a:endParaRPr lang="en-US" sz="1100" dirty="0"/>
          </a:p>
        </p:txBody>
      </p:sp>
      <p:sp>
        <p:nvSpPr>
          <p:cNvPr id="25" name="border-363"/>
          <p:cNvSpPr/>
          <p:nvPr/>
        </p:nvSpPr>
        <p:spPr>
          <a:xfrm>
            <a:off x="5052974" y="4224528"/>
            <a:ext cx="2147011" cy="1449629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26" name="img-k_스마트폰그립-364" descr="k_스마트폰그립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0406" y="4251960"/>
            <a:ext cx="2092147" cy="1394765"/>
          </a:xfrm>
          <a:prstGeom prst="rect">
            <a:avLst/>
          </a:prstGeom>
        </p:spPr>
      </p:pic>
      <p:sp>
        <p:nvSpPr>
          <p:cNvPr id="27" name="text-365"/>
          <p:cNvSpPr txBox="1"/>
          <p:nvPr/>
        </p:nvSpPr>
        <p:spPr>
          <a:xfrm>
            <a:off x="5080406" y="5719877"/>
            <a:ext cx="2092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그립</a:t>
            </a:r>
            <a:endParaRPr lang="en-US" sz="1100" dirty="0"/>
          </a:p>
        </p:txBody>
      </p:sp>
      <p:sp>
        <p:nvSpPr>
          <p:cNvPr id="28" name="border-366"/>
          <p:cNvSpPr/>
          <p:nvPr/>
        </p:nvSpPr>
        <p:spPr>
          <a:xfrm>
            <a:off x="7273138" y="4224528"/>
            <a:ext cx="2147011" cy="1449629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29" name="img-k_알람시계-367" descr="k_알람시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570" y="4251960"/>
            <a:ext cx="2092147" cy="1394765"/>
          </a:xfrm>
          <a:prstGeom prst="rect">
            <a:avLst/>
          </a:prstGeom>
        </p:spPr>
      </p:pic>
      <p:sp>
        <p:nvSpPr>
          <p:cNvPr id="30" name="text-368"/>
          <p:cNvSpPr txBox="1"/>
          <p:nvPr/>
        </p:nvSpPr>
        <p:spPr>
          <a:xfrm>
            <a:off x="7300570" y="5719877"/>
            <a:ext cx="2092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알람시계</a:t>
            </a:r>
            <a:endParaRPr lang="en-US" sz="1100" dirty="0"/>
          </a:p>
        </p:txBody>
      </p:sp>
      <p:sp>
        <p:nvSpPr>
          <p:cNvPr id="31" name="border-369"/>
          <p:cNvSpPr/>
          <p:nvPr/>
        </p:nvSpPr>
        <p:spPr>
          <a:xfrm>
            <a:off x="9493301" y="4224528"/>
            <a:ext cx="2147011" cy="1449629"/>
          </a:xfrm>
          <a:prstGeom prst="rect">
            <a:avLst/>
          </a:prstGeom>
          <a:solidFill>
            <a:srgbClr val="E6D8C3"/>
          </a:solidFill>
          <a:ln/>
        </p:spPr>
      </p:sp>
      <p:pic>
        <p:nvPicPr>
          <p:cNvPr id="32" name="img-k_노트-370" descr="k_노트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0733" y="4251960"/>
            <a:ext cx="2092147" cy="1394765"/>
          </a:xfrm>
          <a:prstGeom prst="rect">
            <a:avLst/>
          </a:prstGeom>
        </p:spPr>
      </p:pic>
      <p:sp>
        <p:nvSpPr>
          <p:cNvPr id="33" name="text-371"/>
          <p:cNvSpPr txBox="1"/>
          <p:nvPr/>
        </p:nvSpPr>
        <p:spPr>
          <a:xfrm>
            <a:off x="9520733" y="5719877"/>
            <a:ext cx="2092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372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-373"/>
          <p:cNvSpPr txBox="1"/>
          <p:nvPr/>
        </p:nvSpPr>
        <p:spPr>
          <a:xfrm>
            <a:off x="640080" y="1188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「…이 검은 사람을 지키기 위해 있다.」</a:t>
            </a:r>
            <a:endParaRPr lang="en-US" sz="3400" dirty="0"/>
          </a:p>
        </p:txBody>
      </p:sp>
      <p:sp>
        <p:nvSpPr>
          <p:cNvPr id="4" name="text-374"/>
          <p:cNvSpPr txBox="1"/>
          <p:nvPr/>
        </p:nvSpPr>
        <p:spPr>
          <a:xfrm>
            <a:off x="640080" y="2240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「삼국무신전」 티저 S#10 김운의 결의</a:t>
            </a:r>
            <a:endParaRPr lang="en-US" sz="1100" dirty="0"/>
          </a:p>
        </p:txBody>
      </p:sp>
      <p:sp>
        <p:nvSpPr>
          <p:cNvPr id="5" name="rect-375"/>
          <p:cNvSpPr/>
          <p:nvPr/>
        </p:nvSpPr>
        <p:spPr>
          <a:xfrm>
            <a:off x="640080" y="3017520"/>
            <a:ext cx="3547872" cy="1325880"/>
          </a:xfrm>
          <a:prstGeom prst="rect">
            <a:avLst/>
          </a:prstGeom>
          <a:solidFill>
            <a:srgbClr val="1A2230">
              <a:alpha val="80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6" name="text-376"/>
          <p:cNvSpPr txBox="1"/>
          <p:nvPr/>
        </p:nvSpPr>
        <p:spPr>
          <a:xfrm>
            <a:off x="91440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5DAE1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세계관 기획</a:t>
            </a:r>
            <a:endParaRPr lang="en-US" sz="1700" dirty="0"/>
          </a:p>
        </p:txBody>
      </p:sp>
      <p:sp>
        <p:nvSpPr>
          <p:cNvPr id="7" name="text-377"/>
          <p:cNvSpPr txBox="1"/>
          <p:nvPr/>
        </p:nvSpPr>
        <p:spPr>
          <a:xfrm>
            <a:off x="91440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대체역사 무협 세계관과 15인 인물 설계</a:t>
            </a:r>
            <a:endParaRPr lang="en-US" sz="1150" dirty="0"/>
          </a:p>
        </p:txBody>
      </p:sp>
      <p:sp>
        <p:nvSpPr>
          <p:cNvPr id="8" name="rect-378"/>
          <p:cNvSpPr/>
          <p:nvPr/>
        </p:nvSpPr>
        <p:spPr>
          <a:xfrm>
            <a:off x="4352544" y="3017520"/>
            <a:ext cx="3547872" cy="1325880"/>
          </a:xfrm>
          <a:prstGeom prst="rect">
            <a:avLst/>
          </a:prstGeom>
          <a:solidFill>
            <a:srgbClr val="1A2230">
              <a:alpha val="80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9" name="text-379"/>
          <p:cNvSpPr txBox="1"/>
          <p:nvPr/>
        </p:nvSpPr>
        <p:spPr>
          <a:xfrm>
            <a:off x="4626864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5DAE1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AI 제작 파이프라인</a:t>
            </a:r>
            <a:endParaRPr lang="en-US" sz="1700" dirty="0"/>
          </a:p>
        </p:txBody>
      </p:sp>
      <p:sp>
        <p:nvSpPr>
          <p:cNvPr id="10" name="text-380"/>
          <p:cNvSpPr txBox="1"/>
          <p:nvPr/>
        </p:nvSpPr>
        <p:spPr>
          <a:xfrm>
            <a:off x="4626864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· 캐릭터 · 영상 · 내레이션 · 음악 · 편집 일괄 제작</a:t>
            </a:r>
            <a:endParaRPr lang="en-US" sz="1150" dirty="0"/>
          </a:p>
        </p:txBody>
      </p:sp>
      <p:sp>
        <p:nvSpPr>
          <p:cNvPr id="11" name="rect-381"/>
          <p:cNvSpPr/>
          <p:nvPr/>
        </p:nvSpPr>
        <p:spPr>
          <a:xfrm>
            <a:off x="8065008" y="3017520"/>
            <a:ext cx="3547872" cy="1325880"/>
          </a:xfrm>
          <a:prstGeom prst="rect">
            <a:avLst/>
          </a:prstGeom>
          <a:solidFill>
            <a:srgbClr val="1A2230">
              <a:alpha val="80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2" name="text-382"/>
          <p:cNvSpPr txBox="1"/>
          <p:nvPr/>
        </p:nvSpPr>
        <p:spPr>
          <a:xfrm>
            <a:off x="8339328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5DAE1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캐릭터 IP</a:t>
            </a:r>
            <a:endParaRPr lang="en-US" sz="1700" dirty="0"/>
          </a:p>
        </p:txBody>
      </p:sp>
      <p:sp>
        <p:nvSpPr>
          <p:cNvPr id="13" name="text-383"/>
          <p:cNvSpPr txBox="1"/>
          <p:nvPr/>
        </p:nvSpPr>
        <p:spPr>
          <a:xfrm>
            <a:off x="8339328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F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 브랜드 · 이모티콘 · 일상툰 · 굿즈 확장</a:t>
            </a:r>
            <a:endParaRPr lang="en-US" sz="1150" dirty="0"/>
          </a:p>
        </p:txBody>
      </p:sp>
      <p:sp>
        <p:nvSpPr>
          <p:cNvPr id="14" name="rect-384"/>
          <p:cNvSpPr/>
          <p:nvPr/>
        </p:nvSpPr>
        <p:spPr>
          <a:xfrm>
            <a:off x="640080" y="4937760"/>
            <a:ext cx="10881360" cy="1143000"/>
          </a:xfrm>
          <a:prstGeom prst="rect">
            <a:avLst/>
          </a:prstGeom>
          <a:solidFill>
            <a:srgbClr val="1A2230">
              <a:alpha val="80000"/>
            </a:srgbClr>
          </a:solidFill>
          <a:ln w="9525">
            <a:solidFill>
              <a:srgbClr val="2E3A4C"/>
            </a:solidFill>
            <a:prstDash val="solid"/>
          </a:ln>
        </p:spPr>
      </p:sp>
      <p:sp>
        <p:nvSpPr>
          <p:cNvPr id="15" name="text-385"/>
          <p:cNvSpPr txBox="1"/>
          <p:nvPr/>
        </p:nvSpPr>
        <p:spPr>
          <a:xfrm>
            <a:off x="96012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7"/>
                </a:solidFill>
                <a:latin typeface="Gungsuh" pitchFamily="34" charset="0"/>
                <a:ea typeface="Gungsuh" pitchFamily="34" charset="-122"/>
                <a:cs typeface="Gungsuh" pitchFamily="34" charset="-120"/>
              </a:rPr>
              <a:t>김은상</a:t>
            </a:r>
            <a:endParaRPr lang="en-US" sz="2200" dirty="0"/>
          </a:p>
        </p:txBody>
      </p:sp>
      <p:sp>
        <p:nvSpPr>
          <p:cNvPr id="16" name="text-386"/>
          <p:cNvSpPr txBox="1"/>
          <p:nvPr/>
        </p:nvSpPr>
        <p:spPr>
          <a:xfrm>
            <a:off x="3108960" y="5074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17" name="blank-line-387"/>
          <p:cNvSpPr/>
          <p:nvPr/>
        </p:nvSpPr>
        <p:spPr>
          <a:xfrm>
            <a:off x="3108960" y="5760720"/>
            <a:ext cx="2377440" cy="0"/>
          </a:xfrm>
          <a:prstGeom prst="line">
            <a:avLst/>
          </a:prstGeom>
          <a:noFill/>
          <a:ln w="12700">
            <a:solidFill>
              <a:srgbClr val="8E96A3"/>
            </a:solidFill>
            <a:prstDash val="solid"/>
          </a:ln>
        </p:spPr>
      </p:sp>
      <p:sp>
        <p:nvSpPr>
          <p:cNvPr id="18" name="text-388"/>
          <p:cNvSpPr txBox="1"/>
          <p:nvPr/>
        </p:nvSpPr>
        <p:spPr>
          <a:xfrm>
            <a:off x="6126480" y="5074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1000" dirty="0"/>
          </a:p>
        </p:txBody>
      </p:sp>
      <p:sp>
        <p:nvSpPr>
          <p:cNvPr id="19" name="blank-line-389"/>
          <p:cNvSpPr/>
          <p:nvPr/>
        </p:nvSpPr>
        <p:spPr>
          <a:xfrm>
            <a:off x="6126480" y="5760720"/>
            <a:ext cx="2377440" cy="0"/>
          </a:xfrm>
          <a:prstGeom prst="line">
            <a:avLst/>
          </a:prstGeom>
          <a:noFill/>
          <a:ln w="12700">
            <a:solidFill>
              <a:srgbClr val="8E96A3"/>
            </a:solidFill>
            <a:prstDash val="solid"/>
          </a:ln>
        </p:spPr>
      </p:sp>
      <p:sp>
        <p:nvSpPr>
          <p:cNvPr id="20" name="text-390"/>
          <p:cNvSpPr txBox="1"/>
          <p:nvPr/>
        </p:nvSpPr>
        <p:spPr>
          <a:xfrm>
            <a:off x="8869680" y="5074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링크</a:t>
            </a:r>
            <a:endParaRPr lang="en-US" sz="1000" dirty="0"/>
          </a:p>
        </p:txBody>
      </p:sp>
      <p:sp>
        <p:nvSpPr>
          <p:cNvPr id="21" name="blank-line-391"/>
          <p:cNvSpPr/>
          <p:nvPr/>
        </p:nvSpPr>
        <p:spPr>
          <a:xfrm>
            <a:off x="8869680" y="5760720"/>
            <a:ext cx="2377440" cy="0"/>
          </a:xfrm>
          <a:prstGeom prst="line">
            <a:avLst/>
          </a:prstGeom>
          <a:noFill/>
          <a:ln w="12700">
            <a:solidFill>
              <a:srgbClr val="8E96A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amguk Musinjeon">
  <a:themeElements>
    <a:clrScheme name="Samguk Musinjeon">
      <a:dk1>
        <a:srgbClr val="0B0F15"/>
      </a:dk1>
      <a:lt1>
        <a:srgbClr val="F2F4F7"/>
      </a:lt1>
      <a:dk2>
        <a:srgbClr val="1A2230"/>
      </a:dk2>
      <a:lt2>
        <a:srgbClr val="D5DAE1"/>
      </a:lt2>
      <a:accent1>
        <a:srgbClr val="D5DAE1"/>
      </a:accent1>
      <a:accent2>
        <a:srgbClr val="C0453A"/>
      </a:accent2>
      <a:accent3>
        <a:srgbClr val="C9A45C"/>
      </a:accent3>
      <a:accent4>
        <a:srgbClr val="8E96A3"/>
      </a:accent4>
      <a:accent5>
        <a:srgbClr val="D9B98A"/>
      </a:accent5>
      <a:accent6>
        <a:srgbClr val="6B4A2E"/>
      </a:accent6>
      <a:hlink>
        <a:srgbClr val="D5DAE1"/>
      </a:hlink>
      <a:folHlink>
        <a:srgbClr val="D5DAE1"/>
      </a:folHlink>
    </a:clrScheme>
    <a:fontScheme name="Samguk Musinjeon">
      <a:majorFont>
        <a:latin typeface="Gungsuh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삼국무신전: 김은상 포트폴리오</dc:title>
  <dc:subject>PptxGenJS Presentation</dc:subject>
  <dc:creator>김은상</dc:creator>
  <cp:lastModifiedBy>김은상</cp:lastModifiedBy>
  <cp:revision>1</cp:revision>
  <dcterms:created xsi:type="dcterms:W3CDTF">2026-10-02T01:54:55Z</dcterms:created>
  <dcterms:modified xsi:type="dcterms:W3CDTF">2026-10-02T01:54:55Z</dcterms:modified>
</cp:coreProperties>
</file>