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37ba9f87-b217-7d2e-b0cc-9317c67696e7}">
          <p14:sldIdLst>
            <p14:sldId id="256"/>
            <p14:sldId id="257"/>
            <p14:sldId id="258"/>
          </p14:sldIdLst>
        </p14:section>
        <p14:section name="01 블랙홀에 기대다" id="{22a834c7-9f75-ee57-a026-cbe99e63816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화투 캐릭터 IP 光" id="{0d0c5566-7e33-8402-54bb-f1cfafe888de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3 어른폰 십팔 Pro" id="{7d571fd5-e77c-05da-5c72-70e517fc7f6b}">
          <p14:sldIdLst>
            <p14:sldId id="275"/>
            <p14:sldId id="276"/>
            <p14:sldId id="277"/>
          </p14:sldIdLst>
        </p14:section>
        <p14:section name="마무리" id="{4e266fb8-dfbb-7cec-0e6a-01b9cc74656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">
    <p:bg>
      <p:bgPr>
        <a:solidFill>
          <a:srgbClr val="F2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김경수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ID">
    <p:bg>
      <p:bgPr>
        <a:solidFill>
          <a:srgbClr val="0F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F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김경수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F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image" Target="../media/image-6-8.jpg"/><Relationship Id="rId9" Type="http://schemas.openxmlformats.org/officeDocument/2006/relationships/image" Target="../media/image-6-9.jp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image" Target="../media/image-7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EtM8_FgEvMgrkCFFMu-GYQKSffDVupvC/view" TargetMode="External"/><Relationship Id="rId4" Type="http://schemas.openxmlformats.org/officeDocument/2006/relationships/hyperlink" Target="https://drive.google.com/file/d/1EtM8_FgEvMgrkCFFMu-GYQKSffDVupvC/view" TargetMode="External"/><Relationship Id="rId6" Type="http://schemas.openxmlformats.org/officeDocument/2006/relationships/hyperlink" Target="https://drive.google.com/file/d/1PhQ_nnpA_qpdteXEd8zWOHMkSZXFxL2Q/view" TargetMode="External"/><Relationship Id="rId7" Type="http://schemas.openxmlformats.org/officeDocument/2006/relationships/hyperlink" Target="https://drive.google.com/file/d/1PhQ_nnpA_qpdteXEd8zWOHMkSZXFxL2Q/view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5" Type="http://schemas.openxmlformats.org/officeDocument/2006/relationships/image" Target="../media/image-13-3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gif"/><Relationship Id="rId3" Type="http://schemas.openxmlformats.org/officeDocument/2006/relationships/image" Target="../media/image-19-3.gif"/><Relationship Id="rId4" Type="http://schemas.openxmlformats.org/officeDocument/2006/relationships/image" Target="../media/image-19-4.gif"/><Relationship Id="rId5" Type="http://schemas.openxmlformats.org/officeDocument/2006/relationships/image" Target="../media/image-19-5.gif"/><Relationship Id="rId6" Type="http://schemas.openxmlformats.org/officeDocument/2006/relationships/image" Target="../media/image-19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아빠와 간호사를 올려다보는 신생아 시점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ir_cover-2" descr="어린 경수와 갠지가 엄지를 세우는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088136"/>
            <a:ext cx="4681728" cy="4681728"/>
          </a:xfrm>
          <a:prstGeom prst="rect">
            <a:avLst/>
          </a:prstGeom>
        </p:spPr>
      </p:pic>
      <p:pic>
        <p:nvPicPr>
          <p:cNvPr id="4" name="ring-3" descr="갠지의 발광 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02920"/>
            <a:ext cx="5852160" cy="5852160"/>
          </a:xfrm>
          <a:prstGeom prst="rect">
            <a:avLst/>
          </a:prstGeom>
        </p:spPr>
      </p:pic>
      <p:sp>
        <p:nvSpPr>
          <p:cNvPr id="5" name="stamp-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CONTENT CREATOR PORTFOLIO</a:t>
            </a:r>
            <a:endParaRPr lang="en-US" sz="1250" dirty="0"/>
          </a:p>
        </p:txBody>
      </p:sp>
      <p:sp>
        <p:nvSpPr>
          <p:cNvPr id="6" name="text-5"/>
          <p:cNvSpPr txBox="1"/>
          <p:nvPr/>
        </p:nvSpPr>
        <p:spPr>
          <a:xfrm>
            <a:off x="64008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김경수</a:t>
            </a:r>
            <a:endParaRPr lang="en-US" sz="6000" dirty="0"/>
          </a:p>
        </p:txBody>
      </p:sp>
      <p:sp>
        <p:nvSpPr>
          <p:cNvPr id="7" name="text-6"/>
          <p:cNvSpPr txBox="1"/>
          <p:nvPr/>
        </p:nvSpPr>
        <p:spPr>
          <a:xfrm>
            <a:off x="64008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3E6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시대의 관계와 기억을 장면으로 설계하는 스토리텔러</a:t>
            </a:r>
            <a:endParaRPr lang="en-US" sz="1700" dirty="0"/>
          </a:p>
        </p:txBody>
      </p:sp>
      <p:sp>
        <p:nvSpPr>
          <p:cNvPr id="8" name="stamp-7"/>
          <p:cNvSpPr txBox="1"/>
          <p:nvPr/>
        </p:nvSpPr>
        <p:spPr>
          <a:xfrm>
            <a:off x="640080" y="3895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No.01</a:t>
            </a:r>
            <a:endParaRPr lang="en-US" sz="1300" dirty="0"/>
          </a:p>
        </p:txBody>
      </p:sp>
      <p:sp>
        <p:nvSpPr>
          <p:cNvPr id="9" name="text-8"/>
          <p:cNvSpPr txBox="1"/>
          <p:nvPr/>
        </p:nvSpPr>
        <p:spPr>
          <a:xfrm>
            <a:off x="1554480" y="3840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「블랙홀에 기대다」</a:t>
            </a:r>
            <a:endParaRPr lang="en-US" sz="1500" dirty="0"/>
          </a:p>
        </p:txBody>
      </p:sp>
      <p:sp>
        <p:nvSpPr>
          <p:cNvPr id="10" name="stamp-9"/>
          <p:cNvSpPr txBox="1"/>
          <p:nvPr/>
        </p:nvSpPr>
        <p:spPr>
          <a:xfrm>
            <a:off x="640080" y="4398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No.02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1554480" y="4343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캐릭터 IP 「光」</a:t>
            </a:r>
            <a:endParaRPr lang="en-US" sz="1500" dirty="0"/>
          </a:p>
        </p:txBody>
      </p:sp>
      <p:sp>
        <p:nvSpPr>
          <p:cNvPr id="12" name="stamp-11"/>
          <p:cNvSpPr txBox="1"/>
          <p:nvPr/>
        </p:nvSpPr>
        <p:spPr>
          <a:xfrm>
            <a:off x="640080" y="4901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No.03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1554480" y="4846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콘티 「어른폰 십팔 Pro」</a:t>
            </a:r>
            <a:endParaRPr lang="en-US" sz="1500" dirty="0"/>
          </a:p>
        </p:txBody>
      </p:sp>
      <p:sp>
        <p:nvSpPr>
          <p:cNvPr id="14" name="text-13"/>
          <p:cNvSpPr txBox="1"/>
          <p:nvPr/>
        </p:nvSpPr>
        <p:spPr>
          <a:xfrm>
            <a:off x="64008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1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1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1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6" name="rect-17"/>
          <p:cNvSpPr/>
          <p:nvPr/>
        </p:nvSpPr>
        <p:spPr>
          <a:xfrm>
            <a:off x="694944" y="1747933"/>
            <a:ext cx="3410712" cy="199053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07_sun-18" descr="해변에서 노을을 바라보는 가족과 갠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30229"/>
            <a:ext cx="3246120" cy="1825943"/>
          </a:xfrm>
          <a:prstGeom prst="rect">
            <a:avLst/>
          </a:prstGeom>
        </p:spPr>
      </p:pic>
      <p:sp>
        <p:nvSpPr>
          <p:cNvPr id="8" name="photo-corner-19"/>
          <p:cNvSpPr/>
          <p:nvPr/>
        </p:nvSpPr>
        <p:spPr>
          <a:xfrm rot="5400000">
            <a:off x="667512" y="1720501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20"/>
          <p:cNvSpPr/>
          <p:nvPr/>
        </p:nvSpPr>
        <p:spPr>
          <a:xfrm rot="10800000">
            <a:off x="3858768" y="1720501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21"/>
          <p:cNvSpPr/>
          <p:nvPr/>
        </p:nvSpPr>
        <p:spPr>
          <a:xfrm rot="16200000">
            <a:off x="3858768" y="3491579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22"/>
          <p:cNvSpPr/>
          <p:nvPr/>
        </p:nvSpPr>
        <p:spPr>
          <a:xfrm>
            <a:off x="667512" y="3491579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23"/>
          <p:cNvSpPr txBox="1"/>
          <p:nvPr/>
        </p:nvSpPr>
        <p:spPr>
          <a:xfrm>
            <a:off x="2011680" y="332698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No.01</a:t>
            </a:r>
            <a:endParaRPr lang="en-US" sz="1200" dirty="0"/>
          </a:p>
        </p:txBody>
      </p:sp>
      <p:sp>
        <p:nvSpPr>
          <p:cNvPr id="13" name="text-24"/>
          <p:cNvSpPr txBox="1"/>
          <p:nvPr/>
        </p:nvSpPr>
        <p:spPr>
          <a:xfrm>
            <a:off x="77724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블랙홀에 기대다</a:t>
            </a:r>
            <a:endParaRPr lang="en-US" sz="1900" dirty="0"/>
          </a:p>
        </p:txBody>
      </p:sp>
      <p:sp>
        <p:nvSpPr>
          <p:cNvPr id="14" name="text-25"/>
          <p:cNvSpPr txBox="1"/>
          <p:nvPr/>
        </p:nvSpPr>
        <p:spPr>
          <a:xfrm>
            <a:off x="77724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필로소피컬 SF 드라마 애니메이션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/ 캐릭터 시트 / 스틸 / 1차 편집본</a:t>
            </a:r>
            <a:endParaRPr lang="en-US" sz="1200" dirty="0"/>
          </a:p>
        </p:txBody>
      </p:sp>
      <p:sp>
        <p:nvSpPr>
          <p:cNvPr id="15" name="rect-26"/>
          <p:cNvSpPr/>
          <p:nvPr/>
        </p:nvSpPr>
        <p:spPr>
          <a:xfrm>
            <a:off x="4741164" y="1700784"/>
            <a:ext cx="272491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6" name="img-m01-27" descr="1월 학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1783080"/>
            <a:ext cx="2560320" cy="1920240"/>
          </a:xfrm>
          <a:prstGeom prst="rect">
            <a:avLst/>
          </a:prstGeom>
        </p:spPr>
      </p:pic>
      <p:sp>
        <p:nvSpPr>
          <p:cNvPr id="17" name="photo-corner-28"/>
          <p:cNvSpPr/>
          <p:nvPr/>
        </p:nvSpPr>
        <p:spPr>
          <a:xfrm rot="5400000">
            <a:off x="4713732" y="16733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29"/>
          <p:cNvSpPr/>
          <p:nvPr/>
        </p:nvSpPr>
        <p:spPr>
          <a:xfrm rot="10800000">
            <a:off x="7219188" y="16733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photo-corner-30"/>
          <p:cNvSpPr/>
          <p:nvPr/>
        </p:nvSpPr>
        <p:spPr>
          <a:xfrm rot="16200000">
            <a:off x="7219188" y="353872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0" name="photo-corner-31"/>
          <p:cNvSpPr/>
          <p:nvPr/>
        </p:nvSpPr>
        <p:spPr>
          <a:xfrm>
            <a:off x="4713732" y="353872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1" name="stamp-32"/>
          <p:cNvSpPr txBox="1"/>
          <p:nvPr/>
        </p:nvSpPr>
        <p:spPr>
          <a:xfrm>
            <a:off x="5372100" y="3374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No.02</a:t>
            </a:r>
            <a:endParaRPr lang="en-US" sz="1200" dirty="0"/>
          </a:p>
        </p:txBody>
      </p:sp>
      <p:sp>
        <p:nvSpPr>
          <p:cNvPr id="22" name="text-33"/>
          <p:cNvSpPr txBox="1"/>
          <p:nvPr/>
        </p:nvSpPr>
        <p:spPr>
          <a:xfrm>
            <a:off x="448056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캐릭터 IP 「光」</a:t>
            </a:r>
            <a:endParaRPr lang="en-US" sz="1900" dirty="0"/>
          </a:p>
        </p:txBody>
      </p:sp>
      <p:sp>
        <p:nvSpPr>
          <p:cNvPr id="23" name="text-34"/>
          <p:cNvSpPr txBox="1"/>
          <p:nvPr/>
        </p:nvSpPr>
        <p:spPr>
          <a:xfrm>
            <a:off x="448056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그림 속 동물 캐릭터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 / 일상툰 / 이모티콘 / 굿즈</a:t>
            </a:r>
            <a:endParaRPr lang="en-US" sz="1200" dirty="0"/>
          </a:p>
        </p:txBody>
      </p:sp>
      <p:sp>
        <p:nvSpPr>
          <p:cNvPr id="24" name="rect-35"/>
          <p:cNvSpPr/>
          <p:nvPr/>
        </p:nvSpPr>
        <p:spPr>
          <a:xfrm>
            <a:off x="8101584" y="1742297"/>
            <a:ext cx="3410712" cy="200180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5" name="img-sb22-36" descr="스토어 안 사과나무를 발견하는 콘티 컷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824593"/>
            <a:ext cx="3246120" cy="1837214"/>
          </a:xfrm>
          <a:prstGeom prst="rect">
            <a:avLst/>
          </a:prstGeom>
        </p:spPr>
      </p:pic>
      <p:sp>
        <p:nvSpPr>
          <p:cNvPr id="26" name="photo-corner-37"/>
          <p:cNvSpPr/>
          <p:nvPr/>
        </p:nvSpPr>
        <p:spPr>
          <a:xfrm rot="5400000">
            <a:off x="8074152" y="1714865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7" name="photo-corner-38"/>
          <p:cNvSpPr/>
          <p:nvPr/>
        </p:nvSpPr>
        <p:spPr>
          <a:xfrm rot="10800000">
            <a:off x="11265408" y="1714865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photo-corner-39"/>
          <p:cNvSpPr/>
          <p:nvPr/>
        </p:nvSpPr>
        <p:spPr>
          <a:xfrm rot="16200000">
            <a:off x="11265408" y="3497215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9" name="photo-corner-40"/>
          <p:cNvSpPr/>
          <p:nvPr/>
        </p:nvSpPr>
        <p:spPr>
          <a:xfrm>
            <a:off x="8074152" y="3497215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stamp-41"/>
          <p:cNvSpPr txBox="1"/>
          <p:nvPr/>
        </p:nvSpPr>
        <p:spPr>
          <a:xfrm>
            <a:off x="9418320" y="333262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No.03</a:t>
            </a:r>
            <a:endParaRPr lang="en-US" sz="1200" dirty="0"/>
          </a:p>
        </p:txBody>
      </p:sp>
      <p:sp>
        <p:nvSpPr>
          <p:cNvPr id="31" name="text-42"/>
          <p:cNvSpPr txBox="1"/>
          <p:nvPr/>
        </p:nvSpPr>
        <p:spPr>
          <a:xfrm>
            <a:off x="818388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어른폰 십팔 Pro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콘티</a:t>
            </a:r>
            <a:endParaRPr lang="en-US" sz="1900" dirty="0"/>
          </a:p>
        </p:txBody>
      </p:sp>
      <p:sp>
        <p:nvSpPr>
          <p:cNvPr id="32" name="text-43"/>
          <p:cNvSpPr txBox="1"/>
          <p:nvPr/>
        </p:nvSpPr>
        <p:spPr>
          <a:xfrm>
            <a:off x="8183880" y="4983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언어유희 티저 광고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 스토리보드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4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4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4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서사 기획부터 캐릭터, 광고 콘티까지 아우르는 역량</a:t>
            </a:r>
            <a:endParaRPr lang="en-US" sz="2600" dirty="0"/>
          </a:p>
        </p:txBody>
      </p:sp>
      <p:sp>
        <p:nvSpPr>
          <p:cNvPr id="6" name="rect-47"/>
          <p:cNvSpPr/>
          <p:nvPr/>
        </p:nvSpPr>
        <p:spPr>
          <a:xfrm>
            <a:off x="640080" y="1783080"/>
            <a:ext cx="2587752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7" name="photo-corner-48"/>
          <p:cNvSpPr/>
          <p:nvPr/>
        </p:nvSpPr>
        <p:spPr>
          <a:xfrm rot="5400000">
            <a:off x="612648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8" name="photo-corner-49"/>
          <p:cNvSpPr/>
          <p:nvPr/>
        </p:nvSpPr>
        <p:spPr>
          <a:xfrm rot="10800000">
            <a:off x="2980944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50"/>
          <p:cNvSpPr/>
          <p:nvPr/>
        </p:nvSpPr>
        <p:spPr>
          <a:xfrm rot="16200000">
            <a:off x="2980944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51"/>
          <p:cNvSpPr/>
          <p:nvPr/>
        </p:nvSpPr>
        <p:spPr>
          <a:xfrm>
            <a:off x="612648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stamp-52"/>
          <p:cNvSpPr txBox="1"/>
          <p:nvPr/>
        </p:nvSpPr>
        <p:spPr>
          <a:xfrm>
            <a:off x="91440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ring-dot-53"/>
          <p:cNvSpPr/>
          <p:nvPr/>
        </p:nvSpPr>
        <p:spPr>
          <a:xfrm>
            <a:off x="2660904" y="2286000"/>
            <a:ext cx="329184" cy="32918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13" name="text-54"/>
          <p:cNvSpPr txBox="1"/>
          <p:nvPr/>
        </p:nvSpPr>
        <p:spPr>
          <a:xfrm>
            <a:off x="914400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철학적 서사 기획</a:t>
            </a:r>
            <a:endParaRPr lang="en-US" sz="1850" dirty="0"/>
          </a:p>
        </p:txBody>
      </p:sp>
      <p:sp>
        <p:nvSpPr>
          <p:cNvPr id="14" name="text-55"/>
          <p:cNvSpPr txBox="1"/>
          <p:nvPr/>
        </p:nvSpPr>
        <p:spPr>
          <a:xfrm>
            <a:off x="914400" y="356616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인간의 기억 비대칭을 한 사람의 일생으로 확장한 SF 드라마 기획</a:t>
            </a:r>
            <a:endParaRPr lang="en-US" sz="1350" dirty="0"/>
          </a:p>
        </p:txBody>
      </p:sp>
      <p:sp>
        <p:nvSpPr>
          <p:cNvPr id="15" name="rect-56"/>
          <p:cNvSpPr/>
          <p:nvPr/>
        </p:nvSpPr>
        <p:spPr>
          <a:xfrm>
            <a:off x="3410712" y="1783080"/>
            <a:ext cx="2587752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16" name="photo-corner-57"/>
          <p:cNvSpPr/>
          <p:nvPr/>
        </p:nvSpPr>
        <p:spPr>
          <a:xfrm rot="5400000">
            <a:off x="3383280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7" name="photo-corner-58"/>
          <p:cNvSpPr/>
          <p:nvPr/>
        </p:nvSpPr>
        <p:spPr>
          <a:xfrm rot="10800000">
            <a:off x="5751576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59"/>
          <p:cNvSpPr/>
          <p:nvPr/>
        </p:nvSpPr>
        <p:spPr>
          <a:xfrm rot="16200000">
            <a:off x="5751576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photo-corner-60"/>
          <p:cNvSpPr/>
          <p:nvPr/>
        </p:nvSpPr>
        <p:spPr>
          <a:xfrm>
            <a:off x="3383280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0" name="stamp-61"/>
          <p:cNvSpPr txBox="1"/>
          <p:nvPr/>
        </p:nvSpPr>
        <p:spPr>
          <a:xfrm>
            <a:off x="3685032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ring-dot-62"/>
          <p:cNvSpPr/>
          <p:nvPr/>
        </p:nvSpPr>
        <p:spPr>
          <a:xfrm>
            <a:off x="5431536" y="2286000"/>
            <a:ext cx="329184" cy="32918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22" name="text-63"/>
          <p:cNvSpPr txBox="1"/>
          <p:nvPr/>
        </p:nvSpPr>
        <p:spPr>
          <a:xfrm>
            <a:off x="3685032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무대사 영상 연출</a:t>
            </a:r>
            <a:endParaRPr lang="en-US" sz="1850" dirty="0"/>
          </a:p>
        </p:txBody>
      </p:sp>
      <p:sp>
        <p:nvSpPr>
          <p:cNvPr id="23" name="text-64"/>
          <p:cNvSpPr txBox="1"/>
          <p:nvPr/>
        </p:nvSpPr>
        <p:spPr>
          <a:xfrm>
            <a:off x="3685032" y="356616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15씬 전체를 샷 / 구도 / 카메라 / 지문만으로 설계한 감정 중심 시나리오</a:t>
            </a:r>
            <a:endParaRPr lang="en-US" sz="1350" dirty="0"/>
          </a:p>
        </p:txBody>
      </p:sp>
      <p:sp>
        <p:nvSpPr>
          <p:cNvPr id="24" name="rect-65"/>
          <p:cNvSpPr/>
          <p:nvPr/>
        </p:nvSpPr>
        <p:spPr>
          <a:xfrm>
            <a:off x="6181344" y="1783080"/>
            <a:ext cx="2587752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25" name="photo-corner-66"/>
          <p:cNvSpPr/>
          <p:nvPr/>
        </p:nvSpPr>
        <p:spPr>
          <a:xfrm rot="5400000">
            <a:off x="6153912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photo-corner-67"/>
          <p:cNvSpPr/>
          <p:nvPr/>
        </p:nvSpPr>
        <p:spPr>
          <a:xfrm rot="10800000">
            <a:off x="8522208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7" name="photo-corner-68"/>
          <p:cNvSpPr/>
          <p:nvPr/>
        </p:nvSpPr>
        <p:spPr>
          <a:xfrm rot="16200000">
            <a:off x="8522208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photo-corner-69"/>
          <p:cNvSpPr/>
          <p:nvPr/>
        </p:nvSpPr>
        <p:spPr>
          <a:xfrm>
            <a:off x="6153912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9" name="stamp-70"/>
          <p:cNvSpPr txBox="1"/>
          <p:nvPr/>
        </p:nvSpPr>
        <p:spPr>
          <a:xfrm>
            <a:off x="6455664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30" name="ring-dot-71"/>
          <p:cNvSpPr/>
          <p:nvPr/>
        </p:nvSpPr>
        <p:spPr>
          <a:xfrm>
            <a:off x="8202168" y="2286000"/>
            <a:ext cx="329184" cy="32918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31" name="text-72"/>
          <p:cNvSpPr txBox="1"/>
          <p:nvPr/>
        </p:nvSpPr>
        <p:spPr>
          <a:xfrm>
            <a:off x="6455664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디자인</a:t>
            </a:r>
            <a:endParaRPr lang="en-US" sz="1850" dirty="0"/>
          </a:p>
        </p:txBody>
      </p:sp>
      <p:sp>
        <p:nvSpPr>
          <p:cNvPr id="32" name="text-73"/>
          <p:cNvSpPr txBox="1"/>
          <p:nvPr/>
        </p:nvSpPr>
        <p:spPr>
          <a:xfrm>
            <a:off x="6455664" y="356616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AI툴을 활용한 8단계 연령 시트와 화투 동물 캐릭터 라인업으로 일관된 캐릭터 설계</a:t>
            </a:r>
            <a:endParaRPr lang="en-US" sz="1350" dirty="0"/>
          </a:p>
        </p:txBody>
      </p:sp>
      <p:sp>
        <p:nvSpPr>
          <p:cNvPr id="33" name="rect-74"/>
          <p:cNvSpPr/>
          <p:nvPr/>
        </p:nvSpPr>
        <p:spPr>
          <a:xfrm>
            <a:off x="8951976" y="1783080"/>
            <a:ext cx="2587752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34" name="photo-corner-75"/>
          <p:cNvSpPr/>
          <p:nvPr/>
        </p:nvSpPr>
        <p:spPr>
          <a:xfrm rot="5400000">
            <a:off x="8924544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5" name="photo-corner-76"/>
          <p:cNvSpPr/>
          <p:nvPr/>
        </p:nvSpPr>
        <p:spPr>
          <a:xfrm rot="10800000">
            <a:off x="11292840" y="17556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6" name="photo-corner-77"/>
          <p:cNvSpPr/>
          <p:nvPr/>
        </p:nvSpPr>
        <p:spPr>
          <a:xfrm rot="16200000">
            <a:off x="11292840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78"/>
          <p:cNvSpPr/>
          <p:nvPr/>
        </p:nvSpPr>
        <p:spPr>
          <a:xfrm>
            <a:off x="8924544" y="55595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stamp-79"/>
          <p:cNvSpPr txBox="1"/>
          <p:nvPr/>
        </p:nvSpPr>
        <p:spPr>
          <a:xfrm>
            <a:off x="9226296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39" name="ring-dot-80"/>
          <p:cNvSpPr/>
          <p:nvPr/>
        </p:nvSpPr>
        <p:spPr>
          <a:xfrm>
            <a:off x="10972800" y="2286000"/>
            <a:ext cx="329184" cy="32918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40" name="text-81"/>
          <p:cNvSpPr txBox="1"/>
          <p:nvPr/>
        </p:nvSpPr>
        <p:spPr>
          <a:xfrm>
            <a:off x="9226296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콘티</a:t>
            </a:r>
            <a:endParaRPr lang="en-US" sz="1850" dirty="0"/>
          </a:p>
        </p:txBody>
      </p:sp>
      <p:sp>
        <p:nvSpPr>
          <p:cNvPr id="41" name="text-82"/>
          <p:cNvSpPr txBox="1"/>
          <p:nvPr/>
        </p:nvSpPr>
        <p:spPr>
          <a:xfrm>
            <a:off x="9226296" y="3566160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언어유희 반전 구조의 8컷 숏폼 광고 스토리보드 설계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1_bg-83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ir_sun-84" descr="노을 진 해변에서 엄마가 아빠 어깨에 기대는 뒷모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307592"/>
            <a:ext cx="4242816" cy="4242816"/>
          </a:xfrm>
          <a:prstGeom prst="rect">
            <a:avLst/>
          </a:prstGeom>
        </p:spPr>
      </p:pic>
      <p:pic>
        <p:nvPicPr>
          <p:cNvPr id="4" name="ring-85" descr="갠지의 발광 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5303520" cy="5303520"/>
          </a:xfrm>
          <a:prstGeom prst="rect">
            <a:avLst/>
          </a:prstGeom>
        </p:spPr>
      </p:pic>
      <p:sp>
        <p:nvSpPr>
          <p:cNvPr id="5" name="stamp-86"/>
          <p:cNvSpPr txBox="1"/>
          <p:nvPr/>
        </p:nvSpPr>
        <p:spPr>
          <a:xfrm>
            <a:off x="64922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No.01</a:t>
            </a:r>
            <a:endParaRPr lang="en-US" sz="2600" dirty="0"/>
          </a:p>
        </p:txBody>
      </p:sp>
      <p:sp>
        <p:nvSpPr>
          <p:cNvPr id="6" name="text-87"/>
          <p:cNvSpPr txBox="1"/>
          <p:nvPr/>
        </p:nvSpPr>
        <p:spPr>
          <a:xfrm>
            <a:off x="651052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6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100" dirty="0"/>
          </a:p>
        </p:txBody>
      </p:sp>
      <p:sp>
        <p:nvSpPr>
          <p:cNvPr id="7" name="text-88"/>
          <p:cNvSpPr txBox="1"/>
          <p:nvPr/>
        </p:nvSpPr>
        <p:spPr>
          <a:xfrm>
            <a:off x="6492240" y="237744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블랙홀에 기대다</a:t>
            </a:r>
            <a:endParaRPr lang="en-US" sz="3800" dirty="0"/>
          </a:p>
        </p:txBody>
      </p:sp>
      <p:sp>
        <p:nvSpPr>
          <p:cNvPr id="8" name="rule-89"/>
          <p:cNvSpPr/>
          <p:nvPr/>
        </p:nvSpPr>
        <p:spPr>
          <a:xfrm>
            <a:off x="6510528" y="4114800"/>
            <a:ext cx="1005840" cy="0"/>
          </a:xfrm>
          <a:prstGeom prst="line">
            <a:avLst/>
          </a:prstGeom>
          <a:noFill/>
          <a:ln w="31750">
            <a:solidFill>
              <a:srgbClr val="46D3E6"/>
            </a:solidFill>
            <a:prstDash val="solid"/>
          </a:ln>
        </p:spPr>
      </p:sp>
      <p:sp>
        <p:nvSpPr>
          <p:cNvPr id="9" name="text-90"/>
          <p:cNvSpPr txBox="1"/>
          <p:nvPr/>
        </p:nvSpPr>
        <p:spPr>
          <a:xfrm>
            <a:off x="6492240" y="4343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3E6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기록은 완벽하다. 기억만 없을 뿐</a:t>
            </a:r>
            <a:endParaRPr lang="en-US" sz="1600" dirty="0"/>
          </a:p>
        </p:txBody>
      </p:sp>
      <p:sp>
        <p:nvSpPr>
          <p:cNvPr id="10" name="text-91"/>
          <p:cNvSpPr txBox="1"/>
          <p:nvPr/>
        </p:nvSpPr>
        <p:spPr>
          <a:xfrm>
            <a:off x="649224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필로소피컬 SF 드라마 애니메이션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9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93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94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인간의 기억 비대칭을 그린 필로소피컬 SF 드라마</a:t>
            </a:r>
            <a:endParaRPr lang="en-US" sz="2600" dirty="0"/>
          </a:p>
        </p:txBody>
      </p:sp>
      <p:sp>
        <p:nvSpPr>
          <p:cNvPr id="6" name="rect-95"/>
          <p:cNvSpPr/>
          <p:nvPr/>
        </p:nvSpPr>
        <p:spPr>
          <a:xfrm>
            <a:off x="558800" y="1655064"/>
            <a:ext cx="5008880" cy="2889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07_sun-96" descr="가족 넷이 나란히 앉아 노을을 바라보는 뒷모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96" y="1737360"/>
            <a:ext cx="4844288" cy="2724912"/>
          </a:xfrm>
          <a:prstGeom prst="rect">
            <a:avLst/>
          </a:prstGeom>
        </p:spPr>
      </p:pic>
      <p:sp>
        <p:nvSpPr>
          <p:cNvPr id="8" name="photo-corner-97"/>
          <p:cNvSpPr/>
          <p:nvPr/>
        </p:nvSpPr>
        <p:spPr>
          <a:xfrm rot="5400000">
            <a:off x="531368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98"/>
          <p:cNvSpPr/>
          <p:nvPr/>
        </p:nvSpPr>
        <p:spPr>
          <a:xfrm rot="10800000">
            <a:off x="5320792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99"/>
          <p:cNvSpPr/>
          <p:nvPr/>
        </p:nvSpPr>
        <p:spPr>
          <a:xfrm rot="16200000">
            <a:off x="5320792" y="4297680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100"/>
          <p:cNvSpPr/>
          <p:nvPr/>
        </p:nvSpPr>
        <p:spPr>
          <a:xfrm>
            <a:off x="531368" y="4297680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101"/>
          <p:cNvSpPr txBox="1"/>
          <p:nvPr/>
        </p:nvSpPr>
        <p:spPr>
          <a:xfrm>
            <a:off x="3473704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S#07 C#01</a:t>
            </a:r>
            <a:endParaRPr lang="en-US" sz="1100" dirty="0"/>
          </a:p>
        </p:txBody>
      </p:sp>
      <p:sp>
        <p:nvSpPr>
          <p:cNvPr id="13" name="text-102"/>
          <p:cNvSpPr txBox="1"/>
          <p:nvPr/>
        </p:nvSpPr>
        <p:spPr>
          <a:xfrm>
            <a:off x="64008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 가제 「혼자만의 추억」</a:t>
            </a:r>
            <a:endParaRPr lang="en-US" sz="1100" dirty="0"/>
          </a:p>
        </p:txBody>
      </p:sp>
      <p:sp>
        <p:nvSpPr>
          <p:cNvPr id="14" name="stamp-103"/>
          <p:cNvSpPr txBox="1"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LOGLINE</a:t>
            </a:r>
            <a:endParaRPr lang="en-US" sz="1100" dirty="0"/>
          </a:p>
        </p:txBody>
      </p:sp>
      <p:sp>
        <p:nvSpPr>
          <p:cNvPr id="15" name="text-104"/>
          <p:cNvSpPr txBox="1"/>
          <p:nvPr/>
        </p:nvSpPr>
        <p:spPr>
          <a:xfrm>
            <a:off x="5897880" y="1965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기록은 완벽하다. 기억만 없을 뿐</a:t>
            </a:r>
            <a:endParaRPr lang="en-US" sz="2200" dirty="0"/>
          </a:p>
        </p:txBody>
      </p:sp>
      <p:sp>
        <p:nvSpPr>
          <p:cNvPr id="16" name="text-105"/>
          <p:cNvSpPr txBox="1"/>
          <p:nvPr/>
        </p:nvSpPr>
        <p:spPr>
          <a:xfrm>
            <a:off x="589788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50" dirty="0"/>
          </a:p>
        </p:txBody>
      </p:sp>
      <p:sp>
        <p:nvSpPr>
          <p:cNvPr id="17" name="text-106"/>
          <p:cNvSpPr txBox="1"/>
          <p:nvPr/>
        </p:nvSpPr>
        <p:spPr>
          <a:xfrm>
            <a:off x="685800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필로소피컬 SF 드라마</a:t>
            </a:r>
            <a:endParaRPr lang="en-US" sz="1350" dirty="0"/>
          </a:p>
        </p:txBody>
      </p:sp>
      <p:sp>
        <p:nvSpPr>
          <p:cNvPr id="18" name="rule-107"/>
          <p:cNvSpPr/>
          <p:nvPr/>
        </p:nvSpPr>
        <p:spPr>
          <a:xfrm>
            <a:off x="5897880" y="3090672"/>
            <a:ext cx="5623560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19" name="text-108"/>
          <p:cNvSpPr txBox="1"/>
          <p:nvPr/>
        </p:nvSpPr>
        <p:spPr>
          <a:xfrm>
            <a:off x="5897880" y="3118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50" dirty="0"/>
          </a:p>
        </p:txBody>
      </p:sp>
      <p:sp>
        <p:nvSpPr>
          <p:cNvPr id="20" name="text-109"/>
          <p:cNvSpPr txBox="1"/>
          <p:nvPr/>
        </p:nvSpPr>
        <p:spPr>
          <a:xfrm>
            <a:off x="6858000" y="31181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 / 유튜브 / 광고</a:t>
            </a:r>
            <a:endParaRPr lang="en-US" sz="1350" dirty="0"/>
          </a:p>
        </p:txBody>
      </p:sp>
      <p:sp>
        <p:nvSpPr>
          <p:cNvPr id="21" name="rule-110"/>
          <p:cNvSpPr/>
          <p:nvPr/>
        </p:nvSpPr>
        <p:spPr>
          <a:xfrm>
            <a:off x="5897880" y="3511296"/>
            <a:ext cx="5623560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2" name="text-111"/>
          <p:cNvSpPr txBox="1"/>
          <p:nvPr/>
        </p:nvSpPr>
        <p:spPr>
          <a:xfrm>
            <a:off x="5897880" y="3538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50" dirty="0"/>
          </a:p>
        </p:txBody>
      </p:sp>
      <p:sp>
        <p:nvSpPr>
          <p:cNvPr id="23" name="text-112"/>
          <p:cNvSpPr txBox="1"/>
          <p:nvPr/>
        </p:nvSpPr>
        <p:spPr>
          <a:xfrm>
            <a:off x="685800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10대 후반~40대, AI를 일상적으로 사용하는 세대</a:t>
            </a:r>
            <a:endParaRPr lang="en-US" sz="1350" dirty="0"/>
          </a:p>
        </p:txBody>
      </p:sp>
      <p:sp>
        <p:nvSpPr>
          <p:cNvPr id="24" name="rule-113"/>
          <p:cNvSpPr/>
          <p:nvPr/>
        </p:nvSpPr>
        <p:spPr>
          <a:xfrm>
            <a:off x="5897880" y="3931920"/>
            <a:ext cx="5623560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5" name="text-114"/>
          <p:cNvSpPr txBox="1"/>
          <p:nvPr/>
        </p:nvSpPr>
        <p:spPr>
          <a:xfrm>
            <a:off x="5897880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50" dirty="0"/>
          </a:p>
        </p:txBody>
      </p:sp>
      <p:sp>
        <p:nvSpPr>
          <p:cNvPr id="26" name="text-115"/>
          <p:cNvSpPr txBox="1"/>
          <p:nvPr/>
        </p:nvSpPr>
        <p:spPr>
          <a:xfrm>
            <a:off x="6858000" y="3959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15씬, 발단 / 전개 / 위기·절정 / 결말</a:t>
            </a:r>
            <a:endParaRPr lang="en-US" sz="1350" dirty="0"/>
          </a:p>
        </p:txBody>
      </p:sp>
      <p:sp>
        <p:nvSpPr>
          <p:cNvPr id="27" name="rule-116"/>
          <p:cNvSpPr/>
          <p:nvPr/>
        </p:nvSpPr>
        <p:spPr>
          <a:xfrm>
            <a:off x="5897880" y="4352544"/>
            <a:ext cx="5623560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8" name="stamp-117"/>
          <p:cNvSpPr txBox="1"/>
          <p:nvPr/>
        </p:nvSpPr>
        <p:spPr>
          <a:xfrm>
            <a:off x="589788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9" name="ring-dot-118"/>
          <p:cNvSpPr/>
          <p:nvPr/>
        </p:nvSpPr>
        <p:spPr>
          <a:xfrm>
            <a:off x="5897880" y="493204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0" name="bullet-119"/>
          <p:cNvSpPr txBox="1"/>
          <p:nvPr/>
        </p:nvSpPr>
        <p:spPr>
          <a:xfrm>
            <a:off x="6190488" y="4846320"/>
            <a:ext cx="5376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감정의 기억은 인간에게만 쌓이고 AI는 리셋되는 비대칭 구조를 사람 사이의 관계로 확장</a:t>
            </a:r>
            <a:endParaRPr lang="en-US" sz="1350" dirty="0"/>
          </a:p>
        </p:txBody>
      </p:sp>
      <p:sp>
        <p:nvSpPr>
          <p:cNvPr id="31" name="ring-dot-120"/>
          <p:cNvSpPr/>
          <p:nvPr/>
        </p:nvSpPr>
        <p:spPr>
          <a:xfrm>
            <a:off x="5897880" y="5553837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2" name="bullet-121"/>
          <p:cNvSpPr txBox="1"/>
          <p:nvPr/>
        </p:nvSpPr>
        <p:spPr>
          <a:xfrm>
            <a:off x="6190488" y="5468112"/>
            <a:ext cx="5376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순간의 진심과 그 기억이 살아가는 원동력이라는 메시지 전달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12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123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124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유아기부터 노년까지, 8단계 연령 시트로 설계한 주인공 경수</a:t>
            </a:r>
            <a:endParaRPr lang="en-US" sz="2600" dirty="0"/>
          </a:p>
        </p:txBody>
      </p:sp>
      <p:sp>
        <p:nvSpPr>
          <p:cNvPr id="6" name="rect-125"/>
          <p:cNvSpPr/>
          <p:nvPr/>
        </p:nvSpPr>
        <p:spPr>
          <a:xfrm rot="-90000">
            <a:off x="685800" y="169164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age-126" descr="신생아 경수 얼굴 클로즈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371600" cy="1616529"/>
          </a:xfrm>
          <a:prstGeom prst="rect">
            <a:avLst/>
          </a:prstGeom>
        </p:spPr>
      </p:pic>
      <p:sp>
        <p:nvSpPr>
          <p:cNvPr id="8" name="text-127"/>
          <p:cNvSpPr txBox="1"/>
          <p:nvPr/>
        </p:nvSpPr>
        <p:spPr>
          <a:xfrm>
            <a:off x="777240" y="345447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신생아</a:t>
            </a:r>
            <a:endParaRPr lang="en-US" sz="1100" dirty="0"/>
          </a:p>
        </p:txBody>
      </p:sp>
      <p:sp>
        <p:nvSpPr>
          <p:cNvPr id="9" name="stamp-128"/>
          <p:cNvSpPr txBox="1"/>
          <p:nvPr/>
        </p:nvSpPr>
        <p:spPr>
          <a:xfrm>
            <a:off x="777240" y="367392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0세</a:t>
            </a:r>
            <a:endParaRPr lang="en-US" sz="1000" dirty="0"/>
          </a:p>
        </p:txBody>
      </p:sp>
      <p:sp>
        <p:nvSpPr>
          <p:cNvPr id="10" name="rect-129"/>
          <p:cNvSpPr/>
          <p:nvPr/>
        </p:nvSpPr>
        <p:spPr>
          <a:xfrm rot="60000">
            <a:off x="2606040" y="169164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1" name="age-130" descr="유치원생 경수 얼굴 클로즈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783080"/>
            <a:ext cx="1371600" cy="1616529"/>
          </a:xfrm>
          <a:prstGeom prst="rect">
            <a:avLst/>
          </a:prstGeom>
        </p:spPr>
      </p:pic>
      <p:sp>
        <p:nvSpPr>
          <p:cNvPr id="12" name="text-131"/>
          <p:cNvSpPr txBox="1"/>
          <p:nvPr/>
        </p:nvSpPr>
        <p:spPr>
          <a:xfrm>
            <a:off x="2697480" y="345447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유치원생</a:t>
            </a:r>
            <a:endParaRPr lang="en-US" sz="1100" dirty="0"/>
          </a:p>
        </p:txBody>
      </p:sp>
      <p:sp>
        <p:nvSpPr>
          <p:cNvPr id="13" name="stamp-132"/>
          <p:cNvSpPr txBox="1"/>
          <p:nvPr/>
        </p:nvSpPr>
        <p:spPr>
          <a:xfrm>
            <a:off x="2697480" y="367392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5~6세</a:t>
            </a:r>
            <a:endParaRPr lang="en-US" sz="1000" dirty="0"/>
          </a:p>
        </p:txBody>
      </p:sp>
      <p:sp>
        <p:nvSpPr>
          <p:cNvPr id="14" name="rect-133"/>
          <p:cNvSpPr/>
          <p:nvPr/>
        </p:nvSpPr>
        <p:spPr>
          <a:xfrm rot="-30000">
            <a:off x="4526280" y="169164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5" name="age-134" descr="초등학생 경수 얼굴 클로즈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783080"/>
            <a:ext cx="1371600" cy="1616529"/>
          </a:xfrm>
          <a:prstGeom prst="rect">
            <a:avLst/>
          </a:prstGeom>
        </p:spPr>
      </p:pic>
      <p:sp>
        <p:nvSpPr>
          <p:cNvPr id="16" name="text-135"/>
          <p:cNvSpPr txBox="1"/>
          <p:nvPr/>
        </p:nvSpPr>
        <p:spPr>
          <a:xfrm>
            <a:off x="4617720" y="345447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초등학생</a:t>
            </a:r>
            <a:endParaRPr lang="en-US" sz="1100" dirty="0"/>
          </a:p>
        </p:txBody>
      </p:sp>
      <p:sp>
        <p:nvSpPr>
          <p:cNvPr id="17" name="stamp-136"/>
          <p:cNvSpPr txBox="1"/>
          <p:nvPr/>
        </p:nvSpPr>
        <p:spPr>
          <a:xfrm>
            <a:off x="4617720" y="367392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10~11세</a:t>
            </a:r>
            <a:endParaRPr lang="en-US" sz="1000" dirty="0"/>
          </a:p>
        </p:txBody>
      </p:sp>
      <p:sp>
        <p:nvSpPr>
          <p:cNvPr id="18" name="rect-137"/>
          <p:cNvSpPr/>
          <p:nvPr/>
        </p:nvSpPr>
        <p:spPr>
          <a:xfrm rot="90000">
            <a:off x="6446520" y="169164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9" name="age-138" descr="중학생 경수 얼굴 클로즈업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83080"/>
            <a:ext cx="1371600" cy="1616529"/>
          </a:xfrm>
          <a:prstGeom prst="rect">
            <a:avLst/>
          </a:prstGeom>
        </p:spPr>
      </p:pic>
      <p:sp>
        <p:nvSpPr>
          <p:cNvPr id="20" name="text-139"/>
          <p:cNvSpPr txBox="1"/>
          <p:nvPr/>
        </p:nvSpPr>
        <p:spPr>
          <a:xfrm>
            <a:off x="6537960" y="345447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중학생</a:t>
            </a:r>
            <a:endParaRPr lang="en-US" sz="1100" dirty="0"/>
          </a:p>
        </p:txBody>
      </p:sp>
      <p:sp>
        <p:nvSpPr>
          <p:cNvPr id="21" name="stamp-140"/>
          <p:cNvSpPr txBox="1"/>
          <p:nvPr/>
        </p:nvSpPr>
        <p:spPr>
          <a:xfrm>
            <a:off x="6537960" y="367392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13~15세</a:t>
            </a:r>
            <a:endParaRPr lang="en-US" sz="1000" dirty="0"/>
          </a:p>
        </p:txBody>
      </p:sp>
      <p:sp>
        <p:nvSpPr>
          <p:cNvPr id="22" name="rect-141"/>
          <p:cNvSpPr/>
          <p:nvPr/>
        </p:nvSpPr>
        <p:spPr>
          <a:xfrm rot="60000">
            <a:off x="685800" y="402336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3" name="age-142" descr="고등학생 경수 얼굴 클로즈업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14800"/>
            <a:ext cx="1371600" cy="1616529"/>
          </a:xfrm>
          <a:prstGeom prst="rect">
            <a:avLst/>
          </a:prstGeom>
        </p:spPr>
      </p:pic>
      <p:sp>
        <p:nvSpPr>
          <p:cNvPr id="24" name="text-143"/>
          <p:cNvSpPr txBox="1"/>
          <p:nvPr/>
        </p:nvSpPr>
        <p:spPr>
          <a:xfrm>
            <a:off x="777240" y="578619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고등학생</a:t>
            </a:r>
            <a:endParaRPr lang="en-US" sz="1100" dirty="0"/>
          </a:p>
        </p:txBody>
      </p:sp>
      <p:sp>
        <p:nvSpPr>
          <p:cNvPr id="25" name="stamp-144"/>
          <p:cNvSpPr txBox="1"/>
          <p:nvPr/>
        </p:nvSpPr>
        <p:spPr>
          <a:xfrm>
            <a:off x="777240" y="600564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16~17세</a:t>
            </a:r>
            <a:endParaRPr lang="en-US" sz="1000" dirty="0"/>
          </a:p>
        </p:txBody>
      </p:sp>
      <p:sp>
        <p:nvSpPr>
          <p:cNvPr id="26" name="rect-145"/>
          <p:cNvSpPr/>
          <p:nvPr/>
        </p:nvSpPr>
        <p:spPr>
          <a:xfrm rot="-60000">
            <a:off x="2606040" y="402336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7" name="age-146" descr="대학 졸업 경수 얼굴 클로즈업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4114800"/>
            <a:ext cx="1371600" cy="1616529"/>
          </a:xfrm>
          <a:prstGeom prst="rect">
            <a:avLst/>
          </a:prstGeom>
        </p:spPr>
      </p:pic>
      <p:sp>
        <p:nvSpPr>
          <p:cNvPr id="28" name="text-147"/>
          <p:cNvSpPr txBox="1"/>
          <p:nvPr/>
        </p:nvSpPr>
        <p:spPr>
          <a:xfrm>
            <a:off x="2697480" y="578619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졸업</a:t>
            </a:r>
            <a:endParaRPr lang="en-US" sz="1100" dirty="0"/>
          </a:p>
        </p:txBody>
      </p:sp>
      <p:sp>
        <p:nvSpPr>
          <p:cNvPr id="29" name="stamp-148"/>
          <p:cNvSpPr txBox="1"/>
          <p:nvPr/>
        </p:nvSpPr>
        <p:spPr>
          <a:xfrm>
            <a:off x="2697480" y="600564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졸업식</a:t>
            </a:r>
            <a:endParaRPr lang="en-US" sz="1000" dirty="0"/>
          </a:p>
        </p:txBody>
      </p:sp>
      <p:sp>
        <p:nvSpPr>
          <p:cNvPr id="30" name="rect-149"/>
          <p:cNvSpPr/>
          <p:nvPr/>
        </p:nvSpPr>
        <p:spPr>
          <a:xfrm rot="90000">
            <a:off x="4526280" y="402336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1" name="age-150" descr="30대 초반 경수 얼굴 클로즈업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114800"/>
            <a:ext cx="1371600" cy="1616529"/>
          </a:xfrm>
          <a:prstGeom prst="rect">
            <a:avLst/>
          </a:prstGeom>
        </p:spPr>
      </p:pic>
      <p:sp>
        <p:nvSpPr>
          <p:cNvPr id="32" name="text-151"/>
          <p:cNvSpPr txBox="1"/>
          <p:nvPr/>
        </p:nvSpPr>
        <p:spPr>
          <a:xfrm>
            <a:off x="4617720" y="578619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30대 초반</a:t>
            </a:r>
            <a:endParaRPr lang="en-US" sz="1100" dirty="0"/>
          </a:p>
        </p:txBody>
      </p:sp>
      <p:sp>
        <p:nvSpPr>
          <p:cNvPr id="33" name="stamp-152"/>
          <p:cNvSpPr txBox="1"/>
          <p:nvPr/>
        </p:nvSpPr>
        <p:spPr>
          <a:xfrm>
            <a:off x="4617720" y="600564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32~33세</a:t>
            </a:r>
            <a:endParaRPr lang="en-US" sz="1000" dirty="0"/>
          </a:p>
        </p:txBody>
      </p:sp>
      <p:sp>
        <p:nvSpPr>
          <p:cNvPr id="34" name="rect-153"/>
          <p:cNvSpPr/>
          <p:nvPr/>
        </p:nvSpPr>
        <p:spPr>
          <a:xfrm rot="-90000">
            <a:off x="6446520" y="4023360"/>
            <a:ext cx="1554480" cy="218345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5" name="age-154" descr="60대 경수 얼굴 클로즈업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114800"/>
            <a:ext cx="1371600" cy="1616529"/>
          </a:xfrm>
          <a:prstGeom prst="rect">
            <a:avLst/>
          </a:prstGeom>
        </p:spPr>
      </p:pic>
      <p:sp>
        <p:nvSpPr>
          <p:cNvPr id="36" name="text-155"/>
          <p:cNvSpPr txBox="1"/>
          <p:nvPr/>
        </p:nvSpPr>
        <p:spPr>
          <a:xfrm>
            <a:off x="6537960" y="5786193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60대</a:t>
            </a:r>
            <a:endParaRPr lang="en-US" sz="1100" dirty="0"/>
          </a:p>
        </p:txBody>
      </p:sp>
      <p:sp>
        <p:nvSpPr>
          <p:cNvPr id="37" name="stamp-156"/>
          <p:cNvSpPr txBox="1"/>
          <p:nvPr/>
        </p:nvSpPr>
        <p:spPr>
          <a:xfrm>
            <a:off x="6537960" y="600564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60~61세</a:t>
            </a:r>
            <a:endParaRPr lang="en-US" sz="1000" dirty="0"/>
          </a:p>
        </p:txBody>
      </p:sp>
      <p:sp>
        <p:nvSpPr>
          <p:cNvPr id="38" name="stamp-157"/>
          <p:cNvSpPr txBox="1"/>
          <p:nvPr/>
        </p:nvSpPr>
        <p:spPr>
          <a:xfrm>
            <a:off x="85496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CHARACTER</a:t>
            </a:r>
            <a:endParaRPr lang="en-US" sz="1100" dirty="0"/>
          </a:p>
        </p:txBody>
      </p:sp>
      <p:sp>
        <p:nvSpPr>
          <p:cNvPr id="39" name="text-158"/>
          <p:cNvSpPr txBox="1"/>
          <p:nvPr/>
        </p:nvSpPr>
        <p:spPr>
          <a:xfrm>
            <a:off x="854964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경수</a:t>
            </a:r>
            <a:endParaRPr lang="en-US" sz="2600" dirty="0"/>
          </a:p>
        </p:txBody>
      </p:sp>
      <p:sp>
        <p:nvSpPr>
          <p:cNvPr id="40" name="text-159"/>
          <p:cNvSpPr txBox="1"/>
          <p:nvPr/>
        </p:nvSpPr>
        <p:spPr>
          <a:xfrm>
            <a:off x="85496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유아기부터 노년까지 등장하는 주인공, 학생에서 회사원으로 성장</a:t>
            </a:r>
            <a:endParaRPr lang="en-US" sz="1300" dirty="0"/>
          </a:p>
        </p:txBody>
      </p:sp>
      <p:sp>
        <p:nvSpPr>
          <p:cNvPr id="41" name="ring-dot-160"/>
          <p:cNvSpPr/>
          <p:nvPr/>
        </p:nvSpPr>
        <p:spPr>
          <a:xfrm>
            <a:off x="8549640" y="378587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2" name="bullet-161"/>
          <p:cNvSpPr txBox="1"/>
          <p:nvPr/>
        </p:nvSpPr>
        <p:spPr>
          <a:xfrm>
            <a:off x="8842248" y="3703320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외향적인 아이에서 성숙한 내향적 성인으로 변하는 성격을 표정과 의상으로 표현</a:t>
            </a:r>
            <a:endParaRPr lang="en-US" sz="1300" dirty="0"/>
          </a:p>
        </p:txBody>
      </p:sp>
      <p:sp>
        <p:nvSpPr>
          <p:cNvPr id="43" name="ring-dot-162"/>
          <p:cNvSpPr/>
          <p:nvPr/>
        </p:nvSpPr>
        <p:spPr>
          <a:xfrm>
            <a:off x="8549640" y="488315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4" name="bullet-163"/>
          <p:cNvSpPr txBox="1"/>
          <p:nvPr/>
        </p:nvSpPr>
        <p:spPr>
          <a:xfrm>
            <a:off x="8842248" y="4800600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연령별 전면 / 후면 / 얼굴 클로즈업 시트로 장면 간 인물 일관성 확보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16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16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16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감정을 드러내지 않는 얼굴과 따뜻한 몸체로 설계한 AI 로봇 갠지</a:t>
            </a:r>
            <a:endParaRPr lang="en-US" sz="2600" dirty="0"/>
          </a:p>
        </p:txBody>
      </p:sp>
      <p:sp>
        <p:nvSpPr>
          <p:cNvPr id="6" name="rect-167"/>
          <p:cNvSpPr/>
          <p:nvPr/>
        </p:nvSpPr>
        <p:spPr>
          <a:xfrm>
            <a:off x="557784" y="1655064"/>
            <a:ext cx="5650992" cy="4279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ganji-168" descr="갠지 캐릭터 시트: 전면, 후면, 측면, 얼굴 클로즈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486400" cy="4114800"/>
          </a:xfrm>
          <a:prstGeom prst="rect">
            <a:avLst/>
          </a:prstGeom>
        </p:spPr>
      </p:pic>
      <p:sp>
        <p:nvSpPr>
          <p:cNvPr id="8" name="photo-corner-169"/>
          <p:cNvSpPr/>
          <p:nvPr/>
        </p:nvSpPr>
        <p:spPr>
          <a:xfrm rot="5400000">
            <a:off x="530352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170"/>
          <p:cNvSpPr/>
          <p:nvPr/>
        </p:nvSpPr>
        <p:spPr>
          <a:xfrm rot="10800000">
            <a:off x="5961888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171"/>
          <p:cNvSpPr/>
          <p:nvPr/>
        </p:nvSpPr>
        <p:spPr>
          <a:xfrm rot="16200000">
            <a:off x="5961888" y="56875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172"/>
          <p:cNvSpPr/>
          <p:nvPr/>
        </p:nvSpPr>
        <p:spPr>
          <a:xfrm>
            <a:off x="530352" y="56875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173"/>
          <p:cNvSpPr txBox="1"/>
          <p:nvPr/>
        </p:nvSpPr>
        <p:spPr>
          <a:xfrm>
            <a:off x="4114800" y="5522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GANJI</a:t>
            </a:r>
            <a:endParaRPr lang="en-US" sz="1100" dirty="0"/>
          </a:p>
        </p:txBody>
      </p:sp>
      <p:sp>
        <p:nvSpPr>
          <p:cNvPr id="13" name="ring-dot-174"/>
          <p:cNvSpPr/>
          <p:nvPr/>
        </p:nvSpPr>
        <p:spPr>
          <a:xfrm>
            <a:off x="6629400" y="177736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14" name="bullet-175"/>
          <p:cNvSpPr txBox="1"/>
          <p:nvPr/>
        </p:nvSpPr>
        <p:spPr>
          <a:xfrm>
            <a:off x="6922008" y="169164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발광 링 눈과 입 없는 무표정으로 감정을 읽을 수 없는 AI 표현</a:t>
            </a:r>
            <a:endParaRPr lang="en-US" sz="1350" dirty="0"/>
          </a:p>
        </p:txBody>
      </p:sp>
      <p:sp>
        <p:nvSpPr>
          <p:cNvPr id="15" name="ring-dot-176"/>
          <p:cNvSpPr/>
          <p:nvPr/>
        </p:nvSpPr>
        <p:spPr>
          <a:xfrm>
            <a:off x="6629400" y="2344293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16" name="bullet-177"/>
          <p:cNvSpPr txBox="1"/>
          <p:nvPr/>
        </p:nvSpPr>
        <p:spPr>
          <a:xfrm>
            <a:off x="6922008" y="225856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색감과 재질의 몸체로 가족 같은 친근함 부여</a:t>
            </a:r>
            <a:endParaRPr lang="en-US" sz="1350" dirty="0"/>
          </a:p>
        </p:txBody>
      </p:sp>
      <p:sp>
        <p:nvSpPr>
          <p:cNvPr id="17" name="stamp-178"/>
          <p:cNvSpPr txBox="1"/>
          <p:nvPr/>
        </p:nvSpPr>
        <p:spPr>
          <a:xfrm>
            <a:off x="66294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GANJI STORE LINE-UP</a:t>
            </a:r>
            <a:endParaRPr lang="en-US" sz="1100" dirty="0"/>
          </a:p>
        </p:txBody>
      </p:sp>
      <p:sp>
        <p:nvSpPr>
          <p:cNvPr id="18" name="rect-179"/>
          <p:cNvSpPr/>
          <p:nvPr/>
        </p:nvSpPr>
        <p:spPr>
          <a:xfrm>
            <a:off x="6574536" y="314553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9" name="img-ganji3-180" descr="갠지3 아동용 소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00400"/>
            <a:ext cx="1463040" cy="1097280"/>
          </a:xfrm>
          <a:prstGeom prst="rect">
            <a:avLst/>
          </a:prstGeom>
        </p:spPr>
      </p:pic>
      <p:sp>
        <p:nvSpPr>
          <p:cNvPr id="20" name="photo-corner-181"/>
          <p:cNvSpPr/>
          <p:nvPr/>
        </p:nvSpPr>
        <p:spPr>
          <a:xfrm rot="5400000">
            <a:off x="6547104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1" name="photo-corner-182"/>
          <p:cNvSpPr/>
          <p:nvPr/>
        </p:nvSpPr>
        <p:spPr>
          <a:xfrm rot="10800000">
            <a:off x="8028432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2" name="photo-corner-183"/>
          <p:cNvSpPr/>
          <p:nvPr/>
        </p:nvSpPr>
        <p:spPr>
          <a:xfrm rot="16200000">
            <a:off x="8028432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3" name="photo-corner-184"/>
          <p:cNvSpPr/>
          <p:nvPr/>
        </p:nvSpPr>
        <p:spPr>
          <a:xfrm>
            <a:off x="6547104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4" name="text-185"/>
          <p:cNvSpPr txBox="1"/>
          <p:nvPr/>
        </p:nvSpPr>
        <p:spPr>
          <a:xfrm>
            <a:off x="6583680" y="43708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갠지3 아동용 소형</a:t>
            </a:r>
            <a:endParaRPr lang="en-US" sz="1000" dirty="0"/>
          </a:p>
        </p:txBody>
      </p:sp>
      <p:sp>
        <p:nvSpPr>
          <p:cNvPr id="25" name="rect-186"/>
          <p:cNvSpPr/>
          <p:nvPr/>
        </p:nvSpPr>
        <p:spPr>
          <a:xfrm>
            <a:off x="8266176" y="314553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6" name="img-ganji5-187" descr="갠지5 남성형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00400"/>
            <a:ext cx="1463040" cy="1097280"/>
          </a:xfrm>
          <a:prstGeom prst="rect">
            <a:avLst/>
          </a:prstGeom>
        </p:spPr>
      </p:pic>
      <p:sp>
        <p:nvSpPr>
          <p:cNvPr id="27" name="photo-corner-188"/>
          <p:cNvSpPr/>
          <p:nvPr/>
        </p:nvSpPr>
        <p:spPr>
          <a:xfrm rot="5400000">
            <a:off x="8238744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photo-corner-189"/>
          <p:cNvSpPr/>
          <p:nvPr/>
        </p:nvSpPr>
        <p:spPr>
          <a:xfrm rot="10800000">
            <a:off x="9720072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9" name="photo-corner-190"/>
          <p:cNvSpPr/>
          <p:nvPr/>
        </p:nvSpPr>
        <p:spPr>
          <a:xfrm rot="16200000">
            <a:off x="9720072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photo-corner-191"/>
          <p:cNvSpPr/>
          <p:nvPr/>
        </p:nvSpPr>
        <p:spPr>
          <a:xfrm>
            <a:off x="8238744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1" name="text-192"/>
          <p:cNvSpPr txBox="1"/>
          <p:nvPr/>
        </p:nvSpPr>
        <p:spPr>
          <a:xfrm>
            <a:off x="8275320" y="43708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갠지5 남성형</a:t>
            </a:r>
            <a:endParaRPr lang="en-US" sz="1000" dirty="0"/>
          </a:p>
        </p:txBody>
      </p:sp>
      <p:sp>
        <p:nvSpPr>
          <p:cNvPr id="32" name="rect-193"/>
          <p:cNvSpPr/>
          <p:nvPr/>
        </p:nvSpPr>
        <p:spPr>
          <a:xfrm>
            <a:off x="9957816" y="314553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3" name="img-ganji7-194" descr="갠지7 여성형 최상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3200400"/>
            <a:ext cx="1463040" cy="1097280"/>
          </a:xfrm>
          <a:prstGeom prst="rect">
            <a:avLst/>
          </a:prstGeom>
        </p:spPr>
      </p:pic>
      <p:sp>
        <p:nvSpPr>
          <p:cNvPr id="34" name="photo-corner-195"/>
          <p:cNvSpPr/>
          <p:nvPr/>
        </p:nvSpPr>
        <p:spPr>
          <a:xfrm rot="5400000">
            <a:off x="9930384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5" name="photo-corner-196"/>
          <p:cNvSpPr/>
          <p:nvPr/>
        </p:nvSpPr>
        <p:spPr>
          <a:xfrm rot="10800000">
            <a:off x="11411712" y="311810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6" name="photo-corner-197"/>
          <p:cNvSpPr/>
          <p:nvPr/>
        </p:nvSpPr>
        <p:spPr>
          <a:xfrm rot="16200000">
            <a:off x="11411712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198"/>
          <p:cNvSpPr/>
          <p:nvPr/>
        </p:nvSpPr>
        <p:spPr>
          <a:xfrm>
            <a:off x="9930384" y="423367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text-199"/>
          <p:cNvSpPr txBox="1"/>
          <p:nvPr/>
        </p:nvSpPr>
        <p:spPr>
          <a:xfrm>
            <a:off x="9966960" y="43708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갠지7 여성형 최상위</a:t>
            </a:r>
            <a:endParaRPr lang="en-US" sz="1000" dirty="0"/>
          </a:p>
        </p:txBody>
      </p:sp>
      <p:sp>
        <p:nvSpPr>
          <p:cNvPr id="39" name="stamp-200"/>
          <p:cNvSpPr txBox="1"/>
          <p:nvPr/>
        </p:nvSpPr>
        <p:spPr>
          <a:xfrm>
            <a:off x="66294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</a:t>
            </a:r>
            <a:endParaRPr lang="en-US" sz="1100" dirty="0"/>
          </a:p>
        </p:txBody>
      </p:sp>
      <p:sp>
        <p:nvSpPr>
          <p:cNvPr id="40" name="rect-201"/>
          <p:cNvSpPr/>
          <p:nvPr/>
        </p:nvSpPr>
        <p:spPr>
          <a:xfrm>
            <a:off x="6574536" y="492861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41" name="img-dad-202" descr="아버지 캐릭터 시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983480"/>
            <a:ext cx="1463040" cy="1097280"/>
          </a:xfrm>
          <a:prstGeom prst="rect">
            <a:avLst/>
          </a:prstGeom>
        </p:spPr>
      </p:pic>
      <p:sp>
        <p:nvSpPr>
          <p:cNvPr id="42" name="photo-corner-203"/>
          <p:cNvSpPr/>
          <p:nvPr/>
        </p:nvSpPr>
        <p:spPr>
          <a:xfrm rot="5400000">
            <a:off x="6547104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3" name="photo-corner-204"/>
          <p:cNvSpPr/>
          <p:nvPr/>
        </p:nvSpPr>
        <p:spPr>
          <a:xfrm rot="10800000">
            <a:off x="8028432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4" name="photo-corner-205"/>
          <p:cNvSpPr/>
          <p:nvPr/>
        </p:nvSpPr>
        <p:spPr>
          <a:xfrm rot="16200000">
            <a:off x="8028432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5" name="photo-corner-206"/>
          <p:cNvSpPr/>
          <p:nvPr/>
        </p:nvSpPr>
        <p:spPr>
          <a:xfrm>
            <a:off x="6547104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6" name="text-207"/>
          <p:cNvSpPr txBox="1"/>
          <p:nvPr/>
        </p:nvSpPr>
        <p:spPr>
          <a:xfrm>
            <a:off x="6583680" y="61539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000" dirty="0"/>
          </a:p>
        </p:txBody>
      </p:sp>
      <p:sp>
        <p:nvSpPr>
          <p:cNvPr id="47" name="rect-208"/>
          <p:cNvSpPr/>
          <p:nvPr/>
        </p:nvSpPr>
        <p:spPr>
          <a:xfrm>
            <a:off x="8266176" y="492861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48" name="img-mom-209" descr="어머니 캐릭터 시트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983480"/>
            <a:ext cx="1463040" cy="1097280"/>
          </a:xfrm>
          <a:prstGeom prst="rect">
            <a:avLst/>
          </a:prstGeom>
        </p:spPr>
      </p:pic>
      <p:sp>
        <p:nvSpPr>
          <p:cNvPr id="49" name="photo-corner-210"/>
          <p:cNvSpPr/>
          <p:nvPr/>
        </p:nvSpPr>
        <p:spPr>
          <a:xfrm rot="5400000">
            <a:off x="8238744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0" name="photo-corner-211"/>
          <p:cNvSpPr/>
          <p:nvPr/>
        </p:nvSpPr>
        <p:spPr>
          <a:xfrm rot="10800000">
            <a:off x="9720072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1" name="photo-corner-212"/>
          <p:cNvSpPr/>
          <p:nvPr/>
        </p:nvSpPr>
        <p:spPr>
          <a:xfrm rot="16200000">
            <a:off x="9720072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2" name="photo-corner-213"/>
          <p:cNvSpPr/>
          <p:nvPr/>
        </p:nvSpPr>
        <p:spPr>
          <a:xfrm>
            <a:off x="8238744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3" name="text-214"/>
          <p:cNvSpPr txBox="1"/>
          <p:nvPr/>
        </p:nvSpPr>
        <p:spPr>
          <a:xfrm>
            <a:off x="8275320" y="61539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000" dirty="0"/>
          </a:p>
        </p:txBody>
      </p:sp>
      <p:sp>
        <p:nvSpPr>
          <p:cNvPr id="54" name="rect-215"/>
          <p:cNvSpPr/>
          <p:nvPr/>
        </p:nvSpPr>
        <p:spPr>
          <a:xfrm>
            <a:off x="9957816" y="4928616"/>
            <a:ext cx="1572768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55" name="img-tori-216" descr="반려견 토리 캐릭터 시트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983480"/>
            <a:ext cx="1463040" cy="1097280"/>
          </a:xfrm>
          <a:prstGeom prst="rect">
            <a:avLst/>
          </a:prstGeom>
        </p:spPr>
      </p:pic>
      <p:sp>
        <p:nvSpPr>
          <p:cNvPr id="56" name="photo-corner-217"/>
          <p:cNvSpPr/>
          <p:nvPr/>
        </p:nvSpPr>
        <p:spPr>
          <a:xfrm rot="5400000">
            <a:off x="9930384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7" name="photo-corner-218"/>
          <p:cNvSpPr/>
          <p:nvPr/>
        </p:nvSpPr>
        <p:spPr>
          <a:xfrm rot="10800000">
            <a:off x="11411712" y="4901184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8" name="photo-corner-219"/>
          <p:cNvSpPr/>
          <p:nvPr/>
        </p:nvSpPr>
        <p:spPr>
          <a:xfrm rot="16200000">
            <a:off x="11411712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9" name="photo-corner-220"/>
          <p:cNvSpPr/>
          <p:nvPr/>
        </p:nvSpPr>
        <p:spPr>
          <a:xfrm>
            <a:off x="9930384" y="6016752"/>
            <a:ext cx="146304" cy="146304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0" name="text-221"/>
          <p:cNvSpPr txBox="1"/>
          <p:nvPr/>
        </p:nvSpPr>
        <p:spPr>
          <a:xfrm>
            <a:off x="9966960" y="61539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토리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22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223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224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발단 / 전개 / 위기·절정 / 결말, 4막 15씬 구성</a:t>
            </a:r>
            <a:endParaRPr lang="en-US" sz="2600" dirty="0"/>
          </a:p>
        </p:txBody>
      </p:sp>
      <p:sp>
        <p:nvSpPr>
          <p:cNvPr id="6" name="timeline-225"/>
          <p:cNvSpPr/>
          <p:nvPr/>
        </p:nvSpPr>
        <p:spPr>
          <a:xfrm>
            <a:off x="749808" y="2212848"/>
            <a:ext cx="10744200" cy="0"/>
          </a:xfrm>
          <a:prstGeom prst="line">
            <a:avLst/>
          </a:prstGeom>
          <a:noFill/>
          <a:ln w="19050">
            <a:solidFill>
              <a:srgbClr val="1E8FA0"/>
            </a:solidFill>
            <a:prstDash val="dash"/>
          </a:ln>
        </p:spPr>
      </p:sp>
      <p:sp>
        <p:nvSpPr>
          <p:cNvPr id="7" name="text-226"/>
          <p:cNvSpPr txBox="1"/>
          <p:nvPr/>
        </p:nvSpPr>
        <p:spPr>
          <a:xfrm>
            <a:off x="100584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발단</a:t>
            </a:r>
            <a:endParaRPr lang="en-US" sz="1600" dirty="0"/>
          </a:p>
        </p:txBody>
      </p:sp>
      <p:sp>
        <p:nvSpPr>
          <p:cNvPr id="8" name="rect-227"/>
          <p:cNvSpPr/>
          <p:nvPr/>
        </p:nvSpPr>
        <p:spPr>
          <a:xfrm>
            <a:off x="640080" y="2093976"/>
            <a:ext cx="237744" cy="237744"/>
          </a:xfrm>
          <a:prstGeom prst="rect">
            <a:avLst/>
          </a:prstGeom>
          <a:solidFill>
            <a:srgbClr val="F2EADC"/>
          </a:solidFill>
          <a:ln/>
        </p:spPr>
      </p:sp>
      <p:sp>
        <p:nvSpPr>
          <p:cNvPr id="9" name="ring-dot-228"/>
          <p:cNvSpPr/>
          <p:nvPr/>
        </p:nvSpPr>
        <p:spPr>
          <a:xfrm>
            <a:off x="640080" y="2093976"/>
            <a:ext cx="237744" cy="23774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10" name="rect-229"/>
          <p:cNvSpPr/>
          <p:nvPr/>
        </p:nvSpPr>
        <p:spPr>
          <a:xfrm>
            <a:off x="557784" y="2515172"/>
            <a:ext cx="2633472" cy="155333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1" name="img-s02_thumb-230" descr="발단 대표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97467"/>
            <a:ext cx="2468880" cy="1388745"/>
          </a:xfrm>
          <a:prstGeom prst="rect">
            <a:avLst/>
          </a:prstGeom>
        </p:spPr>
      </p:pic>
      <p:sp>
        <p:nvSpPr>
          <p:cNvPr id="12" name="photo-corner-231"/>
          <p:cNvSpPr/>
          <p:nvPr/>
        </p:nvSpPr>
        <p:spPr>
          <a:xfrm rot="5400000">
            <a:off x="530352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3" name="photo-corner-232"/>
          <p:cNvSpPr/>
          <p:nvPr/>
        </p:nvSpPr>
        <p:spPr>
          <a:xfrm rot="10800000">
            <a:off x="3017520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4" name="photo-corner-233"/>
          <p:cNvSpPr/>
          <p:nvPr/>
        </p:nvSpPr>
        <p:spPr>
          <a:xfrm rot="16200000">
            <a:off x="3017520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5" name="photo-corner-234"/>
          <p:cNvSpPr/>
          <p:nvPr/>
        </p:nvSpPr>
        <p:spPr>
          <a:xfrm>
            <a:off x="530352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6" name="stamp-235"/>
          <p:cNvSpPr txBox="1"/>
          <p:nvPr/>
        </p:nvSpPr>
        <p:spPr>
          <a:xfrm>
            <a:off x="6400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S#01~03</a:t>
            </a:r>
            <a:endParaRPr lang="en-US" sz="1200" dirty="0"/>
          </a:p>
        </p:txBody>
      </p:sp>
      <p:sp>
        <p:nvSpPr>
          <p:cNvPr id="17" name="text-236"/>
          <p:cNvSpPr txBox="1"/>
          <p:nvPr/>
        </p:nvSpPr>
        <p:spPr>
          <a:xfrm>
            <a:off x="640080" y="4526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탄생과 한글 배우기, 첫 일기로 쌓는 갠지와의 유년기</a:t>
            </a:r>
            <a:endParaRPr lang="en-US" sz="1300" dirty="0"/>
          </a:p>
        </p:txBody>
      </p:sp>
      <p:sp>
        <p:nvSpPr>
          <p:cNvPr id="18" name="text-237"/>
          <p:cNvSpPr txBox="1"/>
          <p:nvPr/>
        </p:nvSpPr>
        <p:spPr>
          <a:xfrm>
            <a:off x="379476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600" dirty="0"/>
          </a:p>
        </p:txBody>
      </p:sp>
      <p:sp>
        <p:nvSpPr>
          <p:cNvPr id="19" name="rect-238"/>
          <p:cNvSpPr/>
          <p:nvPr/>
        </p:nvSpPr>
        <p:spPr>
          <a:xfrm>
            <a:off x="3429000" y="2093976"/>
            <a:ext cx="237744" cy="237744"/>
          </a:xfrm>
          <a:prstGeom prst="rect">
            <a:avLst/>
          </a:prstGeom>
          <a:solidFill>
            <a:srgbClr val="F2EADC"/>
          </a:solidFill>
          <a:ln/>
        </p:spPr>
      </p:sp>
      <p:sp>
        <p:nvSpPr>
          <p:cNvPr id="20" name="ring-dot-239"/>
          <p:cNvSpPr/>
          <p:nvPr/>
        </p:nvSpPr>
        <p:spPr>
          <a:xfrm>
            <a:off x="3429000" y="2093976"/>
            <a:ext cx="237744" cy="23774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21" name="rect-240"/>
          <p:cNvSpPr/>
          <p:nvPr/>
        </p:nvSpPr>
        <p:spPr>
          <a:xfrm>
            <a:off x="3346704" y="2515172"/>
            <a:ext cx="2633472" cy="155333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2" name="img-s06_photo-241" descr="전개 대표 장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597467"/>
            <a:ext cx="2468880" cy="1388745"/>
          </a:xfrm>
          <a:prstGeom prst="rect">
            <a:avLst/>
          </a:prstGeom>
        </p:spPr>
      </p:pic>
      <p:sp>
        <p:nvSpPr>
          <p:cNvPr id="23" name="photo-corner-242"/>
          <p:cNvSpPr/>
          <p:nvPr/>
        </p:nvSpPr>
        <p:spPr>
          <a:xfrm rot="5400000">
            <a:off x="3319272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4" name="photo-corner-243"/>
          <p:cNvSpPr/>
          <p:nvPr/>
        </p:nvSpPr>
        <p:spPr>
          <a:xfrm rot="10800000">
            <a:off x="5806440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5" name="photo-corner-244"/>
          <p:cNvSpPr/>
          <p:nvPr/>
        </p:nvSpPr>
        <p:spPr>
          <a:xfrm rot="16200000">
            <a:off x="5806440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photo-corner-245"/>
          <p:cNvSpPr/>
          <p:nvPr/>
        </p:nvSpPr>
        <p:spPr>
          <a:xfrm>
            <a:off x="3319272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7" name="stamp-246"/>
          <p:cNvSpPr txBox="1"/>
          <p:nvPr/>
        </p:nvSpPr>
        <p:spPr>
          <a:xfrm>
            <a:off x="34290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S#04~07</a:t>
            </a:r>
            <a:endParaRPr lang="en-US" sz="1200" dirty="0"/>
          </a:p>
        </p:txBody>
      </p:sp>
      <p:sp>
        <p:nvSpPr>
          <p:cNvPr id="28" name="text-247"/>
          <p:cNvSpPr txBox="1"/>
          <p:nvPr/>
        </p:nvSpPr>
        <p:spPr>
          <a:xfrm>
            <a:off x="3429000" y="4526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몽타주와 제주도 가족 여행으로 쌓는 행복한 기억</a:t>
            </a:r>
            <a:endParaRPr lang="en-US" sz="1300" dirty="0"/>
          </a:p>
        </p:txBody>
      </p:sp>
      <p:sp>
        <p:nvSpPr>
          <p:cNvPr id="29" name="text-248"/>
          <p:cNvSpPr txBox="1"/>
          <p:nvPr/>
        </p:nvSpPr>
        <p:spPr>
          <a:xfrm>
            <a:off x="658368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위기·절정</a:t>
            </a:r>
            <a:endParaRPr lang="en-US" sz="1600" dirty="0"/>
          </a:p>
        </p:txBody>
      </p:sp>
      <p:sp>
        <p:nvSpPr>
          <p:cNvPr id="30" name="rect-249"/>
          <p:cNvSpPr/>
          <p:nvPr/>
        </p:nvSpPr>
        <p:spPr>
          <a:xfrm>
            <a:off x="6217920" y="2093976"/>
            <a:ext cx="237744" cy="237744"/>
          </a:xfrm>
          <a:prstGeom prst="rect">
            <a:avLst/>
          </a:prstGeom>
          <a:solidFill>
            <a:srgbClr val="F2EADC"/>
          </a:solidFill>
          <a:ln/>
        </p:spPr>
      </p:sp>
      <p:sp>
        <p:nvSpPr>
          <p:cNvPr id="31" name="ring-dot-250"/>
          <p:cNvSpPr/>
          <p:nvPr/>
        </p:nvSpPr>
        <p:spPr>
          <a:xfrm>
            <a:off x="6217920" y="2093976"/>
            <a:ext cx="237744" cy="23774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32" name="rect-251"/>
          <p:cNvSpPr/>
          <p:nvPr/>
        </p:nvSpPr>
        <p:spPr>
          <a:xfrm>
            <a:off x="6135624" y="2515172"/>
            <a:ext cx="2633472" cy="155333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3" name="img-s09_back-252" descr="위기·절정 대표 장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597467"/>
            <a:ext cx="2468880" cy="1388745"/>
          </a:xfrm>
          <a:prstGeom prst="rect">
            <a:avLst/>
          </a:prstGeom>
        </p:spPr>
      </p:pic>
      <p:sp>
        <p:nvSpPr>
          <p:cNvPr id="34" name="photo-corner-253"/>
          <p:cNvSpPr/>
          <p:nvPr/>
        </p:nvSpPr>
        <p:spPr>
          <a:xfrm rot="5400000">
            <a:off x="6108192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5" name="photo-corner-254"/>
          <p:cNvSpPr/>
          <p:nvPr/>
        </p:nvSpPr>
        <p:spPr>
          <a:xfrm rot="10800000">
            <a:off x="8595360" y="2487740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6" name="photo-corner-255"/>
          <p:cNvSpPr/>
          <p:nvPr/>
        </p:nvSpPr>
        <p:spPr>
          <a:xfrm rot="16200000">
            <a:off x="8595360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256"/>
          <p:cNvSpPr/>
          <p:nvPr/>
        </p:nvSpPr>
        <p:spPr>
          <a:xfrm>
            <a:off x="6108192" y="3894773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stamp-257"/>
          <p:cNvSpPr txBox="1"/>
          <p:nvPr/>
        </p:nvSpPr>
        <p:spPr>
          <a:xfrm>
            <a:off x="6217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S#08~12</a:t>
            </a:r>
            <a:endParaRPr lang="en-US" sz="1200" dirty="0"/>
          </a:p>
        </p:txBody>
      </p:sp>
      <p:sp>
        <p:nvSpPr>
          <p:cNvPr id="39" name="text-258"/>
          <p:cNvSpPr txBox="1"/>
          <p:nvPr/>
        </p:nvSpPr>
        <p:spPr>
          <a:xfrm>
            <a:off x="6217920" y="4526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부모와의 이별 후 앨범과 일기를 거듭 확인하며 혼자만의 기억임을 자각</a:t>
            </a:r>
            <a:endParaRPr lang="en-US" sz="1300" dirty="0"/>
          </a:p>
        </p:txBody>
      </p:sp>
      <p:sp>
        <p:nvSpPr>
          <p:cNvPr id="40" name="text-259"/>
          <p:cNvSpPr txBox="1"/>
          <p:nvPr/>
        </p:nvSpPr>
        <p:spPr>
          <a:xfrm>
            <a:off x="937260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결말</a:t>
            </a:r>
            <a:endParaRPr lang="en-US" sz="1600" dirty="0"/>
          </a:p>
        </p:txBody>
      </p:sp>
      <p:sp>
        <p:nvSpPr>
          <p:cNvPr id="41" name="rect-260"/>
          <p:cNvSpPr/>
          <p:nvPr/>
        </p:nvSpPr>
        <p:spPr>
          <a:xfrm>
            <a:off x="9006840" y="2093976"/>
            <a:ext cx="237744" cy="237744"/>
          </a:xfrm>
          <a:prstGeom prst="rect">
            <a:avLst/>
          </a:prstGeom>
          <a:solidFill>
            <a:srgbClr val="F2EADC"/>
          </a:solidFill>
          <a:ln/>
        </p:spPr>
      </p:sp>
      <p:sp>
        <p:nvSpPr>
          <p:cNvPr id="42" name="ring-dot-261"/>
          <p:cNvSpPr/>
          <p:nvPr/>
        </p:nvSpPr>
        <p:spPr>
          <a:xfrm>
            <a:off x="9006840" y="2093976"/>
            <a:ext cx="237744" cy="237744"/>
          </a:xfrm>
          <a:prstGeom prst="ellipse">
            <a:avLst/>
          </a:prstGeom>
          <a:ln w="28575">
            <a:solidFill>
              <a:srgbClr val="1E8FA0"/>
            </a:solidFill>
            <a:prstDash val="solid"/>
          </a:ln>
        </p:spPr>
      </p:sp>
      <p:sp>
        <p:nvSpPr>
          <p:cNvPr id="43" name="rect-262"/>
          <p:cNvSpPr/>
          <p:nvPr/>
        </p:nvSpPr>
        <p:spPr>
          <a:xfrm>
            <a:off x="8951976" y="2505456"/>
            <a:ext cx="2578608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44" name="rect-263"/>
          <p:cNvSpPr/>
          <p:nvPr/>
        </p:nvSpPr>
        <p:spPr>
          <a:xfrm>
            <a:off x="9006840" y="2560320"/>
            <a:ext cx="2468880" cy="1463040"/>
          </a:xfrm>
          <a:prstGeom prst="rect">
            <a:avLst/>
          </a:prstGeom>
          <a:solidFill>
            <a:srgbClr val="0F0E13"/>
          </a:solidFill>
          <a:ln/>
        </p:spPr>
      </p:sp>
      <p:sp>
        <p:nvSpPr>
          <p:cNvPr id="45" name="photo-corner-264"/>
          <p:cNvSpPr/>
          <p:nvPr/>
        </p:nvSpPr>
        <p:spPr>
          <a:xfrm rot="5400000">
            <a:off x="8924544" y="2478024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6" name="photo-corner-265"/>
          <p:cNvSpPr/>
          <p:nvPr/>
        </p:nvSpPr>
        <p:spPr>
          <a:xfrm rot="10800000">
            <a:off x="11356848" y="2478024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7" name="photo-corner-266"/>
          <p:cNvSpPr/>
          <p:nvPr/>
        </p:nvSpPr>
        <p:spPr>
          <a:xfrm rot="16200000">
            <a:off x="11356848" y="3904488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8" name="photo-corner-267"/>
          <p:cNvSpPr/>
          <p:nvPr/>
        </p:nvSpPr>
        <p:spPr>
          <a:xfrm>
            <a:off x="8924544" y="3904488"/>
            <a:ext cx="201168" cy="201168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9" name="text-268"/>
          <p:cNvSpPr txBox="1"/>
          <p:nvPr/>
        </p:nvSpPr>
        <p:spPr>
          <a:xfrm>
            <a:off x="9006840" y="25603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일생동안,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살아갈 수 있습니까?</a:t>
            </a:r>
            <a:endParaRPr lang="en-US" sz="1400" dirty="0"/>
          </a:p>
        </p:txBody>
      </p:sp>
      <p:sp>
        <p:nvSpPr>
          <p:cNvPr id="50" name="stamp-269"/>
          <p:cNvSpPr txBox="1"/>
          <p:nvPr/>
        </p:nvSpPr>
        <p:spPr>
          <a:xfrm>
            <a:off x="90068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S#13~15</a:t>
            </a:r>
            <a:endParaRPr lang="en-US" sz="1200" dirty="0"/>
          </a:p>
        </p:txBody>
      </p:sp>
      <p:sp>
        <p:nvSpPr>
          <p:cNvPr id="51" name="text-270"/>
          <p:cNvSpPr txBox="1"/>
          <p:nvPr/>
        </p:nvSpPr>
        <p:spPr>
          <a:xfrm>
            <a:off x="9006840" y="4526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노년의 경수가 마주한 새로운 AI 광고판의 질문과 타이틀 「블랙홀에 기대다」</a:t>
            </a:r>
            <a:endParaRPr lang="en-US" sz="1300" dirty="0"/>
          </a:p>
        </p:txBody>
      </p:sp>
      <p:sp>
        <p:nvSpPr>
          <p:cNvPr id="52" name="ring-dot-271"/>
          <p:cNvSpPr/>
          <p:nvPr/>
        </p:nvSpPr>
        <p:spPr>
          <a:xfrm>
            <a:off x="640080" y="5870448"/>
            <a:ext cx="155448" cy="155448"/>
          </a:xfrm>
          <a:prstGeom prst="ellipse">
            <a:avLst/>
          </a:prstGeom>
          <a:ln w="25400">
            <a:solidFill>
              <a:srgbClr val="F28C28"/>
            </a:solidFill>
            <a:prstDash val="solid"/>
          </a:ln>
        </p:spPr>
      </p:sp>
      <p:sp>
        <p:nvSpPr>
          <p:cNvPr id="53" name="text-272"/>
          <p:cNvSpPr txBox="1"/>
          <p:nvPr/>
        </p:nvSpPr>
        <p:spPr>
          <a:xfrm>
            <a:off x="932688" y="57790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장면 대사 없이 샷 / 구도 / 카메라 / 지문만으로 설계한 시나리오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273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274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275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일기와 앨범 속 사진으로 심은 기억의 복선</a:t>
            </a:r>
            <a:endParaRPr lang="en-US" sz="2600" dirty="0"/>
          </a:p>
        </p:txBody>
      </p:sp>
      <p:sp>
        <p:nvSpPr>
          <p:cNvPr id="6" name="rect-276"/>
          <p:cNvSpPr/>
          <p:nvPr/>
        </p:nvSpPr>
        <p:spPr>
          <a:xfrm>
            <a:off x="557784" y="1656493"/>
            <a:ext cx="4873752" cy="28134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03_diary-277" descr="삐뚤빼뚤한 글씨로 '산타 할아버지는 없다'를 쓰는 일기 인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8789"/>
            <a:ext cx="4709160" cy="2648903"/>
          </a:xfrm>
          <a:prstGeom prst="rect">
            <a:avLst/>
          </a:prstGeom>
        </p:spPr>
      </p:pic>
      <p:sp>
        <p:nvSpPr>
          <p:cNvPr id="8" name="photo-corner-278"/>
          <p:cNvSpPr/>
          <p:nvPr/>
        </p:nvSpPr>
        <p:spPr>
          <a:xfrm rot="5400000">
            <a:off x="530352" y="1629061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279"/>
          <p:cNvSpPr/>
          <p:nvPr/>
        </p:nvSpPr>
        <p:spPr>
          <a:xfrm rot="10800000">
            <a:off x="5184648" y="1629061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280"/>
          <p:cNvSpPr/>
          <p:nvPr/>
        </p:nvSpPr>
        <p:spPr>
          <a:xfrm rot="16200000">
            <a:off x="5184648" y="4223099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281"/>
          <p:cNvSpPr/>
          <p:nvPr/>
        </p:nvSpPr>
        <p:spPr>
          <a:xfrm>
            <a:off x="530352" y="4223099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282"/>
          <p:cNvSpPr txBox="1"/>
          <p:nvPr/>
        </p:nvSpPr>
        <p:spPr>
          <a:xfrm>
            <a:off x="3337560" y="40585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S#03 C#02</a:t>
            </a:r>
            <a:endParaRPr lang="en-US" sz="1100" dirty="0"/>
          </a:p>
        </p:txBody>
      </p:sp>
      <p:sp>
        <p:nvSpPr>
          <p:cNvPr id="13" name="rect-283"/>
          <p:cNvSpPr/>
          <p:nvPr/>
        </p:nvSpPr>
        <p:spPr>
          <a:xfrm>
            <a:off x="5497068" y="1655064"/>
            <a:ext cx="3700272" cy="2816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4" name="img-xmas-284" descr="산타 옷을 입은 아빠와 가족, 갠지의 크리스마스 앨범 사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364" y="1737360"/>
            <a:ext cx="3535680" cy="2651760"/>
          </a:xfrm>
          <a:prstGeom prst="rect">
            <a:avLst/>
          </a:prstGeom>
        </p:spPr>
      </p:pic>
      <p:sp>
        <p:nvSpPr>
          <p:cNvPr id="15" name="photo-corner-285"/>
          <p:cNvSpPr/>
          <p:nvPr/>
        </p:nvSpPr>
        <p:spPr>
          <a:xfrm rot="5400000">
            <a:off x="5469636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6" name="photo-corner-286"/>
          <p:cNvSpPr/>
          <p:nvPr/>
        </p:nvSpPr>
        <p:spPr>
          <a:xfrm rot="10800000">
            <a:off x="8950452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7" name="photo-corner-287"/>
          <p:cNvSpPr/>
          <p:nvPr/>
        </p:nvSpPr>
        <p:spPr>
          <a:xfrm rot="16200000">
            <a:off x="8950452" y="422452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288"/>
          <p:cNvSpPr/>
          <p:nvPr/>
        </p:nvSpPr>
        <p:spPr>
          <a:xfrm>
            <a:off x="5469636" y="422452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stamp-289"/>
          <p:cNvSpPr txBox="1"/>
          <p:nvPr/>
        </p:nvSpPr>
        <p:spPr>
          <a:xfrm>
            <a:off x="7103364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ALBUM</a:t>
            </a:r>
            <a:endParaRPr lang="en-US" sz="1100" dirty="0"/>
          </a:p>
        </p:txBody>
      </p:sp>
      <p:sp>
        <p:nvSpPr>
          <p:cNvPr id="20" name="rect-290"/>
          <p:cNvSpPr/>
          <p:nvPr/>
        </p:nvSpPr>
        <p:spPr>
          <a:xfrm>
            <a:off x="9363964" y="1682496"/>
            <a:ext cx="2239264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1" name="img-s03_sleep-291" descr="일기장 위에 엎드려 잠든 경수와 지켜보는 갠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828" y="1737360"/>
            <a:ext cx="2129536" cy="1197864"/>
          </a:xfrm>
          <a:prstGeom prst="rect">
            <a:avLst/>
          </a:prstGeom>
        </p:spPr>
      </p:pic>
      <p:sp>
        <p:nvSpPr>
          <p:cNvPr id="22" name="photo-corner-292"/>
          <p:cNvSpPr/>
          <p:nvPr/>
        </p:nvSpPr>
        <p:spPr>
          <a:xfrm rot="5400000">
            <a:off x="9336532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3" name="photo-corner-293"/>
          <p:cNvSpPr/>
          <p:nvPr/>
        </p:nvSpPr>
        <p:spPr>
          <a:xfrm rot="10800000">
            <a:off x="11447780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4" name="photo-corner-294"/>
          <p:cNvSpPr/>
          <p:nvPr/>
        </p:nvSpPr>
        <p:spPr>
          <a:xfrm rot="16200000">
            <a:off x="11447780" y="2834640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5" name="photo-corner-295"/>
          <p:cNvSpPr/>
          <p:nvPr/>
        </p:nvSpPr>
        <p:spPr>
          <a:xfrm>
            <a:off x="9336532" y="2834640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stamp-296"/>
          <p:cNvSpPr txBox="1"/>
          <p:nvPr/>
        </p:nvSpPr>
        <p:spPr>
          <a:xfrm>
            <a:off x="9536684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S#03 C#03</a:t>
            </a:r>
            <a:endParaRPr lang="en-US" sz="900" dirty="0"/>
          </a:p>
        </p:txBody>
      </p:sp>
      <p:sp>
        <p:nvSpPr>
          <p:cNvPr id="27" name="rect-297"/>
          <p:cNvSpPr/>
          <p:nvPr/>
        </p:nvSpPr>
        <p:spPr>
          <a:xfrm>
            <a:off x="9363964" y="3136392"/>
            <a:ext cx="2239264" cy="1307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8" name="img-s02_write-298" descr="거실 바닥에 엎드려 한글을 쓰는 어린 경수와 갠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828" y="3191256"/>
            <a:ext cx="2129536" cy="1197864"/>
          </a:xfrm>
          <a:prstGeom prst="rect">
            <a:avLst/>
          </a:prstGeom>
        </p:spPr>
      </p:pic>
      <p:sp>
        <p:nvSpPr>
          <p:cNvPr id="29" name="photo-corner-299"/>
          <p:cNvSpPr/>
          <p:nvPr/>
        </p:nvSpPr>
        <p:spPr>
          <a:xfrm rot="5400000">
            <a:off x="9336532" y="3108960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photo-corner-300"/>
          <p:cNvSpPr/>
          <p:nvPr/>
        </p:nvSpPr>
        <p:spPr>
          <a:xfrm rot="10800000">
            <a:off x="11447780" y="3108960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1" name="photo-corner-301"/>
          <p:cNvSpPr/>
          <p:nvPr/>
        </p:nvSpPr>
        <p:spPr>
          <a:xfrm rot="16200000">
            <a:off x="11447780" y="428853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2" name="photo-corner-302"/>
          <p:cNvSpPr/>
          <p:nvPr/>
        </p:nvSpPr>
        <p:spPr>
          <a:xfrm>
            <a:off x="9336532" y="428853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3" name="stamp-303"/>
          <p:cNvSpPr txBox="1"/>
          <p:nvPr/>
        </p:nvSpPr>
        <p:spPr>
          <a:xfrm>
            <a:off x="9536684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S#02 C#01</a:t>
            </a:r>
            <a:endParaRPr lang="en-US" sz="900" dirty="0"/>
          </a:p>
        </p:txBody>
      </p:sp>
      <p:sp>
        <p:nvSpPr>
          <p:cNvPr id="34" name="rect-304"/>
          <p:cNvSpPr/>
          <p:nvPr/>
        </p:nvSpPr>
        <p:spPr>
          <a:xfrm>
            <a:off x="640080" y="4617720"/>
            <a:ext cx="5852160" cy="1737360"/>
          </a:xfrm>
          <a:prstGeom prst="rect">
            <a:avLst/>
          </a:prstGeom>
          <a:solidFill>
            <a:srgbClr val="FFFDF7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35" name="diary-margin-305"/>
          <p:cNvSpPr/>
          <p:nvPr/>
        </p:nvSpPr>
        <p:spPr>
          <a:xfrm>
            <a:off x="1143000" y="4617720"/>
            <a:ext cx="0" cy="1737360"/>
          </a:xfrm>
          <a:prstGeom prst="line">
            <a:avLst/>
          </a:prstGeom>
          <a:noFill/>
          <a:ln w="12700">
            <a:solidFill>
              <a:srgbClr val="E9A3A3"/>
            </a:solidFill>
            <a:prstDash val="solid"/>
          </a:ln>
        </p:spPr>
      </p:sp>
      <p:sp>
        <p:nvSpPr>
          <p:cNvPr id="36" name="stamp-306"/>
          <p:cNvSpPr txBox="1"/>
          <p:nvPr/>
        </p:nvSpPr>
        <p:spPr>
          <a:xfrm>
            <a:off x="13258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DIARY</a:t>
            </a:r>
            <a:endParaRPr lang="en-US" sz="1000" dirty="0"/>
          </a:p>
        </p:txBody>
      </p:sp>
      <p:sp>
        <p:nvSpPr>
          <p:cNvPr id="37" name="text-307"/>
          <p:cNvSpPr txBox="1"/>
          <p:nvPr/>
        </p:nvSpPr>
        <p:spPr>
          <a:xfrm>
            <a:off x="1325880" y="49651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"산타 할아버지가 없다는 걸 알았다. 사실은 아빠였다. 너무 슬프고 속상했다."</a:t>
            </a:r>
            <a:endParaRPr lang="en-US" sz="1150" dirty="0"/>
          </a:p>
        </p:txBody>
      </p:sp>
      <p:sp>
        <p:nvSpPr>
          <p:cNvPr id="38" name="text-308"/>
          <p:cNvSpPr txBox="1"/>
          <p:nvPr/>
        </p:nvSpPr>
        <p:spPr>
          <a:xfrm>
            <a:off x="1325880" y="550468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"갠지는 나랑 모습은 다르지만, 나한테는 형제나 다름없다. 같이 있어서 너무 행복하다."</a:t>
            </a:r>
            <a:endParaRPr lang="en-US" sz="1150" dirty="0"/>
          </a:p>
        </p:txBody>
      </p:sp>
      <p:sp>
        <p:nvSpPr>
          <p:cNvPr id="39" name="stamp-309"/>
          <p:cNvSpPr txBox="1"/>
          <p:nvPr/>
        </p:nvSpPr>
        <p:spPr>
          <a:xfrm>
            <a:off x="1325880" y="60533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E6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S#12 앨범 확인 장면의 일기 인서트</a:t>
            </a:r>
            <a:endParaRPr lang="en-US" sz="950" dirty="0"/>
          </a:p>
        </p:txBody>
      </p:sp>
      <p:sp>
        <p:nvSpPr>
          <p:cNvPr id="40" name="ring-dot-310"/>
          <p:cNvSpPr/>
          <p:nvPr/>
        </p:nvSpPr>
        <p:spPr>
          <a:xfrm>
            <a:off x="6812280" y="479488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1" name="bullet-311"/>
          <p:cNvSpPr txBox="1"/>
          <p:nvPr/>
        </p:nvSpPr>
        <p:spPr>
          <a:xfrm>
            <a:off x="7104888" y="470916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S#03 첫 일기 '산타 할아버지는 없다'를 S#12 앨범 확인 장면에서 회수하는 복선 구조</a:t>
            </a:r>
            <a:endParaRPr lang="en-US" sz="1350" dirty="0"/>
          </a:p>
        </p:txBody>
      </p:sp>
      <p:sp>
        <p:nvSpPr>
          <p:cNvPr id="42" name="ring-dot-312"/>
          <p:cNvSpPr/>
          <p:nvPr/>
        </p:nvSpPr>
        <p:spPr>
          <a:xfrm>
            <a:off x="6812280" y="557212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3" name="bullet-313"/>
          <p:cNvSpPr txBox="1"/>
          <p:nvPr/>
        </p:nvSpPr>
        <p:spPr>
          <a:xfrm>
            <a:off x="7104888" y="548640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속 상황과 일기 속 감정을 나란히 배치해 기록과 기억의 차이 표현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void2-31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31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46D3E6"/>
            </a:solidFill>
            <a:prstDash val="solid"/>
          </a:ln>
        </p:spPr>
      </p:sp>
      <p:sp>
        <p:nvSpPr>
          <p:cNvPr id="4" name="label-31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CE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 없이 샷과 표정으로 쌓아 올린 상실의 감정선</a:t>
            </a:r>
            <a:endParaRPr lang="en-US" sz="2600" dirty="0"/>
          </a:p>
        </p:txBody>
      </p:sp>
      <p:sp>
        <p:nvSpPr>
          <p:cNvPr id="6" name="rect-317"/>
          <p:cNvSpPr/>
          <p:nvPr/>
        </p:nvSpPr>
        <p:spPr>
          <a:xfrm>
            <a:off x="557784" y="1701070"/>
            <a:ext cx="3593592" cy="20934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08_grad-318" descr="갠지가 졸업 가운 차림의 경수에게 학사모를 씌워 주는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366"/>
            <a:ext cx="3429000" cy="1928813"/>
          </a:xfrm>
          <a:prstGeom prst="rect">
            <a:avLst/>
          </a:prstGeom>
        </p:spPr>
      </p:pic>
      <p:sp>
        <p:nvSpPr>
          <p:cNvPr id="8" name="photo-corner-319"/>
          <p:cNvSpPr/>
          <p:nvPr/>
        </p:nvSpPr>
        <p:spPr>
          <a:xfrm rot="5400000">
            <a:off x="530352" y="167363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9" name="photo-corner-320"/>
          <p:cNvSpPr/>
          <p:nvPr/>
        </p:nvSpPr>
        <p:spPr>
          <a:xfrm rot="10800000">
            <a:off x="3904488" y="167363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0" name="photo-corner-321"/>
          <p:cNvSpPr/>
          <p:nvPr/>
        </p:nvSpPr>
        <p:spPr>
          <a:xfrm rot="16200000">
            <a:off x="3904488" y="354758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1" name="photo-corner-322"/>
          <p:cNvSpPr/>
          <p:nvPr/>
        </p:nvSpPr>
        <p:spPr>
          <a:xfrm>
            <a:off x="530352" y="354758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2" name="stamp-323"/>
          <p:cNvSpPr txBox="1"/>
          <p:nvPr/>
        </p:nvSpPr>
        <p:spPr>
          <a:xfrm>
            <a:off x="2057400" y="338299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S#08 C#04</a:t>
            </a:r>
            <a:endParaRPr lang="en-US" sz="1100" dirty="0"/>
          </a:p>
        </p:txBody>
      </p:sp>
      <p:sp>
        <p:nvSpPr>
          <p:cNvPr id="13" name="rect-324"/>
          <p:cNvSpPr/>
          <p:nvPr/>
        </p:nvSpPr>
        <p:spPr>
          <a:xfrm>
            <a:off x="4187952" y="1701070"/>
            <a:ext cx="3593592" cy="20934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4" name="img-s09_walk-325" descr="학사모를 쓴 경수가 아버지의 봉안함 앞에 선 장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783366"/>
            <a:ext cx="3429000" cy="1928813"/>
          </a:xfrm>
          <a:prstGeom prst="rect">
            <a:avLst/>
          </a:prstGeom>
        </p:spPr>
      </p:pic>
      <p:sp>
        <p:nvSpPr>
          <p:cNvPr id="15" name="photo-corner-326"/>
          <p:cNvSpPr/>
          <p:nvPr/>
        </p:nvSpPr>
        <p:spPr>
          <a:xfrm rot="5400000">
            <a:off x="4160520" y="167363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6" name="photo-corner-327"/>
          <p:cNvSpPr/>
          <p:nvPr/>
        </p:nvSpPr>
        <p:spPr>
          <a:xfrm rot="10800000">
            <a:off x="7534656" y="167363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7" name="photo-corner-328"/>
          <p:cNvSpPr/>
          <p:nvPr/>
        </p:nvSpPr>
        <p:spPr>
          <a:xfrm rot="16200000">
            <a:off x="7534656" y="354758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8" name="photo-corner-329"/>
          <p:cNvSpPr/>
          <p:nvPr/>
        </p:nvSpPr>
        <p:spPr>
          <a:xfrm>
            <a:off x="4160520" y="354758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9" name="stamp-330"/>
          <p:cNvSpPr txBox="1"/>
          <p:nvPr/>
        </p:nvSpPr>
        <p:spPr>
          <a:xfrm>
            <a:off x="5687568" y="338299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S#09 C#02</a:t>
            </a:r>
            <a:endParaRPr lang="en-US" sz="1100" dirty="0"/>
          </a:p>
        </p:txBody>
      </p:sp>
      <p:sp>
        <p:nvSpPr>
          <p:cNvPr id="20" name="rect-331"/>
          <p:cNvSpPr/>
          <p:nvPr/>
        </p:nvSpPr>
        <p:spPr>
          <a:xfrm>
            <a:off x="557784" y="3895630"/>
            <a:ext cx="3593592" cy="20934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1" name="img-s09_mom-332" descr="눈물이 차오르는 엄마의 얼굴 클로즈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926"/>
            <a:ext cx="3429000" cy="1928813"/>
          </a:xfrm>
          <a:prstGeom prst="rect">
            <a:avLst/>
          </a:prstGeom>
        </p:spPr>
      </p:pic>
      <p:sp>
        <p:nvSpPr>
          <p:cNvPr id="22" name="photo-corner-333"/>
          <p:cNvSpPr/>
          <p:nvPr/>
        </p:nvSpPr>
        <p:spPr>
          <a:xfrm rot="5400000">
            <a:off x="530352" y="386819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3" name="photo-corner-334"/>
          <p:cNvSpPr/>
          <p:nvPr/>
        </p:nvSpPr>
        <p:spPr>
          <a:xfrm rot="10800000">
            <a:off x="3904488" y="386819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4" name="photo-corner-335"/>
          <p:cNvSpPr/>
          <p:nvPr/>
        </p:nvSpPr>
        <p:spPr>
          <a:xfrm rot="16200000">
            <a:off x="3904488" y="574214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5" name="photo-corner-336"/>
          <p:cNvSpPr/>
          <p:nvPr/>
        </p:nvSpPr>
        <p:spPr>
          <a:xfrm>
            <a:off x="530352" y="574214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6" name="stamp-337"/>
          <p:cNvSpPr txBox="1"/>
          <p:nvPr/>
        </p:nvSpPr>
        <p:spPr>
          <a:xfrm>
            <a:off x="2057400" y="557755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S#09 C#05</a:t>
            </a:r>
            <a:endParaRPr lang="en-US" sz="1100" dirty="0"/>
          </a:p>
        </p:txBody>
      </p:sp>
      <p:sp>
        <p:nvSpPr>
          <p:cNvPr id="27" name="rect-338"/>
          <p:cNvSpPr/>
          <p:nvPr/>
        </p:nvSpPr>
        <p:spPr>
          <a:xfrm>
            <a:off x="4187952" y="3895630"/>
            <a:ext cx="3593592" cy="20934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8" name="img-s09_back-339" descr="엄마의 어깨를 토닥이는 경수와 뒤에 선 갠지의 뒷모습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977926"/>
            <a:ext cx="3429000" cy="1928813"/>
          </a:xfrm>
          <a:prstGeom prst="rect">
            <a:avLst/>
          </a:prstGeom>
        </p:spPr>
      </p:pic>
      <p:sp>
        <p:nvSpPr>
          <p:cNvPr id="29" name="photo-corner-340"/>
          <p:cNvSpPr/>
          <p:nvPr/>
        </p:nvSpPr>
        <p:spPr>
          <a:xfrm rot="5400000">
            <a:off x="4160520" y="386819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30" name="photo-corner-341"/>
          <p:cNvSpPr/>
          <p:nvPr/>
        </p:nvSpPr>
        <p:spPr>
          <a:xfrm rot="10800000">
            <a:off x="7534656" y="386819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31" name="photo-corner-342"/>
          <p:cNvSpPr/>
          <p:nvPr/>
        </p:nvSpPr>
        <p:spPr>
          <a:xfrm rot="16200000">
            <a:off x="7534656" y="574214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32" name="photo-corner-343"/>
          <p:cNvSpPr/>
          <p:nvPr/>
        </p:nvSpPr>
        <p:spPr>
          <a:xfrm>
            <a:off x="4160520" y="5742146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33" name="stamp-344"/>
          <p:cNvSpPr txBox="1"/>
          <p:nvPr/>
        </p:nvSpPr>
        <p:spPr>
          <a:xfrm>
            <a:off x="5687568" y="557755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S#09 C#06</a:t>
            </a:r>
            <a:endParaRPr lang="en-US" sz="1100" dirty="0"/>
          </a:p>
        </p:txBody>
      </p:sp>
      <p:sp>
        <p:nvSpPr>
          <p:cNvPr id="34" name="ring-dot-345"/>
          <p:cNvSpPr/>
          <p:nvPr/>
        </p:nvSpPr>
        <p:spPr>
          <a:xfrm>
            <a:off x="8183880" y="1917700"/>
            <a:ext cx="137160" cy="137160"/>
          </a:xfrm>
          <a:prstGeom prst="ellipse">
            <a:avLst/>
          </a:prstGeom>
          <a:ln w="22225">
            <a:solidFill>
              <a:srgbClr val="46D3E6"/>
            </a:solidFill>
            <a:prstDash val="solid"/>
          </a:ln>
        </p:spPr>
      </p:sp>
      <p:sp>
        <p:nvSpPr>
          <p:cNvPr id="35" name="bullet-346"/>
          <p:cNvSpPr txBox="1"/>
          <p:nvPr/>
        </p:nvSpPr>
        <p:spPr>
          <a:xfrm>
            <a:off x="8476488" y="182880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졸업식의 기쁨에서 봉안당의 상실로 이어지는 감정 낙차 설계</a:t>
            </a:r>
            <a:endParaRPr lang="en-US" sz="1400" dirty="0"/>
          </a:p>
        </p:txBody>
      </p:sp>
      <p:sp>
        <p:nvSpPr>
          <p:cNvPr id="36" name="ring-dot-347"/>
          <p:cNvSpPr/>
          <p:nvPr/>
        </p:nvSpPr>
        <p:spPr>
          <a:xfrm>
            <a:off x="8183880" y="2969260"/>
            <a:ext cx="137160" cy="137160"/>
          </a:xfrm>
          <a:prstGeom prst="ellipse">
            <a:avLst/>
          </a:prstGeom>
          <a:ln w="22225">
            <a:solidFill>
              <a:srgbClr val="46D3E6"/>
            </a:solidFill>
            <a:prstDash val="solid"/>
          </a:ln>
        </p:spPr>
      </p:sp>
      <p:sp>
        <p:nvSpPr>
          <p:cNvPr id="37" name="bullet-348"/>
          <p:cNvSpPr txBox="1"/>
          <p:nvPr/>
        </p:nvSpPr>
        <p:spPr>
          <a:xfrm>
            <a:off x="8476488" y="288036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학사모 차림 그대로 아버지를 찾아가는 장면으로 부재의 의미 강조</a:t>
            </a:r>
            <a:endParaRPr lang="en-US" sz="1400" dirty="0"/>
          </a:p>
        </p:txBody>
      </p:sp>
      <p:sp>
        <p:nvSpPr>
          <p:cNvPr id="38" name="ring-dot-349"/>
          <p:cNvSpPr/>
          <p:nvPr/>
        </p:nvSpPr>
        <p:spPr>
          <a:xfrm>
            <a:off x="8183880" y="4020820"/>
            <a:ext cx="137160" cy="137160"/>
          </a:xfrm>
          <a:prstGeom prst="ellipse">
            <a:avLst/>
          </a:prstGeom>
          <a:ln w="22225">
            <a:solidFill>
              <a:srgbClr val="46D3E6"/>
            </a:solidFill>
            <a:prstDash val="solid"/>
          </a:ln>
        </p:spPr>
      </p:sp>
      <p:sp>
        <p:nvSpPr>
          <p:cNvPr id="39" name="bullet-350"/>
          <p:cNvSpPr txBox="1"/>
          <p:nvPr/>
        </p:nvSpPr>
        <p:spPr>
          <a:xfrm>
            <a:off x="8476488" y="3931920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클로즈업과 뒷모습 샷의 교차로 인물의 감정 전달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bum-351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352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353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서사 속 생활 유머로 완급 조절</a:t>
            </a:r>
            <a:endParaRPr lang="en-US" sz="2600" dirty="0"/>
          </a:p>
        </p:txBody>
      </p:sp>
      <p:sp>
        <p:nvSpPr>
          <p:cNvPr id="6" name="rect-354"/>
          <p:cNvSpPr/>
          <p:nvPr/>
        </p:nvSpPr>
        <p:spPr>
          <a:xfrm>
            <a:off x="559816" y="1655064"/>
            <a:ext cx="6195568" cy="35570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11_table-355" descr="카쑤 ZERO 맥주와 가솔린 ZERO가 놓인 식탁 하이앵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2" y="1737360"/>
            <a:ext cx="6030976" cy="3392424"/>
          </a:xfrm>
          <a:prstGeom prst="rect">
            <a:avLst/>
          </a:prstGeom>
        </p:spPr>
      </p:pic>
      <p:sp>
        <p:nvSpPr>
          <p:cNvPr id="8" name="photo-corner-356"/>
          <p:cNvSpPr/>
          <p:nvPr/>
        </p:nvSpPr>
        <p:spPr>
          <a:xfrm rot="5400000">
            <a:off x="532384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357"/>
          <p:cNvSpPr/>
          <p:nvPr/>
        </p:nvSpPr>
        <p:spPr>
          <a:xfrm rot="10800000">
            <a:off x="6508496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358"/>
          <p:cNvSpPr/>
          <p:nvPr/>
        </p:nvSpPr>
        <p:spPr>
          <a:xfrm rot="16200000">
            <a:off x="6508496" y="496519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359"/>
          <p:cNvSpPr/>
          <p:nvPr/>
        </p:nvSpPr>
        <p:spPr>
          <a:xfrm>
            <a:off x="532384" y="496519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360"/>
          <p:cNvSpPr txBox="1"/>
          <p:nvPr/>
        </p:nvSpPr>
        <p:spPr>
          <a:xfrm>
            <a:off x="4661408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S#11 C#09</a:t>
            </a:r>
            <a:endParaRPr lang="en-US" sz="1100" dirty="0"/>
          </a:p>
        </p:txBody>
      </p:sp>
      <p:sp>
        <p:nvSpPr>
          <p:cNvPr id="13" name="ring-dot-361"/>
          <p:cNvSpPr/>
          <p:nvPr/>
        </p:nvSpPr>
        <p:spPr>
          <a:xfrm>
            <a:off x="640080" y="544068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14" name="text-362"/>
          <p:cNvSpPr txBox="1"/>
          <p:nvPr/>
        </p:nvSpPr>
        <p:spPr>
          <a:xfrm>
            <a:off x="932688" y="53492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엄마의 손맛을 그리워하며 벽의 가족사진으로 시선이 옮겨 가는 감정 전환</a:t>
            </a:r>
            <a:endParaRPr lang="en-US" sz="1250" dirty="0"/>
          </a:p>
        </p:txBody>
      </p:sp>
      <p:sp>
        <p:nvSpPr>
          <p:cNvPr id="15" name="rect-363"/>
          <p:cNvSpPr/>
          <p:nvPr/>
        </p:nvSpPr>
        <p:spPr>
          <a:xfrm>
            <a:off x="6986016" y="1682496"/>
            <a:ext cx="2304288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6" name="img-s11_apron-364" descr="앞치마를 두르고 된장찌개를 든 갠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37360"/>
            <a:ext cx="2194560" cy="1234440"/>
          </a:xfrm>
          <a:prstGeom prst="rect">
            <a:avLst/>
          </a:prstGeom>
        </p:spPr>
      </p:pic>
      <p:sp>
        <p:nvSpPr>
          <p:cNvPr id="17" name="photo-corner-365"/>
          <p:cNvSpPr/>
          <p:nvPr/>
        </p:nvSpPr>
        <p:spPr>
          <a:xfrm rot="5400000">
            <a:off x="6958584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366"/>
          <p:cNvSpPr/>
          <p:nvPr/>
        </p:nvSpPr>
        <p:spPr>
          <a:xfrm rot="10800000">
            <a:off x="9134856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photo-corner-367"/>
          <p:cNvSpPr/>
          <p:nvPr/>
        </p:nvSpPr>
        <p:spPr>
          <a:xfrm rot="16200000">
            <a:off x="9134856" y="287121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0" name="photo-corner-368"/>
          <p:cNvSpPr/>
          <p:nvPr/>
        </p:nvSpPr>
        <p:spPr>
          <a:xfrm>
            <a:off x="6958584" y="287121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1" name="stamp-369"/>
          <p:cNvSpPr txBox="1"/>
          <p:nvPr/>
        </p:nvSpPr>
        <p:spPr>
          <a:xfrm>
            <a:off x="722376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C#06</a:t>
            </a:r>
            <a:endParaRPr lang="en-US" sz="1000" dirty="0"/>
          </a:p>
        </p:txBody>
      </p:sp>
      <p:sp>
        <p:nvSpPr>
          <p:cNvPr id="22" name="rect-370"/>
          <p:cNvSpPr/>
          <p:nvPr/>
        </p:nvSpPr>
        <p:spPr>
          <a:xfrm>
            <a:off x="9317736" y="1682496"/>
            <a:ext cx="2304288" cy="1344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3" name="img-s11_green-371" descr="턱 아래부터 초록빛이 차오르는 경수의 얼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737360"/>
            <a:ext cx="2194560" cy="1234440"/>
          </a:xfrm>
          <a:prstGeom prst="rect">
            <a:avLst/>
          </a:prstGeom>
        </p:spPr>
      </p:pic>
      <p:sp>
        <p:nvSpPr>
          <p:cNvPr id="24" name="photo-corner-372"/>
          <p:cNvSpPr/>
          <p:nvPr/>
        </p:nvSpPr>
        <p:spPr>
          <a:xfrm rot="5400000">
            <a:off x="9290304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5" name="photo-corner-373"/>
          <p:cNvSpPr/>
          <p:nvPr/>
        </p:nvSpPr>
        <p:spPr>
          <a:xfrm rot="10800000">
            <a:off x="11466576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photo-corner-374"/>
          <p:cNvSpPr/>
          <p:nvPr/>
        </p:nvSpPr>
        <p:spPr>
          <a:xfrm rot="16200000">
            <a:off x="11466576" y="287121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7" name="photo-corner-375"/>
          <p:cNvSpPr/>
          <p:nvPr/>
        </p:nvSpPr>
        <p:spPr>
          <a:xfrm>
            <a:off x="9290304" y="287121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stamp-376"/>
          <p:cNvSpPr txBox="1"/>
          <p:nvPr/>
        </p:nvSpPr>
        <p:spPr>
          <a:xfrm>
            <a:off x="955548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C#13</a:t>
            </a:r>
            <a:endParaRPr lang="en-US" sz="1000" dirty="0"/>
          </a:p>
        </p:txBody>
      </p:sp>
      <p:sp>
        <p:nvSpPr>
          <p:cNvPr id="29" name="ring-dot-377"/>
          <p:cNvSpPr/>
          <p:nvPr/>
        </p:nvSpPr>
        <p:spPr>
          <a:xfrm>
            <a:off x="7040880" y="342328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0" name="bullet-378"/>
          <p:cNvSpPr txBox="1"/>
          <p:nvPr/>
        </p:nvSpPr>
        <p:spPr>
          <a:xfrm>
            <a:off x="7333488" y="333756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앞치마를 두른 인물이 갠지로 드러나는 반전 컷으로 시선 집중</a:t>
            </a:r>
            <a:endParaRPr lang="en-US" sz="1350" dirty="0"/>
          </a:p>
        </p:txBody>
      </p:sp>
      <p:sp>
        <p:nvSpPr>
          <p:cNvPr id="31" name="ring-dot-379"/>
          <p:cNvSpPr/>
          <p:nvPr/>
        </p:nvSpPr>
        <p:spPr>
          <a:xfrm>
            <a:off x="7040880" y="420052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2" name="bullet-380"/>
          <p:cNvSpPr txBox="1"/>
          <p:nvPr/>
        </p:nvSpPr>
        <p:spPr>
          <a:xfrm>
            <a:off x="7333488" y="411480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카쑤 ZERO / 가솔린 ZERO 패러디 소품으로 세계관 위트 강화</a:t>
            </a:r>
            <a:endParaRPr lang="en-US" sz="1350" dirty="0"/>
          </a:p>
        </p:txBody>
      </p:sp>
      <p:sp>
        <p:nvSpPr>
          <p:cNvPr id="33" name="ring-dot-381"/>
          <p:cNvSpPr/>
          <p:nvPr/>
        </p:nvSpPr>
        <p:spPr>
          <a:xfrm>
            <a:off x="7040880" y="497776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4" name="bullet-382"/>
          <p:cNvSpPr txBox="1"/>
          <p:nvPr/>
        </p:nvSpPr>
        <p:spPr>
          <a:xfrm>
            <a:off x="7333488" y="4892040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턱 아래부터 차오르는 초록빛 과장 표현으로 코믹한 리듬 형성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void-383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384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46D3E6"/>
            </a:solidFill>
            <a:prstDash val="solid"/>
          </a:ln>
        </p:spPr>
      </p:sp>
      <p:sp>
        <p:nvSpPr>
          <p:cNvPr id="4" name="label-385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CE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수미상관 구조와 엔딩 문구 전환으로 완성한 일생의 순환</a:t>
            </a:r>
            <a:endParaRPr lang="en-US" sz="2600" dirty="0"/>
          </a:p>
        </p:txBody>
      </p:sp>
      <p:sp>
        <p:nvSpPr>
          <p:cNvPr id="6" name="rect-386"/>
          <p:cNvSpPr/>
          <p:nvPr/>
        </p:nvSpPr>
        <p:spPr>
          <a:xfrm>
            <a:off x="559816" y="1700784"/>
            <a:ext cx="3269488" cy="1911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01_pov-387" descr="아빠와 간호사가 내려다보는 신생아 시점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2" y="1783080"/>
            <a:ext cx="3104896" cy="1746504"/>
          </a:xfrm>
          <a:prstGeom prst="rect">
            <a:avLst/>
          </a:prstGeom>
        </p:spPr>
      </p:pic>
      <p:sp>
        <p:nvSpPr>
          <p:cNvPr id="8" name="photo-corner-388"/>
          <p:cNvSpPr/>
          <p:nvPr/>
        </p:nvSpPr>
        <p:spPr>
          <a:xfrm rot="5400000">
            <a:off x="532384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9" name="photo-corner-389"/>
          <p:cNvSpPr/>
          <p:nvPr/>
        </p:nvSpPr>
        <p:spPr>
          <a:xfrm rot="10800000">
            <a:off x="3582416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0" name="photo-corner-390"/>
          <p:cNvSpPr/>
          <p:nvPr/>
        </p:nvSpPr>
        <p:spPr>
          <a:xfrm rot="16200000">
            <a:off x="3582416" y="336499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1" name="photo-corner-391"/>
          <p:cNvSpPr/>
          <p:nvPr/>
        </p:nvSpPr>
        <p:spPr>
          <a:xfrm>
            <a:off x="532384" y="336499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2" name="stamp-392"/>
          <p:cNvSpPr txBox="1"/>
          <p:nvPr/>
        </p:nvSpPr>
        <p:spPr>
          <a:xfrm>
            <a:off x="40233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S#01 / S#13</a:t>
            </a:r>
            <a:endParaRPr lang="en-US" sz="1100" dirty="0"/>
          </a:p>
        </p:txBody>
      </p:sp>
      <p:sp>
        <p:nvSpPr>
          <p:cNvPr id="13" name="text-393"/>
          <p:cNvSpPr txBox="1"/>
          <p:nvPr/>
        </p:nvSpPr>
        <p:spPr>
          <a:xfrm>
            <a:off x="4023360" y="2194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신생아의 첫 시점샷과 노년의 시점샷을 대구로 배치해 일생의 처음과 끝 연결</a:t>
            </a:r>
            <a:endParaRPr lang="en-US" sz="1350" dirty="0"/>
          </a:p>
        </p:txBody>
      </p:sp>
      <p:sp>
        <p:nvSpPr>
          <p:cNvPr id="14" name="rect-394"/>
          <p:cNvSpPr/>
          <p:nvPr/>
        </p:nvSpPr>
        <p:spPr>
          <a:xfrm>
            <a:off x="559816" y="3849624"/>
            <a:ext cx="3269488" cy="1911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5" name="img-s04_play-395" descr="놀이터에서 갠지의 목말을 탄 어린 경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12" y="3931920"/>
            <a:ext cx="3104896" cy="1746504"/>
          </a:xfrm>
          <a:prstGeom prst="rect">
            <a:avLst/>
          </a:prstGeom>
        </p:spPr>
      </p:pic>
      <p:sp>
        <p:nvSpPr>
          <p:cNvPr id="16" name="photo-corner-396"/>
          <p:cNvSpPr/>
          <p:nvPr/>
        </p:nvSpPr>
        <p:spPr>
          <a:xfrm rot="5400000">
            <a:off x="532384" y="382219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7" name="photo-corner-397"/>
          <p:cNvSpPr/>
          <p:nvPr/>
        </p:nvSpPr>
        <p:spPr>
          <a:xfrm rot="10800000">
            <a:off x="3582416" y="382219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8" name="photo-corner-398"/>
          <p:cNvSpPr/>
          <p:nvPr/>
        </p:nvSpPr>
        <p:spPr>
          <a:xfrm rot="16200000">
            <a:off x="3582416" y="551383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9" name="photo-corner-399"/>
          <p:cNvSpPr/>
          <p:nvPr/>
        </p:nvSpPr>
        <p:spPr>
          <a:xfrm>
            <a:off x="532384" y="551383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0" name="stamp-400"/>
          <p:cNvSpPr txBox="1"/>
          <p:nvPr/>
        </p:nvSpPr>
        <p:spPr>
          <a:xfrm>
            <a:off x="402336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S#04 / S#13</a:t>
            </a:r>
            <a:endParaRPr lang="en-US" sz="1100" dirty="0"/>
          </a:p>
        </p:txBody>
      </p:sp>
      <p:sp>
        <p:nvSpPr>
          <p:cNvPr id="21" name="text-401"/>
          <p:cNvSpPr txBox="1"/>
          <p:nvPr/>
        </p:nvSpPr>
        <p:spPr>
          <a:xfrm>
            <a:off x="4023360" y="43434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갠지의 목말을 타던 놀이터에서 다른 아이의 목말 장면으로 세대의 순환 표현</a:t>
            </a:r>
            <a:endParaRPr lang="en-US" sz="1350" dirty="0"/>
          </a:p>
        </p:txBody>
      </p:sp>
      <p:sp>
        <p:nvSpPr>
          <p:cNvPr id="22" name="stamp-402"/>
          <p:cNvSpPr txBox="1"/>
          <p:nvPr/>
        </p:nvSpPr>
        <p:spPr>
          <a:xfrm>
            <a:off x="7772400" y="178308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S#15 LED 전광판</a:t>
            </a:r>
            <a:endParaRPr lang="en-US" sz="1100" dirty="0"/>
          </a:p>
        </p:txBody>
      </p:sp>
      <p:sp>
        <p:nvSpPr>
          <p:cNvPr id="23" name="rect-403"/>
          <p:cNvSpPr/>
          <p:nvPr/>
        </p:nvSpPr>
        <p:spPr>
          <a:xfrm>
            <a:off x="7772400" y="2148840"/>
            <a:ext cx="3776472" cy="868680"/>
          </a:xfrm>
          <a:prstGeom prst="rect">
            <a:avLst/>
          </a:prstGeom>
          <a:solidFill>
            <a:srgbClr val="07070A"/>
          </a:solidFill>
          <a:ln w="12700">
            <a:solidFill>
              <a:srgbClr val="3A3540"/>
            </a:solidFill>
            <a:prstDash val="solid"/>
          </a:ln>
        </p:spPr>
      </p:sp>
      <p:sp>
        <p:nvSpPr>
          <p:cNvPr id="24" name="text-404"/>
          <p:cNvSpPr txBox="1"/>
          <p:nvPr/>
        </p:nvSpPr>
        <p:spPr>
          <a:xfrm>
            <a:off x="7772400" y="2148840"/>
            <a:ext cx="3776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간지와 함께라면,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혼자가 아닙니다</a:t>
            </a:r>
            <a:endParaRPr lang="en-US" sz="1400" dirty="0"/>
          </a:p>
        </p:txBody>
      </p:sp>
      <p:sp>
        <p:nvSpPr>
          <p:cNvPr id="25" name="text-405"/>
          <p:cNvSpPr txBox="1"/>
          <p:nvPr/>
        </p:nvSpPr>
        <p:spPr>
          <a:xfrm>
            <a:off x="7772400" y="3063240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6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26" name="rect-406"/>
          <p:cNvSpPr/>
          <p:nvPr/>
        </p:nvSpPr>
        <p:spPr>
          <a:xfrm>
            <a:off x="7772400" y="3401568"/>
            <a:ext cx="3776472" cy="868680"/>
          </a:xfrm>
          <a:prstGeom prst="rect">
            <a:avLst/>
          </a:prstGeom>
          <a:solidFill>
            <a:srgbClr val="07070A"/>
          </a:solidFill>
          <a:ln w="12700">
            <a:solidFill>
              <a:srgbClr val="3A3540"/>
            </a:solidFill>
            <a:prstDash val="solid"/>
          </a:ln>
        </p:spPr>
      </p:sp>
      <p:sp>
        <p:nvSpPr>
          <p:cNvPr id="27" name="text-407"/>
          <p:cNvSpPr txBox="1"/>
          <p:nvPr/>
        </p:nvSpPr>
        <p:spPr>
          <a:xfrm>
            <a:off x="7772400" y="3401568"/>
            <a:ext cx="3776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일생동안,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B5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살아갈 수 있습니까?</a:t>
            </a:r>
            <a:endParaRPr lang="en-US" sz="1400" dirty="0"/>
          </a:p>
        </p:txBody>
      </p:sp>
      <p:sp>
        <p:nvSpPr>
          <p:cNvPr id="28" name="ring-dot-408"/>
          <p:cNvSpPr/>
          <p:nvPr/>
        </p:nvSpPr>
        <p:spPr>
          <a:xfrm>
            <a:off x="7772400" y="4605655"/>
            <a:ext cx="137160" cy="137160"/>
          </a:xfrm>
          <a:prstGeom prst="ellipse">
            <a:avLst/>
          </a:prstGeom>
          <a:ln w="22225">
            <a:solidFill>
              <a:srgbClr val="46D3E6"/>
            </a:solidFill>
            <a:prstDash val="solid"/>
          </a:ln>
        </p:spPr>
      </p:sp>
      <p:sp>
        <p:nvSpPr>
          <p:cNvPr id="29" name="bullet-409"/>
          <p:cNvSpPr txBox="1"/>
          <p:nvPr/>
        </p:nvSpPr>
        <p:spPr>
          <a:xfrm>
            <a:off x="8065008" y="4526280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문구 전환으로 관객에게 직접 질문을 던지는 엔딩</a:t>
            </a:r>
            <a:endParaRPr lang="en-US" sz="1250" dirty="0"/>
          </a:p>
        </p:txBody>
      </p:sp>
      <p:sp>
        <p:nvSpPr>
          <p:cNvPr id="30" name="ring-dot-410"/>
          <p:cNvSpPr/>
          <p:nvPr/>
        </p:nvSpPr>
        <p:spPr>
          <a:xfrm>
            <a:off x="7772400" y="5337175"/>
            <a:ext cx="137160" cy="137160"/>
          </a:xfrm>
          <a:prstGeom prst="ellipse">
            <a:avLst/>
          </a:prstGeom>
          <a:ln w="22225">
            <a:solidFill>
              <a:srgbClr val="46D3E6"/>
            </a:solidFill>
            <a:prstDash val="solid"/>
          </a:ln>
        </p:spPr>
      </p:sp>
      <p:sp>
        <p:nvSpPr>
          <p:cNvPr id="31" name="bullet-411"/>
          <p:cNvSpPr txBox="1"/>
          <p:nvPr/>
        </p:nvSpPr>
        <p:spPr>
          <a:xfrm>
            <a:off x="8065008" y="5257800"/>
            <a:ext cx="3483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회상(C#24-03)과 현재(C#30)를 동일 구도로 재현해 달라진 의미 강조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void-41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413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46D3E6"/>
            </a:solidFill>
            <a:prstDash val="solid"/>
          </a:ln>
        </p:spPr>
      </p:sp>
      <p:sp>
        <p:nvSpPr>
          <p:cNvPr id="4" name="label-414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CE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No.01  블랙홀에 기대다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편집본 영상</a:t>
            </a:r>
            <a:endParaRPr lang="en-US" sz="2600" dirty="0"/>
          </a:p>
        </p:txBody>
      </p:sp>
      <p:sp>
        <p:nvSpPr>
          <p:cNvPr id="6" name="rect-415"/>
          <p:cNvSpPr/>
          <p:nvPr/>
        </p:nvSpPr>
        <p:spPr>
          <a:xfrm>
            <a:off x="557784" y="1700784"/>
            <a:ext cx="5285232" cy="3044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poster_s01-416" descr="S#01 병원 분만실 1차 편집본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2880360"/>
          </a:xfrm>
          <a:prstGeom prst="rect">
            <a:avLst/>
          </a:prstGeom>
        </p:spPr>
      </p:pic>
      <p:sp>
        <p:nvSpPr>
          <p:cNvPr id="8" name="photo-corner-417"/>
          <p:cNvSpPr/>
          <p:nvPr/>
        </p:nvSpPr>
        <p:spPr>
          <a:xfrm rot="5400000">
            <a:off x="530352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9" name="photo-corner-418"/>
          <p:cNvSpPr/>
          <p:nvPr/>
        </p:nvSpPr>
        <p:spPr>
          <a:xfrm rot="10800000">
            <a:off x="5596128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0" name="photo-corner-419"/>
          <p:cNvSpPr/>
          <p:nvPr/>
        </p:nvSpPr>
        <p:spPr>
          <a:xfrm rot="16200000">
            <a:off x="5596128" y="449884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1" name="photo-corner-420"/>
          <p:cNvSpPr/>
          <p:nvPr/>
        </p:nvSpPr>
        <p:spPr>
          <a:xfrm>
            <a:off x="530352" y="449884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2" name="stamp-421"/>
          <p:cNvSpPr txBox="1"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S#01 병원 분만실</a:t>
            </a:r>
            <a:endParaRPr lang="en-US" sz="1250" dirty="0"/>
          </a:p>
        </p:txBody>
      </p:sp>
      <p:sp>
        <p:nvSpPr>
          <p:cNvPr id="13" name="text-422"/>
          <p:cNvSpPr txBox="1"/>
          <p:nvPr/>
        </p:nvSpPr>
        <p:spPr>
          <a:xfrm>
            <a:off x="640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암전에서 페이드인되는 신생아 시점샷으로 여는 오프닝</a:t>
            </a:r>
            <a:endParaRPr lang="en-US" sz="1350" dirty="0"/>
          </a:p>
        </p:txBody>
      </p:sp>
      <p:sp>
        <p:nvSpPr>
          <p:cNvPr id="14" name="link-btn-423"/>
          <p:cNvSpPr/>
          <p:nvPr/>
        </p:nvSpPr>
        <p:spPr>
          <a:xfrm>
            <a:off x="640080" y="566928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B1A22"/>
          </a:solidFill>
          <a:ln w="19050">
            <a:solidFill>
              <a:srgbClr val="46D3E6"/>
            </a:solidFill>
            <a:prstDash val="solid"/>
          </a:ln>
        </p:spPr>
      </p:sp>
      <p:sp>
        <p:nvSpPr>
          <p:cNvPr id="15" name="link-424"/>
          <p:cNvSpPr txBox="1"/>
          <p:nvPr/>
        </p:nvSpPr>
        <p:spPr>
          <a:xfrm>
            <a:off x="640080" y="5669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EtM8_FgEvMgrkCFFMu-GYQKSffDVupvC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S#01 영상 보기</a:t>
            </a:r>
            <a:endParaRPr lang="en-US" sz="1250" dirty="0"/>
          </a:p>
        </p:txBody>
      </p:sp>
      <p:sp>
        <p:nvSpPr>
          <p:cNvPr id="16" name="rect-425"/>
          <p:cNvSpPr/>
          <p:nvPr/>
        </p:nvSpPr>
        <p:spPr>
          <a:xfrm>
            <a:off x="6345936" y="1700784"/>
            <a:ext cx="5285232" cy="30449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7" name="img-poster_s02-426" descr="S#02 거실 한글 배우기 1차 편집본 영상 보기">
            <a:hlinkClick r:id="rId6" tooltip="영상 보기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783080"/>
            <a:ext cx="5120640" cy="2880360"/>
          </a:xfrm>
          <a:prstGeom prst="rect">
            <a:avLst/>
          </a:prstGeom>
        </p:spPr>
      </p:pic>
      <p:sp>
        <p:nvSpPr>
          <p:cNvPr id="18" name="photo-corner-427"/>
          <p:cNvSpPr/>
          <p:nvPr/>
        </p:nvSpPr>
        <p:spPr>
          <a:xfrm rot="5400000">
            <a:off x="6318504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19" name="photo-corner-428"/>
          <p:cNvSpPr/>
          <p:nvPr/>
        </p:nvSpPr>
        <p:spPr>
          <a:xfrm rot="10800000">
            <a:off x="11384280" y="1673352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0" name="photo-corner-429"/>
          <p:cNvSpPr/>
          <p:nvPr/>
        </p:nvSpPr>
        <p:spPr>
          <a:xfrm rot="16200000">
            <a:off x="11384280" y="449884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1" name="photo-corner-430"/>
          <p:cNvSpPr/>
          <p:nvPr/>
        </p:nvSpPr>
        <p:spPr>
          <a:xfrm>
            <a:off x="6318504" y="4498848"/>
            <a:ext cx="274320" cy="274320"/>
          </a:xfrm>
          <a:prstGeom prst="rtTriangle">
            <a:avLst/>
          </a:prstGeom>
          <a:solidFill>
            <a:srgbClr val="1B1A22"/>
          </a:solidFill>
          <a:ln/>
        </p:spPr>
      </p:sp>
      <p:sp>
        <p:nvSpPr>
          <p:cNvPr id="22" name="stamp-431"/>
          <p:cNvSpPr txBox="1"/>
          <p:nvPr/>
        </p:nvSpPr>
        <p:spPr>
          <a:xfrm>
            <a:off x="6428232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S#02 거실 한글 배우기</a:t>
            </a:r>
            <a:endParaRPr lang="en-US" sz="1250" dirty="0"/>
          </a:p>
        </p:txBody>
      </p:sp>
      <p:sp>
        <p:nvSpPr>
          <p:cNvPr id="23" name="text-432"/>
          <p:cNvSpPr txBox="1"/>
          <p:nvPr/>
        </p:nvSpPr>
        <p:spPr>
          <a:xfrm>
            <a:off x="6428232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버즈아이뷰 틸트다운과 엄지 척 투샷으로 그린 갠지와의 교감</a:t>
            </a:r>
            <a:endParaRPr lang="en-US" sz="1350" dirty="0"/>
          </a:p>
        </p:txBody>
      </p:sp>
      <p:sp>
        <p:nvSpPr>
          <p:cNvPr id="24" name="link-btn-433"/>
          <p:cNvSpPr/>
          <p:nvPr/>
        </p:nvSpPr>
        <p:spPr>
          <a:xfrm>
            <a:off x="6428232" y="566928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B1A22"/>
          </a:solidFill>
          <a:ln w="19050">
            <a:solidFill>
              <a:srgbClr val="46D3E6"/>
            </a:solidFill>
            <a:prstDash val="solid"/>
          </a:ln>
        </p:spPr>
      </p:sp>
      <p:sp>
        <p:nvSpPr>
          <p:cNvPr id="25" name="link-434"/>
          <p:cNvSpPr txBox="1"/>
          <p:nvPr/>
        </p:nvSpPr>
        <p:spPr>
          <a:xfrm>
            <a:off x="6428232" y="5669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https://drive.google.com/file/d/1PhQ_nnpA_qpdteXEd8zWOHMkSZXFxL2Q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S#02 영상 보기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2_bg-435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ir_hak-436" descr="1월 학 캐릭터 시트의 정면과 측면 모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307592"/>
            <a:ext cx="4242816" cy="4242816"/>
          </a:xfrm>
          <a:prstGeom prst="rect">
            <a:avLst/>
          </a:prstGeom>
        </p:spPr>
      </p:pic>
      <p:pic>
        <p:nvPicPr>
          <p:cNvPr id="4" name="ring-437" descr="갠지의 발광 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5303520" cy="5303520"/>
          </a:xfrm>
          <a:prstGeom prst="rect">
            <a:avLst/>
          </a:prstGeom>
        </p:spPr>
      </p:pic>
      <p:sp>
        <p:nvSpPr>
          <p:cNvPr id="5" name="stamp-438"/>
          <p:cNvSpPr txBox="1"/>
          <p:nvPr/>
        </p:nvSpPr>
        <p:spPr>
          <a:xfrm>
            <a:off x="64922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No.02</a:t>
            </a:r>
            <a:endParaRPr lang="en-US" sz="2600" dirty="0"/>
          </a:p>
        </p:txBody>
      </p:sp>
      <p:sp>
        <p:nvSpPr>
          <p:cNvPr id="6" name="text-439"/>
          <p:cNvSpPr txBox="1"/>
          <p:nvPr/>
        </p:nvSpPr>
        <p:spPr>
          <a:xfrm>
            <a:off x="651052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6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100" dirty="0"/>
          </a:p>
        </p:txBody>
      </p:sp>
      <p:sp>
        <p:nvSpPr>
          <p:cNvPr id="7" name="text-440"/>
          <p:cNvSpPr txBox="1"/>
          <p:nvPr/>
        </p:nvSpPr>
        <p:spPr>
          <a:xfrm>
            <a:off x="6492240" y="237744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캐릭터 IP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「光」</a:t>
            </a:r>
            <a:endParaRPr lang="en-US" sz="3800" dirty="0"/>
          </a:p>
        </p:txBody>
      </p:sp>
      <p:sp>
        <p:nvSpPr>
          <p:cNvPr id="8" name="rule-441"/>
          <p:cNvSpPr/>
          <p:nvPr/>
        </p:nvSpPr>
        <p:spPr>
          <a:xfrm>
            <a:off x="6510528" y="4114800"/>
            <a:ext cx="1005840" cy="0"/>
          </a:xfrm>
          <a:prstGeom prst="line">
            <a:avLst/>
          </a:prstGeom>
          <a:noFill/>
          <a:ln w="31750">
            <a:solidFill>
              <a:srgbClr val="46D3E6"/>
            </a:solidFill>
            <a:prstDash val="solid"/>
          </a:ln>
        </p:spPr>
      </p:sp>
      <p:sp>
        <p:nvSpPr>
          <p:cNvPr id="9" name="text-442"/>
          <p:cNvSpPr txBox="1"/>
          <p:nvPr/>
        </p:nvSpPr>
        <p:spPr>
          <a:xfrm>
            <a:off x="6492240" y="4343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3E6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열두 달 그림 속 동물로 그린 공감 일상 캐릭터</a:t>
            </a:r>
            <a:endParaRPr lang="en-US" sz="1600" dirty="0"/>
          </a:p>
        </p:txBody>
      </p:sp>
      <p:sp>
        <p:nvSpPr>
          <p:cNvPr id="10" name="text-443"/>
          <p:cNvSpPr txBox="1"/>
          <p:nvPr/>
        </p:nvSpPr>
        <p:spPr>
          <a:xfrm>
            <a:off x="649224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 / 일상툰 / 이모티콘 / 굿즈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p-44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44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44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No.02  화투 캐릭터 IP 「光」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그림 속 동물을 성격 유형으로 재해석한 캐릭터 라인업</a:t>
            </a:r>
            <a:endParaRPr lang="en-US" sz="2600" dirty="0"/>
          </a:p>
        </p:txBody>
      </p:sp>
      <p:sp>
        <p:nvSpPr>
          <p:cNvPr id="6" name="rect-447"/>
          <p:cNvSpPr/>
          <p:nvPr/>
        </p:nvSpPr>
        <p:spPr>
          <a:xfrm>
            <a:off x="557784" y="1700784"/>
            <a:ext cx="3273552" cy="3273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gwang-448" descr="붉은 원 안에 먹으로 쓴 光 브랜드 로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108960" cy="3108960"/>
          </a:xfrm>
          <a:prstGeom prst="rect">
            <a:avLst/>
          </a:prstGeom>
        </p:spPr>
      </p:pic>
      <p:sp>
        <p:nvSpPr>
          <p:cNvPr id="8" name="photo-corner-449"/>
          <p:cNvSpPr/>
          <p:nvPr/>
        </p:nvSpPr>
        <p:spPr>
          <a:xfrm rot="5400000">
            <a:off x="530352" y="16733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450"/>
          <p:cNvSpPr/>
          <p:nvPr/>
        </p:nvSpPr>
        <p:spPr>
          <a:xfrm rot="10800000">
            <a:off x="3584448" y="167335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451"/>
          <p:cNvSpPr/>
          <p:nvPr/>
        </p:nvSpPr>
        <p:spPr>
          <a:xfrm rot="16200000">
            <a:off x="3584448" y="47274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452"/>
          <p:cNvSpPr/>
          <p:nvPr/>
        </p:nvSpPr>
        <p:spPr>
          <a:xfrm>
            <a:off x="530352" y="472744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453"/>
          <p:cNvSpPr txBox="1"/>
          <p:nvPr/>
        </p:nvSpPr>
        <p:spPr>
          <a:xfrm>
            <a:off x="1737360" y="4562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00" dirty="0"/>
          </a:p>
        </p:txBody>
      </p:sp>
      <p:sp>
        <p:nvSpPr>
          <p:cNvPr id="13" name="text-454"/>
          <p:cNvSpPr txBox="1"/>
          <p:nvPr/>
        </p:nvSpPr>
        <p:spPr>
          <a:xfrm>
            <a:off x="64008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로고 「光」</a:t>
            </a:r>
            <a:endParaRPr lang="en-US" sz="1200" dirty="0"/>
          </a:p>
        </p:txBody>
      </p:sp>
      <p:sp>
        <p:nvSpPr>
          <p:cNvPr id="14" name="ring-dot-455"/>
          <p:cNvSpPr/>
          <p:nvPr/>
        </p:nvSpPr>
        <p:spPr>
          <a:xfrm>
            <a:off x="4206240" y="182626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15" name="bullet-456"/>
          <p:cNvSpPr txBox="1"/>
          <p:nvPr/>
        </p:nvSpPr>
        <p:spPr>
          <a:xfrm>
            <a:off x="4498848" y="1737360"/>
            <a:ext cx="7022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화투 열두 달 그림 속 동물을 현대인의 성격 유형으로 재해석</a:t>
            </a:r>
            <a:endParaRPr lang="en-US" sz="1400" dirty="0"/>
          </a:p>
        </p:txBody>
      </p:sp>
      <p:sp>
        <p:nvSpPr>
          <p:cNvPr id="16" name="ring-dot-457"/>
          <p:cNvSpPr/>
          <p:nvPr/>
        </p:nvSpPr>
        <p:spPr>
          <a:xfrm>
            <a:off x="4206240" y="232918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17" name="bullet-458"/>
          <p:cNvSpPr txBox="1"/>
          <p:nvPr/>
        </p:nvSpPr>
        <p:spPr>
          <a:xfrm>
            <a:off x="4498848" y="2240280"/>
            <a:ext cx="7022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흑백 손그림 라인 드로잉으로 통일한 IP 톤 앤 매너</a:t>
            </a:r>
            <a:endParaRPr lang="en-US" sz="1400" dirty="0"/>
          </a:p>
        </p:txBody>
      </p:sp>
      <p:sp>
        <p:nvSpPr>
          <p:cNvPr id="18" name="rect-459"/>
          <p:cNvSpPr/>
          <p:nvPr/>
        </p:nvSpPr>
        <p:spPr>
          <a:xfrm>
            <a:off x="4206240" y="288036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19" name="photo-corner-460"/>
          <p:cNvSpPr/>
          <p:nvPr/>
        </p:nvSpPr>
        <p:spPr>
          <a:xfrm rot="5400000">
            <a:off x="4178808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0" name="photo-corner-461"/>
          <p:cNvSpPr/>
          <p:nvPr/>
        </p:nvSpPr>
        <p:spPr>
          <a:xfrm rot="10800000">
            <a:off x="5788152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1" name="photo-corner-462"/>
          <p:cNvSpPr/>
          <p:nvPr/>
        </p:nvSpPr>
        <p:spPr>
          <a:xfrm rot="16200000">
            <a:off x="5788152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2" name="photo-corner-463"/>
          <p:cNvSpPr/>
          <p:nvPr/>
        </p:nvSpPr>
        <p:spPr>
          <a:xfrm>
            <a:off x="4178808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3" name="stamp-464"/>
          <p:cNvSpPr txBox="1"/>
          <p:nvPr/>
        </p:nvSpPr>
        <p:spPr>
          <a:xfrm>
            <a:off x="438912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1월</a:t>
            </a:r>
            <a:endParaRPr lang="en-US" sz="1500" dirty="0"/>
          </a:p>
        </p:txBody>
      </p:sp>
      <p:sp>
        <p:nvSpPr>
          <p:cNvPr id="24" name="text-465"/>
          <p:cNvSpPr txBox="1"/>
          <p:nvPr/>
        </p:nvSpPr>
        <p:spPr>
          <a:xfrm>
            <a:off x="4389120" y="33832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endParaRPr lang="en-US" sz="1450" dirty="0"/>
          </a:p>
        </p:txBody>
      </p:sp>
      <p:sp>
        <p:nvSpPr>
          <p:cNvPr id="25" name="text-466"/>
          <p:cNvSpPr txBox="1"/>
          <p:nvPr/>
        </p:nvSpPr>
        <p:spPr>
          <a:xfrm>
            <a:off x="4389120" y="376732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지친 직장인</a:t>
            </a:r>
            <a:endParaRPr lang="en-US" sz="1050" dirty="0"/>
          </a:p>
        </p:txBody>
      </p:sp>
      <p:sp>
        <p:nvSpPr>
          <p:cNvPr id="26" name="rect-467"/>
          <p:cNvSpPr/>
          <p:nvPr/>
        </p:nvSpPr>
        <p:spPr>
          <a:xfrm>
            <a:off x="6062472" y="288036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27" name="photo-corner-468"/>
          <p:cNvSpPr/>
          <p:nvPr/>
        </p:nvSpPr>
        <p:spPr>
          <a:xfrm rot="5400000">
            <a:off x="6035040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photo-corner-469"/>
          <p:cNvSpPr/>
          <p:nvPr/>
        </p:nvSpPr>
        <p:spPr>
          <a:xfrm rot="10800000">
            <a:off x="7644384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9" name="photo-corner-470"/>
          <p:cNvSpPr/>
          <p:nvPr/>
        </p:nvSpPr>
        <p:spPr>
          <a:xfrm rot="16200000">
            <a:off x="7644384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photo-corner-471"/>
          <p:cNvSpPr/>
          <p:nvPr/>
        </p:nvSpPr>
        <p:spPr>
          <a:xfrm>
            <a:off x="6035040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1" name="stamp-472"/>
          <p:cNvSpPr txBox="1"/>
          <p:nvPr/>
        </p:nvSpPr>
        <p:spPr>
          <a:xfrm>
            <a:off x="6245352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2월</a:t>
            </a:r>
            <a:endParaRPr lang="en-US" sz="1500" dirty="0"/>
          </a:p>
        </p:txBody>
      </p:sp>
      <p:sp>
        <p:nvSpPr>
          <p:cNvPr id="32" name="text-473"/>
          <p:cNvSpPr txBox="1"/>
          <p:nvPr/>
        </p:nvSpPr>
        <p:spPr>
          <a:xfrm>
            <a:off x="6245352" y="33832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꾀꼬리</a:t>
            </a:r>
            <a:endParaRPr lang="en-US" sz="1450" dirty="0"/>
          </a:p>
        </p:txBody>
      </p:sp>
      <p:sp>
        <p:nvSpPr>
          <p:cNvPr id="33" name="text-474"/>
          <p:cNvSpPr txBox="1"/>
          <p:nvPr/>
        </p:nvSpPr>
        <p:spPr>
          <a:xfrm>
            <a:off x="6245352" y="376732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수다쟁이</a:t>
            </a:r>
            <a:endParaRPr lang="en-US" sz="1050" dirty="0"/>
          </a:p>
        </p:txBody>
      </p:sp>
      <p:sp>
        <p:nvSpPr>
          <p:cNvPr id="34" name="rect-475"/>
          <p:cNvSpPr/>
          <p:nvPr/>
        </p:nvSpPr>
        <p:spPr>
          <a:xfrm>
            <a:off x="7918704" y="288036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35" name="photo-corner-476"/>
          <p:cNvSpPr/>
          <p:nvPr/>
        </p:nvSpPr>
        <p:spPr>
          <a:xfrm rot="5400000">
            <a:off x="7891272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6" name="photo-corner-477"/>
          <p:cNvSpPr/>
          <p:nvPr/>
        </p:nvSpPr>
        <p:spPr>
          <a:xfrm rot="10800000">
            <a:off x="9500616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478"/>
          <p:cNvSpPr/>
          <p:nvPr/>
        </p:nvSpPr>
        <p:spPr>
          <a:xfrm rot="16200000">
            <a:off x="9500616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photo-corner-479"/>
          <p:cNvSpPr/>
          <p:nvPr/>
        </p:nvSpPr>
        <p:spPr>
          <a:xfrm>
            <a:off x="7891272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9" name="stamp-480"/>
          <p:cNvSpPr txBox="1"/>
          <p:nvPr/>
        </p:nvSpPr>
        <p:spPr>
          <a:xfrm>
            <a:off x="8101584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4월</a:t>
            </a:r>
            <a:endParaRPr lang="en-US" sz="1500" dirty="0"/>
          </a:p>
        </p:txBody>
      </p:sp>
      <p:sp>
        <p:nvSpPr>
          <p:cNvPr id="40" name="text-481"/>
          <p:cNvSpPr txBox="1"/>
          <p:nvPr/>
        </p:nvSpPr>
        <p:spPr>
          <a:xfrm>
            <a:off x="8101584" y="33832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두견새</a:t>
            </a:r>
            <a:endParaRPr lang="en-US" sz="1450" dirty="0"/>
          </a:p>
        </p:txBody>
      </p:sp>
      <p:sp>
        <p:nvSpPr>
          <p:cNvPr id="41" name="text-482"/>
          <p:cNvSpPr txBox="1"/>
          <p:nvPr/>
        </p:nvSpPr>
        <p:spPr>
          <a:xfrm>
            <a:off x="8101584" y="376732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낭만파</a:t>
            </a:r>
            <a:endParaRPr lang="en-US" sz="1050" dirty="0"/>
          </a:p>
        </p:txBody>
      </p:sp>
      <p:sp>
        <p:nvSpPr>
          <p:cNvPr id="42" name="rect-483"/>
          <p:cNvSpPr/>
          <p:nvPr/>
        </p:nvSpPr>
        <p:spPr>
          <a:xfrm>
            <a:off x="9774936" y="288036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43" name="photo-corner-484"/>
          <p:cNvSpPr/>
          <p:nvPr/>
        </p:nvSpPr>
        <p:spPr>
          <a:xfrm rot="5400000">
            <a:off x="9747504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4" name="photo-corner-485"/>
          <p:cNvSpPr/>
          <p:nvPr/>
        </p:nvSpPr>
        <p:spPr>
          <a:xfrm rot="10800000">
            <a:off x="11356848" y="285292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5" name="photo-corner-486"/>
          <p:cNvSpPr/>
          <p:nvPr/>
        </p:nvSpPr>
        <p:spPr>
          <a:xfrm rot="16200000">
            <a:off x="11356848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6" name="photo-corner-487"/>
          <p:cNvSpPr/>
          <p:nvPr/>
        </p:nvSpPr>
        <p:spPr>
          <a:xfrm>
            <a:off x="9747504" y="411480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7" name="stamp-488"/>
          <p:cNvSpPr txBox="1"/>
          <p:nvPr/>
        </p:nvSpPr>
        <p:spPr>
          <a:xfrm>
            <a:off x="9957816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7월</a:t>
            </a:r>
            <a:endParaRPr lang="en-US" sz="1500" dirty="0"/>
          </a:p>
        </p:txBody>
      </p:sp>
      <p:sp>
        <p:nvSpPr>
          <p:cNvPr id="48" name="text-489"/>
          <p:cNvSpPr txBox="1"/>
          <p:nvPr/>
        </p:nvSpPr>
        <p:spPr>
          <a:xfrm>
            <a:off x="9957816" y="33832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멧돼지</a:t>
            </a:r>
            <a:endParaRPr lang="en-US" sz="1450" dirty="0"/>
          </a:p>
        </p:txBody>
      </p:sp>
      <p:sp>
        <p:nvSpPr>
          <p:cNvPr id="49" name="text-490"/>
          <p:cNvSpPr txBox="1"/>
          <p:nvPr/>
        </p:nvSpPr>
        <p:spPr>
          <a:xfrm>
            <a:off x="9957816" y="376732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돌격 행동파</a:t>
            </a:r>
            <a:endParaRPr lang="en-US" sz="1050" dirty="0"/>
          </a:p>
        </p:txBody>
      </p:sp>
      <p:sp>
        <p:nvSpPr>
          <p:cNvPr id="50" name="rect-491"/>
          <p:cNvSpPr/>
          <p:nvPr/>
        </p:nvSpPr>
        <p:spPr>
          <a:xfrm>
            <a:off x="4206240" y="443484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51" name="photo-corner-492"/>
          <p:cNvSpPr/>
          <p:nvPr/>
        </p:nvSpPr>
        <p:spPr>
          <a:xfrm rot="5400000">
            <a:off x="4178808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2" name="photo-corner-493"/>
          <p:cNvSpPr/>
          <p:nvPr/>
        </p:nvSpPr>
        <p:spPr>
          <a:xfrm rot="10800000">
            <a:off x="5788152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3" name="photo-corner-494"/>
          <p:cNvSpPr/>
          <p:nvPr/>
        </p:nvSpPr>
        <p:spPr>
          <a:xfrm rot="16200000">
            <a:off x="5788152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4" name="photo-corner-495"/>
          <p:cNvSpPr/>
          <p:nvPr/>
        </p:nvSpPr>
        <p:spPr>
          <a:xfrm>
            <a:off x="4178808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5" name="stamp-496"/>
          <p:cNvSpPr txBox="1"/>
          <p:nvPr/>
        </p:nvSpPr>
        <p:spPr>
          <a:xfrm>
            <a:off x="4389120" y="4590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8월</a:t>
            </a:r>
            <a:endParaRPr lang="en-US" sz="1500" dirty="0"/>
          </a:p>
        </p:txBody>
      </p:sp>
      <p:sp>
        <p:nvSpPr>
          <p:cNvPr id="56" name="text-497"/>
          <p:cNvSpPr txBox="1"/>
          <p:nvPr/>
        </p:nvSpPr>
        <p:spPr>
          <a:xfrm>
            <a:off x="4389120" y="4937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기러기 삼둥이</a:t>
            </a:r>
            <a:endParaRPr lang="en-US" sz="1450" dirty="0"/>
          </a:p>
        </p:txBody>
      </p:sp>
      <p:sp>
        <p:nvSpPr>
          <p:cNvPr id="57" name="text-498"/>
          <p:cNvSpPr txBox="1"/>
          <p:nvPr/>
        </p:nvSpPr>
        <p:spPr>
          <a:xfrm>
            <a:off x="4389120" y="532180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사고뭉치 삼총사</a:t>
            </a:r>
            <a:endParaRPr lang="en-US" sz="1050" dirty="0"/>
          </a:p>
        </p:txBody>
      </p:sp>
      <p:sp>
        <p:nvSpPr>
          <p:cNvPr id="58" name="rect-499"/>
          <p:cNvSpPr/>
          <p:nvPr/>
        </p:nvSpPr>
        <p:spPr>
          <a:xfrm>
            <a:off x="6062472" y="443484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59" name="photo-corner-500"/>
          <p:cNvSpPr/>
          <p:nvPr/>
        </p:nvSpPr>
        <p:spPr>
          <a:xfrm rot="5400000">
            <a:off x="6035040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0" name="photo-corner-501"/>
          <p:cNvSpPr/>
          <p:nvPr/>
        </p:nvSpPr>
        <p:spPr>
          <a:xfrm rot="10800000">
            <a:off x="7644384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1" name="photo-corner-502"/>
          <p:cNvSpPr/>
          <p:nvPr/>
        </p:nvSpPr>
        <p:spPr>
          <a:xfrm rot="16200000">
            <a:off x="7644384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2" name="photo-corner-503"/>
          <p:cNvSpPr/>
          <p:nvPr/>
        </p:nvSpPr>
        <p:spPr>
          <a:xfrm>
            <a:off x="6035040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3" name="stamp-504"/>
          <p:cNvSpPr txBox="1"/>
          <p:nvPr/>
        </p:nvSpPr>
        <p:spPr>
          <a:xfrm>
            <a:off x="6245352" y="4590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10월</a:t>
            </a:r>
            <a:endParaRPr lang="en-US" sz="1500" dirty="0"/>
          </a:p>
        </p:txBody>
      </p:sp>
      <p:sp>
        <p:nvSpPr>
          <p:cNvPr id="64" name="text-505"/>
          <p:cNvSpPr txBox="1"/>
          <p:nvPr/>
        </p:nvSpPr>
        <p:spPr>
          <a:xfrm>
            <a:off x="6245352" y="4937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사슴</a:t>
            </a:r>
            <a:endParaRPr lang="en-US" sz="1450" dirty="0"/>
          </a:p>
        </p:txBody>
      </p:sp>
      <p:sp>
        <p:nvSpPr>
          <p:cNvPr id="65" name="text-506"/>
          <p:cNvSpPr txBox="1"/>
          <p:nvPr/>
        </p:nvSpPr>
        <p:spPr>
          <a:xfrm>
            <a:off x="6245352" y="532180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 응원꾼</a:t>
            </a:r>
            <a:endParaRPr lang="en-US" sz="1050" dirty="0"/>
          </a:p>
        </p:txBody>
      </p:sp>
      <p:sp>
        <p:nvSpPr>
          <p:cNvPr id="66" name="rect-507"/>
          <p:cNvSpPr/>
          <p:nvPr/>
        </p:nvSpPr>
        <p:spPr>
          <a:xfrm>
            <a:off x="7918704" y="443484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67" name="photo-corner-508"/>
          <p:cNvSpPr/>
          <p:nvPr/>
        </p:nvSpPr>
        <p:spPr>
          <a:xfrm rot="5400000">
            <a:off x="7891272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8" name="photo-corner-509"/>
          <p:cNvSpPr/>
          <p:nvPr/>
        </p:nvSpPr>
        <p:spPr>
          <a:xfrm rot="10800000">
            <a:off x="9500616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9" name="photo-corner-510"/>
          <p:cNvSpPr/>
          <p:nvPr/>
        </p:nvSpPr>
        <p:spPr>
          <a:xfrm rot="16200000">
            <a:off x="9500616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0" name="photo-corner-511"/>
          <p:cNvSpPr/>
          <p:nvPr/>
        </p:nvSpPr>
        <p:spPr>
          <a:xfrm>
            <a:off x="7891272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1" name="stamp-512"/>
          <p:cNvSpPr txBox="1"/>
          <p:nvPr/>
        </p:nvSpPr>
        <p:spPr>
          <a:xfrm>
            <a:off x="8101584" y="4590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11월</a:t>
            </a:r>
            <a:endParaRPr lang="en-US" sz="1500" dirty="0"/>
          </a:p>
        </p:txBody>
      </p:sp>
      <p:sp>
        <p:nvSpPr>
          <p:cNvPr id="72" name="text-513"/>
          <p:cNvSpPr txBox="1"/>
          <p:nvPr/>
        </p:nvSpPr>
        <p:spPr>
          <a:xfrm>
            <a:off x="8101584" y="4937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봉황</a:t>
            </a:r>
            <a:endParaRPr lang="en-US" sz="1450" dirty="0"/>
          </a:p>
        </p:txBody>
      </p:sp>
      <p:sp>
        <p:nvSpPr>
          <p:cNvPr id="73" name="text-514"/>
          <p:cNvSpPr txBox="1"/>
          <p:nvPr/>
        </p:nvSpPr>
        <p:spPr>
          <a:xfrm>
            <a:off x="8101584" y="532180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자뻑 과장님</a:t>
            </a:r>
            <a:endParaRPr lang="en-US" sz="1050" dirty="0"/>
          </a:p>
        </p:txBody>
      </p:sp>
      <p:sp>
        <p:nvSpPr>
          <p:cNvPr id="74" name="rect-515"/>
          <p:cNvSpPr/>
          <p:nvPr/>
        </p:nvSpPr>
        <p:spPr>
          <a:xfrm>
            <a:off x="9774936" y="4434840"/>
            <a:ext cx="171907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75" name="photo-corner-516"/>
          <p:cNvSpPr/>
          <p:nvPr/>
        </p:nvSpPr>
        <p:spPr>
          <a:xfrm rot="5400000">
            <a:off x="9747504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6" name="photo-corner-517"/>
          <p:cNvSpPr/>
          <p:nvPr/>
        </p:nvSpPr>
        <p:spPr>
          <a:xfrm rot="10800000">
            <a:off x="11356848" y="4407408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7" name="photo-corner-518"/>
          <p:cNvSpPr/>
          <p:nvPr/>
        </p:nvSpPr>
        <p:spPr>
          <a:xfrm rot="16200000">
            <a:off x="11356848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8" name="photo-corner-519"/>
          <p:cNvSpPr/>
          <p:nvPr/>
        </p:nvSpPr>
        <p:spPr>
          <a:xfrm>
            <a:off x="9747504" y="5669280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79" name="stamp-520"/>
          <p:cNvSpPr txBox="1"/>
          <p:nvPr/>
        </p:nvSpPr>
        <p:spPr>
          <a:xfrm>
            <a:off x="9957816" y="4590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12월</a:t>
            </a:r>
            <a:endParaRPr lang="en-US" sz="1500" dirty="0"/>
          </a:p>
        </p:txBody>
      </p:sp>
      <p:sp>
        <p:nvSpPr>
          <p:cNvPr id="80" name="text-521"/>
          <p:cNvSpPr txBox="1"/>
          <p:nvPr/>
        </p:nvSpPr>
        <p:spPr>
          <a:xfrm>
            <a:off x="9957816" y="493776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선비+개구리</a:t>
            </a:r>
            <a:endParaRPr lang="en-US" sz="1450" dirty="0"/>
          </a:p>
        </p:txBody>
      </p:sp>
      <p:sp>
        <p:nvSpPr>
          <p:cNvPr id="81" name="text-522"/>
          <p:cNvSpPr txBox="1"/>
          <p:nvPr/>
        </p:nvSpPr>
        <p:spPr>
          <a:xfrm>
            <a:off x="9957816" y="532180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과묵 선비 / 장난 개구리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p-523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524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525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No.02  화투 캐릭터 IP 「光」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캐릭터 1월 학, 배터리 8%로 출근하는 직장인</a:t>
            </a:r>
            <a:endParaRPr lang="en-US" sz="2600" dirty="0"/>
          </a:p>
        </p:txBody>
      </p:sp>
      <p:sp>
        <p:nvSpPr>
          <p:cNvPr id="6" name="rect-526"/>
          <p:cNvSpPr/>
          <p:nvPr/>
        </p:nvSpPr>
        <p:spPr>
          <a:xfrm>
            <a:off x="559308" y="1655064"/>
            <a:ext cx="6260592" cy="47365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m01-527" descr="1월 학 캐릭터 시트: 3면도, 일상 속 학, 표정 모음, 소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" y="1737360"/>
            <a:ext cx="6096000" cy="4572000"/>
          </a:xfrm>
          <a:prstGeom prst="rect">
            <a:avLst/>
          </a:prstGeom>
        </p:spPr>
      </p:pic>
      <p:sp>
        <p:nvSpPr>
          <p:cNvPr id="8" name="photo-corner-528"/>
          <p:cNvSpPr/>
          <p:nvPr/>
        </p:nvSpPr>
        <p:spPr>
          <a:xfrm rot="5400000">
            <a:off x="531876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529"/>
          <p:cNvSpPr/>
          <p:nvPr/>
        </p:nvSpPr>
        <p:spPr>
          <a:xfrm rot="10800000">
            <a:off x="6573012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530"/>
          <p:cNvSpPr/>
          <p:nvPr/>
        </p:nvSpPr>
        <p:spPr>
          <a:xfrm rot="16200000">
            <a:off x="6573012" y="61447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531"/>
          <p:cNvSpPr/>
          <p:nvPr/>
        </p:nvSpPr>
        <p:spPr>
          <a:xfrm>
            <a:off x="531876" y="61447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532"/>
          <p:cNvSpPr txBox="1"/>
          <p:nvPr/>
        </p:nvSpPr>
        <p:spPr>
          <a:xfrm>
            <a:off x="4725924" y="5980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1월 학</a:t>
            </a:r>
            <a:endParaRPr lang="en-US" sz="1100" dirty="0"/>
          </a:p>
        </p:txBody>
      </p:sp>
      <p:sp>
        <p:nvSpPr>
          <p:cNvPr id="13" name="text-533"/>
          <p:cNvSpPr txBox="1"/>
          <p:nvPr/>
        </p:nvSpPr>
        <p:spPr>
          <a:xfrm>
            <a:off x="72694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"오늘도 출근하는 위대한 학…"</a:t>
            </a:r>
            <a:endParaRPr lang="en-US" sz="1800" dirty="0"/>
          </a:p>
        </p:txBody>
      </p:sp>
      <p:sp>
        <p:nvSpPr>
          <p:cNvPr id="14" name="text-534"/>
          <p:cNvSpPr txBox="1"/>
          <p:nvPr/>
        </p:nvSpPr>
        <p:spPr>
          <a:xfrm>
            <a:off x="726948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</a:t>
            </a:r>
            <a:endParaRPr lang="en-US" sz="1200" dirty="0"/>
          </a:p>
        </p:txBody>
      </p:sp>
      <p:sp>
        <p:nvSpPr>
          <p:cNvPr id="15" name="text-535"/>
          <p:cNvSpPr txBox="1"/>
          <p:nvPr/>
        </p:nvSpPr>
        <p:spPr>
          <a:xfrm>
            <a:off x="8503920" y="2468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/ 예민 / 여림</a:t>
            </a:r>
            <a:endParaRPr lang="en-US" sz="1300" dirty="0"/>
          </a:p>
        </p:txBody>
      </p:sp>
      <p:sp>
        <p:nvSpPr>
          <p:cNvPr id="16" name="rule-536"/>
          <p:cNvSpPr/>
          <p:nvPr/>
        </p:nvSpPr>
        <p:spPr>
          <a:xfrm>
            <a:off x="7269480" y="2843784"/>
            <a:ext cx="4279392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17" name="text-537"/>
          <p:cNvSpPr txBox="1"/>
          <p:nvPr/>
        </p:nvSpPr>
        <p:spPr>
          <a:xfrm>
            <a:off x="7269480" y="2871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200" dirty="0"/>
          </a:p>
        </p:txBody>
      </p:sp>
      <p:sp>
        <p:nvSpPr>
          <p:cNvPr id="18" name="text-538"/>
          <p:cNvSpPr txBox="1"/>
          <p:nvPr/>
        </p:nvSpPr>
        <p:spPr>
          <a:xfrm>
            <a:off x="8503920" y="28712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목, 긴 부리, 항상 피곤함</a:t>
            </a:r>
            <a:endParaRPr lang="en-US" sz="1300" dirty="0"/>
          </a:p>
        </p:txBody>
      </p:sp>
      <p:sp>
        <p:nvSpPr>
          <p:cNvPr id="19" name="rule-539"/>
          <p:cNvSpPr/>
          <p:nvPr/>
        </p:nvSpPr>
        <p:spPr>
          <a:xfrm>
            <a:off x="7269480" y="3246120"/>
            <a:ext cx="4279392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0" name="text-540"/>
          <p:cNvSpPr txBox="1"/>
          <p:nvPr/>
        </p:nvSpPr>
        <p:spPr>
          <a:xfrm>
            <a:off x="7269480" y="3273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말버릇</a:t>
            </a:r>
            <a:endParaRPr lang="en-US" sz="1200" dirty="0"/>
          </a:p>
        </p:txBody>
      </p:sp>
      <p:sp>
        <p:nvSpPr>
          <p:cNvPr id="21" name="text-541"/>
          <p:cNvSpPr txBox="1"/>
          <p:nvPr/>
        </p:nvSpPr>
        <p:spPr>
          <a:xfrm>
            <a:off x="8503920" y="32735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학~씨!</a:t>
            </a:r>
            <a:endParaRPr lang="en-US" sz="1300" dirty="0"/>
          </a:p>
        </p:txBody>
      </p:sp>
      <p:sp>
        <p:nvSpPr>
          <p:cNvPr id="22" name="rule-542"/>
          <p:cNvSpPr/>
          <p:nvPr/>
        </p:nvSpPr>
        <p:spPr>
          <a:xfrm>
            <a:off x="7269480" y="3648456"/>
            <a:ext cx="4279392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3" name="text-543"/>
          <p:cNvSpPr txBox="1"/>
          <p:nvPr/>
        </p:nvSpPr>
        <p:spPr>
          <a:xfrm>
            <a:off x="726948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좋아하는 것</a:t>
            </a:r>
            <a:endParaRPr lang="en-US" sz="1200" dirty="0"/>
          </a:p>
        </p:txBody>
      </p:sp>
      <p:sp>
        <p:nvSpPr>
          <p:cNvPr id="24" name="text-544"/>
          <p:cNvSpPr txBox="1"/>
          <p:nvPr/>
        </p:nvSpPr>
        <p:spPr>
          <a:xfrm>
            <a:off x="8503920" y="36758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커피(필수)</a:t>
            </a:r>
            <a:endParaRPr lang="en-US" sz="1300" dirty="0"/>
          </a:p>
        </p:txBody>
      </p:sp>
      <p:sp>
        <p:nvSpPr>
          <p:cNvPr id="25" name="rule-545"/>
          <p:cNvSpPr/>
          <p:nvPr/>
        </p:nvSpPr>
        <p:spPr>
          <a:xfrm>
            <a:off x="7269480" y="4050792"/>
            <a:ext cx="4279392" cy="0"/>
          </a:xfrm>
          <a:prstGeom prst="line">
            <a:avLst/>
          </a:prstGeom>
          <a:noFill/>
          <a:ln w="9525">
            <a:solidFill>
              <a:srgbClr val="D9CDBA"/>
            </a:solidFill>
            <a:prstDash val="solid"/>
          </a:ln>
        </p:spPr>
      </p:sp>
      <p:sp>
        <p:nvSpPr>
          <p:cNvPr id="26" name="ring-dot-546"/>
          <p:cNvSpPr/>
          <p:nvPr/>
        </p:nvSpPr>
        <p:spPr>
          <a:xfrm>
            <a:off x="7269480" y="442912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27" name="bullet-547"/>
          <p:cNvSpPr txBox="1"/>
          <p:nvPr/>
        </p:nvSpPr>
        <p:spPr>
          <a:xfrm>
            <a:off x="7562088" y="434340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3면도 / 일상 / 표정 / 소품을 한 장에 담은 캐릭터 시트</a:t>
            </a:r>
            <a:endParaRPr lang="en-US" sz="1350" dirty="0"/>
          </a:p>
        </p:txBody>
      </p:sp>
      <p:sp>
        <p:nvSpPr>
          <p:cNvPr id="28" name="ring-dot-548"/>
          <p:cNvSpPr/>
          <p:nvPr/>
        </p:nvSpPr>
        <p:spPr>
          <a:xfrm>
            <a:off x="7269480" y="520636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29" name="bullet-549"/>
          <p:cNvSpPr txBox="1"/>
          <p:nvPr/>
        </p:nvSpPr>
        <p:spPr>
          <a:xfrm>
            <a:off x="7562088" y="512064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말버릇 '학~씨!'를 이모티콘과 일상툰 펀치라인으로 확장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p-550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551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552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No.02  화투 캐릭터 IP 「光」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유형별 캐릭터 시트 7종</a:t>
            </a:r>
            <a:endParaRPr lang="en-US" sz="2600" dirty="0"/>
          </a:p>
        </p:txBody>
      </p:sp>
      <p:sp>
        <p:nvSpPr>
          <p:cNvPr id="6" name="rect-553"/>
          <p:cNvSpPr/>
          <p:nvPr/>
        </p:nvSpPr>
        <p:spPr>
          <a:xfrm>
            <a:off x="641604" y="165506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m02-554" descr="2월 꾀꼬리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737360"/>
            <a:ext cx="2438400" cy="1828800"/>
          </a:xfrm>
          <a:prstGeom prst="rect">
            <a:avLst/>
          </a:prstGeom>
        </p:spPr>
      </p:pic>
      <p:sp>
        <p:nvSpPr>
          <p:cNvPr id="8" name="photo-corner-555"/>
          <p:cNvSpPr/>
          <p:nvPr/>
        </p:nvSpPr>
        <p:spPr>
          <a:xfrm rot="5400000">
            <a:off x="614172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556"/>
          <p:cNvSpPr/>
          <p:nvPr/>
        </p:nvSpPr>
        <p:spPr>
          <a:xfrm rot="10800000">
            <a:off x="3089148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557"/>
          <p:cNvSpPr/>
          <p:nvPr/>
        </p:nvSpPr>
        <p:spPr>
          <a:xfrm rot="16200000">
            <a:off x="3089148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558"/>
          <p:cNvSpPr/>
          <p:nvPr/>
        </p:nvSpPr>
        <p:spPr>
          <a:xfrm>
            <a:off x="614172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559"/>
          <p:cNvSpPr txBox="1"/>
          <p:nvPr/>
        </p:nvSpPr>
        <p:spPr>
          <a:xfrm>
            <a:off x="640080" y="3657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2월 꾀꼬리</a:t>
            </a:r>
            <a:endParaRPr lang="en-US" sz="1100" dirty="0"/>
          </a:p>
        </p:txBody>
      </p:sp>
      <p:sp>
        <p:nvSpPr>
          <p:cNvPr id="13" name="rect-560"/>
          <p:cNvSpPr/>
          <p:nvPr/>
        </p:nvSpPr>
        <p:spPr>
          <a:xfrm>
            <a:off x="3430524" y="165506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4" name="img-m04-561" descr="4월 두견새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20" y="1737360"/>
            <a:ext cx="2438400" cy="1828800"/>
          </a:xfrm>
          <a:prstGeom prst="rect">
            <a:avLst/>
          </a:prstGeom>
        </p:spPr>
      </p:pic>
      <p:sp>
        <p:nvSpPr>
          <p:cNvPr id="15" name="photo-corner-562"/>
          <p:cNvSpPr/>
          <p:nvPr/>
        </p:nvSpPr>
        <p:spPr>
          <a:xfrm rot="5400000">
            <a:off x="3403092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6" name="photo-corner-563"/>
          <p:cNvSpPr/>
          <p:nvPr/>
        </p:nvSpPr>
        <p:spPr>
          <a:xfrm rot="10800000">
            <a:off x="5878068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7" name="photo-corner-564"/>
          <p:cNvSpPr/>
          <p:nvPr/>
        </p:nvSpPr>
        <p:spPr>
          <a:xfrm rot="16200000">
            <a:off x="5878068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565"/>
          <p:cNvSpPr/>
          <p:nvPr/>
        </p:nvSpPr>
        <p:spPr>
          <a:xfrm>
            <a:off x="3403092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stamp-566"/>
          <p:cNvSpPr txBox="1"/>
          <p:nvPr/>
        </p:nvSpPr>
        <p:spPr>
          <a:xfrm>
            <a:off x="3429000" y="3657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4월 두견새</a:t>
            </a:r>
            <a:endParaRPr lang="en-US" sz="1100" dirty="0"/>
          </a:p>
        </p:txBody>
      </p:sp>
      <p:sp>
        <p:nvSpPr>
          <p:cNvPr id="20" name="rect-567"/>
          <p:cNvSpPr/>
          <p:nvPr/>
        </p:nvSpPr>
        <p:spPr>
          <a:xfrm>
            <a:off x="6596472" y="1682496"/>
            <a:ext cx="1848937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1" name="img-m07-568" descr="7월 멧돼지 캐릭터 시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36" y="1737360"/>
            <a:ext cx="1739209" cy="1828800"/>
          </a:xfrm>
          <a:prstGeom prst="rect">
            <a:avLst/>
          </a:prstGeom>
        </p:spPr>
      </p:pic>
      <p:sp>
        <p:nvSpPr>
          <p:cNvPr id="22" name="photo-corner-569"/>
          <p:cNvSpPr/>
          <p:nvPr/>
        </p:nvSpPr>
        <p:spPr>
          <a:xfrm rot="5400000">
            <a:off x="6569040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3" name="photo-corner-570"/>
          <p:cNvSpPr/>
          <p:nvPr/>
        </p:nvSpPr>
        <p:spPr>
          <a:xfrm rot="10800000">
            <a:off x="8289960" y="1655064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4" name="photo-corner-571"/>
          <p:cNvSpPr/>
          <p:nvPr/>
        </p:nvSpPr>
        <p:spPr>
          <a:xfrm rot="16200000">
            <a:off x="8289960" y="346557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5" name="photo-corner-572"/>
          <p:cNvSpPr/>
          <p:nvPr/>
        </p:nvSpPr>
        <p:spPr>
          <a:xfrm>
            <a:off x="6569040" y="3465576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stamp-573"/>
          <p:cNvSpPr txBox="1"/>
          <p:nvPr/>
        </p:nvSpPr>
        <p:spPr>
          <a:xfrm>
            <a:off x="6217920" y="3657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7월 멧돼지</a:t>
            </a:r>
            <a:endParaRPr lang="en-US" sz="1100" dirty="0"/>
          </a:p>
        </p:txBody>
      </p:sp>
      <p:sp>
        <p:nvSpPr>
          <p:cNvPr id="27" name="rect-574"/>
          <p:cNvSpPr/>
          <p:nvPr/>
        </p:nvSpPr>
        <p:spPr>
          <a:xfrm>
            <a:off x="9008364" y="165506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8" name="img-m08-575" descr="8월 기러기 삼둥이 캐릭터 시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660" y="1737360"/>
            <a:ext cx="2438400" cy="1828800"/>
          </a:xfrm>
          <a:prstGeom prst="rect">
            <a:avLst/>
          </a:prstGeom>
        </p:spPr>
      </p:pic>
      <p:sp>
        <p:nvSpPr>
          <p:cNvPr id="29" name="photo-corner-576"/>
          <p:cNvSpPr/>
          <p:nvPr/>
        </p:nvSpPr>
        <p:spPr>
          <a:xfrm rot="5400000">
            <a:off x="8980932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photo-corner-577"/>
          <p:cNvSpPr/>
          <p:nvPr/>
        </p:nvSpPr>
        <p:spPr>
          <a:xfrm rot="10800000">
            <a:off x="11455908" y="16276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1" name="photo-corner-578"/>
          <p:cNvSpPr/>
          <p:nvPr/>
        </p:nvSpPr>
        <p:spPr>
          <a:xfrm rot="16200000">
            <a:off x="11455908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2" name="photo-corner-579"/>
          <p:cNvSpPr/>
          <p:nvPr/>
        </p:nvSpPr>
        <p:spPr>
          <a:xfrm>
            <a:off x="8980932" y="349300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3" name="stamp-580"/>
          <p:cNvSpPr txBox="1"/>
          <p:nvPr/>
        </p:nvSpPr>
        <p:spPr>
          <a:xfrm>
            <a:off x="9006840" y="3657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8월 기러기 삼둥이</a:t>
            </a:r>
            <a:endParaRPr lang="en-US" sz="1100" dirty="0"/>
          </a:p>
        </p:txBody>
      </p:sp>
      <p:sp>
        <p:nvSpPr>
          <p:cNvPr id="34" name="rect-581"/>
          <p:cNvSpPr/>
          <p:nvPr/>
        </p:nvSpPr>
        <p:spPr>
          <a:xfrm>
            <a:off x="641604" y="398678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5" name="img-m10-582" descr="10월 사슴 캐릭터 시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4069080"/>
            <a:ext cx="2438400" cy="1828800"/>
          </a:xfrm>
          <a:prstGeom prst="rect">
            <a:avLst/>
          </a:prstGeom>
        </p:spPr>
      </p:pic>
      <p:sp>
        <p:nvSpPr>
          <p:cNvPr id="36" name="photo-corner-583"/>
          <p:cNvSpPr/>
          <p:nvPr/>
        </p:nvSpPr>
        <p:spPr>
          <a:xfrm rot="5400000">
            <a:off x="614172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584"/>
          <p:cNvSpPr/>
          <p:nvPr/>
        </p:nvSpPr>
        <p:spPr>
          <a:xfrm rot="10800000">
            <a:off x="3089148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photo-corner-585"/>
          <p:cNvSpPr/>
          <p:nvPr/>
        </p:nvSpPr>
        <p:spPr>
          <a:xfrm rot="16200000">
            <a:off x="3089148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9" name="photo-corner-586"/>
          <p:cNvSpPr/>
          <p:nvPr/>
        </p:nvSpPr>
        <p:spPr>
          <a:xfrm>
            <a:off x="614172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0" name="stamp-587"/>
          <p:cNvSpPr txBox="1"/>
          <p:nvPr/>
        </p:nvSpPr>
        <p:spPr>
          <a:xfrm>
            <a:off x="640080" y="5989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10월 사슴</a:t>
            </a:r>
            <a:endParaRPr lang="en-US" sz="1100" dirty="0"/>
          </a:p>
        </p:txBody>
      </p:sp>
      <p:sp>
        <p:nvSpPr>
          <p:cNvPr id="41" name="rect-588"/>
          <p:cNvSpPr/>
          <p:nvPr/>
        </p:nvSpPr>
        <p:spPr>
          <a:xfrm>
            <a:off x="3430524" y="398678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42" name="img-m11-589" descr="11월 봉황 캐릭터 시트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2820" y="4069080"/>
            <a:ext cx="2438400" cy="1828800"/>
          </a:xfrm>
          <a:prstGeom prst="rect">
            <a:avLst/>
          </a:prstGeom>
        </p:spPr>
      </p:pic>
      <p:sp>
        <p:nvSpPr>
          <p:cNvPr id="43" name="photo-corner-590"/>
          <p:cNvSpPr/>
          <p:nvPr/>
        </p:nvSpPr>
        <p:spPr>
          <a:xfrm rot="5400000">
            <a:off x="3403092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4" name="photo-corner-591"/>
          <p:cNvSpPr/>
          <p:nvPr/>
        </p:nvSpPr>
        <p:spPr>
          <a:xfrm rot="10800000">
            <a:off x="5878068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5" name="photo-corner-592"/>
          <p:cNvSpPr/>
          <p:nvPr/>
        </p:nvSpPr>
        <p:spPr>
          <a:xfrm rot="16200000">
            <a:off x="5878068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6" name="photo-corner-593"/>
          <p:cNvSpPr/>
          <p:nvPr/>
        </p:nvSpPr>
        <p:spPr>
          <a:xfrm>
            <a:off x="3403092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7" name="stamp-594"/>
          <p:cNvSpPr txBox="1"/>
          <p:nvPr/>
        </p:nvSpPr>
        <p:spPr>
          <a:xfrm>
            <a:off x="3429000" y="5989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11월 봉황</a:t>
            </a:r>
            <a:endParaRPr lang="en-US" sz="1100" dirty="0"/>
          </a:p>
        </p:txBody>
      </p:sp>
      <p:sp>
        <p:nvSpPr>
          <p:cNvPr id="48" name="rect-595"/>
          <p:cNvSpPr/>
          <p:nvPr/>
        </p:nvSpPr>
        <p:spPr>
          <a:xfrm>
            <a:off x="6219444" y="3986784"/>
            <a:ext cx="2602992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49" name="img-m12-596" descr="12월 선비+개구리 캐릭터 시트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1740" y="4069080"/>
            <a:ext cx="2438400" cy="1828800"/>
          </a:xfrm>
          <a:prstGeom prst="rect">
            <a:avLst/>
          </a:prstGeom>
        </p:spPr>
      </p:pic>
      <p:sp>
        <p:nvSpPr>
          <p:cNvPr id="50" name="photo-corner-597"/>
          <p:cNvSpPr/>
          <p:nvPr/>
        </p:nvSpPr>
        <p:spPr>
          <a:xfrm rot="5400000">
            <a:off x="6192012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1" name="photo-corner-598"/>
          <p:cNvSpPr/>
          <p:nvPr/>
        </p:nvSpPr>
        <p:spPr>
          <a:xfrm rot="10800000">
            <a:off x="8666988" y="395935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2" name="photo-corner-599"/>
          <p:cNvSpPr/>
          <p:nvPr/>
        </p:nvSpPr>
        <p:spPr>
          <a:xfrm rot="16200000">
            <a:off x="8666988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3" name="photo-corner-600"/>
          <p:cNvSpPr/>
          <p:nvPr/>
        </p:nvSpPr>
        <p:spPr>
          <a:xfrm>
            <a:off x="6192012" y="582472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4" name="stamp-601"/>
          <p:cNvSpPr txBox="1"/>
          <p:nvPr/>
        </p:nvSpPr>
        <p:spPr>
          <a:xfrm>
            <a:off x="6217920" y="5989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12월 선비+개구리</a:t>
            </a:r>
            <a:endParaRPr lang="en-US" sz="1100" dirty="0"/>
          </a:p>
        </p:txBody>
      </p:sp>
      <p:sp>
        <p:nvSpPr>
          <p:cNvPr id="55" name="rect-602"/>
          <p:cNvSpPr/>
          <p:nvPr/>
        </p:nvSpPr>
        <p:spPr>
          <a:xfrm>
            <a:off x="9006840" y="40690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sp>
        <p:nvSpPr>
          <p:cNvPr id="56" name="photo-corner-603"/>
          <p:cNvSpPr/>
          <p:nvPr/>
        </p:nvSpPr>
        <p:spPr>
          <a:xfrm rot="5400000">
            <a:off x="8979408" y="404164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7" name="photo-corner-604"/>
          <p:cNvSpPr/>
          <p:nvPr/>
        </p:nvSpPr>
        <p:spPr>
          <a:xfrm rot="10800000">
            <a:off x="11457432" y="4041648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8" name="photo-corner-605"/>
          <p:cNvSpPr/>
          <p:nvPr/>
        </p:nvSpPr>
        <p:spPr>
          <a:xfrm rot="16200000">
            <a:off x="11457432" y="57424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59" name="photo-corner-606"/>
          <p:cNvSpPr/>
          <p:nvPr/>
        </p:nvSpPr>
        <p:spPr>
          <a:xfrm>
            <a:off x="8979408" y="5742432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60" name="ring-dot-607"/>
          <p:cNvSpPr/>
          <p:nvPr/>
        </p:nvSpPr>
        <p:spPr>
          <a:xfrm>
            <a:off x="9208008" y="441960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61" name="bullet-608"/>
          <p:cNvSpPr txBox="1"/>
          <p:nvPr/>
        </p:nvSpPr>
        <p:spPr>
          <a:xfrm>
            <a:off x="9500616" y="434340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캐릭터별 기본 정보 / 한마디 / 소품으로 개성 설정</a:t>
            </a:r>
            <a:endParaRPr lang="en-US" sz="1200" dirty="0"/>
          </a:p>
        </p:txBody>
      </p:sp>
      <p:sp>
        <p:nvSpPr>
          <p:cNvPr id="62" name="ring-dot-609"/>
          <p:cNvSpPr/>
          <p:nvPr/>
        </p:nvSpPr>
        <p:spPr>
          <a:xfrm>
            <a:off x="9208008" y="515112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63" name="bullet-610"/>
          <p:cNvSpPr txBox="1"/>
          <p:nvPr/>
        </p:nvSpPr>
        <p:spPr>
          <a:xfrm>
            <a:off x="9500616" y="5074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장면과 표정 모음으로 활용 범위 확장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p-611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612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613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No.02  화투 캐릭터 IP 「光」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「네, 과장님…」으로 그린 직장인 공감 에피소드</a:t>
            </a:r>
            <a:endParaRPr lang="en-US" sz="2600" dirty="0"/>
          </a:p>
        </p:txBody>
      </p:sp>
      <p:sp>
        <p:nvSpPr>
          <p:cNvPr id="6" name="rect-614"/>
          <p:cNvSpPr/>
          <p:nvPr/>
        </p:nvSpPr>
        <p:spPr>
          <a:xfrm>
            <a:off x="557784" y="1657350"/>
            <a:ext cx="3209544" cy="47320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toon-615" descr="일상툰 네, 과장님 1화 5컷 세로 만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9646"/>
            <a:ext cx="3044952" cy="4567428"/>
          </a:xfrm>
          <a:prstGeom prst="rect">
            <a:avLst/>
          </a:prstGeom>
        </p:spPr>
      </p:pic>
      <p:sp>
        <p:nvSpPr>
          <p:cNvPr id="8" name="photo-corner-616"/>
          <p:cNvSpPr/>
          <p:nvPr/>
        </p:nvSpPr>
        <p:spPr>
          <a:xfrm rot="5400000">
            <a:off x="530352" y="162991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617"/>
          <p:cNvSpPr/>
          <p:nvPr/>
        </p:nvSpPr>
        <p:spPr>
          <a:xfrm rot="10800000">
            <a:off x="3520440" y="162991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618"/>
          <p:cNvSpPr/>
          <p:nvPr/>
        </p:nvSpPr>
        <p:spPr>
          <a:xfrm rot="16200000">
            <a:off x="3520440" y="614248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619"/>
          <p:cNvSpPr/>
          <p:nvPr/>
        </p:nvSpPr>
        <p:spPr>
          <a:xfrm>
            <a:off x="530352" y="614248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620"/>
          <p:cNvSpPr txBox="1"/>
          <p:nvPr/>
        </p:nvSpPr>
        <p:spPr>
          <a:xfrm>
            <a:off x="1673352" y="597789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EP.01</a:t>
            </a:r>
            <a:endParaRPr lang="en-US" sz="1100" dirty="0"/>
          </a:p>
        </p:txBody>
      </p:sp>
      <p:sp>
        <p:nvSpPr>
          <p:cNvPr id="13" name="rect-621"/>
          <p:cNvSpPr/>
          <p:nvPr/>
        </p:nvSpPr>
        <p:spPr>
          <a:xfrm>
            <a:off x="4261104" y="1700876"/>
            <a:ext cx="5833872" cy="234067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4" name="img-toon_last-622" descr="퇴근하지 못한 학이 옥상에서 학~씨를 외치는 마지막 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172"/>
            <a:ext cx="5669280" cy="2176087"/>
          </a:xfrm>
          <a:prstGeom prst="rect">
            <a:avLst/>
          </a:prstGeom>
        </p:spPr>
      </p:pic>
      <p:sp>
        <p:nvSpPr>
          <p:cNvPr id="15" name="photo-corner-623"/>
          <p:cNvSpPr/>
          <p:nvPr/>
        </p:nvSpPr>
        <p:spPr>
          <a:xfrm rot="5400000">
            <a:off x="4233672" y="1673444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6" name="photo-corner-624"/>
          <p:cNvSpPr/>
          <p:nvPr/>
        </p:nvSpPr>
        <p:spPr>
          <a:xfrm rot="10800000">
            <a:off x="9848088" y="1673444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7" name="photo-corner-625"/>
          <p:cNvSpPr/>
          <p:nvPr/>
        </p:nvSpPr>
        <p:spPr>
          <a:xfrm rot="16200000">
            <a:off x="9848088" y="37946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626"/>
          <p:cNvSpPr/>
          <p:nvPr/>
        </p:nvSpPr>
        <p:spPr>
          <a:xfrm>
            <a:off x="4233672" y="379466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stamp-627"/>
          <p:cNvSpPr txBox="1"/>
          <p:nvPr/>
        </p:nvSpPr>
        <p:spPr>
          <a:xfrm>
            <a:off x="8001000" y="36300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CUT</a:t>
            </a:r>
            <a:endParaRPr lang="en-US" sz="1100" dirty="0"/>
          </a:p>
        </p:txBody>
      </p:sp>
      <p:sp>
        <p:nvSpPr>
          <p:cNvPr id="20" name="ring-dot-628"/>
          <p:cNvSpPr/>
          <p:nvPr/>
        </p:nvSpPr>
        <p:spPr>
          <a:xfrm>
            <a:off x="4343400" y="443230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21" name="bullet-629"/>
          <p:cNvSpPr txBox="1"/>
          <p:nvPr/>
        </p:nvSpPr>
        <p:spPr>
          <a:xfrm>
            <a:off x="4636008" y="4343400"/>
            <a:ext cx="6839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자뻑 봉황 과장과 지친 학 사원의 관계로 직장 내 공감 상황 연출</a:t>
            </a:r>
            <a:endParaRPr lang="en-US" sz="1400" dirty="0"/>
          </a:p>
        </p:txBody>
      </p:sp>
      <p:sp>
        <p:nvSpPr>
          <p:cNvPr id="22" name="ring-dot-630"/>
          <p:cNvSpPr/>
          <p:nvPr/>
        </p:nvSpPr>
        <p:spPr>
          <a:xfrm>
            <a:off x="4343400" y="502666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23" name="bullet-631"/>
          <p:cNvSpPr txBox="1"/>
          <p:nvPr/>
        </p:nvSpPr>
        <p:spPr>
          <a:xfrm>
            <a:off x="4636008" y="4937760"/>
            <a:ext cx="6839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 일에 관심 없는 두견새로 사무실 풍경에 현실감 부여</a:t>
            </a:r>
            <a:endParaRPr lang="en-US" sz="1400" dirty="0"/>
          </a:p>
        </p:txBody>
      </p:sp>
      <p:sp>
        <p:nvSpPr>
          <p:cNvPr id="24" name="ring-dot-632"/>
          <p:cNvSpPr/>
          <p:nvPr/>
        </p:nvSpPr>
        <p:spPr>
          <a:xfrm>
            <a:off x="4343400" y="562102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25" name="bullet-633"/>
          <p:cNvSpPr txBox="1"/>
          <p:nvPr/>
        </p:nvSpPr>
        <p:spPr>
          <a:xfrm>
            <a:off x="4636008" y="5532120"/>
            <a:ext cx="6839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컷 '학~씨!'로 캐릭터 말버릇을 펀치라인화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p-63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635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636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No.02  화투 캐릭터 IP 「光」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이모티콘과 굿즈로 확장한 IP</a:t>
            </a:r>
            <a:endParaRPr lang="en-US" sz="2600" dirty="0"/>
          </a:p>
        </p:txBody>
      </p:sp>
      <p:sp>
        <p:nvSpPr>
          <p:cNvPr id="6" name="rect-637"/>
          <p:cNvSpPr/>
          <p:nvPr/>
        </p:nvSpPr>
        <p:spPr>
          <a:xfrm>
            <a:off x="585216" y="1773936"/>
            <a:ext cx="1801368" cy="1801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emo_hak-638" descr="1월 학 「학~씨!」 움직이는 이모티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691640" cy="1691640"/>
          </a:xfrm>
          <a:prstGeom prst="rect">
            <a:avLst/>
          </a:prstGeom>
        </p:spPr>
      </p:pic>
      <p:sp>
        <p:nvSpPr>
          <p:cNvPr id="8" name="photo-corner-639"/>
          <p:cNvSpPr/>
          <p:nvPr/>
        </p:nvSpPr>
        <p:spPr>
          <a:xfrm rot="5400000">
            <a:off x="55778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640"/>
          <p:cNvSpPr/>
          <p:nvPr/>
        </p:nvSpPr>
        <p:spPr>
          <a:xfrm rot="10800000">
            <a:off x="224942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641"/>
          <p:cNvSpPr/>
          <p:nvPr/>
        </p:nvSpPr>
        <p:spPr>
          <a:xfrm rot="16200000">
            <a:off x="224942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642"/>
          <p:cNvSpPr/>
          <p:nvPr/>
        </p:nvSpPr>
        <p:spPr>
          <a:xfrm>
            <a:off x="55778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text-643"/>
          <p:cNvSpPr txBox="1"/>
          <p:nvPr/>
        </p:nvSpPr>
        <p:spPr>
          <a:xfrm>
            <a:off x="54864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학 「학~씨!」</a:t>
            </a:r>
            <a:endParaRPr lang="en-US" sz="1100" dirty="0"/>
          </a:p>
        </p:txBody>
      </p:sp>
      <p:sp>
        <p:nvSpPr>
          <p:cNvPr id="13" name="rect-644"/>
          <p:cNvSpPr/>
          <p:nvPr/>
        </p:nvSpPr>
        <p:spPr>
          <a:xfrm>
            <a:off x="2505456" y="1773936"/>
            <a:ext cx="1801368" cy="1801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4" name="img-emo_bird-645" descr="2월 꾀꼬리 「아 어딘뎅」 움직이는 이모티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828800"/>
            <a:ext cx="1691640" cy="1691640"/>
          </a:xfrm>
          <a:prstGeom prst="rect">
            <a:avLst/>
          </a:prstGeom>
        </p:spPr>
      </p:pic>
      <p:sp>
        <p:nvSpPr>
          <p:cNvPr id="15" name="photo-corner-646"/>
          <p:cNvSpPr/>
          <p:nvPr/>
        </p:nvSpPr>
        <p:spPr>
          <a:xfrm rot="5400000">
            <a:off x="247802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6" name="photo-corner-647"/>
          <p:cNvSpPr/>
          <p:nvPr/>
        </p:nvSpPr>
        <p:spPr>
          <a:xfrm rot="10800000">
            <a:off x="416966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7" name="photo-corner-648"/>
          <p:cNvSpPr/>
          <p:nvPr/>
        </p:nvSpPr>
        <p:spPr>
          <a:xfrm rot="16200000">
            <a:off x="416966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649"/>
          <p:cNvSpPr/>
          <p:nvPr/>
        </p:nvSpPr>
        <p:spPr>
          <a:xfrm>
            <a:off x="247802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text-650"/>
          <p:cNvSpPr txBox="1"/>
          <p:nvPr/>
        </p:nvSpPr>
        <p:spPr>
          <a:xfrm>
            <a:off x="246888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꾀꼬리 「아 어딘뎅」</a:t>
            </a:r>
            <a:endParaRPr lang="en-US" sz="1100" dirty="0"/>
          </a:p>
        </p:txBody>
      </p:sp>
      <p:sp>
        <p:nvSpPr>
          <p:cNvPr id="20" name="rect-651"/>
          <p:cNvSpPr/>
          <p:nvPr/>
        </p:nvSpPr>
        <p:spPr>
          <a:xfrm>
            <a:off x="4425696" y="1773936"/>
            <a:ext cx="1801368" cy="1801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1" name="img-emo_boar-652" descr="7월 멧돼지 움직이는 이모티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28800"/>
            <a:ext cx="1691640" cy="1691640"/>
          </a:xfrm>
          <a:prstGeom prst="rect">
            <a:avLst/>
          </a:prstGeom>
        </p:spPr>
      </p:pic>
      <p:sp>
        <p:nvSpPr>
          <p:cNvPr id="22" name="photo-corner-653"/>
          <p:cNvSpPr/>
          <p:nvPr/>
        </p:nvSpPr>
        <p:spPr>
          <a:xfrm rot="5400000">
            <a:off x="439826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3" name="photo-corner-654"/>
          <p:cNvSpPr/>
          <p:nvPr/>
        </p:nvSpPr>
        <p:spPr>
          <a:xfrm rot="10800000">
            <a:off x="608990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4" name="photo-corner-655"/>
          <p:cNvSpPr/>
          <p:nvPr/>
        </p:nvSpPr>
        <p:spPr>
          <a:xfrm rot="16200000">
            <a:off x="608990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5" name="photo-corner-656"/>
          <p:cNvSpPr/>
          <p:nvPr/>
        </p:nvSpPr>
        <p:spPr>
          <a:xfrm>
            <a:off x="439826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6" name="text-657"/>
          <p:cNvSpPr txBox="1"/>
          <p:nvPr/>
        </p:nvSpPr>
        <p:spPr>
          <a:xfrm>
            <a:off x="438912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멧돼지</a:t>
            </a:r>
            <a:endParaRPr lang="en-US" sz="1100" dirty="0"/>
          </a:p>
        </p:txBody>
      </p:sp>
      <p:sp>
        <p:nvSpPr>
          <p:cNvPr id="27" name="rect-658"/>
          <p:cNvSpPr/>
          <p:nvPr/>
        </p:nvSpPr>
        <p:spPr>
          <a:xfrm>
            <a:off x="6345936" y="1773936"/>
            <a:ext cx="1801368" cy="1801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8" name="img-emo_deer-659" descr="10월 사슴 움직이는 이모티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1691640" cy="1691640"/>
          </a:xfrm>
          <a:prstGeom prst="rect">
            <a:avLst/>
          </a:prstGeom>
        </p:spPr>
      </p:pic>
      <p:sp>
        <p:nvSpPr>
          <p:cNvPr id="29" name="photo-corner-660"/>
          <p:cNvSpPr/>
          <p:nvPr/>
        </p:nvSpPr>
        <p:spPr>
          <a:xfrm rot="5400000">
            <a:off x="631850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photo-corner-661"/>
          <p:cNvSpPr/>
          <p:nvPr/>
        </p:nvSpPr>
        <p:spPr>
          <a:xfrm rot="10800000">
            <a:off x="8010144" y="174650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1" name="photo-corner-662"/>
          <p:cNvSpPr/>
          <p:nvPr/>
        </p:nvSpPr>
        <p:spPr>
          <a:xfrm rot="16200000">
            <a:off x="801014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2" name="photo-corner-663"/>
          <p:cNvSpPr/>
          <p:nvPr/>
        </p:nvSpPr>
        <p:spPr>
          <a:xfrm>
            <a:off x="6318504" y="3438144"/>
            <a:ext cx="164592" cy="164592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3" name="text-664"/>
          <p:cNvSpPr txBox="1"/>
          <p:nvPr/>
        </p:nvSpPr>
        <p:spPr>
          <a:xfrm>
            <a:off x="630936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사슴</a:t>
            </a:r>
            <a:endParaRPr lang="en-US" sz="1100" dirty="0"/>
          </a:p>
        </p:txBody>
      </p:sp>
      <p:sp>
        <p:nvSpPr>
          <p:cNvPr id="34" name="stamp-665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ANIMATED EMOTICON</a:t>
            </a:r>
            <a:endParaRPr lang="en-US" sz="1100" dirty="0"/>
          </a:p>
        </p:txBody>
      </p:sp>
      <p:sp>
        <p:nvSpPr>
          <p:cNvPr id="35" name="ring-dot-666"/>
          <p:cNvSpPr/>
          <p:nvPr/>
        </p:nvSpPr>
        <p:spPr>
          <a:xfrm>
            <a:off x="640080" y="443230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6" name="bullet-667"/>
          <p:cNvSpPr txBox="1"/>
          <p:nvPr/>
        </p:nvSpPr>
        <p:spPr>
          <a:xfrm>
            <a:off x="932688" y="4343400"/>
            <a:ext cx="7205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말버릇과 성격을 짧은 동작으로 압축한 움직이는 이모티콘 4종</a:t>
            </a:r>
            <a:endParaRPr lang="en-US" sz="1400" dirty="0"/>
          </a:p>
        </p:txBody>
      </p:sp>
      <p:sp>
        <p:nvSpPr>
          <p:cNvPr id="37" name="ring-dot-668"/>
          <p:cNvSpPr/>
          <p:nvPr/>
        </p:nvSpPr>
        <p:spPr>
          <a:xfrm>
            <a:off x="640080" y="5072380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38" name="bullet-669"/>
          <p:cNvSpPr txBox="1"/>
          <p:nvPr/>
        </p:nvSpPr>
        <p:spPr>
          <a:xfrm>
            <a:off x="932688" y="4983480"/>
            <a:ext cx="7205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사슴 캐릭터를 활용한 티셔츠 굿즈로 일상 속 IP 노출 확대</a:t>
            </a:r>
            <a:endParaRPr lang="en-US" sz="1400" dirty="0"/>
          </a:p>
        </p:txBody>
      </p:sp>
      <p:sp>
        <p:nvSpPr>
          <p:cNvPr id="39" name="rect-670"/>
          <p:cNvSpPr/>
          <p:nvPr/>
        </p:nvSpPr>
        <p:spPr>
          <a:xfrm>
            <a:off x="8467344" y="1655064"/>
            <a:ext cx="3163824" cy="3913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40" name="img-tshirt-671" descr="10월 사슴 캐릭터가 그려진 흰 티셔츠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1737360"/>
            <a:ext cx="2999232" cy="3749040"/>
          </a:xfrm>
          <a:prstGeom prst="rect">
            <a:avLst/>
          </a:prstGeom>
        </p:spPr>
      </p:pic>
      <p:sp>
        <p:nvSpPr>
          <p:cNvPr id="41" name="photo-corner-672"/>
          <p:cNvSpPr/>
          <p:nvPr/>
        </p:nvSpPr>
        <p:spPr>
          <a:xfrm rot="5400000">
            <a:off x="8439912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2" name="photo-corner-673"/>
          <p:cNvSpPr/>
          <p:nvPr/>
        </p:nvSpPr>
        <p:spPr>
          <a:xfrm rot="10800000">
            <a:off x="11384280" y="162763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3" name="photo-corner-674"/>
          <p:cNvSpPr/>
          <p:nvPr/>
        </p:nvSpPr>
        <p:spPr>
          <a:xfrm rot="16200000">
            <a:off x="11384280" y="532180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4" name="photo-corner-675"/>
          <p:cNvSpPr/>
          <p:nvPr/>
        </p:nvSpPr>
        <p:spPr>
          <a:xfrm>
            <a:off x="8439912" y="532180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45" name="stamp-676"/>
          <p:cNvSpPr txBox="1"/>
          <p:nvPr/>
        </p:nvSpPr>
        <p:spPr>
          <a:xfrm>
            <a:off x="9537192" y="5157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3_bg-677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ir_sb-678" descr="스토어 안 사과나무를 발견하는 콘티 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307592"/>
            <a:ext cx="4242816" cy="4242816"/>
          </a:xfrm>
          <a:prstGeom prst="rect">
            <a:avLst/>
          </a:prstGeom>
        </p:spPr>
      </p:pic>
      <p:pic>
        <p:nvPicPr>
          <p:cNvPr id="4" name="ring-679" descr="갠지의 발광 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5303520" cy="5303520"/>
          </a:xfrm>
          <a:prstGeom prst="rect">
            <a:avLst/>
          </a:prstGeom>
        </p:spPr>
      </p:pic>
      <p:sp>
        <p:nvSpPr>
          <p:cNvPr id="5" name="stamp-680"/>
          <p:cNvSpPr txBox="1"/>
          <p:nvPr/>
        </p:nvSpPr>
        <p:spPr>
          <a:xfrm>
            <a:off x="64922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No.03</a:t>
            </a:r>
            <a:endParaRPr lang="en-US" sz="2600" dirty="0"/>
          </a:p>
        </p:txBody>
      </p:sp>
      <p:sp>
        <p:nvSpPr>
          <p:cNvPr id="6" name="text-681"/>
          <p:cNvSpPr txBox="1"/>
          <p:nvPr/>
        </p:nvSpPr>
        <p:spPr>
          <a:xfrm>
            <a:off x="651052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46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100" dirty="0"/>
          </a:p>
        </p:txBody>
      </p:sp>
      <p:sp>
        <p:nvSpPr>
          <p:cNvPr id="7" name="text-682"/>
          <p:cNvSpPr txBox="1"/>
          <p:nvPr/>
        </p:nvSpPr>
        <p:spPr>
          <a:xfrm>
            <a:off x="6492240" y="237744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어른폰 십팔 Pro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콘티</a:t>
            </a:r>
            <a:endParaRPr lang="en-US" sz="3800" dirty="0"/>
          </a:p>
        </p:txBody>
      </p:sp>
      <p:sp>
        <p:nvSpPr>
          <p:cNvPr id="8" name="rule-683"/>
          <p:cNvSpPr/>
          <p:nvPr/>
        </p:nvSpPr>
        <p:spPr>
          <a:xfrm>
            <a:off x="6510528" y="4114800"/>
            <a:ext cx="1005840" cy="0"/>
          </a:xfrm>
          <a:prstGeom prst="line">
            <a:avLst/>
          </a:prstGeom>
          <a:noFill/>
          <a:ln w="31750">
            <a:solidFill>
              <a:srgbClr val="46D3E6"/>
            </a:solidFill>
            <a:prstDash val="solid"/>
          </a:ln>
        </p:spPr>
      </p:sp>
      <p:sp>
        <p:nvSpPr>
          <p:cNvPr id="9" name="text-684"/>
          <p:cNvSpPr txBox="1"/>
          <p:nvPr/>
        </p:nvSpPr>
        <p:spPr>
          <a:xfrm>
            <a:off x="6492240" y="4343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3E6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사과를 찾아 헤매다 마주친 또 하나의 사과, 언어유희 티저 광고</a:t>
            </a:r>
            <a:endParaRPr lang="en-US" sz="1600" dirty="0"/>
          </a:p>
        </p:txBody>
      </p:sp>
      <p:sp>
        <p:nvSpPr>
          <p:cNvPr id="10" name="text-685"/>
          <p:cNvSpPr txBox="1"/>
          <p:nvPr/>
        </p:nvSpPr>
        <p:spPr>
          <a:xfrm>
            <a:off x="6492240" y="5349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 스토리보드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b-686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687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688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No.03  어른폰 십팔 Pro 숏폼 광고 콘티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8컷으로 설계한 숏폼 광고 스토리보드</a:t>
            </a:r>
            <a:endParaRPr lang="en-US" sz="2600" dirty="0"/>
          </a:p>
        </p:txBody>
      </p:sp>
      <p:sp>
        <p:nvSpPr>
          <p:cNvPr id="6" name="rect-689"/>
          <p:cNvSpPr/>
          <p:nvPr/>
        </p:nvSpPr>
        <p:spPr>
          <a:xfrm>
            <a:off x="722630" y="1609344"/>
            <a:ext cx="10743692" cy="4645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b-690" descr="숏폼 광고 스토리보드 8컷: 과일가게, 정류장, 스토어, 신제품 엔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26" y="1691640"/>
            <a:ext cx="10579100" cy="4480560"/>
          </a:xfrm>
          <a:prstGeom prst="rect">
            <a:avLst/>
          </a:prstGeom>
        </p:spPr>
      </p:pic>
      <p:sp>
        <p:nvSpPr>
          <p:cNvPr id="8" name="photo-corner-691"/>
          <p:cNvSpPr/>
          <p:nvPr/>
        </p:nvSpPr>
        <p:spPr>
          <a:xfrm rot="5400000">
            <a:off x="695198" y="158191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692"/>
          <p:cNvSpPr/>
          <p:nvPr/>
        </p:nvSpPr>
        <p:spPr>
          <a:xfrm rot="10800000">
            <a:off x="11219434" y="1581912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693"/>
          <p:cNvSpPr/>
          <p:nvPr/>
        </p:nvSpPr>
        <p:spPr>
          <a:xfrm rot="16200000">
            <a:off x="11219434" y="600760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694"/>
          <p:cNvSpPr/>
          <p:nvPr/>
        </p:nvSpPr>
        <p:spPr>
          <a:xfrm>
            <a:off x="695198" y="6007608"/>
            <a:ext cx="274320" cy="27432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stamp-695"/>
          <p:cNvSpPr txBox="1"/>
          <p:nvPr/>
        </p:nvSpPr>
        <p:spPr>
          <a:xfrm>
            <a:off x="9372346" y="5843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b-696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ing-dot-697"/>
          <p:cNvSpPr/>
          <p:nvPr/>
        </p:nvSpPr>
        <p:spPr>
          <a:xfrm>
            <a:off x="640080" y="393192"/>
            <a:ext cx="201168" cy="201168"/>
          </a:xfrm>
          <a:prstGeom prst="ellipse">
            <a:avLst/>
          </a:prstGeom>
          <a:ln w="25400">
            <a:solidFill>
              <a:srgbClr val="1E8FA0"/>
            </a:solidFill>
            <a:prstDash val="solid"/>
          </a:ln>
        </p:spPr>
      </p:sp>
      <p:sp>
        <p:nvSpPr>
          <p:cNvPr id="4" name="label-698"/>
          <p:cNvSpPr txBox="1"/>
          <p:nvPr/>
        </p:nvSpPr>
        <p:spPr>
          <a:xfrm>
            <a:off x="950976" y="329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6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No.03  어른폰 십팔 Pro 숏폼 광고 콘티</a:t>
            </a:r>
            <a:endParaRPr lang="en-US" sz="115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'사과' 언어유희로 설계한 반전 구조</a:t>
            </a:r>
            <a:endParaRPr lang="en-US" sz="2600" dirty="0"/>
          </a:p>
        </p:txBody>
      </p:sp>
      <p:sp>
        <p:nvSpPr>
          <p:cNvPr id="6" name="rect-699"/>
          <p:cNvSpPr/>
          <p:nvPr/>
        </p:nvSpPr>
        <p:spPr>
          <a:xfrm>
            <a:off x="557784" y="1701641"/>
            <a:ext cx="2633472" cy="15619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7" name="img-sb11-700" descr="S#01 C#01 과일 사과 찾기 콘티 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937"/>
            <a:ext cx="2468880" cy="1397318"/>
          </a:xfrm>
          <a:prstGeom prst="rect">
            <a:avLst/>
          </a:prstGeom>
        </p:spPr>
      </p:pic>
      <p:sp>
        <p:nvSpPr>
          <p:cNvPr id="8" name="photo-corner-701"/>
          <p:cNvSpPr/>
          <p:nvPr/>
        </p:nvSpPr>
        <p:spPr>
          <a:xfrm rot="5400000">
            <a:off x="530352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9" name="photo-corner-702"/>
          <p:cNvSpPr/>
          <p:nvPr/>
        </p:nvSpPr>
        <p:spPr>
          <a:xfrm rot="10800000">
            <a:off x="3035808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0" name="photo-corner-703"/>
          <p:cNvSpPr/>
          <p:nvPr/>
        </p:nvSpPr>
        <p:spPr>
          <a:xfrm rot="16200000">
            <a:off x="3035808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1" name="photo-corner-704"/>
          <p:cNvSpPr/>
          <p:nvPr/>
        </p:nvSpPr>
        <p:spPr>
          <a:xfrm>
            <a:off x="530352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2" name="text-705"/>
          <p:cNvSpPr txBox="1"/>
          <p:nvPr/>
        </p:nvSpPr>
        <p:spPr>
          <a:xfrm>
            <a:off x="3127248" y="22860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tamp-706"/>
          <p:cNvSpPr txBox="1"/>
          <p:nvPr/>
        </p:nvSpPr>
        <p:spPr>
          <a:xfrm>
            <a:off x="6400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S#01 C#01</a:t>
            </a:r>
            <a:endParaRPr lang="en-US" sz="1100" dirty="0"/>
          </a:p>
        </p:txBody>
      </p:sp>
      <p:sp>
        <p:nvSpPr>
          <p:cNvPr id="14" name="text-707"/>
          <p:cNvSpPr txBox="1"/>
          <p:nvPr/>
        </p:nvSpPr>
        <p:spPr>
          <a:xfrm>
            <a:off x="640080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과일 사과 찾기</a:t>
            </a:r>
            <a:endParaRPr lang="en-US" sz="1400" dirty="0"/>
          </a:p>
        </p:txBody>
      </p:sp>
      <p:sp>
        <p:nvSpPr>
          <p:cNvPr id="15" name="rect-708"/>
          <p:cNvSpPr/>
          <p:nvPr/>
        </p:nvSpPr>
        <p:spPr>
          <a:xfrm>
            <a:off x="3364992" y="1701641"/>
            <a:ext cx="2633472" cy="15619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16" name="img-sb22-709" descr="S#02 C#02 사과나무 스토어 발견 콘티 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783937"/>
            <a:ext cx="2468880" cy="1397318"/>
          </a:xfrm>
          <a:prstGeom prst="rect">
            <a:avLst/>
          </a:prstGeom>
        </p:spPr>
      </p:pic>
      <p:sp>
        <p:nvSpPr>
          <p:cNvPr id="17" name="photo-corner-710"/>
          <p:cNvSpPr/>
          <p:nvPr/>
        </p:nvSpPr>
        <p:spPr>
          <a:xfrm rot="5400000">
            <a:off x="3337560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8" name="photo-corner-711"/>
          <p:cNvSpPr/>
          <p:nvPr/>
        </p:nvSpPr>
        <p:spPr>
          <a:xfrm rot="10800000">
            <a:off x="5843016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19" name="photo-corner-712"/>
          <p:cNvSpPr/>
          <p:nvPr/>
        </p:nvSpPr>
        <p:spPr>
          <a:xfrm rot="16200000">
            <a:off x="5843016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0" name="photo-corner-713"/>
          <p:cNvSpPr/>
          <p:nvPr/>
        </p:nvSpPr>
        <p:spPr>
          <a:xfrm>
            <a:off x="3337560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1" name="text-714"/>
          <p:cNvSpPr txBox="1"/>
          <p:nvPr/>
        </p:nvSpPr>
        <p:spPr>
          <a:xfrm>
            <a:off x="5934456" y="22860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tamp-715"/>
          <p:cNvSpPr txBox="1"/>
          <p:nvPr/>
        </p:nvSpPr>
        <p:spPr>
          <a:xfrm>
            <a:off x="3447288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S#02 C#02</a:t>
            </a:r>
            <a:endParaRPr lang="en-US" sz="1100" dirty="0"/>
          </a:p>
        </p:txBody>
      </p:sp>
      <p:sp>
        <p:nvSpPr>
          <p:cNvPr id="23" name="text-716"/>
          <p:cNvSpPr txBox="1"/>
          <p:nvPr/>
        </p:nvSpPr>
        <p:spPr>
          <a:xfrm>
            <a:off x="3447288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사과나무 스토어 발견</a:t>
            </a:r>
            <a:endParaRPr lang="en-US" sz="1400" dirty="0"/>
          </a:p>
        </p:txBody>
      </p:sp>
      <p:sp>
        <p:nvSpPr>
          <p:cNvPr id="24" name="rect-717"/>
          <p:cNvSpPr/>
          <p:nvPr/>
        </p:nvSpPr>
        <p:spPr>
          <a:xfrm>
            <a:off x="6172200" y="1701641"/>
            <a:ext cx="2633472" cy="15619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25" name="img-sb32-718" descr="S#03 C#02 유리창 충돌 후 암전 콘티 컷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783937"/>
            <a:ext cx="2468880" cy="1397318"/>
          </a:xfrm>
          <a:prstGeom prst="rect">
            <a:avLst/>
          </a:prstGeom>
        </p:spPr>
      </p:pic>
      <p:sp>
        <p:nvSpPr>
          <p:cNvPr id="26" name="photo-corner-719"/>
          <p:cNvSpPr/>
          <p:nvPr/>
        </p:nvSpPr>
        <p:spPr>
          <a:xfrm rot="5400000">
            <a:off x="6144768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7" name="photo-corner-720"/>
          <p:cNvSpPr/>
          <p:nvPr/>
        </p:nvSpPr>
        <p:spPr>
          <a:xfrm rot="10800000">
            <a:off x="8650224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8" name="photo-corner-721"/>
          <p:cNvSpPr/>
          <p:nvPr/>
        </p:nvSpPr>
        <p:spPr>
          <a:xfrm rot="16200000">
            <a:off x="8650224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29" name="photo-corner-722"/>
          <p:cNvSpPr/>
          <p:nvPr/>
        </p:nvSpPr>
        <p:spPr>
          <a:xfrm>
            <a:off x="6144768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0" name="text-723"/>
          <p:cNvSpPr txBox="1"/>
          <p:nvPr/>
        </p:nvSpPr>
        <p:spPr>
          <a:xfrm>
            <a:off x="8741664" y="22860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tamp-724"/>
          <p:cNvSpPr txBox="1"/>
          <p:nvPr/>
        </p:nvSpPr>
        <p:spPr>
          <a:xfrm>
            <a:off x="6254496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S#03 C#02</a:t>
            </a:r>
            <a:endParaRPr lang="en-US" sz="1100" dirty="0"/>
          </a:p>
        </p:txBody>
      </p:sp>
      <p:sp>
        <p:nvSpPr>
          <p:cNvPr id="32" name="text-725"/>
          <p:cNvSpPr txBox="1"/>
          <p:nvPr/>
        </p:nvSpPr>
        <p:spPr>
          <a:xfrm>
            <a:off x="6254496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유리창 충돌 후 암전</a:t>
            </a:r>
            <a:endParaRPr lang="en-US" sz="1400" dirty="0"/>
          </a:p>
        </p:txBody>
      </p:sp>
      <p:sp>
        <p:nvSpPr>
          <p:cNvPr id="33" name="rect-726"/>
          <p:cNvSpPr/>
          <p:nvPr/>
        </p:nvSpPr>
        <p:spPr>
          <a:xfrm>
            <a:off x="8979408" y="1701641"/>
            <a:ext cx="2633472" cy="156191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25000"/>
              </a:srgbClr>
            </a:outerShdw>
          </a:effectLst>
        </p:spPr>
      </p:sp>
      <p:pic>
        <p:nvPicPr>
          <p:cNvPr id="34" name="img-sb41-727" descr="S#04 C#01 신제품 공개 엔딩 콘티 컷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4" y="1783937"/>
            <a:ext cx="2468880" cy="1397318"/>
          </a:xfrm>
          <a:prstGeom prst="rect">
            <a:avLst/>
          </a:prstGeom>
        </p:spPr>
      </p:pic>
      <p:sp>
        <p:nvSpPr>
          <p:cNvPr id="35" name="photo-corner-728"/>
          <p:cNvSpPr/>
          <p:nvPr/>
        </p:nvSpPr>
        <p:spPr>
          <a:xfrm rot="5400000">
            <a:off x="8951976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6" name="photo-corner-729"/>
          <p:cNvSpPr/>
          <p:nvPr/>
        </p:nvSpPr>
        <p:spPr>
          <a:xfrm rot="10800000">
            <a:off x="11457432" y="1674209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7" name="photo-corner-730"/>
          <p:cNvSpPr/>
          <p:nvPr/>
        </p:nvSpPr>
        <p:spPr>
          <a:xfrm rot="16200000">
            <a:off x="11457432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8" name="photo-corner-731"/>
          <p:cNvSpPr/>
          <p:nvPr/>
        </p:nvSpPr>
        <p:spPr>
          <a:xfrm>
            <a:off x="8951976" y="3108103"/>
            <a:ext cx="182880" cy="182880"/>
          </a:xfrm>
          <a:prstGeom prst="rtTriangle">
            <a:avLst/>
          </a:prstGeom>
          <a:solidFill>
            <a:srgbClr val="4A3A2E"/>
          </a:solidFill>
          <a:ln/>
        </p:spPr>
      </p:sp>
      <p:sp>
        <p:nvSpPr>
          <p:cNvPr id="39" name="stamp-732"/>
          <p:cNvSpPr txBox="1"/>
          <p:nvPr/>
        </p:nvSpPr>
        <p:spPr>
          <a:xfrm>
            <a:off x="9061704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S#04 C#01</a:t>
            </a:r>
            <a:endParaRPr lang="en-US" sz="1100" dirty="0"/>
          </a:p>
        </p:txBody>
      </p:sp>
      <p:sp>
        <p:nvSpPr>
          <p:cNvPr id="40" name="text-733"/>
          <p:cNvSpPr txBox="1"/>
          <p:nvPr/>
        </p:nvSpPr>
        <p:spPr>
          <a:xfrm>
            <a:off x="9061704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공개 엔딩</a:t>
            </a:r>
            <a:endParaRPr lang="en-US" sz="1400" dirty="0"/>
          </a:p>
        </p:txBody>
      </p:sp>
      <p:sp>
        <p:nvSpPr>
          <p:cNvPr id="41" name="ring-dot-734"/>
          <p:cNvSpPr/>
          <p:nvPr/>
        </p:nvSpPr>
        <p:spPr>
          <a:xfrm>
            <a:off x="640080" y="4435475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2" name="bullet-735"/>
          <p:cNvSpPr txBox="1"/>
          <p:nvPr/>
        </p:nvSpPr>
        <p:spPr>
          <a:xfrm>
            <a:off x="932688" y="434340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과일 '사과'와 스마트폰 '사과'를 겹친 언어유희로 제품 공개 직전까지 궁금증 유지</a:t>
            </a:r>
            <a:endParaRPr lang="en-US" sz="1450" dirty="0"/>
          </a:p>
        </p:txBody>
      </p:sp>
      <p:sp>
        <p:nvSpPr>
          <p:cNvPr id="43" name="ring-dot-736"/>
          <p:cNvSpPr/>
          <p:nvPr/>
        </p:nvSpPr>
        <p:spPr>
          <a:xfrm>
            <a:off x="640080" y="5002403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4" name="bullet-737"/>
          <p:cNvSpPr txBox="1"/>
          <p:nvPr/>
        </p:nvSpPr>
        <p:spPr>
          <a:xfrm>
            <a:off x="932688" y="491032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배경 사진에 스틱 피겨를 합성한 콘티로 장소와 동선을 빠르게 시각화</a:t>
            </a:r>
            <a:endParaRPr lang="en-US" sz="1450" dirty="0"/>
          </a:p>
        </p:txBody>
      </p:sp>
      <p:sp>
        <p:nvSpPr>
          <p:cNvPr id="45" name="ring-dot-738"/>
          <p:cNvSpPr/>
          <p:nvPr/>
        </p:nvSpPr>
        <p:spPr>
          <a:xfrm>
            <a:off x="640080" y="5569331"/>
            <a:ext cx="137160" cy="137160"/>
          </a:xfrm>
          <a:prstGeom prst="ellipse">
            <a:avLst/>
          </a:prstGeom>
          <a:ln w="22225">
            <a:solidFill>
              <a:srgbClr val="1E8FA0"/>
            </a:solidFill>
            <a:prstDash val="solid"/>
          </a:ln>
        </p:spPr>
      </p:sp>
      <p:sp>
        <p:nvSpPr>
          <p:cNvPr id="46" name="bullet-739"/>
          <p:cNvSpPr txBox="1"/>
          <p:nvPr/>
        </p:nvSpPr>
        <p:spPr>
          <a:xfrm>
            <a:off x="932688" y="547725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A2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'커밍쑨 어른폰 십팔 Pro' 엔딩 카피로 신제품 티저 완성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28C2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void-740" descr="노을 진 해변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vent-horizon-741"/>
          <p:cNvSpPr/>
          <p:nvPr/>
        </p:nvSpPr>
        <p:spPr>
          <a:xfrm>
            <a:off x="4047592" y="1197864"/>
            <a:ext cx="4096512" cy="4096512"/>
          </a:xfrm>
          <a:prstGeom prst="ellipse">
            <a:avLst/>
          </a:prstGeom>
          <a:solidFill>
            <a:srgbClr val="07070A"/>
          </a:solidFill>
          <a:ln/>
        </p:spPr>
      </p:sp>
      <p:pic>
        <p:nvPicPr>
          <p:cNvPr id="4" name="ring-742" descr="갠지의 발광 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8" y="685800"/>
            <a:ext cx="5120640" cy="5120640"/>
          </a:xfrm>
          <a:prstGeom prst="rect">
            <a:avLst/>
          </a:prstGeom>
        </p:spPr>
      </p:pic>
      <p:sp>
        <p:nvSpPr>
          <p:cNvPr id="5" name="text-743"/>
          <p:cNvSpPr txBox="1"/>
          <p:nvPr/>
        </p:nvSpPr>
        <p:spPr>
          <a:xfrm>
            <a:off x="3535528" y="2468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6" name="text-744"/>
          <p:cNvSpPr txBox="1"/>
          <p:nvPr/>
        </p:nvSpPr>
        <p:spPr>
          <a:xfrm>
            <a:off x="3535528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6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김경수</a:t>
            </a:r>
            <a:endParaRPr lang="en-US" sz="1900" dirty="0"/>
          </a:p>
        </p:txBody>
      </p:sp>
      <p:sp>
        <p:nvSpPr>
          <p:cNvPr id="7" name="text-745"/>
          <p:cNvSpPr txBox="1"/>
          <p:nvPr/>
        </p:nvSpPr>
        <p:spPr>
          <a:xfrm>
            <a:off x="3535528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/ 캐릭터 IP / 숏폼 광고</a:t>
            </a:r>
            <a:endParaRPr lang="en-US" sz="1200" dirty="0"/>
          </a:p>
        </p:txBody>
      </p:sp>
      <p:sp>
        <p:nvSpPr>
          <p:cNvPr id="8" name="stamp-746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um Blackhole">
  <a:themeElements>
    <a:clrScheme name="Album Blackhole">
      <a:dk1>
        <a:srgbClr val="0F0E13"/>
      </a:dk1>
      <a:lt1>
        <a:srgbClr val="FFFFFF"/>
      </a:lt1>
      <a:dk2>
        <a:srgbClr val="4A3A2E"/>
      </a:dk2>
      <a:lt2>
        <a:srgbClr val="F2EADC"/>
      </a:lt2>
      <a:accent1>
        <a:srgbClr val="1E8FA0"/>
      </a:accent1>
      <a:accent2>
        <a:srgbClr val="F28C28"/>
      </a:accent2>
      <a:accent3>
        <a:srgbClr val="4A3A2E"/>
      </a:accent3>
      <a:accent4>
        <a:srgbClr val="46D3E6"/>
      </a:accent4>
      <a:accent5>
        <a:srgbClr val="FFB547"/>
      </a:accent5>
      <a:accent6>
        <a:srgbClr val="6E655C"/>
      </a:accent6>
      <a:hlink>
        <a:srgbClr val="1E8FA0"/>
      </a:hlink>
      <a:folHlink>
        <a:srgbClr val="1E8FA0"/>
      </a:folHlink>
    </a:clrScheme>
    <a:fontScheme name="Album Blackhol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김경수 포트폴리오</dc:title>
  <dc:subject>PptxGenJS Presentation</dc:subject>
  <dc:creator>김경수</dc:creator>
  <cp:lastModifiedBy>김경수</cp:lastModifiedBy>
  <cp:revision>1</cp:revision>
  <dcterms:created xsi:type="dcterms:W3CDTF">2026-10-02T04:48:15Z</dcterms:created>
  <dcterms:modified xsi:type="dcterms:W3CDTF">2026-10-02T04:48:15Z</dcterms:modified>
</cp:coreProperties>
</file>