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작품" id="{3707b3b1-934a-2e5d-0ef8-5be268f3c544}">
          <p14:sldIdLst>
            <p14:sldId id="256"/>
            <p14:sldId id="257"/>
            <p14:sldId id="258"/>
            <p14:sldId id="259"/>
          </p14:sldIdLst>
        </p14:section>
        <p14:section name="인물 · 공간" id="{adfdf7fc-519a-64cd-3c42-3ccc661a8708}">
          <p14:sldIdLst>
            <p14:sldId id="260"/>
            <p14:sldId id="261"/>
          </p14:sldIdLst>
        </p14:section>
        <p14:section name="연출" id="{dd54cd0a-dacf-5b9a-4fda-848854b91b7a}">
          <p14:sldIdLst>
            <p14:sldId id="262"/>
            <p14:sldId id="263"/>
            <p14:sldId id="264"/>
          </p14:sldIdLst>
        </p14:section>
        <p14:section name="스토리보드" id="{b2662217-6a10-db5d-4926-6df906e4ba0e}">
          <p14:sldIdLst>
            <p14:sldId id="265"/>
            <p14:sldId id="266"/>
            <p14:sldId id="267"/>
          </p14:sldIdLst>
        </p14:section>
        <p14:section name="클라이맥스 · 엔딩" id="{eb9fb493-5518-294a-8216-e55a15f01b5b}">
          <p14:sldIdLst>
            <p14:sldId id="268"/>
            <p14:sldId id="269"/>
          </p14:sldIdLst>
        </p14:section>
        <p14:section name="결과물 · IP" id="{a939dc55-6709-c227-4a09-6d8adfaa851a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LM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9436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  |  상상 속의 하늘을 날다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9436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  |  상상 속의 하늘을 날다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56VyLgx8t4YyaAT5u1FqRg_KaATZ55XH/view" TargetMode="External"/><Relationship Id="rId3" Type="http://schemas.openxmlformats.org/officeDocument/2006/relationships/hyperlink" Target="https://drive.google.com/file/d/156VyLgx8t4YyaAT5u1FqRg_KaATZ55XH/view" TargetMode="External"/><Relationship Id="rId1" Type="http://schemas.openxmlformats.org/officeDocument/2006/relationships/image" Target="../media/image-16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hyperlink" Target="https://drive.google.com/file/d/1Jtj3e9SkLrNs45NBc4cImHn3D2m0-vm_/view" TargetMode="External"/><Relationship Id="rId10" Type="http://schemas.openxmlformats.org/officeDocument/2006/relationships/hyperlink" Target="https://drive.google.com/file/d/1Jtj3e9SkLrNs45NBc4cImHn3D2m0-vm_/view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jpg"/><Relationship Id="rId7" Type="http://schemas.openxmlformats.org/officeDocument/2006/relationships/image" Target="../media/image-17-6.jpg"/><Relationship Id="rId8" Type="http://schemas.openxmlformats.org/officeDocument/2006/relationships/image" Target="../media/image-17-7.jpg"/><Relationship Id="rId9" Type="http://schemas.openxmlformats.org/officeDocument/2006/relationships/image" Target="../media/image-17-8.jp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mg-1" descr="노을을 향해 두 팔을 벌린 소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ox-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box-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cover-shade-4"/>
          <p:cNvSpPr/>
          <p:nvPr/>
        </p:nvSpPr>
        <p:spPr>
          <a:xfrm>
            <a:off x="0" y="3977640"/>
            <a:ext cx="12191695" cy="237744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6" name="text-5"/>
          <p:cNvSpPr txBox="1"/>
          <p:nvPr/>
        </p:nvSpPr>
        <p:spPr>
          <a:xfrm>
            <a:off x="5943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2D 애니메이션 포트폴리오 2026</a:t>
            </a:r>
            <a:endParaRPr lang="en-US" sz="1300" dirty="0"/>
          </a:p>
        </p:txBody>
      </p:sp>
      <p:sp>
        <p:nvSpPr>
          <p:cNvPr id="7" name="text-6"/>
          <p:cNvSpPr txBox="1"/>
          <p:nvPr/>
        </p:nvSpPr>
        <p:spPr>
          <a:xfrm>
            <a:off x="594360" y="45262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상상 속의 하늘을 날다</a:t>
            </a:r>
            <a:endParaRPr lang="en-US" sz="4400" dirty="0"/>
          </a:p>
        </p:txBody>
      </p:sp>
      <p:sp>
        <p:nvSpPr>
          <p:cNvPr id="8" name="text-7"/>
          <p:cNvSpPr txBox="1"/>
          <p:nvPr/>
        </p:nvSpPr>
        <p:spPr>
          <a:xfrm>
            <a:off x="594360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강원</a:t>
            </a:r>
            <a:endParaRPr lang="en-US" sz="2200" dirty="0"/>
          </a:p>
        </p:txBody>
      </p:sp>
      <p:sp>
        <p:nvSpPr>
          <p:cNvPr id="9" name="text-8"/>
          <p:cNvSpPr txBox="1"/>
          <p:nvPr/>
        </p:nvSpPr>
        <p:spPr>
          <a:xfrm>
            <a:off x="7498080" y="5650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S1-C5  「나도.. 하늘을.. 날고 싶다」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9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작품 소개</a:t>
            </a:r>
            <a:endParaRPr lang="en-US" sz="2800" dirty="0"/>
          </a:p>
        </p:txBody>
      </p:sp>
      <p:sp>
        <p:nvSpPr>
          <p:cNvPr id="4" name="frame-10"/>
          <p:cNvSpPr/>
          <p:nvPr/>
        </p:nvSpPr>
        <p:spPr>
          <a:xfrm>
            <a:off x="5943600" y="1555337"/>
            <a:ext cx="5696712" cy="324440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g-s1-4-11" descr="소년의 눈동자에 비친 송골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1057"/>
            <a:ext cx="5605272" cy="3152966"/>
          </a:xfrm>
          <a:prstGeom prst="rect">
            <a:avLst/>
          </a:prstGeom>
        </p:spPr>
      </p:pic>
      <p:sp>
        <p:nvSpPr>
          <p:cNvPr id="6" name="text-12"/>
          <p:cNvSpPr txBox="1"/>
          <p:nvPr/>
        </p:nvSpPr>
        <p:spPr>
          <a:xfrm>
            <a:off x="5989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S1-C4  눈동자 속 송골매</a:t>
            </a:r>
            <a:endParaRPr lang="en-US" sz="1000" dirty="0"/>
          </a:p>
        </p:txBody>
      </p:sp>
      <p:sp>
        <p:nvSpPr>
          <p:cNvPr id="7" name="text-13"/>
          <p:cNvSpPr txBox="1"/>
          <p:nvPr/>
        </p:nvSpPr>
        <p:spPr>
          <a:xfrm>
            <a:off x="594360" y="16002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하늘을 날고 싶던 8살 소년이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중년의 화가가 되어 다시 송골매를 마주하고,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상상 속 비행으로 잊혀진 꿈을 깨우는 이야기</a:t>
            </a:r>
            <a:endParaRPr lang="en-US" sz="2000" dirty="0"/>
          </a:p>
        </p:txBody>
      </p:sp>
      <p:sp>
        <p:nvSpPr>
          <p:cNvPr id="8" name="tag-14"/>
          <p:cNvSpPr/>
          <p:nvPr/>
        </p:nvSpPr>
        <p:spPr>
          <a:xfrm>
            <a:off x="594360" y="3520440"/>
            <a:ext cx="1627632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셀 애니메이션</a:t>
            </a:r>
            <a:endParaRPr lang="en-US" sz="1100" dirty="0"/>
          </a:p>
        </p:txBody>
      </p:sp>
      <p:sp>
        <p:nvSpPr>
          <p:cNvPr id="9" name="tag-15"/>
          <p:cNvSpPr/>
          <p:nvPr/>
        </p:nvSpPr>
        <p:spPr>
          <a:xfrm>
            <a:off x="2331720" y="3520440"/>
            <a:ext cx="1627632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3~5분 단편</a:t>
            </a:r>
            <a:endParaRPr lang="en-US" sz="1100" dirty="0"/>
          </a:p>
        </p:txBody>
      </p:sp>
      <p:sp>
        <p:nvSpPr>
          <p:cNvPr id="10" name="tag-16"/>
          <p:cNvSpPr/>
          <p:nvPr/>
        </p:nvSpPr>
        <p:spPr>
          <a:xfrm>
            <a:off x="4069080" y="3520440"/>
            <a:ext cx="1627632" cy="3657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과거와 현재의 교차</a:t>
            </a:r>
            <a:endParaRPr lang="en-US" sz="1100" dirty="0"/>
          </a:p>
        </p:txBody>
      </p:sp>
      <p:sp>
        <p:nvSpPr>
          <p:cNvPr id="11" name="box-17"/>
          <p:cNvSpPr/>
          <p:nvPr/>
        </p:nvSpPr>
        <p:spPr>
          <a:xfrm>
            <a:off x="594360" y="4206240"/>
            <a:ext cx="5120640" cy="1371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-18"/>
          <p:cNvSpPr txBox="1"/>
          <p:nvPr/>
        </p:nvSpPr>
        <p:spPr>
          <a:xfrm>
            <a:off x="8686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작가의 메시지</a:t>
            </a:r>
            <a:endParaRPr lang="en-US" sz="1100" dirty="0"/>
          </a:p>
        </p:txBody>
      </p:sp>
      <p:sp>
        <p:nvSpPr>
          <p:cNvPr id="13" name="text-19"/>
          <p:cNvSpPr txBox="1"/>
          <p:nvPr/>
        </p:nvSpPr>
        <p:spPr>
          <a:xfrm>
            <a:off x="868680" y="4663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「날개가 없어도, 마음만 있다면,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우리는 언제든 하늘을 날 수 있다.」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20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제작 기본 사양</a:t>
            </a:r>
            <a:endParaRPr lang="en-US" sz="2800" dirty="0"/>
          </a:p>
        </p:txBody>
      </p:sp>
      <p:sp>
        <p:nvSpPr>
          <p:cNvPr id="4" name="box-21"/>
          <p:cNvSpPr/>
          <p:nvPr/>
        </p:nvSpPr>
        <p:spPr>
          <a:xfrm>
            <a:off x="594360" y="16002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5" name="text-22"/>
          <p:cNvSpPr txBox="1"/>
          <p:nvPr/>
        </p:nvSpPr>
        <p:spPr>
          <a:xfrm>
            <a:off x="91440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200" dirty="0"/>
          </a:p>
        </p:txBody>
      </p:sp>
      <p:sp>
        <p:nvSpPr>
          <p:cNvPr id="6" name="text-23"/>
          <p:cNvSpPr txBox="1"/>
          <p:nvPr/>
        </p:nvSpPr>
        <p:spPr>
          <a:xfrm>
            <a:off x="91440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약 3~5분</a:t>
            </a:r>
            <a:endParaRPr lang="en-US" sz="3000" dirty="0"/>
          </a:p>
        </p:txBody>
      </p:sp>
      <p:sp>
        <p:nvSpPr>
          <p:cNvPr id="7" name="text-24"/>
          <p:cNvSpPr txBox="1"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단편 애니메이션</a:t>
            </a:r>
            <a:endParaRPr lang="en-US" sz="1200" dirty="0"/>
          </a:p>
        </p:txBody>
      </p:sp>
      <p:sp>
        <p:nvSpPr>
          <p:cNvPr id="8" name="box-25"/>
          <p:cNvSpPr/>
          <p:nvPr/>
        </p:nvSpPr>
        <p:spPr>
          <a:xfrm>
            <a:off x="4343400" y="16002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9" name="text-26"/>
          <p:cNvSpPr txBox="1"/>
          <p:nvPr/>
        </p:nvSpPr>
        <p:spPr>
          <a:xfrm>
            <a:off x="466344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영상</a:t>
            </a:r>
            <a:endParaRPr lang="en-US" sz="1200" dirty="0"/>
          </a:p>
        </p:txBody>
      </p:sp>
      <p:sp>
        <p:nvSpPr>
          <p:cNvPr id="10" name="text-27"/>
          <p:cNvSpPr txBox="1"/>
          <p:nvPr/>
        </p:nvSpPr>
        <p:spPr>
          <a:xfrm>
            <a:off x="466344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16:9 FHD</a:t>
            </a:r>
            <a:endParaRPr lang="en-US" sz="3000" dirty="0"/>
          </a:p>
        </p:txBody>
      </p:sp>
      <p:sp>
        <p:nvSpPr>
          <p:cNvPr id="11" name="text-28"/>
          <p:cNvSpPr txBox="1"/>
          <p:nvPr/>
        </p:nvSpPr>
        <p:spPr>
          <a:xfrm>
            <a:off x="46634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1920 × 1080</a:t>
            </a:r>
            <a:endParaRPr lang="en-US" sz="1200" dirty="0"/>
          </a:p>
        </p:txBody>
      </p:sp>
      <p:sp>
        <p:nvSpPr>
          <p:cNvPr id="12" name="box-29"/>
          <p:cNvSpPr/>
          <p:nvPr/>
        </p:nvSpPr>
        <p:spPr>
          <a:xfrm>
            <a:off x="8092440" y="16002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13" name="text-30"/>
          <p:cNvSpPr txBox="1"/>
          <p:nvPr/>
        </p:nvSpPr>
        <p:spPr>
          <a:xfrm>
            <a:off x="84124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레이트</a:t>
            </a:r>
            <a:endParaRPr lang="en-US" sz="1200" dirty="0"/>
          </a:p>
        </p:txBody>
      </p:sp>
      <p:sp>
        <p:nvSpPr>
          <p:cNvPr id="14" name="text-31"/>
          <p:cNvSpPr txBox="1"/>
          <p:nvPr/>
        </p:nvSpPr>
        <p:spPr>
          <a:xfrm>
            <a:off x="841248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24fps</a:t>
            </a:r>
            <a:endParaRPr lang="en-US" sz="3000" dirty="0"/>
          </a:p>
        </p:txBody>
      </p:sp>
      <p:sp>
        <p:nvSpPr>
          <p:cNvPr id="15" name="text-32"/>
          <p:cNvSpPr txBox="1"/>
          <p:nvPr/>
        </p:nvSpPr>
        <p:spPr>
          <a:xfrm>
            <a:off x="84124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 같은 움직임</a:t>
            </a:r>
            <a:endParaRPr lang="en-US" sz="1200" dirty="0"/>
          </a:p>
        </p:txBody>
      </p:sp>
      <p:sp>
        <p:nvSpPr>
          <p:cNvPr id="16" name="box-33"/>
          <p:cNvSpPr/>
          <p:nvPr/>
        </p:nvSpPr>
        <p:spPr>
          <a:xfrm>
            <a:off x="594360" y="406908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17" name="text-34"/>
          <p:cNvSpPr txBox="1"/>
          <p:nvPr/>
        </p:nvSpPr>
        <p:spPr>
          <a:xfrm>
            <a:off x="91440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원본</a:t>
            </a:r>
            <a:endParaRPr lang="en-US" sz="1200" dirty="0"/>
          </a:p>
        </p:txBody>
      </p:sp>
      <p:sp>
        <p:nvSpPr>
          <p:cNvPr id="18" name="text-35"/>
          <p:cNvSpPr txBox="1"/>
          <p:nvPr/>
        </p:nvSpPr>
        <p:spPr>
          <a:xfrm>
            <a:off x="91440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2K~4K</a:t>
            </a:r>
            <a:endParaRPr lang="en-US" sz="3000" dirty="0"/>
          </a:p>
        </p:txBody>
      </p:sp>
      <p:sp>
        <p:nvSpPr>
          <p:cNvPr id="19" name="text-36"/>
          <p:cNvSpPr txBox="1"/>
          <p:nvPr/>
        </p:nvSpPr>
        <p:spPr>
          <a:xfrm>
            <a:off x="91440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고해상도 제작 후 FHD 출력</a:t>
            </a:r>
            <a:endParaRPr lang="en-US" sz="1200" dirty="0"/>
          </a:p>
        </p:txBody>
      </p:sp>
      <p:sp>
        <p:nvSpPr>
          <p:cNvPr id="20" name="box-37"/>
          <p:cNvSpPr/>
          <p:nvPr/>
        </p:nvSpPr>
        <p:spPr>
          <a:xfrm>
            <a:off x="4343400" y="406908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21" name="text-38"/>
          <p:cNvSpPr txBox="1"/>
          <p:nvPr/>
        </p:nvSpPr>
        <p:spPr>
          <a:xfrm>
            <a:off x="466344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전환</a:t>
            </a:r>
            <a:endParaRPr lang="en-US" sz="1200" dirty="0"/>
          </a:p>
        </p:txBody>
      </p:sp>
      <p:sp>
        <p:nvSpPr>
          <p:cNvPr id="22" name="text-39"/>
          <p:cNvSpPr txBox="1"/>
          <p:nvPr/>
        </p:nvSpPr>
        <p:spPr>
          <a:xfrm>
            <a:off x="466344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디졸브 · 오버랩</a:t>
            </a:r>
            <a:endParaRPr lang="en-US" sz="3000" dirty="0"/>
          </a:p>
        </p:txBody>
      </p:sp>
      <p:sp>
        <p:nvSpPr>
          <p:cNvPr id="23" name="text-40"/>
          <p:cNvSpPr txBox="1"/>
          <p:nvPr/>
        </p:nvSpPr>
        <p:spPr>
          <a:xfrm>
            <a:off x="466344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간 시간의 연결감 강조</a:t>
            </a:r>
            <a:endParaRPr lang="en-US" sz="1200" dirty="0"/>
          </a:p>
        </p:txBody>
      </p:sp>
      <p:sp>
        <p:nvSpPr>
          <p:cNvPr id="24" name="box-41"/>
          <p:cNvSpPr/>
          <p:nvPr/>
        </p:nvSpPr>
        <p:spPr>
          <a:xfrm>
            <a:off x="8092440" y="406908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25" name="text-42"/>
          <p:cNvSpPr txBox="1"/>
          <p:nvPr/>
        </p:nvSpPr>
        <p:spPr>
          <a:xfrm>
            <a:off x="841248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200" dirty="0"/>
          </a:p>
        </p:txBody>
      </p:sp>
      <p:sp>
        <p:nvSpPr>
          <p:cNvPr id="26" name="text-43"/>
          <p:cNvSpPr txBox="1"/>
          <p:nvPr/>
        </p:nvSpPr>
        <p:spPr>
          <a:xfrm>
            <a:off x="841248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6씬 · 30컷</a:t>
            </a:r>
            <a:endParaRPr lang="en-US" sz="3000" dirty="0"/>
          </a:p>
        </p:txBody>
      </p:sp>
      <p:sp>
        <p:nvSpPr>
          <p:cNvPr id="27" name="text-44"/>
          <p:cNvSpPr txBox="1"/>
          <p:nvPr/>
        </p:nvSpPr>
        <p:spPr>
          <a:xfrm>
            <a:off x="841248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엔딩 자막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45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비주얼 방향: 손 그림 셀 애니메이션</a:t>
            </a:r>
            <a:endParaRPr lang="en-US" sz="2800" dirty="0"/>
          </a:p>
        </p:txBody>
      </p:sp>
      <p:sp>
        <p:nvSpPr>
          <p:cNvPr id="4" name="text-46"/>
          <p:cNvSpPr txBox="1"/>
          <p:nvPr/>
        </p:nvSpPr>
        <p:spPr>
          <a:xfrm>
            <a:off x="5943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스타일</a:t>
            </a:r>
            <a:endParaRPr lang="en-US" sz="1300" dirty="0"/>
          </a:p>
        </p:txBody>
      </p:sp>
      <p:sp>
        <p:nvSpPr>
          <p:cNvPr id="5" name="text-47"/>
          <p:cNvSpPr txBox="1"/>
          <p:nvPr/>
        </p:nvSpPr>
        <p:spPr>
          <a:xfrm>
            <a:off x="594360" y="19842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전통적인 2D 셀 애니메이션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90~2000년대 극장판 애니메이션의 평면적이고 단순한 표현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사실적인 디지털 페인팅 배제</a:t>
            </a:r>
            <a:endParaRPr lang="en-US" sz="1300" dirty="0"/>
          </a:p>
        </p:txBody>
      </p:sp>
      <p:sp>
        <p:nvSpPr>
          <p:cNvPr id="6" name="text-48"/>
          <p:cNvSpPr txBox="1"/>
          <p:nvPr/>
        </p:nvSpPr>
        <p:spPr>
          <a:xfrm>
            <a:off x="594360" y="3081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방향</a:t>
            </a:r>
            <a:endParaRPr lang="en-US" sz="1300" dirty="0"/>
          </a:p>
        </p:txBody>
      </p:sp>
      <p:sp>
        <p:nvSpPr>
          <p:cNvPr id="7" name="text-49"/>
          <p:cNvSpPr txBox="1"/>
          <p:nvPr/>
        </p:nvSpPr>
        <p:spPr>
          <a:xfrm>
            <a:off x="594360" y="346557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손 그림과 자연스러운 카메라 움직임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서정적인 빛과 힐링 감성, 따뜻한 색조</a:t>
            </a:r>
            <a:endParaRPr lang="en-US" sz="1300" dirty="0"/>
          </a:p>
        </p:txBody>
      </p:sp>
      <p:sp>
        <p:nvSpPr>
          <p:cNvPr id="8" name="text-50"/>
          <p:cNvSpPr txBox="1"/>
          <p:nvPr/>
        </p:nvSpPr>
        <p:spPr>
          <a:xfrm>
            <a:off x="594360" y="45628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원칙</a:t>
            </a:r>
            <a:endParaRPr lang="en-US" sz="1300" dirty="0"/>
          </a:p>
        </p:txBody>
      </p:sp>
      <p:sp>
        <p:nvSpPr>
          <p:cNvPr id="9" name="text-51"/>
          <p:cNvSpPr txBox="1"/>
          <p:nvPr/>
        </p:nvSpPr>
        <p:spPr>
          <a:xfrm>
            <a:off x="594360" y="494690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단색 또는 옅은 그라데이션의 단순한 배경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인물과 하늘에 시선 집중</a:t>
            </a:r>
            <a:endParaRPr lang="en-US" sz="1300" dirty="0"/>
          </a:p>
        </p:txBody>
      </p:sp>
      <p:sp>
        <p:nvSpPr>
          <p:cNvPr id="10" name="frame-52"/>
          <p:cNvSpPr/>
          <p:nvPr/>
        </p:nvSpPr>
        <p:spPr>
          <a:xfrm>
            <a:off x="5761228" y="1554480"/>
            <a:ext cx="5878576" cy="334670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1" name="img-s1-1-53" descr="1960년대 서울 옥상의 노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948" y="1600200"/>
            <a:ext cx="5787136" cy="3255264"/>
          </a:xfrm>
          <a:prstGeom prst="rect">
            <a:avLst/>
          </a:prstGeom>
        </p:spPr>
      </p:pic>
      <p:sp>
        <p:nvSpPr>
          <p:cNvPr id="12" name="frame-54"/>
          <p:cNvSpPr/>
          <p:nvPr/>
        </p:nvSpPr>
        <p:spPr>
          <a:xfrm>
            <a:off x="5954268" y="4946904"/>
            <a:ext cx="2511552" cy="1444752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g-s2-1-55" descr="화실의 강 작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844" y="4983480"/>
            <a:ext cx="2438400" cy="1371600"/>
          </a:xfrm>
          <a:prstGeom prst="rect">
            <a:avLst/>
          </a:prstGeom>
        </p:spPr>
      </p:pic>
      <p:sp>
        <p:nvSpPr>
          <p:cNvPr id="14" name="frame-56"/>
          <p:cNvSpPr/>
          <p:nvPr/>
        </p:nvSpPr>
        <p:spPr>
          <a:xfrm>
            <a:off x="8935212" y="4946904"/>
            <a:ext cx="2511552" cy="1444752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5" name="img-s3-2-57" descr="역광 노을 속 화실 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788" y="4983480"/>
            <a:ext cx="2438400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58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등장인물</a:t>
            </a:r>
            <a:endParaRPr lang="en-US" sz="2800" dirty="0"/>
          </a:p>
        </p:txBody>
      </p:sp>
      <p:sp>
        <p:nvSpPr>
          <p:cNvPr id="4" name="frame-59"/>
          <p:cNvSpPr/>
          <p:nvPr/>
        </p:nvSpPr>
        <p:spPr>
          <a:xfrm>
            <a:off x="528243" y="1481328"/>
            <a:ext cx="4749954" cy="38039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g-char_kang-60" descr="강 작가 캐릭터 시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95" y="1554480"/>
            <a:ext cx="4603650" cy="3657600"/>
          </a:xfrm>
          <a:prstGeom prst="rect">
            <a:avLst/>
          </a:prstGeom>
        </p:spPr>
      </p:pic>
      <p:sp>
        <p:nvSpPr>
          <p:cNvPr id="6" name="text-61"/>
          <p:cNvSpPr txBox="1"/>
          <p:nvPr/>
        </p:nvSpPr>
        <p:spPr>
          <a:xfrm>
            <a:off x="601395" y="5440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강 작가</a:t>
            </a:r>
            <a:endParaRPr lang="en-US" sz="2000" dirty="0"/>
          </a:p>
        </p:txBody>
      </p:sp>
      <p:sp>
        <p:nvSpPr>
          <p:cNvPr id="7" name="text-62"/>
          <p:cNvSpPr txBox="1"/>
          <p:nvPr/>
        </p:nvSpPr>
        <p:spPr>
          <a:xfrm>
            <a:off x="601395" y="5897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옥탑 화실의 중년 화가, 어린 시절의 꿈을 잊은 채 지내는 일상</a:t>
            </a:r>
            <a:endParaRPr lang="en-US" sz="1100" dirty="0"/>
          </a:p>
        </p:txBody>
      </p:sp>
      <p:sp>
        <p:nvSpPr>
          <p:cNvPr id="8" name="frame-63"/>
          <p:cNvSpPr/>
          <p:nvPr/>
        </p:nvSpPr>
        <p:spPr>
          <a:xfrm>
            <a:off x="5413248" y="1489116"/>
            <a:ext cx="2569464" cy="37883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g-char_boy-64" descr="어린 시절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62268"/>
            <a:ext cx="2423160" cy="3642024"/>
          </a:xfrm>
          <a:prstGeom prst="rect">
            <a:avLst/>
          </a:prstGeom>
        </p:spPr>
      </p:pic>
      <p:sp>
        <p:nvSpPr>
          <p:cNvPr id="10" name="text-65"/>
          <p:cNvSpPr txBox="1"/>
          <p:nvPr/>
        </p:nvSpPr>
        <p:spPr>
          <a:xfrm>
            <a:off x="5486400" y="5440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어린 시절</a:t>
            </a:r>
            <a:endParaRPr lang="en-US" sz="2000" dirty="0"/>
          </a:p>
        </p:txBody>
      </p:sp>
      <p:sp>
        <p:nvSpPr>
          <p:cNvPr id="11" name="text-66"/>
          <p:cNvSpPr txBox="1"/>
          <p:nvPr/>
        </p:nvSpPr>
        <p:spPr>
          <a:xfrm>
            <a:off x="548640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1960년대 서울, 8살 소년</a:t>
            </a:r>
            <a:endParaRPr lang="en-US" sz="1100" dirty="0"/>
          </a:p>
        </p:txBody>
      </p:sp>
      <p:sp>
        <p:nvSpPr>
          <p:cNvPr id="12" name="frame-67"/>
          <p:cNvSpPr/>
          <p:nvPr/>
        </p:nvSpPr>
        <p:spPr>
          <a:xfrm>
            <a:off x="8156448" y="1481328"/>
            <a:ext cx="3511296" cy="203911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g-s2-4-68" descr="하늘을 나는 송골매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54480"/>
            <a:ext cx="3364992" cy="1892808"/>
          </a:xfrm>
          <a:prstGeom prst="rect">
            <a:avLst/>
          </a:prstGeom>
        </p:spPr>
      </p:pic>
      <p:sp>
        <p:nvSpPr>
          <p:cNvPr id="14" name="text-69"/>
          <p:cNvSpPr txBox="1"/>
          <p:nvPr/>
        </p:nvSpPr>
        <p:spPr>
          <a:xfrm>
            <a:off x="8229600" y="3675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송골매</a:t>
            </a:r>
            <a:endParaRPr lang="en-US" sz="2000" dirty="0"/>
          </a:p>
        </p:txBody>
      </p:sp>
      <p:sp>
        <p:nvSpPr>
          <p:cNvPr id="15" name="text-70"/>
          <p:cNvSpPr txBox="1"/>
          <p:nvPr/>
        </p:nvSpPr>
        <p:spPr>
          <a:xfrm>
            <a:off x="8229600" y="4133088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과거와 현재를 잇는 매개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소년과 강 작가가 같은 하늘에서 마주하는 존재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클라이맥스에서 두 인물과 하나로 융합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71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&amp; PLACE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공간과 시간: 석양의 과거, 한낮의 현재</a:t>
            </a:r>
            <a:endParaRPr lang="en-US" sz="2800" dirty="0"/>
          </a:p>
        </p:txBody>
      </p:sp>
      <p:sp>
        <p:nvSpPr>
          <p:cNvPr id="4" name="frame-72"/>
          <p:cNvSpPr/>
          <p:nvPr/>
        </p:nvSpPr>
        <p:spPr>
          <a:xfrm>
            <a:off x="539496" y="1545907"/>
            <a:ext cx="5504688" cy="3144393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img-s1-1-73" descr="과거: 1960년대 서울 옥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771"/>
            <a:ext cx="5394960" cy="3034665"/>
          </a:xfrm>
          <a:prstGeom prst="rect">
            <a:avLst/>
          </a:prstGeom>
        </p:spPr>
      </p:pic>
      <p:sp>
        <p:nvSpPr>
          <p:cNvPr id="6" name="frame-74"/>
          <p:cNvSpPr/>
          <p:nvPr/>
        </p:nvSpPr>
        <p:spPr>
          <a:xfrm>
            <a:off x="6147511" y="1545907"/>
            <a:ext cx="5504688" cy="3144393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7" name="img-bg_studio-75" descr="현재: 옥탑 화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1600771"/>
            <a:ext cx="5394960" cy="3034665"/>
          </a:xfrm>
          <a:prstGeom prst="rect">
            <a:avLst/>
          </a:prstGeom>
        </p:spPr>
      </p:pic>
      <p:sp>
        <p:nvSpPr>
          <p:cNvPr id="8" name="tag-76"/>
          <p:cNvSpPr/>
          <p:nvPr/>
        </p:nvSpPr>
        <p:spPr>
          <a:xfrm>
            <a:off x="539496" y="4846320"/>
            <a:ext cx="109728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200" dirty="0"/>
          </a:p>
        </p:txBody>
      </p:sp>
      <p:sp>
        <p:nvSpPr>
          <p:cNvPr id="9" name="text-77"/>
          <p:cNvSpPr txBox="1"/>
          <p:nvPr/>
        </p:nvSpPr>
        <p:spPr>
          <a:xfrm>
            <a:off x="1819656" y="4846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1960년대 서울 골목, 연립주택 옥상 · 석양</a:t>
            </a:r>
            <a:endParaRPr lang="en-US" sz="1400" dirty="0"/>
          </a:p>
        </p:txBody>
      </p:sp>
      <p:sp>
        <p:nvSpPr>
          <p:cNvPr id="10" name="text-78"/>
          <p:cNvSpPr txBox="1"/>
          <p:nvPr/>
        </p:nvSpPr>
        <p:spPr>
          <a:xfrm>
            <a:off x="539496" y="5349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노을과 흔들리는 빨래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동경과 순수함을 담은 따뜻한 색온도</a:t>
            </a:r>
            <a:endParaRPr lang="en-US" sz="1200" dirty="0"/>
          </a:p>
        </p:txBody>
      </p:sp>
      <p:sp>
        <p:nvSpPr>
          <p:cNvPr id="11" name="tag-79"/>
          <p:cNvSpPr/>
          <p:nvPr/>
        </p:nvSpPr>
        <p:spPr>
          <a:xfrm>
            <a:off x="6147511" y="4846320"/>
            <a:ext cx="1097280" cy="3657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200" dirty="0"/>
          </a:p>
        </p:txBody>
      </p:sp>
      <p:sp>
        <p:nvSpPr>
          <p:cNvPr id="12" name="text-80"/>
          <p:cNvSpPr txBox="1"/>
          <p:nvPr/>
        </p:nvSpPr>
        <p:spPr>
          <a:xfrm>
            <a:off x="7427671" y="4846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옥탑의 작은 화실 · 어느 오후</a:t>
            </a:r>
            <a:endParaRPr lang="en-US" sz="1400" dirty="0"/>
          </a:p>
        </p:txBody>
      </p:sp>
      <p:sp>
        <p:nvSpPr>
          <p:cNvPr id="13" name="text-81"/>
          <p:cNvSpPr txBox="1"/>
          <p:nvPr/>
        </p:nvSpPr>
        <p:spPr>
          <a:xfrm>
            <a:off x="6147511" y="5349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창가로 드는 햇살과 맑은 하늘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잊혀진 꿈과 일상을 담은 밝은 색온도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82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6씬 구성과 핵심 감정</a:t>
            </a:r>
            <a:endParaRPr lang="en-US" sz="2800" dirty="0"/>
          </a:p>
        </p:txBody>
      </p:sp>
      <p:sp>
        <p:nvSpPr>
          <p:cNvPr id="4" name="scene-card-83"/>
          <p:cNvSpPr/>
          <p:nvPr/>
        </p:nvSpPr>
        <p:spPr>
          <a:xfrm>
            <a:off x="594360" y="1600200"/>
            <a:ext cx="1737360" cy="4160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-84"/>
          <p:cNvSpPr txBox="1"/>
          <p:nvPr/>
        </p:nvSpPr>
        <p:spPr>
          <a:xfrm>
            <a:off x="77724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1</a:t>
            </a:r>
            <a:endParaRPr lang="en-US" sz="1000" dirty="0"/>
          </a:p>
        </p:txBody>
      </p:sp>
      <p:sp>
        <p:nvSpPr>
          <p:cNvPr id="6" name="text-85"/>
          <p:cNvSpPr txBox="1"/>
          <p:nvPr/>
        </p:nvSpPr>
        <p:spPr>
          <a:xfrm>
            <a:off x="77724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어린 시절</a:t>
            </a:r>
            <a:endParaRPr lang="en-US" sz="2200" dirty="0"/>
          </a:p>
        </p:txBody>
      </p:sp>
      <p:sp>
        <p:nvSpPr>
          <p:cNvPr id="7" name="text-86"/>
          <p:cNvSpPr txBox="1"/>
          <p:nvPr/>
        </p:nvSpPr>
        <p:spPr>
          <a:xfrm>
            <a:off x="7772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· 석양</a:t>
            </a:r>
            <a:endParaRPr lang="en-US" sz="1100" dirty="0"/>
          </a:p>
        </p:txBody>
      </p:sp>
      <p:sp>
        <p:nvSpPr>
          <p:cNvPr id="8" name="text-87"/>
          <p:cNvSpPr txBox="1"/>
          <p:nvPr/>
        </p:nvSpPr>
        <p:spPr>
          <a:xfrm>
            <a:off x="7772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000" dirty="0"/>
          </a:p>
        </p:txBody>
      </p:sp>
      <p:sp>
        <p:nvSpPr>
          <p:cNvPr id="9" name="text-88"/>
          <p:cNvSpPr txBox="1"/>
          <p:nvPr/>
        </p:nvSpPr>
        <p:spPr>
          <a:xfrm>
            <a:off x="777240" y="40690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동경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순수함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꿈</a:t>
            </a:r>
            <a:endParaRPr lang="en-US" sz="1400" dirty="0"/>
          </a:p>
        </p:txBody>
      </p:sp>
      <p:sp>
        <p:nvSpPr>
          <p:cNvPr id="10" name="scene-card-89"/>
          <p:cNvSpPr/>
          <p:nvPr/>
        </p:nvSpPr>
        <p:spPr>
          <a:xfrm>
            <a:off x="2441448" y="1600200"/>
            <a:ext cx="1737360" cy="4160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-90"/>
          <p:cNvSpPr txBox="1"/>
          <p:nvPr/>
        </p:nvSpPr>
        <p:spPr>
          <a:xfrm>
            <a:off x="262432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2</a:t>
            </a:r>
            <a:endParaRPr lang="en-US" sz="1000" dirty="0"/>
          </a:p>
        </p:txBody>
      </p:sp>
      <p:sp>
        <p:nvSpPr>
          <p:cNvPr id="12" name="text-91"/>
          <p:cNvSpPr txBox="1"/>
          <p:nvPr/>
        </p:nvSpPr>
        <p:spPr>
          <a:xfrm>
            <a:off x="2624328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중년</a:t>
            </a:r>
            <a:endParaRPr lang="en-US" sz="2200" dirty="0"/>
          </a:p>
        </p:txBody>
      </p:sp>
      <p:sp>
        <p:nvSpPr>
          <p:cNvPr id="13" name="text-92"/>
          <p:cNvSpPr txBox="1"/>
          <p:nvPr/>
        </p:nvSpPr>
        <p:spPr>
          <a:xfrm>
            <a:off x="2624328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화실 · 오후</a:t>
            </a:r>
            <a:endParaRPr lang="en-US" sz="1100" dirty="0"/>
          </a:p>
        </p:txBody>
      </p:sp>
      <p:sp>
        <p:nvSpPr>
          <p:cNvPr id="14" name="text-93"/>
          <p:cNvSpPr txBox="1"/>
          <p:nvPr/>
        </p:nvSpPr>
        <p:spPr>
          <a:xfrm>
            <a:off x="2624328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000" dirty="0"/>
          </a:p>
        </p:txBody>
      </p:sp>
      <p:sp>
        <p:nvSpPr>
          <p:cNvPr id="15" name="text-94"/>
          <p:cNvSpPr txBox="1"/>
          <p:nvPr/>
        </p:nvSpPr>
        <p:spPr>
          <a:xfrm>
            <a:off x="2624328" y="40690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잊혀진 꿈</a:t>
            </a:r>
            <a:endParaRPr lang="en-US" sz="1400" dirty="0"/>
          </a:p>
        </p:txBody>
      </p:sp>
      <p:sp>
        <p:nvSpPr>
          <p:cNvPr id="16" name="scene-card-95"/>
          <p:cNvSpPr/>
          <p:nvPr/>
        </p:nvSpPr>
        <p:spPr>
          <a:xfrm>
            <a:off x="4288536" y="1600200"/>
            <a:ext cx="1737360" cy="41605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-96"/>
          <p:cNvSpPr txBox="1"/>
          <p:nvPr/>
        </p:nvSpPr>
        <p:spPr>
          <a:xfrm>
            <a:off x="447141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3</a:t>
            </a:r>
            <a:endParaRPr lang="en-US" sz="1000" dirty="0"/>
          </a:p>
        </p:txBody>
      </p:sp>
      <p:sp>
        <p:nvSpPr>
          <p:cNvPr id="18" name="text-97"/>
          <p:cNvSpPr txBox="1"/>
          <p:nvPr/>
        </p:nvSpPr>
        <p:spPr>
          <a:xfrm>
            <a:off x="4471416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충동</a:t>
            </a:r>
            <a:endParaRPr lang="en-US" sz="2200" dirty="0"/>
          </a:p>
        </p:txBody>
      </p:sp>
      <p:sp>
        <p:nvSpPr>
          <p:cNvPr id="19" name="text-98"/>
          <p:cNvSpPr txBox="1"/>
          <p:nvPr/>
        </p:nvSpPr>
        <p:spPr>
          <a:xfrm>
            <a:off x="4471416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· 석양</a:t>
            </a:r>
            <a:endParaRPr lang="en-US" sz="1100" dirty="0"/>
          </a:p>
        </p:txBody>
      </p:sp>
      <p:sp>
        <p:nvSpPr>
          <p:cNvPr id="20" name="text-99"/>
          <p:cNvSpPr txBox="1"/>
          <p:nvPr/>
        </p:nvSpPr>
        <p:spPr>
          <a:xfrm>
            <a:off x="4471416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000" dirty="0"/>
          </a:p>
        </p:txBody>
      </p:sp>
      <p:sp>
        <p:nvSpPr>
          <p:cNvPr id="21" name="text-100"/>
          <p:cNvSpPr txBox="1"/>
          <p:nvPr/>
        </p:nvSpPr>
        <p:spPr>
          <a:xfrm>
            <a:off x="4471416" y="40690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억눌렸던 꿈의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각성</a:t>
            </a:r>
            <a:endParaRPr lang="en-US" sz="1400" dirty="0"/>
          </a:p>
        </p:txBody>
      </p:sp>
      <p:sp>
        <p:nvSpPr>
          <p:cNvPr id="22" name="scene-card-101"/>
          <p:cNvSpPr/>
          <p:nvPr/>
        </p:nvSpPr>
        <p:spPr>
          <a:xfrm>
            <a:off x="6135624" y="1600200"/>
            <a:ext cx="1737360" cy="4160520"/>
          </a:xfrm>
          <a:prstGeom prst="rect">
            <a:avLst/>
          </a:prstGeom>
          <a:solidFill>
            <a:srgbClr val="F6D58E"/>
          </a:solidFill>
          <a:ln/>
        </p:spPr>
      </p:sp>
      <p:sp>
        <p:nvSpPr>
          <p:cNvPr id="23" name="text-102"/>
          <p:cNvSpPr txBox="1"/>
          <p:nvPr/>
        </p:nvSpPr>
        <p:spPr>
          <a:xfrm>
            <a:off x="631850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4</a:t>
            </a:r>
            <a:endParaRPr lang="en-US" sz="1000" dirty="0"/>
          </a:p>
        </p:txBody>
      </p:sp>
      <p:sp>
        <p:nvSpPr>
          <p:cNvPr id="24" name="text-103"/>
          <p:cNvSpPr txBox="1"/>
          <p:nvPr/>
        </p:nvSpPr>
        <p:spPr>
          <a:xfrm>
            <a:off x="6318504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교감</a:t>
            </a:r>
            <a:endParaRPr lang="en-US" sz="2200" dirty="0"/>
          </a:p>
        </p:txBody>
      </p:sp>
      <p:sp>
        <p:nvSpPr>
          <p:cNvPr id="25" name="text-104"/>
          <p:cNvSpPr txBox="1"/>
          <p:nvPr/>
        </p:nvSpPr>
        <p:spPr>
          <a:xfrm>
            <a:off x="6318504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환상</a:t>
            </a:r>
            <a:endParaRPr lang="en-US" sz="1100" dirty="0"/>
          </a:p>
        </p:txBody>
      </p:sp>
      <p:sp>
        <p:nvSpPr>
          <p:cNvPr id="26" name="text-105"/>
          <p:cNvSpPr txBox="1"/>
          <p:nvPr/>
        </p:nvSpPr>
        <p:spPr>
          <a:xfrm>
            <a:off x="6318504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000" dirty="0"/>
          </a:p>
        </p:txBody>
      </p:sp>
      <p:sp>
        <p:nvSpPr>
          <p:cNvPr id="27" name="text-106"/>
          <p:cNvSpPr txBox="1"/>
          <p:nvPr/>
        </p:nvSpPr>
        <p:spPr>
          <a:xfrm>
            <a:off x="6318504" y="40690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해방</a:t>
            </a:r>
            <a:endParaRPr lang="en-US" sz="1400" dirty="0"/>
          </a:p>
        </p:txBody>
      </p:sp>
      <p:sp>
        <p:nvSpPr>
          <p:cNvPr id="28" name="scene-card-107"/>
          <p:cNvSpPr/>
          <p:nvPr/>
        </p:nvSpPr>
        <p:spPr>
          <a:xfrm>
            <a:off x="7982712" y="1600200"/>
            <a:ext cx="1737360" cy="41605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9" name="text-108"/>
          <p:cNvSpPr txBox="1"/>
          <p:nvPr/>
        </p:nvSpPr>
        <p:spPr>
          <a:xfrm>
            <a:off x="816559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5</a:t>
            </a:r>
            <a:endParaRPr lang="en-US" sz="1000" dirty="0"/>
          </a:p>
        </p:txBody>
      </p:sp>
      <p:sp>
        <p:nvSpPr>
          <p:cNvPr id="30" name="text-109"/>
          <p:cNvSpPr txBox="1"/>
          <p:nvPr/>
        </p:nvSpPr>
        <p:spPr>
          <a:xfrm>
            <a:off x="8165592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각성</a:t>
            </a:r>
            <a:endParaRPr lang="en-US" sz="2200" dirty="0"/>
          </a:p>
        </p:txBody>
      </p:sp>
      <p:sp>
        <p:nvSpPr>
          <p:cNvPr id="31" name="text-110"/>
          <p:cNvSpPr txBox="1"/>
          <p:nvPr/>
        </p:nvSpPr>
        <p:spPr>
          <a:xfrm>
            <a:off x="8165592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지는 해</a:t>
            </a:r>
            <a:endParaRPr lang="en-US" sz="1100" dirty="0"/>
          </a:p>
        </p:txBody>
      </p:sp>
      <p:sp>
        <p:nvSpPr>
          <p:cNvPr id="32" name="text-111"/>
          <p:cNvSpPr txBox="1"/>
          <p:nvPr/>
        </p:nvSpPr>
        <p:spPr>
          <a:xfrm>
            <a:off x="8165592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000" dirty="0"/>
          </a:p>
        </p:txBody>
      </p:sp>
      <p:sp>
        <p:nvSpPr>
          <p:cNvPr id="33" name="text-112"/>
          <p:cNvSpPr txBox="1"/>
          <p:nvPr/>
        </p:nvSpPr>
        <p:spPr>
          <a:xfrm>
            <a:off x="8165592" y="40690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꿈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여운</a:t>
            </a:r>
            <a:endParaRPr lang="en-US" sz="1400" dirty="0"/>
          </a:p>
        </p:txBody>
      </p:sp>
      <p:sp>
        <p:nvSpPr>
          <p:cNvPr id="34" name="scene-card-113"/>
          <p:cNvSpPr/>
          <p:nvPr/>
        </p:nvSpPr>
        <p:spPr>
          <a:xfrm>
            <a:off x="9829800" y="1600200"/>
            <a:ext cx="1737360" cy="4160520"/>
          </a:xfrm>
          <a:prstGeom prst="rect">
            <a:avLst/>
          </a:prstGeom>
          <a:solidFill>
            <a:srgbClr val="000000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-114"/>
          <p:cNvSpPr txBox="1"/>
          <p:nvPr/>
        </p:nvSpPr>
        <p:spPr>
          <a:xfrm>
            <a:off x="100126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6</a:t>
            </a:r>
            <a:endParaRPr lang="en-US" sz="1000" dirty="0"/>
          </a:p>
        </p:txBody>
      </p:sp>
      <p:sp>
        <p:nvSpPr>
          <p:cNvPr id="36" name="text-115"/>
          <p:cNvSpPr txBox="1"/>
          <p:nvPr/>
        </p:nvSpPr>
        <p:spPr>
          <a:xfrm>
            <a:off x="1001268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엔딩</a:t>
            </a:r>
            <a:endParaRPr lang="en-US" sz="2200" dirty="0"/>
          </a:p>
        </p:txBody>
      </p:sp>
      <p:sp>
        <p:nvSpPr>
          <p:cNvPr id="37" name="text-116"/>
          <p:cNvSpPr txBox="1"/>
          <p:nvPr/>
        </p:nvSpPr>
        <p:spPr>
          <a:xfrm>
            <a:off x="100126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화면 · 자막</a:t>
            </a:r>
            <a:endParaRPr lang="en-US" sz="1100" dirty="0"/>
          </a:p>
        </p:txBody>
      </p:sp>
      <p:sp>
        <p:nvSpPr>
          <p:cNvPr id="38" name="text-117"/>
          <p:cNvSpPr txBox="1"/>
          <p:nvPr/>
        </p:nvSpPr>
        <p:spPr>
          <a:xfrm>
            <a:off x="100126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000" dirty="0"/>
          </a:p>
        </p:txBody>
      </p:sp>
      <p:sp>
        <p:nvSpPr>
          <p:cNvPr id="39" name="text-118"/>
          <p:cNvSpPr txBox="1"/>
          <p:nvPr/>
        </p:nvSpPr>
        <p:spPr>
          <a:xfrm>
            <a:off x="10012680" y="40690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메시지와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여운</a:t>
            </a:r>
            <a:endParaRPr lang="en-US" sz="1400" dirty="0"/>
          </a:p>
        </p:txBody>
      </p:sp>
      <p:sp>
        <p:nvSpPr>
          <p:cNvPr id="40" name="text-119"/>
          <p:cNvSpPr txBox="1"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장면의 빛과 시간대 변화를 통한 감정 흐름 설계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120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MOTIF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반복 모티프: 송골매와 눈동자</a:t>
            </a:r>
            <a:endParaRPr lang="en-US" sz="2800" dirty="0"/>
          </a:p>
        </p:txBody>
      </p:sp>
      <p:sp>
        <p:nvSpPr>
          <p:cNvPr id="4" name="frame-121"/>
          <p:cNvSpPr/>
          <p:nvPr/>
        </p:nvSpPr>
        <p:spPr>
          <a:xfrm>
            <a:off x="559816" y="1563624"/>
            <a:ext cx="3616960" cy="206654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g-s1-4-122" descr="s1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92" y="1600200"/>
            <a:ext cx="3543808" cy="1993392"/>
          </a:xfrm>
          <a:prstGeom prst="rect">
            <a:avLst/>
          </a:prstGeom>
        </p:spPr>
      </p:pic>
      <p:sp>
        <p:nvSpPr>
          <p:cNvPr id="6" name="text-123"/>
          <p:cNvSpPr txBox="1"/>
          <p:nvPr/>
        </p:nvSpPr>
        <p:spPr>
          <a:xfrm>
            <a:off x="594360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S1-C4</a:t>
            </a:r>
            <a:endParaRPr lang="en-US" sz="1100" dirty="0"/>
          </a:p>
        </p:txBody>
      </p:sp>
      <p:sp>
        <p:nvSpPr>
          <p:cNvPr id="7" name="text-124"/>
          <p:cNvSpPr txBox="1"/>
          <p:nvPr/>
        </p:nvSpPr>
        <p:spPr>
          <a:xfrm>
            <a:off x="594360" y="40050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소년의 눈동자 속 송골매</a:t>
            </a:r>
            <a:endParaRPr lang="en-US" sz="1200" dirty="0"/>
          </a:p>
        </p:txBody>
      </p:sp>
      <p:sp>
        <p:nvSpPr>
          <p:cNvPr id="8" name="frame-125"/>
          <p:cNvSpPr/>
          <p:nvPr/>
        </p:nvSpPr>
        <p:spPr>
          <a:xfrm>
            <a:off x="4272280" y="1563624"/>
            <a:ext cx="3616960" cy="206654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9" name="img-s2-4-126" descr="s2-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856" y="1600200"/>
            <a:ext cx="3543808" cy="1993392"/>
          </a:xfrm>
          <a:prstGeom prst="rect">
            <a:avLst/>
          </a:prstGeom>
        </p:spPr>
      </p:pic>
      <p:sp>
        <p:nvSpPr>
          <p:cNvPr id="10" name="text-127"/>
          <p:cNvSpPr txBox="1"/>
          <p:nvPr/>
        </p:nvSpPr>
        <p:spPr>
          <a:xfrm>
            <a:off x="4306824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S2-C4</a:t>
            </a:r>
            <a:endParaRPr lang="en-US" sz="1100" dirty="0"/>
          </a:p>
        </p:txBody>
      </p:sp>
      <p:sp>
        <p:nvSpPr>
          <p:cNvPr id="11" name="text-128"/>
          <p:cNvSpPr txBox="1"/>
          <p:nvPr/>
        </p:nvSpPr>
        <p:spPr>
          <a:xfrm>
            <a:off x="4306824" y="40050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중년의 강 작가가 다시 마주한 송골매</a:t>
            </a:r>
            <a:endParaRPr lang="en-US" sz="1200" dirty="0"/>
          </a:p>
        </p:txBody>
      </p:sp>
      <p:sp>
        <p:nvSpPr>
          <p:cNvPr id="12" name="frame-129"/>
          <p:cNvSpPr/>
          <p:nvPr/>
        </p:nvSpPr>
        <p:spPr>
          <a:xfrm>
            <a:off x="7984744" y="1563624"/>
            <a:ext cx="3616960" cy="206654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g-s1-5-130" descr="s1-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320" y="1600200"/>
            <a:ext cx="3543808" cy="1993392"/>
          </a:xfrm>
          <a:prstGeom prst="rect">
            <a:avLst/>
          </a:prstGeom>
        </p:spPr>
      </p:pic>
      <p:sp>
        <p:nvSpPr>
          <p:cNvPr id="14" name="text-131"/>
          <p:cNvSpPr txBox="1"/>
          <p:nvPr/>
        </p:nvSpPr>
        <p:spPr>
          <a:xfrm>
            <a:off x="8019288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S1-C5</a:t>
            </a:r>
            <a:endParaRPr lang="en-US" sz="1100" dirty="0"/>
          </a:p>
        </p:txBody>
      </p:sp>
      <p:sp>
        <p:nvSpPr>
          <p:cNvPr id="15" name="text-132"/>
          <p:cNvSpPr txBox="1"/>
          <p:nvPr/>
        </p:nvSpPr>
        <p:spPr>
          <a:xfrm>
            <a:off x="8019288" y="40050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송골매를 향해 두 팔을 벌린 소년</a:t>
            </a:r>
            <a:endParaRPr lang="en-US" sz="1200" dirty="0"/>
          </a:p>
        </p:txBody>
      </p:sp>
      <p:sp>
        <p:nvSpPr>
          <p:cNvPr id="16" name="dot-133"/>
          <p:cNvSpPr/>
          <p:nvPr/>
        </p:nvSpPr>
        <p:spPr>
          <a:xfrm>
            <a:off x="594360" y="4626864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-134"/>
          <p:cNvSpPr txBox="1"/>
          <p:nvPr/>
        </p:nvSpPr>
        <p:spPr>
          <a:xfrm>
            <a:off x="960120" y="4526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피사체의 반복</a:t>
            </a:r>
            <a:endParaRPr lang="en-US" sz="1300" dirty="0"/>
          </a:p>
        </p:txBody>
      </p:sp>
      <p:sp>
        <p:nvSpPr>
          <p:cNvPr id="18" name="text-135"/>
          <p:cNvSpPr txBox="1"/>
          <p:nvPr/>
        </p:nvSpPr>
        <p:spPr>
          <a:xfrm>
            <a:off x="3611880" y="45262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소년의 시선, S2 · S3 강 작가의 시선으로 이어지는 송골매</a:t>
            </a:r>
            <a:endParaRPr lang="en-US" sz="1300" dirty="0"/>
          </a:p>
        </p:txBody>
      </p:sp>
      <p:sp>
        <p:nvSpPr>
          <p:cNvPr id="19" name="dot-136"/>
          <p:cNvSpPr/>
          <p:nvPr/>
        </p:nvSpPr>
        <p:spPr>
          <a:xfrm>
            <a:off x="594360" y="519379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-137"/>
          <p:cNvSpPr txBox="1"/>
          <p:nvPr/>
        </p:nvSpPr>
        <p:spPr>
          <a:xfrm>
            <a:off x="960120" y="5093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눈동자 클로즈업의 반복</a:t>
            </a:r>
            <a:endParaRPr lang="en-US" sz="1300" dirty="0"/>
          </a:p>
        </p:txBody>
      </p:sp>
      <p:sp>
        <p:nvSpPr>
          <p:cNvPr id="21" name="text-138"/>
          <p:cNvSpPr txBox="1"/>
          <p:nvPr/>
        </p:nvSpPr>
        <p:spPr>
          <a:xfrm>
            <a:off x="3611880" y="50932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S1-C4, S2-C5, S3-C5 눈동자 속 송골매와 플래시백</a:t>
            </a:r>
            <a:endParaRPr lang="en-US" sz="1300" dirty="0"/>
          </a:p>
        </p:txBody>
      </p:sp>
      <p:sp>
        <p:nvSpPr>
          <p:cNvPr id="22" name="dot-139"/>
          <p:cNvSpPr/>
          <p:nvPr/>
        </p:nvSpPr>
        <p:spPr>
          <a:xfrm>
            <a:off x="594360" y="5760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-140"/>
          <p:cNvSpPr txBox="1"/>
          <p:nvPr/>
        </p:nvSpPr>
        <p:spPr>
          <a:xfrm>
            <a:off x="960120" y="56601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동작의 반복</a:t>
            </a:r>
            <a:endParaRPr lang="en-US" sz="1300" dirty="0"/>
          </a:p>
        </p:txBody>
      </p:sp>
      <p:sp>
        <p:nvSpPr>
          <p:cNvPr id="24" name="text-141"/>
          <p:cNvSpPr txBox="1"/>
          <p:nvPr/>
        </p:nvSpPr>
        <p:spPr>
          <a:xfrm>
            <a:off x="3611880" y="566013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S1-C5 소년과 S3-C6 강 작가의 두 팔 벌린 동작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142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빛의 연출: 석양, 한낮, 역광 노을</a:t>
            </a:r>
            <a:endParaRPr lang="en-US" sz="2800" dirty="0"/>
          </a:p>
        </p:txBody>
      </p:sp>
      <p:sp>
        <p:nvSpPr>
          <p:cNvPr id="4" name="frame-143"/>
          <p:cNvSpPr/>
          <p:nvPr/>
        </p:nvSpPr>
        <p:spPr>
          <a:xfrm>
            <a:off x="543495" y="1545336"/>
            <a:ext cx="3649603" cy="210312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img-s1-6-144" descr="s1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59" y="1600200"/>
            <a:ext cx="3539875" cy="1993392"/>
          </a:xfrm>
          <a:prstGeom prst="rect">
            <a:avLst/>
          </a:prstGeom>
        </p:spPr>
      </p:pic>
      <p:sp>
        <p:nvSpPr>
          <p:cNvPr id="6" name="tag-145"/>
          <p:cNvSpPr/>
          <p:nvPr/>
        </p:nvSpPr>
        <p:spPr>
          <a:xfrm>
            <a:off x="594360" y="3822192"/>
            <a:ext cx="12801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석양</a:t>
            </a:r>
            <a:endParaRPr lang="en-US" sz="1200" dirty="0"/>
          </a:p>
        </p:txBody>
      </p:sp>
      <p:sp>
        <p:nvSpPr>
          <p:cNvPr id="7" name="text-146"/>
          <p:cNvSpPr txBox="1"/>
          <p:nvPr/>
        </p:nvSpPr>
        <p:spPr>
          <a:xfrm>
            <a:off x="201168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S1-C6</a:t>
            </a:r>
            <a:endParaRPr lang="en-US" sz="1100" dirty="0"/>
          </a:p>
        </p:txBody>
      </p:sp>
      <p:sp>
        <p:nvSpPr>
          <p:cNvPr id="8" name="text-147"/>
          <p:cNvSpPr txBox="1"/>
          <p:nvPr/>
        </p:nvSpPr>
        <p:spPr>
          <a:xfrm>
            <a:off x="594360" y="43251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 속 소년의 실루엣, 사라지는 송골매</a:t>
            </a:r>
            <a:endParaRPr lang="en-US" sz="1200" dirty="0"/>
          </a:p>
        </p:txBody>
      </p:sp>
      <p:sp>
        <p:nvSpPr>
          <p:cNvPr id="9" name="frame-148"/>
          <p:cNvSpPr/>
          <p:nvPr/>
        </p:nvSpPr>
        <p:spPr>
          <a:xfrm>
            <a:off x="4253992" y="1545336"/>
            <a:ext cx="3653536" cy="210312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10" name="img-s2-3-149" descr="s2-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856" y="1600200"/>
            <a:ext cx="3543808" cy="1993392"/>
          </a:xfrm>
          <a:prstGeom prst="rect">
            <a:avLst/>
          </a:prstGeom>
        </p:spPr>
      </p:pic>
      <p:sp>
        <p:nvSpPr>
          <p:cNvPr id="11" name="tag-150"/>
          <p:cNvSpPr/>
          <p:nvPr/>
        </p:nvSpPr>
        <p:spPr>
          <a:xfrm>
            <a:off x="4306824" y="3822192"/>
            <a:ext cx="1280160" cy="3657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한낮</a:t>
            </a:r>
            <a:endParaRPr lang="en-US" sz="1200" dirty="0"/>
          </a:p>
        </p:txBody>
      </p:sp>
      <p:sp>
        <p:nvSpPr>
          <p:cNvPr id="12" name="text-151"/>
          <p:cNvSpPr txBox="1"/>
          <p:nvPr/>
        </p:nvSpPr>
        <p:spPr>
          <a:xfrm>
            <a:off x="5724144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S2-C3</a:t>
            </a:r>
            <a:endParaRPr lang="en-US" sz="1100" dirty="0"/>
          </a:p>
        </p:txBody>
      </p:sp>
      <p:sp>
        <p:nvSpPr>
          <p:cNvPr id="13" name="text-152"/>
          <p:cNvSpPr txBox="1"/>
          <p:nvPr/>
        </p:nvSpPr>
        <p:spPr>
          <a:xfrm>
            <a:off x="4306824" y="43251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창밖 하늘을 바라보는 강 작가의 일상</a:t>
            </a:r>
            <a:endParaRPr lang="en-US" sz="1200" dirty="0"/>
          </a:p>
        </p:txBody>
      </p:sp>
      <p:sp>
        <p:nvSpPr>
          <p:cNvPr id="14" name="frame-153"/>
          <p:cNvSpPr/>
          <p:nvPr/>
        </p:nvSpPr>
        <p:spPr>
          <a:xfrm>
            <a:off x="7966456" y="1545336"/>
            <a:ext cx="3653536" cy="210312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5" name="img-s3-2-154" descr="s3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320" y="1600200"/>
            <a:ext cx="3543808" cy="1993392"/>
          </a:xfrm>
          <a:prstGeom prst="rect">
            <a:avLst/>
          </a:prstGeom>
        </p:spPr>
      </p:pic>
      <p:sp>
        <p:nvSpPr>
          <p:cNvPr id="16" name="tag-155"/>
          <p:cNvSpPr/>
          <p:nvPr/>
        </p:nvSpPr>
        <p:spPr>
          <a:xfrm>
            <a:off x="8019288" y="3822192"/>
            <a:ext cx="12801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역광 노을</a:t>
            </a:r>
            <a:endParaRPr lang="en-US" sz="1200" dirty="0"/>
          </a:p>
        </p:txBody>
      </p:sp>
      <p:sp>
        <p:nvSpPr>
          <p:cNvPr id="17" name="text-156"/>
          <p:cNvSpPr txBox="1"/>
          <p:nvPr/>
        </p:nvSpPr>
        <p:spPr>
          <a:xfrm>
            <a:off x="9436608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S3-C2~C3</a:t>
            </a:r>
            <a:endParaRPr lang="en-US" sz="1100" dirty="0"/>
          </a:p>
        </p:txBody>
      </p:sp>
      <p:sp>
        <p:nvSpPr>
          <p:cNvPr id="18" name="text-157"/>
          <p:cNvSpPr txBox="1"/>
          <p:nvPr/>
        </p:nvSpPr>
        <p:spPr>
          <a:xfrm>
            <a:off x="8019288" y="43251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너머 쏟아지는 노을빛, 꿈의 각성</a:t>
            </a:r>
            <a:endParaRPr lang="en-US" sz="1200" dirty="0"/>
          </a:p>
        </p:txBody>
      </p:sp>
      <p:sp>
        <p:nvSpPr>
          <p:cNvPr id="19" name="text-158"/>
          <p:cNvSpPr txBox="1"/>
          <p:nvPr/>
        </p:nvSpPr>
        <p:spPr>
          <a:xfrm>
            <a:off x="59436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현재의 하늘과 과거의 하늘을 오버랩하여 시간의 연결감 강조</a:t>
            </a:r>
            <a:endParaRPr lang="en-US" sz="1400" dirty="0"/>
          </a:p>
        </p:txBody>
      </p:sp>
      <p:sp>
        <p:nvSpPr>
          <p:cNvPr id="20" name="text-159"/>
          <p:cNvSpPr txBox="1"/>
          <p:nvPr/>
        </p:nvSpPr>
        <p:spPr>
          <a:xfrm>
            <a:off x="59436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씬별 빛의 흐름</a:t>
            </a:r>
            <a:endParaRPr lang="en-US" sz="1100" dirty="0"/>
          </a:p>
        </p:txBody>
      </p:sp>
      <p:sp>
        <p:nvSpPr>
          <p:cNvPr id="21" name="light-flow-160"/>
          <p:cNvSpPr/>
          <p:nvPr/>
        </p:nvSpPr>
        <p:spPr>
          <a:xfrm>
            <a:off x="594360" y="5596128"/>
            <a:ext cx="1796796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석양</a:t>
            </a:r>
            <a:endParaRPr lang="en-US" sz="1200" dirty="0"/>
          </a:p>
        </p:txBody>
      </p:sp>
      <p:sp>
        <p:nvSpPr>
          <p:cNvPr id="22" name="light-flow-161"/>
          <p:cNvSpPr/>
          <p:nvPr/>
        </p:nvSpPr>
        <p:spPr>
          <a:xfrm>
            <a:off x="2427732" y="5596128"/>
            <a:ext cx="1796796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한낮</a:t>
            </a:r>
            <a:endParaRPr lang="en-US" sz="1200" dirty="0"/>
          </a:p>
        </p:txBody>
      </p:sp>
      <p:sp>
        <p:nvSpPr>
          <p:cNvPr id="23" name="light-flow-162"/>
          <p:cNvSpPr/>
          <p:nvPr/>
        </p:nvSpPr>
        <p:spPr>
          <a:xfrm>
            <a:off x="4261104" y="5596128"/>
            <a:ext cx="1796796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석양</a:t>
            </a:r>
            <a:endParaRPr lang="en-US" sz="1200" dirty="0"/>
          </a:p>
        </p:txBody>
      </p:sp>
      <p:sp>
        <p:nvSpPr>
          <p:cNvPr id="24" name="light-flow-163"/>
          <p:cNvSpPr/>
          <p:nvPr/>
        </p:nvSpPr>
        <p:spPr>
          <a:xfrm>
            <a:off x="6094476" y="5596128"/>
            <a:ext cx="1796796" cy="457200"/>
          </a:xfrm>
          <a:prstGeom prst="rect">
            <a:avLst/>
          </a:prstGeom>
          <a:solidFill>
            <a:srgbClr val="F6D5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환상</a:t>
            </a:r>
            <a:endParaRPr lang="en-US" sz="1200" dirty="0"/>
          </a:p>
        </p:txBody>
      </p:sp>
      <p:sp>
        <p:nvSpPr>
          <p:cNvPr id="25" name="light-flow-164"/>
          <p:cNvSpPr/>
          <p:nvPr/>
        </p:nvSpPr>
        <p:spPr>
          <a:xfrm>
            <a:off x="7927848" y="5596128"/>
            <a:ext cx="1796796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지는 해</a:t>
            </a:r>
            <a:endParaRPr lang="en-US" sz="1200" dirty="0"/>
          </a:p>
        </p:txBody>
      </p:sp>
      <p:sp>
        <p:nvSpPr>
          <p:cNvPr id="26" name="light-flow-165"/>
          <p:cNvSpPr/>
          <p:nvPr/>
        </p:nvSpPr>
        <p:spPr>
          <a:xfrm>
            <a:off x="9761220" y="5596128"/>
            <a:ext cx="1796796" cy="457200"/>
          </a:xfrm>
          <a:prstGeom prst="rect">
            <a:avLst/>
          </a:prstGeom>
          <a:solidFill>
            <a:srgbClr val="000000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검은 화면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166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1  어린 시절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옥상 / 석양</a:t>
            </a:r>
            <a:endParaRPr lang="en-US" sz="2800" dirty="0"/>
          </a:p>
        </p:txBody>
      </p:sp>
      <p:sp>
        <p:nvSpPr>
          <p:cNvPr id="4" name="frame-167"/>
          <p:cNvSpPr/>
          <p:nvPr/>
        </p:nvSpPr>
        <p:spPr>
          <a:xfrm>
            <a:off x="568960" y="14356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g-s1-1-168" descr="s1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92" y="1463040"/>
            <a:ext cx="3543808" cy="1993392"/>
          </a:xfrm>
          <a:prstGeom prst="rect">
            <a:avLst/>
          </a:prstGeom>
        </p:spPr>
      </p:pic>
      <p:sp>
        <p:nvSpPr>
          <p:cNvPr id="6" name="sb-caption-169"/>
          <p:cNvSpPr txBox="1"/>
          <p:nvPr/>
        </p:nvSpPr>
        <p:spPr>
          <a:xfrm>
            <a:off x="594360" y="35478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S1-C1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익스트림 롱샷 (부감)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1960년대 서울 골목, 연립주택 옥상의 노을과 빨래</a:t>
            </a:r>
            <a:endParaRPr lang="en-US" sz="1100" dirty="0"/>
          </a:p>
        </p:txBody>
      </p:sp>
      <p:sp>
        <p:nvSpPr>
          <p:cNvPr id="7" name="frame-170"/>
          <p:cNvSpPr/>
          <p:nvPr/>
        </p:nvSpPr>
        <p:spPr>
          <a:xfrm>
            <a:off x="4285353" y="1435608"/>
            <a:ext cx="3590814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8" name="img-s1-2-171" descr="s1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85" y="1463040"/>
            <a:ext cx="3535950" cy="1993392"/>
          </a:xfrm>
          <a:prstGeom prst="rect">
            <a:avLst/>
          </a:prstGeom>
        </p:spPr>
      </p:pic>
      <p:sp>
        <p:nvSpPr>
          <p:cNvPr id="9" name="sb-caption-172"/>
          <p:cNvSpPr txBox="1"/>
          <p:nvPr/>
        </p:nvSpPr>
        <p:spPr>
          <a:xfrm>
            <a:off x="4306824" y="35478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S1-C2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롱샷 (아이레벨)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난간에서 하늘을 바라보는 8살 소년</a:t>
            </a:r>
            <a:endParaRPr lang="en-US" sz="1100" dirty="0"/>
          </a:p>
        </p:txBody>
      </p:sp>
      <p:sp>
        <p:nvSpPr>
          <p:cNvPr id="10" name="frame-173"/>
          <p:cNvSpPr/>
          <p:nvPr/>
        </p:nvSpPr>
        <p:spPr>
          <a:xfrm>
            <a:off x="7991856" y="1438900"/>
            <a:ext cx="3602736" cy="2041672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1" name="img-s1-3-174" descr="s1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466332"/>
            <a:ext cx="3547872" cy="1986808"/>
          </a:xfrm>
          <a:prstGeom prst="rect">
            <a:avLst/>
          </a:prstGeom>
        </p:spPr>
      </p:pic>
      <p:sp>
        <p:nvSpPr>
          <p:cNvPr id="12" name="sb-caption-175"/>
          <p:cNvSpPr txBox="1"/>
          <p:nvPr/>
        </p:nvSpPr>
        <p:spPr>
          <a:xfrm>
            <a:off x="8019288" y="3544580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S1-C3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소년 시점 (POV)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 높이 원을 그리며 나는 송골매</a:t>
            </a:r>
            <a:endParaRPr lang="en-US" sz="1100" dirty="0"/>
          </a:p>
        </p:txBody>
      </p:sp>
      <p:sp>
        <p:nvSpPr>
          <p:cNvPr id="13" name="frame-176"/>
          <p:cNvSpPr/>
          <p:nvPr/>
        </p:nvSpPr>
        <p:spPr>
          <a:xfrm>
            <a:off x="568960" y="39502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4" name="img-s1-4-177" descr="s1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92" y="3977640"/>
            <a:ext cx="3543808" cy="1993392"/>
          </a:xfrm>
          <a:prstGeom prst="rect">
            <a:avLst/>
          </a:prstGeom>
        </p:spPr>
      </p:pic>
      <p:sp>
        <p:nvSpPr>
          <p:cNvPr id="15" name="sb-caption-178"/>
          <p:cNvSpPr txBox="1"/>
          <p:nvPr/>
        </p:nvSpPr>
        <p:spPr>
          <a:xfrm>
            <a:off x="594360" y="60624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S1-C4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눈동자에 선명하게 비친 송골매</a:t>
            </a:r>
            <a:endParaRPr lang="en-US" sz="1100" dirty="0"/>
          </a:p>
        </p:txBody>
      </p:sp>
      <p:sp>
        <p:nvSpPr>
          <p:cNvPr id="16" name="frame-179"/>
          <p:cNvSpPr/>
          <p:nvPr/>
        </p:nvSpPr>
        <p:spPr>
          <a:xfrm>
            <a:off x="4281424" y="39502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7" name="img-s1-5-180" descr="s1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856" y="3977640"/>
            <a:ext cx="3543808" cy="1993392"/>
          </a:xfrm>
          <a:prstGeom prst="rect">
            <a:avLst/>
          </a:prstGeom>
        </p:spPr>
      </p:pic>
      <p:sp>
        <p:nvSpPr>
          <p:cNvPr id="18" name="sb-caption-181"/>
          <p:cNvSpPr txBox="1"/>
          <p:nvPr/>
        </p:nvSpPr>
        <p:spPr>
          <a:xfrm>
            <a:off x="4306824" y="60624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S1-C5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미디엄, 로우앵글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팔을 벌린 소년 「나도.. 하늘을.. 날고 싶다」</a:t>
            </a:r>
            <a:endParaRPr lang="en-US" sz="1100" dirty="0"/>
          </a:p>
        </p:txBody>
      </p:sp>
      <p:sp>
        <p:nvSpPr>
          <p:cNvPr id="19" name="frame-182"/>
          <p:cNvSpPr/>
          <p:nvPr/>
        </p:nvSpPr>
        <p:spPr>
          <a:xfrm>
            <a:off x="7995855" y="3950208"/>
            <a:ext cx="3594739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g-s1-6-183" descr="s1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287" y="3977640"/>
            <a:ext cx="3539875" cy="1993392"/>
          </a:xfrm>
          <a:prstGeom prst="rect">
            <a:avLst/>
          </a:prstGeom>
        </p:spPr>
      </p:pic>
      <p:sp>
        <p:nvSpPr>
          <p:cNvPr id="21" name="sb-caption-184"/>
          <p:cNvSpPr txBox="1"/>
          <p:nvPr/>
        </p:nvSpPr>
        <p:spPr>
          <a:xfrm>
            <a:off x="8019288" y="60624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S1-C6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익스트림 롱샷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 속 소년과 사라지는 송골매, 디졸브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185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2  중년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화실 / 어느 오후</a:t>
            </a:r>
            <a:endParaRPr lang="en-US" sz="2800" dirty="0"/>
          </a:p>
        </p:txBody>
      </p:sp>
      <p:sp>
        <p:nvSpPr>
          <p:cNvPr id="4" name="frame-186"/>
          <p:cNvSpPr/>
          <p:nvPr/>
        </p:nvSpPr>
        <p:spPr>
          <a:xfrm>
            <a:off x="568960" y="14356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g-s2-1-187" descr="s2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92" y="1463040"/>
            <a:ext cx="3543808" cy="1993392"/>
          </a:xfrm>
          <a:prstGeom prst="rect">
            <a:avLst/>
          </a:prstGeom>
        </p:spPr>
      </p:pic>
      <p:sp>
        <p:nvSpPr>
          <p:cNvPr id="6" name="sb-caption-188"/>
          <p:cNvSpPr txBox="1"/>
          <p:nvPr/>
        </p:nvSpPr>
        <p:spPr>
          <a:xfrm>
            <a:off x="594360" y="35478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S2-C1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풀샷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햇살 드는 작은 화실에서 그림을 그리는 강 작가</a:t>
            </a:r>
            <a:endParaRPr lang="en-US" sz="1100" dirty="0"/>
          </a:p>
        </p:txBody>
      </p:sp>
      <p:sp>
        <p:nvSpPr>
          <p:cNvPr id="7" name="frame-189"/>
          <p:cNvSpPr/>
          <p:nvPr/>
        </p:nvSpPr>
        <p:spPr>
          <a:xfrm>
            <a:off x="4281424" y="14356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8" name="img-s2-2-190" descr="s2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856" y="1463040"/>
            <a:ext cx="3543808" cy="1993392"/>
          </a:xfrm>
          <a:prstGeom prst="rect">
            <a:avLst/>
          </a:prstGeom>
        </p:spPr>
      </p:pic>
      <p:sp>
        <p:nvSpPr>
          <p:cNvPr id="9" name="sb-caption-191"/>
          <p:cNvSpPr txBox="1"/>
          <p:nvPr/>
        </p:nvSpPr>
        <p:spPr>
          <a:xfrm>
            <a:off x="4306824" y="35478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S2-C2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얼음이 든 아이스커피를 드는 손</a:t>
            </a:r>
            <a:endParaRPr lang="en-US" sz="1100" dirty="0"/>
          </a:p>
        </p:txBody>
      </p:sp>
      <p:sp>
        <p:nvSpPr>
          <p:cNvPr id="10" name="frame-192"/>
          <p:cNvSpPr/>
          <p:nvPr/>
        </p:nvSpPr>
        <p:spPr>
          <a:xfrm>
            <a:off x="7993888" y="14356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1" name="img-s2-3-193" descr="s2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320" y="1463040"/>
            <a:ext cx="3543808" cy="1993392"/>
          </a:xfrm>
          <a:prstGeom prst="rect">
            <a:avLst/>
          </a:prstGeom>
        </p:spPr>
      </p:pic>
      <p:sp>
        <p:nvSpPr>
          <p:cNvPr id="12" name="sb-caption-194"/>
          <p:cNvSpPr txBox="1"/>
          <p:nvPr/>
        </p:nvSpPr>
        <p:spPr>
          <a:xfrm>
            <a:off x="8019288" y="35478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S2-C3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미디엄샷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마시며 무심코 창밖 하늘을 바라봄</a:t>
            </a:r>
            <a:endParaRPr lang="en-US" sz="1100" dirty="0"/>
          </a:p>
        </p:txBody>
      </p:sp>
      <p:sp>
        <p:nvSpPr>
          <p:cNvPr id="13" name="frame-195"/>
          <p:cNvSpPr/>
          <p:nvPr/>
        </p:nvSpPr>
        <p:spPr>
          <a:xfrm>
            <a:off x="568960" y="39502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4" name="img-s2-4-196" descr="s2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92" y="3977640"/>
            <a:ext cx="3543808" cy="1993392"/>
          </a:xfrm>
          <a:prstGeom prst="rect">
            <a:avLst/>
          </a:prstGeom>
        </p:spPr>
      </p:pic>
      <p:sp>
        <p:nvSpPr>
          <p:cNvPr id="15" name="sb-caption-197"/>
          <p:cNvSpPr txBox="1"/>
          <p:nvPr/>
        </p:nvSpPr>
        <p:spPr>
          <a:xfrm>
            <a:off x="594360" y="60624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S2-C4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(POV)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창밖 하늘을 원을 그리며 나는 송골매</a:t>
            </a:r>
            <a:endParaRPr lang="en-US" sz="1100" dirty="0"/>
          </a:p>
        </p:txBody>
      </p:sp>
      <p:sp>
        <p:nvSpPr>
          <p:cNvPr id="16" name="box-198"/>
          <p:cNvSpPr/>
          <p:nvPr/>
        </p:nvSpPr>
        <p:spPr>
          <a:xfrm>
            <a:off x="4306824" y="3977640"/>
            <a:ext cx="3547872" cy="1993392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199"/>
          <p:cNvSpPr txBox="1"/>
          <p:nvPr/>
        </p:nvSpPr>
        <p:spPr>
          <a:xfrm>
            <a:off x="4489704" y="41605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S2-C5</a:t>
            </a:r>
            <a:endParaRPr lang="en-US" sz="1100" dirty="0"/>
          </a:p>
        </p:txBody>
      </p:sp>
      <p:sp>
        <p:nvSpPr>
          <p:cNvPr id="18" name="text-200"/>
          <p:cNvSpPr txBox="1"/>
          <p:nvPr/>
        </p:nvSpPr>
        <p:spPr>
          <a:xfrm>
            <a:off x="4489704" y="44805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클로즈업</a:t>
            </a:r>
            <a:endParaRPr lang="en-US" sz="1200" dirty="0"/>
          </a:p>
        </p:txBody>
      </p:sp>
      <p:sp>
        <p:nvSpPr>
          <p:cNvPr id="19" name="text-201"/>
          <p:cNvSpPr txBox="1"/>
          <p:nvPr/>
        </p:nvSpPr>
        <p:spPr>
          <a:xfrm>
            <a:off x="4489704" y="4800600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작가의 눈동자 속 어린 시절 옥상 장면, 인서트 플래시백</a:t>
            </a:r>
            <a:endParaRPr lang="en-US" sz="1100" dirty="0"/>
          </a:p>
        </p:txBody>
      </p:sp>
      <p:sp>
        <p:nvSpPr>
          <p:cNvPr id="20" name="frame-202"/>
          <p:cNvSpPr/>
          <p:nvPr/>
        </p:nvSpPr>
        <p:spPr>
          <a:xfrm>
            <a:off x="7993888" y="3950208"/>
            <a:ext cx="3598672" cy="204825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1" name="img-s2-6-203" descr="s2-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320" y="3977640"/>
            <a:ext cx="3543808" cy="1993392"/>
          </a:xfrm>
          <a:prstGeom prst="rect">
            <a:avLst/>
          </a:prstGeom>
        </p:spPr>
      </p:pic>
      <p:sp>
        <p:nvSpPr>
          <p:cNvPr id="22" name="sb-caption-204"/>
          <p:cNvSpPr txBox="1"/>
          <p:nvPr/>
        </p:nvSpPr>
        <p:spPr>
          <a:xfrm>
            <a:off x="8019288" y="60624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S2-C6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미디엄샷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창밖에 시선을 둔 채 천천히 일어서는 강 작가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205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3  충동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하늘을 보다 / 석양</a:t>
            </a:r>
            <a:endParaRPr lang="en-US" sz="2800" dirty="0"/>
          </a:p>
        </p:txBody>
      </p:sp>
      <p:sp>
        <p:nvSpPr>
          <p:cNvPr id="4" name="frame-206"/>
          <p:cNvSpPr/>
          <p:nvPr/>
        </p:nvSpPr>
        <p:spPr>
          <a:xfrm>
            <a:off x="608005" y="1435608"/>
            <a:ext cx="5413390" cy="307238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g-s3-1-207" descr="s3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437" y="1463040"/>
            <a:ext cx="5358526" cy="3017520"/>
          </a:xfrm>
          <a:prstGeom prst="rect">
            <a:avLst/>
          </a:prstGeom>
        </p:spPr>
      </p:pic>
      <p:sp>
        <p:nvSpPr>
          <p:cNvPr id="6" name="sb-caption-208"/>
          <p:cNvSpPr txBox="1"/>
          <p:nvPr/>
        </p:nvSpPr>
        <p:spPr>
          <a:xfrm>
            <a:off x="594360" y="459028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S3-C1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미디엄샷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무언가에 홀린 듯 화실 문으로 향하는 강 작가</a:t>
            </a:r>
            <a:endParaRPr lang="en-US" sz="1100" dirty="0"/>
          </a:p>
        </p:txBody>
      </p:sp>
      <p:sp>
        <p:nvSpPr>
          <p:cNvPr id="7" name="frame-209"/>
          <p:cNvSpPr/>
          <p:nvPr/>
        </p:nvSpPr>
        <p:spPr>
          <a:xfrm>
            <a:off x="6164580" y="1435608"/>
            <a:ext cx="5419344" cy="3072384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8" name="img-s3-2-210" descr="s3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2" y="1463040"/>
            <a:ext cx="5364480" cy="3017520"/>
          </a:xfrm>
          <a:prstGeom prst="rect">
            <a:avLst/>
          </a:prstGeom>
        </p:spPr>
      </p:pic>
      <p:sp>
        <p:nvSpPr>
          <p:cNvPr id="9" name="sb-caption-211"/>
          <p:cNvSpPr txBox="1"/>
          <p:nvPr/>
        </p:nvSpPr>
        <p:spPr>
          <a:xfrm>
            <a:off x="6153912" y="459028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S3-C2~C3 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도어 클로즈업, 역광 롱샷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문을 열자 쏟아지는 노을빛과 길게 드리운 그림자</a:t>
            </a:r>
            <a:endParaRPr lang="en-US" sz="1100" dirty="0"/>
          </a:p>
        </p:txBody>
      </p:sp>
      <p:sp>
        <p:nvSpPr>
          <p:cNvPr id="10" name="box-212"/>
          <p:cNvSpPr/>
          <p:nvPr/>
        </p:nvSpPr>
        <p:spPr>
          <a:xfrm>
            <a:off x="594360" y="5212080"/>
            <a:ext cx="3630168" cy="10515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213"/>
          <p:cNvSpPr txBox="1"/>
          <p:nvPr/>
        </p:nvSpPr>
        <p:spPr>
          <a:xfrm>
            <a:off x="77724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S3-C4   롱샷</a:t>
            </a:r>
            <a:endParaRPr lang="en-US" sz="1100" dirty="0"/>
          </a:p>
        </p:txBody>
      </p:sp>
      <p:sp>
        <p:nvSpPr>
          <p:cNvPr id="12" name="text-214"/>
          <p:cNvSpPr txBox="1"/>
          <p:nvPr/>
        </p:nvSpPr>
        <p:spPr>
          <a:xfrm>
            <a:off x="777240" y="55961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원을 그리며 나는 송골매를 우두커니 서서 바라보는 강 작가</a:t>
            </a:r>
            <a:endParaRPr lang="en-US" sz="1050" dirty="0"/>
          </a:p>
        </p:txBody>
      </p:sp>
      <p:sp>
        <p:nvSpPr>
          <p:cNvPr id="13" name="box-215"/>
          <p:cNvSpPr/>
          <p:nvPr/>
        </p:nvSpPr>
        <p:spPr>
          <a:xfrm>
            <a:off x="4325112" y="5212080"/>
            <a:ext cx="3630168" cy="10515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-216"/>
          <p:cNvSpPr txBox="1"/>
          <p:nvPr/>
        </p:nvSpPr>
        <p:spPr>
          <a:xfrm>
            <a:off x="4507992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S3-C5   익스트림 클로즈업</a:t>
            </a:r>
            <a:endParaRPr lang="en-US" sz="1100" dirty="0"/>
          </a:p>
        </p:txBody>
      </p:sp>
      <p:sp>
        <p:nvSpPr>
          <p:cNvPr id="15" name="text-217"/>
          <p:cNvSpPr txBox="1"/>
          <p:nvPr/>
        </p:nvSpPr>
        <p:spPr>
          <a:xfrm>
            <a:off x="4507992" y="55961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눈동자 속으로 점점 다가오는 송골매</a:t>
            </a:r>
            <a:endParaRPr lang="en-US" sz="1050" dirty="0"/>
          </a:p>
        </p:txBody>
      </p:sp>
      <p:sp>
        <p:nvSpPr>
          <p:cNvPr id="16" name="box-218"/>
          <p:cNvSpPr/>
          <p:nvPr/>
        </p:nvSpPr>
        <p:spPr>
          <a:xfrm>
            <a:off x="8055864" y="5212080"/>
            <a:ext cx="3630168" cy="10515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219"/>
          <p:cNvSpPr txBox="1"/>
          <p:nvPr/>
        </p:nvSpPr>
        <p:spPr>
          <a:xfrm>
            <a:off x="8238744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S3-C6   미디엄샷</a:t>
            </a:r>
            <a:endParaRPr lang="en-US" sz="1100" dirty="0"/>
          </a:p>
        </p:txBody>
      </p:sp>
      <p:sp>
        <p:nvSpPr>
          <p:cNvPr id="18" name="text-220"/>
          <p:cNvSpPr txBox="1"/>
          <p:nvPr/>
        </p:nvSpPr>
        <p:spPr>
          <a:xfrm>
            <a:off x="8238744" y="55961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송골매가 나는 하늘로 두 팔을 뻗는 강 작가 「하늘을… 날고.. 싶다」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221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4  교감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클라이맥스 설계: 하나가 되는 순간</a:t>
            </a:r>
            <a:endParaRPr lang="en-US" sz="2800" dirty="0"/>
          </a:p>
        </p:txBody>
      </p:sp>
      <p:sp>
        <p:nvSpPr>
          <p:cNvPr id="4" name="venn-222"/>
          <p:cNvSpPr/>
          <p:nvPr/>
        </p:nvSpPr>
        <p:spPr>
          <a:xfrm>
            <a:off x="1143000" y="1965960"/>
            <a:ext cx="2468880" cy="246888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venn-223"/>
          <p:cNvSpPr/>
          <p:nvPr/>
        </p:nvSpPr>
        <p:spPr>
          <a:xfrm>
            <a:off x="2880360" y="1965960"/>
            <a:ext cx="2468880" cy="246888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venn-224"/>
          <p:cNvSpPr/>
          <p:nvPr/>
        </p:nvSpPr>
        <p:spPr>
          <a:xfrm>
            <a:off x="2011680" y="3383280"/>
            <a:ext cx="2468880" cy="2468880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225"/>
          <p:cNvSpPr txBox="1"/>
          <p:nvPr/>
        </p:nvSpPr>
        <p:spPr>
          <a:xfrm>
            <a:off x="10058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어린 소년</a:t>
            </a:r>
            <a:endParaRPr lang="en-US" sz="1500" dirty="0"/>
          </a:p>
        </p:txBody>
      </p:sp>
      <p:sp>
        <p:nvSpPr>
          <p:cNvPr id="8" name="text-226"/>
          <p:cNvSpPr txBox="1"/>
          <p:nvPr/>
        </p:nvSpPr>
        <p:spPr>
          <a:xfrm>
            <a:off x="402336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강 작가</a:t>
            </a:r>
            <a:endParaRPr lang="en-US" sz="1500" dirty="0"/>
          </a:p>
        </p:txBody>
      </p:sp>
      <p:sp>
        <p:nvSpPr>
          <p:cNvPr id="9" name="text-227"/>
          <p:cNvSpPr txBox="1"/>
          <p:nvPr/>
        </p:nvSpPr>
        <p:spPr>
          <a:xfrm>
            <a:off x="2514600" y="5166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송골매</a:t>
            </a:r>
            <a:endParaRPr lang="en-US" sz="1500" dirty="0"/>
          </a:p>
        </p:txBody>
      </p:sp>
      <p:sp>
        <p:nvSpPr>
          <p:cNvPr id="10" name="text-228"/>
          <p:cNvSpPr txBox="1"/>
          <p:nvPr/>
        </p:nvSpPr>
        <p:spPr>
          <a:xfrm>
            <a:off x="2697480" y="3429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하나의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존재</a:t>
            </a:r>
            <a:endParaRPr lang="en-US" sz="1400" dirty="0"/>
          </a:p>
        </p:txBody>
      </p:sp>
      <p:sp>
        <p:nvSpPr>
          <p:cNvPr id="11" name="box-229"/>
          <p:cNvSpPr/>
          <p:nvPr/>
        </p:nvSpPr>
        <p:spPr>
          <a:xfrm>
            <a:off x="6400800" y="1554480"/>
            <a:ext cx="5196535" cy="5120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-230"/>
          <p:cNvSpPr txBox="1"/>
          <p:nvPr/>
        </p:nvSpPr>
        <p:spPr>
          <a:xfrm>
            <a:off x="6583680" y="155448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S4-C1</a:t>
            </a:r>
            <a:endParaRPr lang="en-US" sz="1100" dirty="0"/>
          </a:p>
        </p:txBody>
      </p:sp>
      <p:sp>
        <p:nvSpPr>
          <p:cNvPr id="13" name="text-231"/>
          <p:cNvSpPr txBox="1"/>
          <p:nvPr/>
        </p:nvSpPr>
        <p:spPr>
          <a:xfrm>
            <a:off x="7360920" y="15544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</a:t>
            </a:r>
            <a:endParaRPr lang="en-US" sz="1100" dirty="0"/>
          </a:p>
        </p:txBody>
      </p:sp>
      <p:sp>
        <p:nvSpPr>
          <p:cNvPr id="14" name="text-232"/>
          <p:cNvSpPr txBox="1"/>
          <p:nvPr/>
        </p:nvSpPr>
        <p:spPr>
          <a:xfrm>
            <a:off x="8823960" y="1554480"/>
            <a:ext cx="2636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작가를 향해 다가오는 송골매</a:t>
            </a:r>
            <a:endParaRPr lang="en-US" sz="1100" dirty="0"/>
          </a:p>
        </p:txBody>
      </p:sp>
      <p:sp>
        <p:nvSpPr>
          <p:cNvPr id="15" name="box-233"/>
          <p:cNvSpPr/>
          <p:nvPr/>
        </p:nvSpPr>
        <p:spPr>
          <a:xfrm>
            <a:off x="6400800" y="2157984"/>
            <a:ext cx="5196535" cy="5120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-234"/>
          <p:cNvSpPr txBox="1"/>
          <p:nvPr/>
        </p:nvSpPr>
        <p:spPr>
          <a:xfrm>
            <a:off x="6583680" y="215798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S4-C2</a:t>
            </a:r>
            <a:endParaRPr lang="en-US" sz="1100" dirty="0"/>
          </a:p>
        </p:txBody>
      </p:sp>
      <p:sp>
        <p:nvSpPr>
          <p:cNvPr id="17" name="text-235"/>
          <p:cNvSpPr txBox="1"/>
          <p:nvPr/>
        </p:nvSpPr>
        <p:spPr>
          <a:xfrm>
            <a:off x="7360920" y="21579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클로즈업</a:t>
            </a:r>
            <a:endParaRPr lang="en-US" sz="1100" dirty="0"/>
          </a:p>
        </p:txBody>
      </p:sp>
      <p:sp>
        <p:nvSpPr>
          <p:cNvPr id="18" name="text-236"/>
          <p:cNvSpPr txBox="1"/>
          <p:nvPr/>
        </p:nvSpPr>
        <p:spPr>
          <a:xfrm>
            <a:off x="8823960" y="2157984"/>
            <a:ext cx="2636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눈과 송골매의 눈이 마주치는 찰나</a:t>
            </a:r>
            <a:endParaRPr lang="en-US" sz="1100" dirty="0"/>
          </a:p>
        </p:txBody>
      </p:sp>
      <p:sp>
        <p:nvSpPr>
          <p:cNvPr id="19" name="box-237"/>
          <p:cNvSpPr/>
          <p:nvPr/>
        </p:nvSpPr>
        <p:spPr>
          <a:xfrm>
            <a:off x="6400800" y="2761488"/>
            <a:ext cx="5196535" cy="5120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-238"/>
          <p:cNvSpPr txBox="1"/>
          <p:nvPr/>
        </p:nvSpPr>
        <p:spPr>
          <a:xfrm>
            <a:off x="6583680" y="276148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S4-C3</a:t>
            </a:r>
            <a:endParaRPr lang="en-US" sz="1100" dirty="0"/>
          </a:p>
        </p:txBody>
      </p:sp>
      <p:sp>
        <p:nvSpPr>
          <p:cNvPr id="21" name="text-239"/>
          <p:cNvSpPr txBox="1"/>
          <p:nvPr/>
        </p:nvSpPr>
        <p:spPr>
          <a:xfrm>
            <a:off x="7360920" y="276148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판타지 오버랩</a:t>
            </a:r>
            <a:endParaRPr lang="en-US" sz="1100" dirty="0"/>
          </a:p>
        </p:txBody>
      </p:sp>
      <p:sp>
        <p:nvSpPr>
          <p:cNvPr id="22" name="text-240"/>
          <p:cNvSpPr txBox="1"/>
          <p:nvPr/>
        </p:nvSpPr>
        <p:spPr>
          <a:xfrm>
            <a:off x="8823960" y="2761488"/>
            <a:ext cx="2636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소년 · 강 작가 · 송골매가 하나로 겹쳐짐</a:t>
            </a:r>
            <a:endParaRPr lang="en-US" sz="1100" dirty="0"/>
          </a:p>
        </p:txBody>
      </p:sp>
      <p:sp>
        <p:nvSpPr>
          <p:cNvPr id="23" name="box-241"/>
          <p:cNvSpPr/>
          <p:nvPr/>
        </p:nvSpPr>
        <p:spPr>
          <a:xfrm>
            <a:off x="6400800" y="3364992"/>
            <a:ext cx="5196535" cy="5120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4" name="text-242"/>
          <p:cNvSpPr txBox="1"/>
          <p:nvPr/>
        </p:nvSpPr>
        <p:spPr>
          <a:xfrm>
            <a:off x="6583680" y="336499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S4-C4</a:t>
            </a:r>
            <a:endParaRPr lang="en-US" sz="1100" dirty="0"/>
          </a:p>
        </p:txBody>
      </p:sp>
      <p:sp>
        <p:nvSpPr>
          <p:cNvPr id="25" name="text-243"/>
          <p:cNvSpPr txBox="1"/>
          <p:nvPr/>
        </p:nvSpPr>
        <p:spPr>
          <a:xfrm>
            <a:off x="7360920" y="33649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로우앵글, 부감</a:t>
            </a:r>
            <a:endParaRPr lang="en-US" sz="1100" dirty="0"/>
          </a:p>
        </p:txBody>
      </p:sp>
      <p:sp>
        <p:nvSpPr>
          <p:cNvPr id="26" name="text-244"/>
          <p:cNvSpPr txBox="1"/>
          <p:nvPr/>
        </p:nvSpPr>
        <p:spPr>
          <a:xfrm>
            <a:off x="8823960" y="3364992"/>
            <a:ext cx="2636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날개를 펼친 존재가 옥상에서 떠오름</a:t>
            </a:r>
            <a:endParaRPr lang="en-US" sz="1100" dirty="0"/>
          </a:p>
        </p:txBody>
      </p:sp>
      <p:sp>
        <p:nvSpPr>
          <p:cNvPr id="27" name="box-245"/>
          <p:cNvSpPr/>
          <p:nvPr/>
        </p:nvSpPr>
        <p:spPr>
          <a:xfrm>
            <a:off x="6400800" y="3968496"/>
            <a:ext cx="5196535" cy="5120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8" name="text-246"/>
          <p:cNvSpPr txBox="1"/>
          <p:nvPr/>
        </p:nvSpPr>
        <p:spPr>
          <a:xfrm>
            <a:off x="6583680" y="396849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S4-C5</a:t>
            </a:r>
            <a:endParaRPr lang="en-US" sz="1100" dirty="0"/>
          </a:p>
        </p:txBody>
      </p:sp>
      <p:sp>
        <p:nvSpPr>
          <p:cNvPr id="29" name="text-247"/>
          <p:cNvSpPr txBox="1"/>
          <p:nvPr/>
        </p:nvSpPr>
        <p:spPr>
          <a:xfrm>
            <a:off x="7360920" y="39684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롱샷 트래킹</a:t>
            </a:r>
            <a:endParaRPr lang="en-US" sz="1100" dirty="0"/>
          </a:p>
        </p:txBody>
      </p:sp>
      <p:sp>
        <p:nvSpPr>
          <p:cNvPr id="30" name="text-248"/>
          <p:cNvSpPr txBox="1"/>
          <p:nvPr/>
        </p:nvSpPr>
        <p:spPr>
          <a:xfrm>
            <a:off x="8823960" y="3968496"/>
            <a:ext cx="2636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 사이 비행, 아래로 펼쳐지는 도시</a:t>
            </a:r>
            <a:endParaRPr lang="en-US" sz="1100" dirty="0"/>
          </a:p>
        </p:txBody>
      </p:sp>
      <p:sp>
        <p:nvSpPr>
          <p:cNvPr id="31" name="box-249"/>
          <p:cNvSpPr/>
          <p:nvPr/>
        </p:nvSpPr>
        <p:spPr>
          <a:xfrm>
            <a:off x="6400800" y="4572000"/>
            <a:ext cx="5196535" cy="5120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2" name="text-250"/>
          <p:cNvSpPr txBox="1"/>
          <p:nvPr/>
        </p:nvSpPr>
        <p:spPr>
          <a:xfrm>
            <a:off x="6583680" y="457200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S4-C6</a:t>
            </a:r>
            <a:endParaRPr lang="en-US" sz="1100" dirty="0"/>
          </a:p>
        </p:txBody>
      </p:sp>
      <p:sp>
        <p:nvSpPr>
          <p:cNvPr id="33" name="text-251"/>
          <p:cNvSpPr txBox="1"/>
          <p:nvPr/>
        </p:nvSpPr>
        <p:spPr>
          <a:xfrm>
            <a:off x="7360920" y="45720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샷 (POV)</a:t>
            </a:r>
            <a:endParaRPr lang="en-US" sz="1100" dirty="0"/>
          </a:p>
        </p:txBody>
      </p:sp>
      <p:sp>
        <p:nvSpPr>
          <p:cNvPr id="34" name="text-252"/>
          <p:cNvSpPr txBox="1"/>
          <p:nvPr/>
        </p:nvSpPr>
        <p:spPr>
          <a:xfrm>
            <a:off x="8823960" y="4572000"/>
            <a:ext cx="2636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석양빛이 날개에 비치는 해방감</a:t>
            </a:r>
            <a:endParaRPr lang="en-US" sz="1100" dirty="0"/>
          </a:p>
        </p:txBody>
      </p:sp>
      <p:sp>
        <p:nvSpPr>
          <p:cNvPr id="35" name="text-253"/>
          <p:cNvSpPr txBox="1"/>
          <p:nvPr/>
        </p:nvSpPr>
        <p:spPr>
          <a:xfrm>
            <a:off x="6400800" y="5303520"/>
            <a:ext cx="5196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이미지와 영상 보간 작업을 집중 투입하는 작품의 클라이맥스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254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5 · 6  각성과 엔딩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호접지몽, 그리고 검은 화면의 자막</a:t>
            </a:r>
            <a:endParaRPr lang="en-US" sz="2800" dirty="0"/>
          </a:p>
        </p:txBody>
      </p:sp>
      <p:sp>
        <p:nvSpPr>
          <p:cNvPr id="4" name="box-255"/>
          <p:cNvSpPr/>
          <p:nvPr/>
        </p:nvSpPr>
        <p:spPr>
          <a:xfrm>
            <a:off x="594360" y="1554480"/>
            <a:ext cx="5120640" cy="4663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-256"/>
          <p:cNvSpPr txBox="1"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5  각성 / 지는 해</a:t>
            </a:r>
            <a:endParaRPr lang="en-US" sz="1200" dirty="0"/>
          </a:p>
        </p:txBody>
      </p:sp>
      <p:sp>
        <p:nvSpPr>
          <p:cNvPr id="6" name="s5-257"/>
          <p:cNvSpPr txBox="1"/>
          <p:nvPr/>
        </p:nvSpPr>
        <p:spPr>
          <a:xfrm>
            <a:off x="868680" y="21945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빛이 옅어지며 흩어지는 비행의 존재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소년 · 강 작가 · 송골매 셋으로 분리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옥상에 홀로 남은 강 작가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석양 속으로 멀어지는 송골매의 실루엣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아쉬움과 미소가 함께 담긴 클로즈업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바람에 옷자락이 흔들리는 역광 뒷모습</a:t>
            </a:r>
            <a:endParaRPr lang="en-US" sz="1200" dirty="0"/>
          </a:p>
        </p:txBody>
      </p:sp>
      <p:sp>
        <p:nvSpPr>
          <p:cNvPr id="7" name="text-258"/>
          <p:cNvSpPr txBox="1"/>
          <p:nvPr/>
        </p:nvSpPr>
        <p:spPr>
          <a:xfrm>
            <a:off x="8686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여운의 화면으로 마무리</a:t>
            </a:r>
            <a:endParaRPr lang="en-US" sz="1300" dirty="0"/>
          </a:p>
        </p:txBody>
      </p:sp>
      <p:sp>
        <p:nvSpPr>
          <p:cNvPr id="8" name="box-259"/>
          <p:cNvSpPr/>
          <p:nvPr/>
        </p:nvSpPr>
        <p:spPr>
          <a:xfrm>
            <a:off x="5989320" y="1554480"/>
            <a:ext cx="5608015" cy="4663440"/>
          </a:xfrm>
          <a:prstGeom prst="rect">
            <a:avLst/>
          </a:prstGeom>
          <a:solidFill>
            <a:srgbClr val="000000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260"/>
          <p:cNvSpPr txBox="1"/>
          <p:nvPr/>
        </p:nvSpPr>
        <p:spPr>
          <a:xfrm>
            <a:off x="6309360" y="1737360"/>
            <a:ext cx="4967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SCENE 6  엔딩 / 검은 화면에 자막</a:t>
            </a:r>
            <a:endParaRPr lang="en-US" sz="1200" dirty="0"/>
          </a:p>
        </p:txBody>
      </p:sp>
      <p:sp>
        <p:nvSpPr>
          <p:cNvPr id="10" name="text-261"/>
          <p:cNvSpPr txBox="1"/>
          <p:nvPr/>
        </p:nvSpPr>
        <p:spPr>
          <a:xfrm>
            <a:off x="6309360" y="2240280"/>
            <a:ext cx="49679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하늘을 날고 싶던 동심은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상상 속에 추억의 한 조각으로 남고,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간절함은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꿈을 이루어지게 한다는 것을,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이 시대를 살아가는 나에게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희망의 메시지로 전해준다.</a:t>
            </a:r>
            <a:endParaRPr lang="en-US" sz="1500" dirty="0"/>
          </a:p>
        </p:txBody>
      </p:sp>
      <p:sp>
        <p:nvSpPr>
          <p:cNvPr id="11" name="text-262"/>
          <p:cNvSpPr txBox="1"/>
          <p:nvPr/>
        </p:nvSpPr>
        <p:spPr>
          <a:xfrm>
            <a:off x="6309360" y="562356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타자기 소리와 함께 한 자씩 쳐지는 흰 자막, 페이드아웃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263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제작 공정</a:t>
            </a:r>
            <a:endParaRPr lang="en-US" sz="2800" dirty="0"/>
          </a:p>
        </p:txBody>
      </p:sp>
      <p:sp>
        <p:nvSpPr>
          <p:cNvPr id="4" name="box-264"/>
          <p:cNvSpPr/>
          <p:nvPr/>
        </p:nvSpPr>
        <p:spPr>
          <a:xfrm>
            <a:off x="594360" y="1600200"/>
            <a:ext cx="261518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5" name="text-265"/>
          <p:cNvSpPr txBox="1"/>
          <p:nvPr/>
        </p:nvSpPr>
        <p:spPr>
          <a:xfrm>
            <a:off x="86868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-266"/>
          <p:cNvSpPr txBox="1"/>
          <p:nvPr/>
        </p:nvSpPr>
        <p:spPr>
          <a:xfrm>
            <a:off x="868680" y="24688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스틸컷 생성</a:t>
            </a:r>
            <a:endParaRPr lang="en-US" sz="1500" dirty="0"/>
          </a:p>
        </p:txBody>
      </p:sp>
      <p:sp>
        <p:nvSpPr>
          <p:cNvPr id="7" name="text-267"/>
          <p:cNvSpPr txBox="1"/>
          <p:nvPr/>
        </p:nvSpPr>
        <p:spPr>
          <a:xfrm>
            <a:off x="868680" y="292608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컷별 구도와 지문 기반의 장면 이미지 생성</a:t>
            </a:r>
            <a:endParaRPr lang="en-US" sz="1200" dirty="0"/>
          </a:p>
        </p:txBody>
      </p:sp>
      <p:sp>
        <p:nvSpPr>
          <p:cNvPr id="8" name="text-268"/>
          <p:cNvSpPr txBox="1"/>
          <p:nvPr/>
        </p:nvSpPr>
        <p:spPr>
          <a:xfrm>
            <a:off x="868680" y="3977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100" dirty="0"/>
          </a:p>
        </p:txBody>
      </p:sp>
      <p:sp>
        <p:nvSpPr>
          <p:cNvPr id="9" name="box-269"/>
          <p:cNvSpPr/>
          <p:nvPr/>
        </p:nvSpPr>
        <p:spPr>
          <a:xfrm>
            <a:off x="3392424" y="1600200"/>
            <a:ext cx="261518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10" name="text-270"/>
          <p:cNvSpPr txBox="1"/>
          <p:nvPr/>
        </p:nvSpPr>
        <p:spPr>
          <a:xfrm>
            <a:off x="3666744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-271"/>
          <p:cNvSpPr txBox="1"/>
          <p:nvPr/>
        </p:nvSpPr>
        <p:spPr>
          <a:xfrm>
            <a:off x="3666744" y="24688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컷별 이미지 통일</a:t>
            </a:r>
            <a:endParaRPr lang="en-US" sz="1500" dirty="0"/>
          </a:p>
        </p:txBody>
      </p:sp>
      <p:sp>
        <p:nvSpPr>
          <p:cNvPr id="12" name="text-272"/>
          <p:cNvSpPr txBox="1"/>
          <p:nvPr/>
        </p:nvSpPr>
        <p:spPr>
          <a:xfrm>
            <a:off x="3666744" y="292608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시트와 배경 시트를 기준으로 인물 · 공간 일관성 유지</a:t>
            </a:r>
            <a:endParaRPr lang="en-US" sz="1200" dirty="0"/>
          </a:p>
        </p:txBody>
      </p:sp>
      <p:sp>
        <p:nvSpPr>
          <p:cNvPr id="13" name="text-273"/>
          <p:cNvSpPr txBox="1"/>
          <p:nvPr/>
        </p:nvSpPr>
        <p:spPr>
          <a:xfrm>
            <a:off x="3666744" y="3977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100" dirty="0"/>
          </a:p>
        </p:txBody>
      </p:sp>
      <p:sp>
        <p:nvSpPr>
          <p:cNvPr id="14" name="box-274"/>
          <p:cNvSpPr/>
          <p:nvPr/>
        </p:nvSpPr>
        <p:spPr>
          <a:xfrm>
            <a:off x="6190488" y="1600200"/>
            <a:ext cx="261518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15" name="text-275"/>
          <p:cNvSpPr txBox="1"/>
          <p:nvPr/>
        </p:nvSpPr>
        <p:spPr>
          <a:xfrm>
            <a:off x="646480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-276"/>
          <p:cNvSpPr txBox="1"/>
          <p:nvPr/>
        </p:nvSpPr>
        <p:spPr>
          <a:xfrm>
            <a:off x="6464808" y="24688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영상화</a:t>
            </a:r>
            <a:endParaRPr lang="en-US" sz="1500" dirty="0"/>
          </a:p>
        </p:txBody>
      </p:sp>
      <p:sp>
        <p:nvSpPr>
          <p:cNvPr id="17" name="text-277"/>
          <p:cNvSpPr txBox="1"/>
          <p:nvPr/>
        </p:nvSpPr>
        <p:spPr>
          <a:xfrm>
            <a:off x="6464808" y="292608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스틸컷에 카메라 움직임과 동작 부여</a:t>
            </a:r>
            <a:endParaRPr lang="en-US" sz="1200" dirty="0"/>
          </a:p>
        </p:txBody>
      </p:sp>
      <p:sp>
        <p:nvSpPr>
          <p:cNvPr id="18" name="text-278"/>
          <p:cNvSpPr txBox="1"/>
          <p:nvPr/>
        </p:nvSpPr>
        <p:spPr>
          <a:xfrm>
            <a:off x="6464808" y="3977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100" dirty="0"/>
          </a:p>
        </p:txBody>
      </p:sp>
      <p:sp>
        <p:nvSpPr>
          <p:cNvPr id="19" name="box-279"/>
          <p:cNvSpPr/>
          <p:nvPr/>
        </p:nvSpPr>
        <p:spPr>
          <a:xfrm>
            <a:off x="8988552" y="1600200"/>
            <a:ext cx="261518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sp>
        <p:nvSpPr>
          <p:cNvPr id="20" name="text-280"/>
          <p:cNvSpPr txBox="1"/>
          <p:nvPr/>
        </p:nvSpPr>
        <p:spPr>
          <a:xfrm>
            <a:off x="9262872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-281"/>
          <p:cNvSpPr txBox="1"/>
          <p:nvPr/>
        </p:nvSpPr>
        <p:spPr>
          <a:xfrm>
            <a:off x="9262872" y="24688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사운드</a:t>
            </a:r>
            <a:endParaRPr lang="en-US" sz="1500" dirty="0"/>
          </a:p>
        </p:txBody>
      </p:sp>
      <p:sp>
        <p:nvSpPr>
          <p:cNvPr id="22" name="text-282"/>
          <p:cNvSpPr txBox="1"/>
          <p:nvPr/>
        </p:nvSpPr>
        <p:spPr>
          <a:xfrm>
            <a:off x="9262872" y="292608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디졸브 · 오버랩 전환, 효과음과 BGM 설계</a:t>
            </a:r>
            <a:endParaRPr lang="en-US" sz="1200" dirty="0"/>
          </a:p>
        </p:txBody>
      </p:sp>
      <p:sp>
        <p:nvSpPr>
          <p:cNvPr id="23" name="text-283"/>
          <p:cNvSpPr txBox="1"/>
          <p:nvPr/>
        </p:nvSpPr>
        <p:spPr>
          <a:xfrm>
            <a:off x="9262872" y="3977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100" dirty="0"/>
          </a:p>
        </p:txBody>
      </p:sp>
      <p:sp>
        <p:nvSpPr>
          <p:cNvPr id="24" name="frame-284"/>
          <p:cNvSpPr/>
          <p:nvPr/>
        </p:nvSpPr>
        <p:spPr>
          <a:xfrm>
            <a:off x="1529312" y="4617720"/>
            <a:ext cx="1760263" cy="1417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g-char_kang-285" descr="char_k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032" y="4663440"/>
            <a:ext cx="1668823" cy="1325880"/>
          </a:xfrm>
          <a:prstGeom prst="rect">
            <a:avLst/>
          </a:prstGeom>
        </p:spPr>
      </p:pic>
      <p:sp>
        <p:nvSpPr>
          <p:cNvPr id="26" name="text-286"/>
          <p:cNvSpPr txBox="1"/>
          <p:nvPr/>
        </p:nvSpPr>
        <p:spPr>
          <a:xfrm>
            <a:off x="1575032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</a:t>
            </a:r>
            <a:endParaRPr lang="en-US" sz="1000" dirty="0"/>
          </a:p>
        </p:txBody>
      </p:sp>
      <p:sp>
        <p:nvSpPr>
          <p:cNvPr id="27" name="frame-287"/>
          <p:cNvSpPr/>
          <p:nvPr/>
        </p:nvSpPr>
        <p:spPr>
          <a:xfrm>
            <a:off x="4915916" y="4617720"/>
            <a:ext cx="2448560" cy="1417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g-bg_studio-288" descr="bg_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636" y="4663440"/>
            <a:ext cx="2357120" cy="1325880"/>
          </a:xfrm>
          <a:prstGeom prst="rect">
            <a:avLst/>
          </a:prstGeom>
        </p:spPr>
      </p:pic>
      <p:sp>
        <p:nvSpPr>
          <p:cNvPr id="29" name="text-289"/>
          <p:cNvSpPr txBox="1"/>
          <p:nvPr/>
        </p:nvSpPr>
        <p:spPr>
          <a:xfrm>
            <a:off x="4961636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시트</a:t>
            </a:r>
            <a:endParaRPr lang="en-US" sz="1000" dirty="0"/>
          </a:p>
        </p:txBody>
      </p:sp>
      <p:sp>
        <p:nvSpPr>
          <p:cNvPr id="30" name="frame-290"/>
          <p:cNvSpPr/>
          <p:nvPr/>
        </p:nvSpPr>
        <p:spPr>
          <a:xfrm>
            <a:off x="8646668" y="4617720"/>
            <a:ext cx="2448560" cy="1417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g-s2-6-291" descr="s2-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388" y="4663440"/>
            <a:ext cx="2357120" cy="1325880"/>
          </a:xfrm>
          <a:prstGeom prst="rect">
            <a:avLst/>
          </a:prstGeom>
        </p:spPr>
      </p:pic>
      <p:sp>
        <p:nvSpPr>
          <p:cNvPr id="32" name="text-292"/>
          <p:cNvSpPr txBox="1"/>
          <p:nvPr/>
        </p:nvSpPr>
        <p:spPr>
          <a:xfrm>
            <a:off x="8692388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293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영상 결과물: 상상 속의 하늘을 날다 #1</a:t>
            </a:r>
            <a:endParaRPr lang="en-US" sz="2800" dirty="0"/>
          </a:p>
        </p:txBody>
      </p:sp>
      <p:sp>
        <p:nvSpPr>
          <p:cNvPr id="4" name="frame-294"/>
          <p:cNvSpPr/>
          <p:nvPr/>
        </p:nvSpPr>
        <p:spPr>
          <a:xfrm>
            <a:off x="551688" y="1508760"/>
            <a:ext cx="7309104" cy="4151376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g-poster_film-295" descr="영상 대표 이미지 (클릭 시 영상 재생)">
            <a:hlinkClick r:id="rId2" tooltip="영상 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408" y="1554480"/>
            <a:ext cx="7217664" cy="4059936"/>
          </a:xfrm>
          <a:prstGeom prst="rect">
            <a:avLst/>
          </a:prstGeom>
        </p:spPr>
      </p:pic>
      <p:sp>
        <p:nvSpPr>
          <p:cNvPr id="6" name="text-296"/>
          <p:cNvSpPr txBox="1"/>
          <p:nvPr/>
        </p:nvSpPr>
        <p:spPr>
          <a:xfrm>
            <a:off x="594360" y="5751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클릭 시 영상 재생 (Google Drive) / 대표 이미지: S1-C4</a:t>
            </a:r>
            <a:endParaRPr lang="en-US" sz="1000" dirty="0"/>
          </a:p>
        </p:txBody>
      </p:sp>
      <p:sp>
        <p:nvSpPr>
          <p:cNvPr id="7" name="box-297"/>
          <p:cNvSpPr/>
          <p:nvPr/>
        </p:nvSpPr>
        <p:spPr>
          <a:xfrm>
            <a:off x="8092440" y="1554480"/>
            <a:ext cx="3504895" cy="405993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-298"/>
          <p:cNvSpPr txBox="1"/>
          <p:nvPr/>
        </p:nvSpPr>
        <p:spPr>
          <a:xfrm>
            <a:off x="8366760" y="178308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100" dirty="0"/>
          </a:p>
        </p:txBody>
      </p:sp>
      <p:sp>
        <p:nvSpPr>
          <p:cNvPr id="9" name="text-299"/>
          <p:cNvSpPr txBox="1"/>
          <p:nvPr/>
        </p:nvSpPr>
        <p:spPr>
          <a:xfrm>
            <a:off x="8366760" y="2084832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상상 속의 하늘을 날다-#1</a:t>
            </a:r>
            <a:endParaRPr lang="en-US" sz="1300" dirty="0"/>
          </a:p>
        </p:txBody>
      </p:sp>
      <p:sp>
        <p:nvSpPr>
          <p:cNvPr id="10" name="text-300"/>
          <p:cNvSpPr txBox="1"/>
          <p:nvPr/>
        </p:nvSpPr>
        <p:spPr>
          <a:xfrm>
            <a:off x="8366760" y="2679192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규격</a:t>
            </a:r>
            <a:endParaRPr lang="en-US" sz="1100" dirty="0"/>
          </a:p>
        </p:txBody>
      </p:sp>
      <p:sp>
        <p:nvSpPr>
          <p:cNvPr id="11" name="text-301"/>
          <p:cNvSpPr txBox="1"/>
          <p:nvPr/>
        </p:nvSpPr>
        <p:spPr>
          <a:xfrm>
            <a:off x="8366760" y="2980944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 FHD · 24fps (시나리오 기준)</a:t>
            </a:r>
            <a:endParaRPr lang="en-US" sz="1300" dirty="0"/>
          </a:p>
        </p:txBody>
      </p:sp>
      <p:sp>
        <p:nvSpPr>
          <p:cNvPr id="12" name="text-302"/>
          <p:cNvSpPr txBox="1"/>
          <p:nvPr/>
        </p:nvSpPr>
        <p:spPr>
          <a:xfrm>
            <a:off x="8366760" y="3575304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길이</a:t>
            </a:r>
            <a:endParaRPr lang="en-US" sz="1100" dirty="0"/>
          </a:p>
        </p:txBody>
      </p:sp>
      <p:sp>
        <p:nvSpPr>
          <p:cNvPr id="13" name="text-303"/>
          <p:cNvSpPr txBox="1"/>
          <p:nvPr/>
        </p:nvSpPr>
        <p:spPr>
          <a:xfrm>
            <a:off x="8366760" y="3877056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300" dirty="0"/>
          </a:p>
        </p:txBody>
      </p:sp>
      <p:sp>
        <p:nvSpPr>
          <p:cNvPr id="14" name="text-304"/>
          <p:cNvSpPr txBox="1"/>
          <p:nvPr/>
        </p:nvSpPr>
        <p:spPr>
          <a:xfrm>
            <a:off x="8366760" y="44714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 범위</a:t>
            </a:r>
            <a:endParaRPr lang="en-US" sz="1100" dirty="0"/>
          </a:p>
        </p:txBody>
      </p:sp>
      <p:sp>
        <p:nvSpPr>
          <p:cNvPr id="15" name="text-305"/>
          <p:cNvSpPr txBox="1"/>
          <p:nvPr/>
        </p:nvSpPr>
        <p:spPr>
          <a:xfrm>
            <a:off x="8366760" y="4773168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300" dirty="0"/>
          </a:p>
        </p:txBody>
      </p:sp>
      <p:sp>
        <p:nvSpPr>
          <p:cNvPr id="16" name="link-306"/>
          <p:cNvSpPr txBox="1"/>
          <p:nvPr/>
        </p:nvSpPr>
        <p:spPr>
          <a:xfrm>
            <a:off x="8092440" y="58064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https://drive.google.com/file/d/156VyLgx8t4YyaAT5u1FqRg_KaATZ55XH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307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 IP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캐릭터 IP: 야구 소년 이모티콘</a:t>
            </a:r>
            <a:endParaRPr lang="en-US" sz="2800" dirty="0"/>
          </a:p>
        </p:txBody>
      </p:sp>
      <p:sp>
        <p:nvSpPr>
          <p:cNvPr id="4" name="box-308"/>
          <p:cNvSpPr/>
          <p:nvPr/>
        </p:nvSpPr>
        <p:spPr>
          <a:xfrm>
            <a:off x="594360" y="1600200"/>
            <a:ext cx="153619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5" name="img-emo_타자-309" descr="emo_타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15839"/>
            <a:ext cx="1316736" cy="1763281"/>
          </a:xfrm>
          <a:prstGeom prst="rect">
            <a:avLst/>
          </a:prstGeom>
        </p:spPr>
      </p:pic>
      <p:sp>
        <p:nvSpPr>
          <p:cNvPr id="6" name="text-310"/>
          <p:cNvSpPr txBox="1"/>
          <p:nvPr/>
        </p:nvSpPr>
        <p:spPr>
          <a:xfrm>
            <a:off x="594360" y="373075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타자</a:t>
            </a:r>
            <a:endParaRPr lang="en-US" sz="1300" dirty="0"/>
          </a:p>
        </p:txBody>
      </p:sp>
      <p:sp>
        <p:nvSpPr>
          <p:cNvPr id="7" name="box-311"/>
          <p:cNvSpPr/>
          <p:nvPr/>
        </p:nvSpPr>
        <p:spPr>
          <a:xfrm>
            <a:off x="2267712" y="1600200"/>
            <a:ext cx="153619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8" name="img-emo_투수-312" descr="emo_투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787034"/>
            <a:ext cx="1316736" cy="1820892"/>
          </a:xfrm>
          <a:prstGeom prst="rect">
            <a:avLst/>
          </a:prstGeom>
        </p:spPr>
      </p:pic>
      <p:sp>
        <p:nvSpPr>
          <p:cNvPr id="9" name="text-313"/>
          <p:cNvSpPr txBox="1"/>
          <p:nvPr/>
        </p:nvSpPr>
        <p:spPr>
          <a:xfrm>
            <a:off x="2267712" y="373075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투수</a:t>
            </a:r>
            <a:endParaRPr lang="en-US" sz="1300" dirty="0"/>
          </a:p>
        </p:txBody>
      </p:sp>
      <p:sp>
        <p:nvSpPr>
          <p:cNvPr id="10" name="box-314"/>
          <p:cNvSpPr/>
          <p:nvPr/>
        </p:nvSpPr>
        <p:spPr>
          <a:xfrm>
            <a:off x="3941064" y="1600200"/>
            <a:ext cx="153619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11" name="img-emo_포수-315" descr="emo_포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135" y="1737360"/>
            <a:ext cx="1032051" cy="1920240"/>
          </a:xfrm>
          <a:prstGeom prst="rect">
            <a:avLst/>
          </a:prstGeom>
        </p:spPr>
      </p:pic>
      <p:sp>
        <p:nvSpPr>
          <p:cNvPr id="12" name="text-316"/>
          <p:cNvSpPr txBox="1"/>
          <p:nvPr/>
        </p:nvSpPr>
        <p:spPr>
          <a:xfrm>
            <a:off x="3941064" y="373075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포수</a:t>
            </a:r>
            <a:endParaRPr lang="en-US" sz="1300" dirty="0"/>
          </a:p>
        </p:txBody>
      </p:sp>
      <p:sp>
        <p:nvSpPr>
          <p:cNvPr id="13" name="box-317"/>
          <p:cNvSpPr/>
          <p:nvPr/>
        </p:nvSpPr>
        <p:spPr>
          <a:xfrm>
            <a:off x="5614416" y="1600200"/>
            <a:ext cx="153619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14" name="img-emo_유격수-318" descr="emo_유격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923562"/>
            <a:ext cx="1316736" cy="1547837"/>
          </a:xfrm>
          <a:prstGeom prst="rect">
            <a:avLst/>
          </a:prstGeom>
        </p:spPr>
      </p:pic>
      <p:sp>
        <p:nvSpPr>
          <p:cNvPr id="15" name="text-319"/>
          <p:cNvSpPr txBox="1"/>
          <p:nvPr/>
        </p:nvSpPr>
        <p:spPr>
          <a:xfrm>
            <a:off x="5614416" y="373075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유격수</a:t>
            </a:r>
            <a:endParaRPr lang="en-US" sz="1300" dirty="0"/>
          </a:p>
        </p:txBody>
      </p:sp>
      <p:sp>
        <p:nvSpPr>
          <p:cNvPr id="16" name="text-320"/>
          <p:cNvSpPr txBox="1"/>
          <p:nvPr/>
        </p:nvSpPr>
        <p:spPr>
          <a:xfrm>
            <a:off x="594360" y="4343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포지션별 동작을 통한 캐릭터 성격 표현</a:t>
            </a:r>
            <a:endParaRPr lang="en-US" sz="1400" dirty="0"/>
          </a:p>
        </p:txBody>
      </p:sp>
      <p:sp>
        <p:nvSpPr>
          <p:cNvPr id="17" name="text-321"/>
          <p:cNvSpPr txBox="1"/>
          <p:nvPr/>
        </p:nvSpPr>
        <p:spPr>
          <a:xfrm>
            <a:off x="594360" y="48006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이모티콘 4종 (타자 / 투수 / 포수 / 유격수)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이모티콘 1종 「아웃!」 (9:16, 5초)</a:t>
            </a:r>
            <a:endParaRPr lang="en-US" sz="1200" dirty="0"/>
          </a:p>
        </p:txBody>
      </p:sp>
      <p:sp>
        <p:nvSpPr>
          <p:cNvPr id="18" name="box-322"/>
          <p:cNvSpPr/>
          <p:nvPr/>
        </p:nvSpPr>
        <p:spPr>
          <a:xfrm>
            <a:off x="7543800" y="1600200"/>
            <a:ext cx="4053535" cy="4572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text-323"/>
          <p:cNvSpPr txBox="1"/>
          <p:nvPr/>
        </p:nvSpPr>
        <p:spPr>
          <a:xfrm>
            <a:off x="7818120" y="17830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이모티콘 「아웃!」</a:t>
            </a:r>
            <a:endParaRPr lang="en-US" sz="1200" dirty="0"/>
          </a:p>
        </p:txBody>
      </p:sp>
      <p:pic>
        <p:nvPicPr>
          <p:cNvPr id="20" name="img-poster_emo-324" descr="이모티콘 아웃 (클릭 시 재생)">
            <a:hlinkClick r:id="rId6" tooltip="영상 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240788"/>
            <a:ext cx="1280160" cy="2275840"/>
          </a:xfrm>
          <a:prstGeom prst="rect">
            <a:avLst/>
          </a:prstGeom>
        </p:spPr>
      </p:pic>
      <p:pic>
        <p:nvPicPr>
          <p:cNvPr id="21" name="img-emoanim_1-325" descr="emoanim_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2699512"/>
            <a:ext cx="594360" cy="1056640"/>
          </a:xfrm>
          <a:prstGeom prst="rect">
            <a:avLst/>
          </a:prstGeom>
        </p:spPr>
      </p:pic>
      <p:pic>
        <p:nvPicPr>
          <p:cNvPr id="22" name="img-emoanim_3-326" descr="emoanim_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2699512"/>
            <a:ext cx="594360" cy="1056640"/>
          </a:xfrm>
          <a:prstGeom prst="rect">
            <a:avLst/>
          </a:prstGeom>
        </p:spPr>
      </p:pic>
      <p:pic>
        <p:nvPicPr>
          <p:cNvPr id="23" name="img-emoanim_5-327" descr="emoanim_5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2760" y="2699512"/>
            <a:ext cx="594360" cy="1056640"/>
          </a:xfrm>
          <a:prstGeom prst="rect">
            <a:avLst/>
          </a:prstGeom>
        </p:spPr>
      </p:pic>
      <p:sp>
        <p:nvSpPr>
          <p:cNvPr id="24" name="text-328"/>
          <p:cNvSpPr txBox="1"/>
          <p:nvPr/>
        </p:nvSpPr>
        <p:spPr>
          <a:xfrm>
            <a:off x="928116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흐름</a:t>
            </a:r>
            <a:endParaRPr lang="en-US" sz="1000" dirty="0"/>
          </a:p>
        </p:txBody>
      </p:sp>
      <p:sp>
        <p:nvSpPr>
          <p:cNvPr id="25" name="text-329"/>
          <p:cNvSpPr txBox="1"/>
          <p:nvPr/>
        </p:nvSpPr>
        <p:spPr>
          <a:xfrm>
            <a:off x="7818120" y="489204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클릭 시 재생</a:t>
            </a:r>
            <a:endParaRPr lang="en-US" sz="1000" dirty="0"/>
          </a:p>
        </p:txBody>
      </p:sp>
      <p:sp>
        <p:nvSpPr>
          <p:cNvPr id="26" name="link-330"/>
          <p:cNvSpPr txBox="1"/>
          <p:nvPr/>
        </p:nvSpPr>
        <p:spPr>
          <a:xfrm>
            <a:off x="7818120" y="53492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https://drive.google.com/file/d/1Jtj3e9SkLrNs45NBc4cImHn3D2m0-vm_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이모티콘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-331"/>
          <p:cNvSpPr txBox="1"/>
          <p:nvPr/>
        </p:nvSpPr>
        <p:spPr>
          <a:xfrm>
            <a:off x="59436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 IP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캐릭터 IP: 스포츠 말 캐릭터 굿즈</a:t>
            </a:r>
            <a:endParaRPr lang="en-US" sz="2800" dirty="0"/>
          </a:p>
        </p:txBody>
      </p:sp>
      <p:sp>
        <p:nvSpPr>
          <p:cNvPr id="4" name="box-332"/>
          <p:cNvSpPr/>
          <p:nvPr/>
        </p:nvSpPr>
        <p:spPr>
          <a:xfrm>
            <a:off x="594360" y="1600200"/>
            <a:ext cx="2615184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5" name="img-goods_tumbler-333" descr="goods_tumb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92" y="1737360"/>
            <a:ext cx="2202920" cy="3108960"/>
          </a:xfrm>
          <a:prstGeom prst="rect">
            <a:avLst/>
          </a:prstGeom>
        </p:spPr>
      </p:pic>
      <p:sp>
        <p:nvSpPr>
          <p:cNvPr id="6" name="text-334"/>
          <p:cNvSpPr txBox="1"/>
          <p:nvPr/>
        </p:nvSpPr>
        <p:spPr>
          <a:xfrm>
            <a:off x="82296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텀블러</a:t>
            </a:r>
            <a:endParaRPr lang="en-US" sz="1300" dirty="0"/>
          </a:p>
        </p:txBody>
      </p:sp>
      <p:sp>
        <p:nvSpPr>
          <p:cNvPr id="7" name="text-335"/>
          <p:cNvSpPr txBox="1"/>
          <p:nvPr/>
        </p:nvSpPr>
        <p:spPr>
          <a:xfrm>
            <a:off x="1965960" y="4937760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골프 스윙</a:t>
            </a:r>
            <a:endParaRPr lang="en-US" sz="1100" dirty="0"/>
          </a:p>
        </p:txBody>
      </p:sp>
      <p:sp>
        <p:nvSpPr>
          <p:cNvPr id="8" name="box-336"/>
          <p:cNvSpPr/>
          <p:nvPr/>
        </p:nvSpPr>
        <p:spPr>
          <a:xfrm>
            <a:off x="3392424" y="1600200"/>
            <a:ext cx="2615184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9" name="img-goods_bottle-337" descr="goods_bot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399" y="1737360"/>
            <a:ext cx="1735233" cy="3108960"/>
          </a:xfrm>
          <a:prstGeom prst="rect">
            <a:avLst/>
          </a:prstGeom>
        </p:spPr>
      </p:pic>
      <p:sp>
        <p:nvSpPr>
          <p:cNvPr id="10" name="text-338"/>
          <p:cNvSpPr txBox="1"/>
          <p:nvPr/>
        </p:nvSpPr>
        <p:spPr>
          <a:xfrm>
            <a:off x="3621024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보틀</a:t>
            </a:r>
            <a:endParaRPr lang="en-US" sz="1300" dirty="0"/>
          </a:p>
        </p:txBody>
      </p:sp>
      <p:sp>
        <p:nvSpPr>
          <p:cNvPr id="11" name="text-339"/>
          <p:cNvSpPr txBox="1"/>
          <p:nvPr/>
        </p:nvSpPr>
        <p:spPr>
          <a:xfrm>
            <a:off x="4764024" y="4937760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</a:t>
            </a:r>
            <a:endParaRPr lang="en-US" sz="1100" dirty="0"/>
          </a:p>
        </p:txBody>
      </p:sp>
      <p:sp>
        <p:nvSpPr>
          <p:cNvPr id="12" name="box-340"/>
          <p:cNvSpPr/>
          <p:nvPr/>
        </p:nvSpPr>
        <p:spPr>
          <a:xfrm>
            <a:off x="6190488" y="1600200"/>
            <a:ext cx="2615184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13" name="img-goods_case-341" descr="goods_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669" y="1737360"/>
            <a:ext cx="1730822" cy="3108960"/>
          </a:xfrm>
          <a:prstGeom prst="rect">
            <a:avLst/>
          </a:prstGeom>
        </p:spPr>
      </p:pic>
      <p:sp>
        <p:nvSpPr>
          <p:cNvPr id="14" name="text-342"/>
          <p:cNvSpPr txBox="1"/>
          <p:nvPr/>
        </p:nvSpPr>
        <p:spPr>
          <a:xfrm>
            <a:off x="6419088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케이스</a:t>
            </a:r>
            <a:endParaRPr lang="en-US" sz="1300" dirty="0"/>
          </a:p>
        </p:txBody>
      </p:sp>
      <p:sp>
        <p:nvSpPr>
          <p:cNvPr id="15" name="text-343"/>
          <p:cNvSpPr txBox="1"/>
          <p:nvPr/>
        </p:nvSpPr>
        <p:spPr>
          <a:xfrm>
            <a:off x="7562088" y="4937760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농구 드리블</a:t>
            </a:r>
            <a:endParaRPr lang="en-US" sz="1100" dirty="0"/>
          </a:p>
        </p:txBody>
      </p:sp>
      <p:sp>
        <p:nvSpPr>
          <p:cNvPr id="16" name="box-344"/>
          <p:cNvSpPr/>
          <p:nvPr/>
        </p:nvSpPr>
        <p:spPr>
          <a:xfrm>
            <a:off x="8988552" y="1600200"/>
            <a:ext cx="2615184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C3"/>
            </a:solidFill>
            <a:prstDash val="solid"/>
          </a:ln>
        </p:spPr>
      </p:sp>
      <p:pic>
        <p:nvPicPr>
          <p:cNvPr id="17" name="img-goods_cap-345" descr="goods_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2439303"/>
            <a:ext cx="2340864" cy="1705074"/>
          </a:xfrm>
          <a:prstGeom prst="rect">
            <a:avLst/>
          </a:prstGeom>
        </p:spPr>
      </p:pic>
      <p:sp>
        <p:nvSpPr>
          <p:cNvPr id="18" name="text-346"/>
          <p:cNvSpPr txBox="1"/>
          <p:nvPr/>
        </p:nvSpPr>
        <p:spPr>
          <a:xfrm>
            <a:off x="9217152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</a:t>
            </a:r>
            <a:endParaRPr lang="en-US" sz="1300" dirty="0"/>
          </a:p>
        </p:txBody>
      </p:sp>
      <p:sp>
        <p:nvSpPr>
          <p:cNvPr id="19" name="text-347"/>
          <p:cNvSpPr txBox="1"/>
          <p:nvPr/>
        </p:nvSpPr>
        <p:spPr>
          <a:xfrm>
            <a:off x="10360152" y="4937760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점프</a:t>
            </a:r>
            <a:endParaRPr lang="en-US" sz="1100" dirty="0"/>
          </a:p>
        </p:txBody>
      </p:sp>
      <p:sp>
        <p:nvSpPr>
          <p:cNvPr id="20" name="text-348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동작 포즈를 활용한 캐릭터 상품화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49"/>
          <p:cNvSpPr txBox="1"/>
          <p:nvPr/>
        </p:nvSpPr>
        <p:spPr>
          <a:xfrm>
            <a:off x="1097280" y="1463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날개가 없어도, 마음만 있다면,</a:t>
            </a:r>
            <a:endParaRPr lang="en-US" sz="3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우리는 언제든 하늘을 날 수 있다.</a:t>
            </a:r>
            <a:endParaRPr lang="en-US" sz="3000" dirty="0"/>
          </a:p>
        </p:txBody>
      </p:sp>
      <p:sp>
        <p:nvSpPr>
          <p:cNvPr id="3" name="text-350"/>
          <p:cNvSpPr txBox="1"/>
          <p:nvPr/>
        </p:nvSpPr>
        <p:spPr>
          <a:xfrm>
            <a:off x="1097280" y="32461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「상상 속의 하늘을 날다」 SCENE 6 엔딩 자막</a:t>
            </a:r>
            <a:endParaRPr lang="en-US" sz="1100" dirty="0"/>
          </a:p>
        </p:txBody>
      </p:sp>
      <p:sp>
        <p:nvSpPr>
          <p:cNvPr id="4" name="text-351"/>
          <p:cNvSpPr txBox="1"/>
          <p:nvPr/>
        </p:nvSpPr>
        <p:spPr>
          <a:xfrm>
            <a:off x="109728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서정 연출</a:t>
            </a:r>
            <a:endParaRPr lang="en-US" sz="1300" dirty="0"/>
          </a:p>
        </p:txBody>
      </p:sp>
      <p:sp>
        <p:nvSpPr>
          <p:cNvPr id="5" name="text-352"/>
          <p:cNvSpPr txBox="1"/>
          <p:nvPr/>
        </p:nvSpPr>
        <p:spPr>
          <a:xfrm>
            <a:off x="109728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빛과 시간대를 활용한 감정 흐름 설계</a:t>
            </a:r>
            <a:endParaRPr lang="en-US" sz="1100" dirty="0"/>
          </a:p>
        </p:txBody>
      </p:sp>
      <p:sp>
        <p:nvSpPr>
          <p:cNvPr id="6" name="text-353"/>
          <p:cNvSpPr txBox="1"/>
          <p:nvPr/>
        </p:nvSpPr>
        <p:spPr>
          <a:xfrm>
            <a:off x="448056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파이프라인</a:t>
            </a:r>
            <a:endParaRPr lang="en-US" sz="1300" dirty="0"/>
          </a:p>
        </p:txBody>
      </p:sp>
      <p:sp>
        <p:nvSpPr>
          <p:cNvPr id="7" name="text-354"/>
          <p:cNvSpPr txBox="1"/>
          <p:nvPr/>
        </p:nvSpPr>
        <p:spPr>
          <a:xfrm>
            <a:off x="448056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 생성부터 영상화 · 편집까지 일괄 제작</a:t>
            </a:r>
            <a:endParaRPr lang="en-US" sz="1100" dirty="0"/>
          </a:p>
        </p:txBody>
      </p:sp>
      <p:sp>
        <p:nvSpPr>
          <p:cNvPr id="8" name="text-355"/>
          <p:cNvSpPr txBox="1"/>
          <p:nvPr/>
        </p:nvSpPr>
        <p:spPr>
          <a:xfrm>
            <a:off x="786384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</a:t>
            </a:r>
            <a:endParaRPr lang="en-US" sz="1300" dirty="0"/>
          </a:p>
        </p:txBody>
      </p:sp>
      <p:sp>
        <p:nvSpPr>
          <p:cNvPr id="9" name="text-356"/>
          <p:cNvSpPr txBox="1"/>
          <p:nvPr/>
        </p:nvSpPr>
        <p:spPr>
          <a:xfrm>
            <a:off x="786384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이모티콘 · 굿즈로의 캐릭터 확장</a:t>
            </a:r>
            <a:endParaRPr lang="en-US" sz="1100" dirty="0"/>
          </a:p>
        </p:txBody>
      </p:sp>
      <p:sp>
        <p:nvSpPr>
          <p:cNvPr id="10" name="text-357"/>
          <p:cNvSpPr txBox="1"/>
          <p:nvPr/>
        </p:nvSpPr>
        <p:spPr>
          <a:xfrm>
            <a:off x="109728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강원</a:t>
            </a:r>
            <a:endParaRPr lang="en-US" sz="2000" dirty="0"/>
          </a:p>
        </p:txBody>
      </p:sp>
      <p:sp>
        <p:nvSpPr>
          <p:cNvPr id="11" name="text-358"/>
          <p:cNvSpPr txBox="1"/>
          <p:nvPr/>
        </p:nvSpPr>
        <p:spPr>
          <a:xfrm>
            <a:off x="3108960" y="5193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2" name="blank-line-359"/>
          <p:cNvSpPr/>
          <p:nvPr/>
        </p:nvSpPr>
        <p:spPr>
          <a:xfrm>
            <a:off x="3108960" y="5806440"/>
            <a:ext cx="2377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360"/>
          <p:cNvSpPr txBox="1"/>
          <p:nvPr/>
        </p:nvSpPr>
        <p:spPr>
          <a:xfrm>
            <a:off x="5760720" y="5193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000" dirty="0"/>
          </a:p>
        </p:txBody>
      </p:sp>
      <p:sp>
        <p:nvSpPr>
          <p:cNvPr id="14" name="blank-line-361"/>
          <p:cNvSpPr/>
          <p:nvPr/>
        </p:nvSpPr>
        <p:spPr>
          <a:xfrm>
            <a:off x="5760720" y="5806440"/>
            <a:ext cx="2377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-362"/>
          <p:cNvSpPr txBox="1"/>
          <p:nvPr/>
        </p:nvSpPr>
        <p:spPr>
          <a:xfrm>
            <a:off x="8412480" y="5193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링크</a:t>
            </a:r>
            <a:endParaRPr lang="en-US" sz="1000" dirty="0"/>
          </a:p>
        </p:txBody>
      </p:sp>
      <p:sp>
        <p:nvSpPr>
          <p:cNvPr id="16" name="blank-line-363"/>
          <p:cNvSpPr/>
          <p:nvPr/>
        </p:nvSpPr>
        <p:spPr>
          <a:xfrm>
            <a:off x="8412480" y="5806440"/>
            <a:ext cx="2377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angsang Sky">
  <a:themeElements>
    <a:clrScheme name="Sangsang Sky">
      <a:dk1>
        <a:srgbClr val="1C1B2E"/>
      </a:dk1>
      <a:lt1>
        <a:srgbClr val="F7EFE3"/>
      </a:lt1>
      <a:dk2>
        <a:srgbClr val="2A2940"/>
      </a:dk2>
      <a:lt2>
        <a:srgbClr val="A8A3B8"/>
      </a:lt2>
      <a:accent1>
        <a:srgbClr val="E8743B"/>
      </a:accent1>
      <a:accent2>
        <a:srgbClr val="F2B84B"/>
      </a:accent2>
      <a:accent3>
        <a:srgbClr val="6FA8DC"/>
      </a:accent3>
      <a:accent4>
        <a:srgbClr val="C9677A"/>
      </a:accent4>
      <a:accent5>
        <a:srgbClr val="3A3858"/>
      </a:accent5>
      <a:accent6>
        <a:srgbClr val="6B5E55"/>
      </a:accent6>
      <a:hlink>
        <a:srgbClr val="F2B84B"/>
      </a:hlink>
      <a:folHlink>
        <a:srgbClr val="F2B84B"/>
      </a:folHlink>
    </a:clrScheme>
    <a:fontScheme name="Sangsang Sky">
      <a:majorFont>
        <a:latin typeface="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상상 속의 하늘을 날다: 강원 포트폴리오</dc:title>
  <dc:subject>PptxGenJS Presentation</dc:subject>
  <dc:creator>강원</dc:creator>
  <cp:lastModifiedBy>강원</cp:lastModifiedBy>
  <cp:revision>1</cp:revision>
  <dcterms:created xsi:type="dcterms:W3CDTF">2026-10-02T01:15:46Z</dcterms:created>
  <dcterms:modified xsi:type="dcterms:W3CDTF">2026-10-02T01:15:46Z</dcterms:modified>
</cp:coreProperties>
</file>