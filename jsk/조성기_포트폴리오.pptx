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소개" id="{631f3256-2442-6a2e-d7da-d622816cba84}">
          <p14:sldIdLst>
            <p14:sldId id="256"/>
            <p14:sldId id="257"/>
            <p14:sldId id="258"/>
          </p14:sldIdLst>
        </p14:section>
        <p14:section name="A♥ I'm Not Joker" id="{ab2fa486-a7c0-2520-64f4-dfc67eeb6c94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2♦ 캐릭터 IP" id="{63e52d36-bd8a-7b35-dbbf-880c82df696c}">
          <p14:sldIdLst>
            <p14:sldId id="268"/>
            <p14:sldId id="269"/>
            <p14:sldId id="270"/>
            <p14:sldId id="271"/>
            <p14:sldId id="272"/>
          </p14:sldIdLst>
        </p14:section>
        <p14:section name="3♠ 숏폼 광고" id="{ce571373-adae-54a1-8dfc-a39fb5d8afa6}">
          <p14:sldIdLst>
            <p14:sldId id="273"/>
            <p14:sldId id="274"/>
            <p14:sldId id="275"/>
            <p14:sldId id="276"/>
          </p14:sldIdLst>
        </p14:section>
        <p14:section name="마무리" id="{5010c5f1-960f-6ce6-e2e9-b98a843db689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IR">
    <p:bg>
      <p:bgPr>
        <a:solidFill>
          <a:srgbClr val="0E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E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CHOSK  ·  조성기 포트폴리오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6E66"/>
                </a:solidFill>
                <a:latin typeface="Impact"/>
                <a:ea typeface="Impact"/>
                <a:cs typeface="Impact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VORY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A15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CHOSK  ·  조성기 포트폴리오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A8E84"/>
                </a:solidFill>
                <a:latin typeface="Impact"/>
                <a:ea typeface="Impact"/>
                <a:cs typeface="Impact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0E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6E66"/>
                </a:solidFill>
                <a:latin typeface="Impact"/>
                <a:ea typeface="Impact"/>
                <a:cs typeface="Impac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image" Target="../media/image-7-5.jpg"/><Relationship Id="rId6" Type="http://schemas.openxmlformats.org/officeDocument/2006/relationships/image" Target="../media/image-7-6.jpg"/><Relationship Id="rId7" Type="http://schemas.openxmlformats.org/officeDocument/2006/relationships/image" Target="../media/image-7-7.jp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jpg"/><Relationship Id="rId5" Type="http://schemas.openxmlformats.org/officeDocument/2006/relationships/image" Target="../media/image-11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FxAWrfKejtH5CH7youn3iG33vNt5Ns2T/view" TargetMode="External"/><Relationship Id="rId4" Type="http://schemas.openxmlformats.org/officeDocument/2006/relationships/hyperlink" Target="https://drive.google.com/file/d/1FxAWrfKejtH5CH7youn3iG33vNt5Ns2T/view" TargetMode="External"/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image" Target="../media/image-13-2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image" Target="../media/image-14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image" Target="../media/image-15-4.jpg"/><Relationship Id="rId5" Type="http://schemas.openxmlformats.org/officeDocument/2006/relationships/image" Target="../media/image-15-5.jpg"/><Relationship Id="rId6" Type="http://schemas.openxmlformats.org/officeDocument/2006/relationships/image" Target="../media/image-15-6.jp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image" Target="../media/image-16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image" Target="../media/image-18-2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image" Target="../media/image-19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image" Target="../media/image-20-3.jpg"/><Relationship Id="rId4" Type="http://schemas.openxmlformats.org/officeDocument/2006/relationships/image" Target="../media/image-20-4.jpg"/><Relationship Id="rId5" Type="http://schemas.openxmlformats.org/officeDocument/2006/relationships/image" Target="../media/image-20-5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image" Target="../media/image-21-3.jpg"/><Relationship Id="rId4" Type="http://schemas.openxmlformats.org/officeDocument/2006/relationships/image" Target="../media/image-21-4.jpg"/><Relationship Id="rId5" Type="http://schemas.openxmlformats.org/officeDocument/2006/relationships/image" Target="../media/image-21-5.jpg"/><Relationship Id="rId6" Type="http://schemas.openxmlformats.org/officeDocument/2006/relationships/image" Target="../media/image-21-6.jp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cover-1" descr="트럼프 카드가 흩날리는 뮤지컬 무대를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card-card3_face-2" descr="3♠ 숏폼 광고 카드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00000">
            <a:off x="8915400" y="1417320"/>
            <a:ext cx="2873829" cy="4023360"/>
          </a:xfrm>
          <a:prstGeom prst="rect">
            <a:avLst/>
          </a:prstGeom>
        </p:spPr>
      </p:pic>
      <p:pic>
        <p:nvPicPr>
          <p:cNvPr id="4" name="card-card2_face-3" descr="2♦ 캐릭터 IP 카드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7635240" y="1051560"/>
            <a:ext cx="2873829" cy="4023360"/>
          </a:xfrm>
          <a:prstGeom prst="rect">
            <a:avLst/>
          </a:prstGeom>
        </p:spPr>
      </p:pic>
      <p:pic>
        <p:nvPicPr>
          <p:cNvPr id="5" name="card-card1_face-4" descr="A♥ 뮤직비디오 카드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720000">
            <a:off x="6309360" y="1325880"/>
            <a:ext cx="2873829" cy="4023360"/>
          </a:xfrm>
          <a:prstGeom prst="rect">
            <a:avLst/>
          </a:prstGeom>
        </p:spPr>
      </p:pic>
      <p:sp>
        <p:nvSpPr>
          <p:cNvPr id="6" name="text-5"/>
          <p:cNvSpPr txBox="1"/>
          <p:nvPr/>
        </p:nvSpPr>
        <p:spPr>
          <a:xfrm>
            <a:off x="640080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400" kern="0" dirty="0">
                <a:solidFill>
                  <a:srgbClr val="E0475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AI CONTENT CREATOR PORTFOLIO</a:t>
            </a:r>
            <a:endParaRPr lang="en-US" sz="1500" dirty="0"/>
          </a:p>
        </p:txBody>
      </p:sp>
      <p:sp>
        <p:nvSpPr>
          <p:cNvPr id="7" name="text-6"/>
          <p:cNvSpPr txBox="1"/>
          <p:nvPr/>
        </p:nvSpPr>
        <p:spPr>
          <a:xfrm>
            <a:off x="640080" y="14630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rgbClr val="F3EBD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CHOSK</a:t>
            </a:r>
            <a:endParaRPr lang="en-US" sz="8800" dirty="0"/>
          </a:p>
        </p:txBody>
      </p:sp>
      <p:sp>
        <p:nvSpPr>
          <p:cNvPr id="8" name="text-7"/>
          <p:cNvSpPr txBox="1"/>
          <p:nvPr/>
        </p:nvSpPr>
        <p:spPr>
          <a:xfrm>
            <a:off x="640080" y="2697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조성기</a:t>
            </a:r>
            <a:endParaRPr lang="en-US" sz="2800" dirty="0"/>
          </a:p>
        </p:txBody>
      </p:sp>
      <p:sp>
        <p:nvSpPr>
          <p:cNvPr id="9" name="text-8"/>
          <p:cNvSpPr txBox="1"/>
          <p:nvPr/>
        </p:nvSpPr>
        <p:spPr>
          <a:xfrm>
            <a:off x="640080" y="32918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8CF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인간 콜라보레이션으로 완성한 스토리텔링</a:t>
            </a:r>
            <a:endParaRPr lang="en-US" sz="1700" dirty="0"/>
          </a:p>
        </p:txBody>
      </p:sp>
      <p:sp>
        <p:nvSpPr>
          <p:cNvPr id="10" name="text-9"/>
          <p:cNvSpPr txBox="1"/>
          <p:nvPr/>
        </p:nvSpPr>
        <p:spPr>
          <a:xfrm>
            <a:off x="640080" y="40690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EBD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</a:t>
            </a:r>
            <a:pPr indent="0" marL="0">
              <a:buNone/>
            </a:pPr>
            <a:r>
              <a:rPr lang="en-US" sz="2000" dirty="0">
                <a:solidFill>
                  <a:srgbClr val="E04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♥</a:t>
            </a:r>
            <a:endParaRPr lang="en-US" sz="2000" dirty="0"/>
          </a:p>
        </p:txBody>
      </p:sp>
      <p:sp>
        <p:nvSpPr>
          <p:cNvPr id="11" name="text-10"/>
          <p:cNvSpPr txBox="1"/>
          <p:nvPr/>
        </p:nvSpPr>
        <p:spPr>
          <a:xfrm>
            <a:off x="1325880" y="4069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뮤직비디오 「I'm Not Joker」</a:t>
            </a:r>
            <a:endParaRPr lang="en-US" sz="1450" dirty="0"/>
          </a:p>
        </p:txBody>
      </p:sp>
      <p:sp>
        <p:nvSpPr>
          <p:cNvPr id="12" name="text-11"/>
          <p:cNvSpPr txBox="1"/>
          <p:nvPr/>
        </p:nvSpPr>
        <p:spPr>
          <a:xfrm>
            <a:off x="640080" y="45720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EBD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pPr indent="0" marL="0">
              <a:buNone/>
            </a:pPr>
            <a:r>
              <a:rPr lang="en-US" sz="2000" dirty="0">
                <a:solidFill>
                  <a:srgbClr val="E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♦</a:t>
            </a:r>
            <a:endParaRPr lang="en-US" sz="2000" dirty="0"/>
          </a:p>
        </p:txBody>
      </p:sp>
      <p:sp>
        <p:nvSpPr>
          <p:cNvPr id="13" name="text-12"/>
          <p:cNvSpPr txBox="1"/>
          <p:nvPr/>
        </p:nvSpPr>
        <p:spPr>
          <a:xfrm>
            <a:off x="1325880" y="45720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IP 웹툰 「돈깨비 방망이」 / 「오해소지」</a:t>
            </a:r>
            <a:endParaRPr lang="en-US" sz="1450" dirty="0"/>
          </a:p>
        </p:txBody>
      </p:sp>
      <p:sp>
        <p:nvSpPr>
          <p:cNvPr id="14" name="text-13"/>
          <p:cNvSpPr txBox="1"/>
          <p:nvPr/>
        </p:nvSpPr>
        <p:spPr>
          <a:xfrm>
            <a:off x="640080" y="50749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EBD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pPr indent="0" marL="0">
              <a:buNone/>
            </a:pPr>
            <a:r>
              <a:rPr lang="en-US" sz="2000" dirty="0">
                <a:solidFill>
                  <a:srgbClr val="8EA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♠</a:t>
            </a:r>
            <a:endParaRPr lang="en-US" sz="2000" dirty="0"/>
          </a:p>
        </p:txBody>
      </p:sp>
      <p:sp>
        <p:nvSpPr>
          <p:cNvPr id="15" name="text-14"/>
          <p:cNvSpPr txBox="1"/>
          <p:nvPr/>
        </p:nvSpPr>
        <p:spPr>
          <a:xfrm>
            <a:off x="1325880" y="50749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숏폼 광고 세로형 스토리보드</a:t>
            </a:r>
            <a:endParaRPr lang="en-US" sz="1450" dirty="0"/>
          </a:p>
        </p:txBody>
      </p:sp>
      <p:sp>
        <p:nvSpPr>
          <p:cNvPr id="16" name="text-15"/>
          <p:cNvSpPr txBox="1"/>
          <p:nvPr/>
        </p:nvSpPr>
        <p:spPr>
          <a:xfrm>
            <a:off x="640080" y="61264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9C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서울시 매력일자리 AI 콘텐츠 크리에이터 양성과정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noir-16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uit-17"/>
          <p:cNvSpPr txBox="1"/>
          <p:nvPr/>
        </p:nvSpPr>
        <p:spPr>
          <a:xfrm>
            <a:off x="640080" y="32918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9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♣</a:t>
            </a:r>
            <a:endParaRPr lang="en-US" sz="1500" dirty="0"/>
          </a:p>
        </p:txBody>
      </p:sp>
      <p:sp>
        <p:nvSpPr>
          <p:cNvPr id="4" name="label-18"/>
          <p:cNvSpPr txBox="1"/>
          <p:nvPr/>
        </p:nvSpPr>
        <p:spPr>
          <a:xfrm>
            <a:off x="932688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B8955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CONTENTS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800" dirty="0"/>
          </a:p>
        </p:txBody>
      </p:sp>
      <p:pic>
        <p:nvPicPr>
          <p:cNvPr id="6" name="card-card1_face-19" descr="I'm Not Jok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600200"/>
            <a:ext cx="2220686" cy="3108960"/>
          </a:xfrm>
          <a:prstGeom prst="rect">
            <a:avLst/>
          </a:prstGeom>
        </p:spPr>
      </p:pic>
      <p:sp>
        <p:nvSpPr>
          <p:cNvPr id="7" name="text-20"/>
          <p:cNvSpPr txBox="1"/>
          <p:nvPr/>
        </p:nvSpPr>
        <p:spPr>
          <a:xfrm>
            <a:off x="960120" y="4846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3EBD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</a:t>
            </a:r>
            <a:pPr indent="0" marL="0">
              <a:buNone/>
            </a:pPr>
            <a:r>
              <a:rPr lang="en-US" sz="3000" dirty="0">
                <a:solidFill>
                  <a:srgbClr val="E04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♥</a:t>
            </a:r>
            <a:endParaRPr lang="en-US" sz="3000" dirty="0"/>
          </a:p>
        </p:txBody>
      </p:sp>
      <p:sp>
        <p:nvSpPr>
          <p:cNvPr id="8" name="text-21"/>
          <p:cNvSpPr txBox="1"/>
          <p:nvPr/>
        </p:nvSpPr>
        <p:spPr>
          <a:xfrm>
            <a:off x="1828800" y="4846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I'm Not Joker</a:t>
            </a:r>
            <a:endParaRPr lang="en-US" sz="1800" dirty="0"/>
          </a:p>
        </p:txBody>
      </p:sp>
      <p:sp>
        <p:nvSpPr>
          <p:cNvPr id="9" name="text-22"/>
          <p:cNvSpPr txBox="1"/>
          <p:nvPr/>
        </p:nvSpPr>
        <p:spPr>
          <a:xfrm>
            <a:off x="960120" y="5440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4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뮤직비디오 / EINSX 「No Smile」</a:t>
            </a:r>
            <a:endParaRPr lang="en-US" sz="1200" dirty="0"/>
          </a:p>
        </p:txBody>
      </p:sp>
      <p:pic>
        <p:nvPicPr>
          <p:cNvPr id="10" name="card-card2_face-23" descr="돈깨비 방망이 / 오해소지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600200"/>
            <a:ext cx="2220686" cy="3108960"/>
          </a:xfrm>
          <a:prstGeom prst="rect">
            <a:avLst/>
          </a:prstGeom>
        </p:spPr>
      </p:pic>
      <p:sp>
        <p:nvSpPr>
          <p:cNvPr id="11" name="text-24"/>
          <p:cNvSpPr txBox="1"/>
          <p:nvPr/>
        </p:nvSpPr>
        <p:spPr>
          <a:xfrm>
            <a:off x="4617720" y="4846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3EBD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pPr indent="0" marL="0">
              <a:buNone/>
            </a:pPr>
            <a:r>
              <a:rPr lang="en-US" sz="3000" dirty="0">
                <a:solidFill>
                  <a:srgbClr val="E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♦</a:t>
            </a:r>
            <a:endParaRPr lang="en-US" sz="3000" dirty="0"/>
          </a:p>
        </p:txBody>
      </p:sp>
      <p:sp>
        <p:nvSpPr>
          <p:cNvPr id="12" name="text-25"/>
          <p:cNvSpPr txBox="1"/>
          <p:nvPr/>
        </p:nvSpPr>
        <p:spPr>
          <a:xfrm>
            <a:off x="5486400" y="4846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돈깨비 방망이 / 오해소지</a:t>
            </a:r>
            <a:endParaRPr lang="en-US" sz="1800" dirty="0"/>
          </a:p>
        </p:txBody>
      </p:sp>
      <p:sp>
        <p:nvSpPr>
          <p:cNvPr id="13" name="text-26"/>
          <p:cNvSpPr txBox="1"/>
          <p:nvPr/>
        </p:nvSpPr>
        <p:spPr>
          <a:xfrm>
            <a:off x="4617720" y="5440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IP / 스크롤 웹툰 / 이모티콘 / 일상툰</a:t>
            </a:r>
            <a:endParaRPr lang="en-US" sz="1200" dirty="0"/>
          </a:p>
        </p:txBody>
      </p:sp>
      <p:pic>
        <p:nvPicPr>
          <p:cNvPr id="14" name="card-card3_face-27" descr="숏폼 광고 스토리보드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1600200"/>
            <a:ext cx="2220686" cy="3108960"/>
          </a:xfrm>
          <a:prstGeom prst="rect">
            <a:avLst/>
          </a:prstGeom>
        </p:spPr>
      </p:pic>
      <p:sp>
        <p:nvSpPr>
          <p:cNvPr id="15" name="text-28"/>
          <p:cNvSpPr txBox="1"/>
          <p:nvPr/>
        </p:nvSpPr>
        <p:spPr>
          <a:xfrm>
            <a:off x="8275320" y="4846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3EBD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pPr indent="0" marL="0">
              <a:buNone/>
            </a:pPr>
            <a:r>
              <a:rPr lang="en-US" sz="3000" dirty="0">
                <a:solidFill>
                  <a:srgbClr val="8EA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♠</a:t>
            </a:r>
            <a:endParaRPr lang="en-US" sz="3000" dirty="0"/>
          </a:p>
        </p:txBody>
      </p:sp>
      <p:sp>
        <p:nvSpPr>
          <p:cNvPr id="16" name="text-29"/>
          <p:cNvSpPr txBox="1"/>
          <p:nvPr/>
        </p:nvSpPr>
        <p:spPr>
          <a:xfrm>
            <a:off x="9144000" y="4846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숏폼 광고 스토리보드</a:t>
            </a:r>
            <a:endParaRPr lang="en-US" sz="1800" dirty="0"/>
          </a:p>
        </p:txBody>
      </p:sp>
      <p:sp>
        <p:nvSpPr>
          <p:cNvPr id="17" name="text-30"/>
          <p:cNvSpPr txBox="1"/>
          <p:nvPr/>
        </p:nvSpPr>
        <p:spPr>
          <a:xfrm>
            <a:off x="8275320" y="5440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EA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숏폼 광고 / 9:16 세로형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6E66"/>
                </a:solidFill>
                <a:latin typeface="Impact"/>
                <a:ea typeface="Impact"/>
                <a:cs typeface="Impact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noir-31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uit-32"/>
          <p:cNvSpPr txBox="1"/>
          <p:nvPr/>
        </p:nvSpPr>
        <p:spPr>
          <a:xfrm>
            <a:off x="640080" y="32918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95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♣</a:t>
            </a:r>
            <a:endParaRPr lang="en-US" sz="1500" dirty="0"/>
          </a:p>
        </p:txBody>
      </p:sp>
      <p:sp>
        <p:nvSpPr>
          <p:cNvPr id="4" name="label-33"/>
          <p:cNvSpPr txBox="1"/>
          <p:nvPr/>
        </p:nvSpPr>
        <p:spPr>
          <a:xfrm>
            <a:off x="932688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B8955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PROFILE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인간 콜라보레이션으로 넓힌 창작 영역</a:t>
            </a:r>
            <a:endParaRPr lang="en-US" sz="2800" dirty="0"/>
          </a:p>
        </p:txBody>
      </p:sp>
      <p:sp>
        <p:nvSpPr>
          <p:cNvPr id="6" name="rect-34"/>
          <p:cNvSpPr/>
          <p:nvPr/>
        </p:nvSpPr>
        <p:spPr>
          <a:xfrm>
            <a:off x="640080" y="1783080"/>
            <a:ext cx="2560320" cy="4114800"/>
          </a:xfrm>
          <a:prstGeom prst="roundRect">
            <a:avLst>
              <a:gd name="adj" fmla="val 4286"/>
            </a:avLst>
          </a:prstGeom>
          <a:solidFill>
            <a:srgbClr val="F3EBDD"/>
          </a:solidFill>
          <a:ln/>
        </p:spPr>
      </p:sp>
      <p:sp>
        <p:nvSpPr>
          <p:cNvPr id="7" name="text-35"/>
          <p:cNvSpPr txBox="1"/>
          <p:nvPr/>
        </p:nvSpPr>
        <p:spPr>
          <a:xfrm>
            <a:off x="804672" y="19202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200" dirty="0">
                <a:solidFill>
                  <a:srgbClr val="B312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</a:t>
            </a:r>
            <a:pPr algn="ctr" indent="0" marL="0">
              <a:lnSpc>
                <a:spcPct val="90000"/>
              </a:lnSpc>
              <a:buNone/>
            </a:pPr>
            <a:endParaRPr lang="en-US" sz="22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2200" dirty="0">
                <a:solidFill>
                  <a:srgbClr val="B31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♥</a:t>
            </a:r>
            <a:endParaRPr lang="en-US" sz="2200" dirty="0"/>
          </a:p>
        </p:txBody>
      </p:sp>
      <p:sp>
        <p:nvSpPr>
          <p:cNvPr id="8" name="text-36"/>
          <p:cNvSpPr txBox="1"/>
          <p:nvPr/>
        </p:nvSpPr>
        <p:spPr>
          <a:xfrm>
            <a:off x="914400" y="3108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5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 기획</a:t>
            </a:r>
            <a:endParaRPr lang="en-US" sz="2000" dirty="0"/>
          </a:p>
        </p:txBody>
      </p:sp>
      <p:sp>
        <p:nvSpPr>
          <p:cNvPr id="9" name="text-37"/>
          <p:cNvSpPr txBox="1"/>
          <p:nvPr/>
        </p:nvSpPr>
        <p:spPr>
          <a:xfrm>
            <a:off x="914400" y="370332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4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청년의 방황과 재기를 담은 메시지를 뮤직비디오 서사로 구조화</a:t>
            </a:r>
            <a:endParaRPr lang="en-US" sz="1400" dirty="0"/>
          </a:p>
        </p:txBody>
      </p:sp>
      <p:sp>
        <p:nvSpPr>
          <p:cNvPr id="10" name="rect-38"/>
          <p:cNvSpPr/>
          <p:nvPr/>
        </p:nvSpPr>
        <p:spPr>
          <a:xfrm>
            <a:off x="3383280" y="1783080"/>
            <a:ext cx="2560320" cy="4114800"/>
          </a:xfrm>
          <a:prstGeom prst="roundRect">
            <a:avLst>
              <a:gd name="adj" fmla="val 4286"/>
            </a:avLst>
          </a:prstGeom>
          <a:solidFill>
            <a:srgbClr val="F3EBDD"/>
          </a:solidFill>
          <a:ln/>
        </p:spPr>
      </p:sp>
      <p:sp>
        <p:nvSpPr>
          <p:cNvPr id="11" name="text-39"/>
          <p:cNvSpPr txBox="1"/>
          <p:nvPr/>
        </p:nvSpPr>
        <p:spPr>
          <a:xfrm>
            <a:off x="3547872" y="19202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200" dirty="0">
                <a:solidFill>
                  <a:srgbClr val="B866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pPr algn="ctr" indent="0" marL="0">
              <a:lnSpc>
                <a:spcPct val="90000"/>
              </a:lnSpc>
              <a:buNone/>
            </a:pPr>
            <a:endParaRPr lang="en-US" sz="22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2200" dirty="0">
                <a:solidFill>
                  <a:srgbClr val="B866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♦</a:t>
            </a:r>
            <a:endParaRPr lang="en-US" sz="2200" dirty="0"/>
          </a:p>
        </p:txBody>
      </p:sp>
      <p:sp>
        <p:nvSpPr>
          <p:cNvPr id="12" name="text-40"/>
          <p:cNvSpPr txBox="1"/>
          <p:nvPr/>
        </p:nvSpPr>
        <p:spPr>
          <a:xfrm>
            <a:off x="3657600" y="3108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5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IP</a:t>
            </a:r>
            <a:endParaRPr lang="en-US" sz="2000" dirty="0"/>
          </a:p>
        </p:txBody>
      </p:sp>
      <p:sp>
        <p:nvSpPr>
          <p:cNvPr id="13" name="text-41"/>
          <p:cNvSpPr txBox="1"/>
          <p:nvPr/>
        </p:nvSpPr>
        <p:spPr>
          <a:xfrm>
            <a:off x="3657600" y="370332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4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작가 본인 캐릭터부터 부산 사투리 소시지까지 개성 있는 IP 기획</a:t>
            </a:r>
            <a:endParaRPr lang="en-US" sz="1400" dirty="0"/>
          </a:p>
        </p:txBody>
      </p:sp>
      <p:sp>
        <p:nvSpPr>
          <p:cNvPr id="14" name="rect-42"/>
          <p:cNvSpPr/>
          <p:nvPr/>
        </p:nvSpPr>
        <p:spPr>
          <a:xfrm>
            <a:off x="6126480" y="1783080"/>
            <a:ext cx="2560320" cy="4114800"/>
          </a:xfrm>
          <a:prstGeom prst="roundRect">
            <a:avLst>
              <a:gd name="adj" fmla="val 4286"/>
            </a:avLst>
          </a:prstGeom>
          <a:solidFill>
            <a:srgbClr val="F3EBDD"/>
          </a:solidFill>
          <a:ln/>
        </p:spPr>
      </p:sp>
      <p:sp>
        <p:nvSpPr>
          <p:cNvPr id="15" name="text-43"/>
          <p:cNvSpPr txBox="1"/>
          <p:nvPr/>
        </p:nvSpPr>
        <p:spPr>
          <a:xfrm>
            <a:off x="6291072" y="19202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200" dirty="0">
                <a:solidFill>
                  <a:srgbClr val="3E5A9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pPr algn="ctr" indent="0" marL="0">
              <a:lnSpc>
                <a:spcPct val="90000"/>
              </a:lnSpc>
              <a:buNone/>
            </a:pPr>
            <a:endParaRPr lang="en-US" sz="22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2200" dirty="0">
                <a:solidFill>
                  <a:srgbClr val="3E5A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♠</a:t>
            </a:r>
            <a:endParaRPr lang="en-US" sz="2200" dirty="0"/>
          </a:p>
        </p:txBody>
      </p:sp>
      <p:sp>
        <p:nvSpPr>
          <p:cNvPr id="16" name="text-44"/>
          <p:cNvSpPr txBox="1"/>
          <p:nvPr/>
        </p:nvSpPr>
        <p:spPr>
          <a:xfrm>
            <a:off x="6400800" y="3108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5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연출</a:t>
            </a:r>
            <a:endParaRPr lang="en-US" sz="2000" dirty="0"/>
          </a:p>
        </p:txBody>
      </p:sp>
      <p:sp>
        <p:nvSpPr>
          <p:cNvPr id="17" name="text-45"/>
          <p:cNvSpPr txBox="1"/>
          <p:nvPr/>
        </p:nvSpPr>
        <p:spPr>
          <a:xfrm>
            <a:off x="6400800" y="370332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4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 단위 샷/앵글 설계와 흑백에서 컬러로 이어지는 시간 전환 연출</a:t>
            </a:r>
            <a:endParaRPr lang="en-US" sz="1400" dirty="0"/>
          </a:p>
        </p:txBody>
      </p:sp>
      <p:sp>
        <p:nvSpPr>
          <p:cNvPr id="18" name="rect-46"/>
          <p:cNvSpPr/>
          <p:nvPr/>
        </p:nvSpPr>
        <p:spPr>
          <a:xfrm>
            <a:off x="8869680" y="1783080"/>
            <a:ext cx="2560320" cy="4114800"/>
          </a:xfrm>
          <a:prstGeom prst="roundRect">
            <a:avLst>
              <a:gd name="adj" fmla="val 4286"/>
            </a:avLst>
          </a:prstGeom>
          <a:solidFill>
            <a:srgbClr val="F3EBDD"/>
          </a:solidFill>
          <a:ln/>
        </p:spPr>
      </p:sp>
      <p:sp>
        <p:nvSpPr>
          <p:cNvPr id="19" name="text-47"/>
          <p:cNvSpPr txBox="1"/>
          <p:nvPr/>
        </p:nvSpPr>
        <p:spPr>
          <a:xfrm>
            <a:off x="9034272" y="19202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200" dirty="0">
                <a:solidFill>
                  <a:srgbClr val="8C6A3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J</a:t>
            </a:r>
            <a:pPr algn="ctr" indent="0" marL="0">
              <a:lnSpc>
                <a:spcPct val="90000"/>
              </a:lnSpc>
              <a:buNone/>
            </a:pPr>
            <a:endParaRPr lang="en-US" sz="22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2200" dirty="0">
                <a:solidFill>
                  <a:srgbClr val="8C6A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♣</a:t>
            </a:r>
            <a:endParaRPr lang="en-US" sz="2200" dirty="0"/>
          </a:p>
        </p:txBody>
      </p:sp>
      <p:sp>
        <p:nvSpPr>
          <p:cNvPr id="20" name="text-48"/>
          <p:cNvSpPr txBox="1"/>
          <p:nvPr/>
        </p:nvSpPr>
        <p:spPr>
          <a:xfrm>
            <a:off x="9144000" y="3108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5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제작 공정</a:t>
            </a:r>
            <a:endParaRPr lang="en-US" sz="2000" dirty="0"/>
          </a:p>
        </p:txBody>
      </p:sp>
      <p:sp>
        <p:nvSpPr>
          <p:cNvPr id="21" name="text-49"/>
          <p:cNvSpPr txBox="1"/>
          <p:nvPr/>
        </p:nvSpPr>
        <p:spPr>
          <a:xfrm>
            <a:off x="9144000" y="370332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4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AI툴을 사용하여 글/그림/영상/음악 제작 역량 극대화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6E66"/>
                </a:solidFill>
                <a:latin typeface="Impact"/>
                <a:ea typeface="Impact"/>
                <a:cs typeface="Impact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1_bg-50" descr="챕터 대표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5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C0B">
              <a:alpha val="45000"/>
            </a:srgbClr>
          </a:solidFill>
          <a:ln/>
        </p:spPr>
      </p:sp>
      <p:pic>
        <p:nvPicPr>
          <p:cNvPr id="4" name="card-cardback-52" descr="카드 뒷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960000">
            <a:off x="502920" y="1234440"/>
            <a:ext cx="3004457" cy="4206240"/>
          </a:xfrm>
          <a:prstGeom prst="rect">
            <a:avLst/>
          </a:prstGeom>
        </p:spPr>
      </p:pic>
      <p:pic>
        <p:nvPicPr>
          <p:cNvPr id="5" name="card-cardback-53" descr="카드 뒷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80000">
            <a:off x="2651760" y="1417320"/>
            <a:ext cx="3004457" cy="4206240"/>
          </a:xfrm>
          <a:prstGeom prst="rect">
            <a:avLst/>
          </a:prstGeom>
        </p:spPr>
      </p:pic>
      <p:pic>
        <p:nvPicPr>
          <p:cNvPr id="6" name="card-card1_face-54" descr="A♥ 카드 앞면 대표 이미지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80000">
            <a:off x="1325880" y="685800"/>
            <a:ext cx="3853543" cy="5394960"/>
          </a:xfrm>
          <a:prstGeom prst="rect">
            <a:avLst/>
          </a:prstGeom>
        </p:spPr>
      </p:pic>
      <p:sp>
        <p:nvSpPr>
          <p:cNvPr id="7" name="text-55"/>
          <p:cNvSpPr txBox="1"/>
          <p:nvPr/>
        </p:nvSpPr>
        <p:spPr>
          <a:xfrm>
            <a:off x="6583680" y="1143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600" kern="0" dirty="0">
                <a:solidFill>
                  <a:srgbClr val="E0475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CHAPTER A</a:t>
            </a:r>
            <a:endParaRPr lang="en-US" sz="1800" dirty="0"/>
          </a:p>
        </p:txBody>
      </p:sp>
      <p:sp>
        <p:nvSpPr>
          <p:cNvPr id="8" name="ch-rank-56"/>
          <p:cNvSpPr txBox="1"/>
          <p:nvPr/>
        </p:nvSpPr>
        <p:spPr>
          <a:xfrm>
            <a:off x="6492240" y="146304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dirty="0">
                <a:solidFill>
                  <a:srgbClr val="F3EBD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</a:t>
            </a:r>
            <a:pPr indent="0" marL="0">
              <a:buNone/>
            </a:pPr>
            <a:r>
              <a:rPr lang="en-US" sz="11000" dirty="0">
                <a:solidFill>
                  <a:srgbClr val="E04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♥</a:t>
            </a:r>
            <a:endParaRPr lang="en-US" sz="15000" dirty="0"/>
          </a:p>
        </p:txBody>
      </p:sp>
      <p:sp>
        <p:nvSpPr>
          <p:cNvPr id="9" name="rect-57"/>
          <p:cNvSpPr/>
          <p:nvPr/>
        </p:nvSpPr>
        <p:spPr>
          <a:xfrm>
            <a:off x="6583680" y="3794760"/>
            <a:ext cx="1097280" cy="54864"/>
          </a:xfrm>
          <a:prstGeom prst="rect">
            <a:avLst/>
          </a:prstGeom>
          <a:solidFill>
            <a:srgbClr val="E0475E"/>
          </a:solidFill>
          <a:ln/>
        </p:spPr>
      </p:sp>
      <p:sp>
        <p:nvSpPr>
          <p:cNvPr id="10" name="text-58"/>
          <p:cNvSpPr txBox="1"/>
          <p:nvPr/>
        </p:nvSpPr>
        <p:spPr>
          <a:xfrm>
            <a:off x="6583680" y="39776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I'm Not Joker</a:t>
            </a:r>
            <a:endParaRPr lang="en-US" sz="3400" dirty="0"/>
          </a:p>
        </p:txBody>
      </p:sp>
      <p:sp>
        <p:nvSpPr>
          <p:cNvPr id="11" name="text-59"/>
          <p:cNvSpPr txBox="1"/>
          <p:nvPr/>
        </p:nvSpPr>
        <p:spPr>
          <a:xfrm>
            <a:off x="6583680" y="47548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C9BFB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EINSX  "NO SMILE"  MUSIC VIDEO</a:t>
            </a:r>
            <a:endParaRPr lang="en-US" sz="1500" dirty="0"/>
          </a:p>
        </p:txBody>
      </p:sp>
      <p:sp>
        <p:nvSpPr>
          <p:cNvPr id="12" name="text-60"/>
          <p:cNvSpPr txBox="1"/>
          <p:nvPr/>
        </p:nvSpPr>
        <p:spPr>
          <a:xfrm>
            <a:off x="6583680" y="51663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아무도 봐주지 않던 소극장 희극인 배우가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은인을 만나 다시 태어나는 이야기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noir-61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uit-62"/>
          <p:cNvSpPr txBox="1"/>
          <p:nvPr/>
        </p:nvSpPr>
        <p:spPr>
          <a:xfrm>
            <a:off x="640080" y="32918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4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♥</a:t>
            </a:r>
            <a:endParaRPr lang="en-US" sz="1500" dirty="0"/>
          </a:p>
        </p:txBody>
      </p:sp>
      <p:sp>
        <p:nvSpPr>
          <p:cNvPr id="4" name="label-63"/>
          <p:cNvSpPr txBox="1"/>
          <p:nvPr/>
        </p:nvSpPr>
        <p:spPr>
          <a:xfrm>
            <a:off x="932688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E0475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I'M NOT JOKER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노력은 배신하지 않는다는 청년의 이야기</a:t>
            </a:r>
            <a:endParaRPr lang="en-US" sz="2800" dirty="0"/>
          </a:p>
        </p:txBody>
      </p:sp>
      <p:sp>
        <p:nvSpPr>
          <p:cNvPr id="6" name="border-64"/>
          <p:cNvSpPr/>
          <p:nvPr/>
        </p:nvSpPr>
        <p:spPr>
          <a:xfrm>
            <a:off x="603504" y="1656207"/>
            <a:ext cx="5742432" cy="3262122"/>
          </a:xfrm>
          <a:prstGeom prst="rect">
            <a:avLst/>
          </a:prstGeom>
          <a:solidFill>
            <a:srgbClr val="3A302C"/>
          </a:solidFill>
          <a:ln/>
        </p:spPr>
      </p:sp>
      <p:pic>
        <p:nvPicPr>
          <p:cNvPr id="7" name="img-a1_1-65" descr="비 온 뒤 홍대 골목 벤치에 앉은 현준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2783"/>
            <a:ext cx="5669280" cy="3188970"/>
          </a:xfrm>
          <a:prstGeom prst="rect">
            <a:avLst/>
          </a:prstGeom>
        </p:spPr>
      </p:pic>
      <p:sp>
        <p:nvSpPr>
          <p:cNvPr id="8" name="text-66"/>
          <p:cNvSpPr txBox="1"/>
          <p:nvPr/>
        </p:nvSpPr>
        <p:spPr>
          <a:xfrm>
            <a:off x="640080" y="49834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S#1  홍대 거리, 소극장 앞 벤치</a:t>
            </a:r>
            <a:endParaRPr lang="en-US" sz="1100" dirty="0"/>
          </a:p>
        </p:txBody>
      </p:sp>
      <p:sp>
        <p:nvSpPr>
          <p:cNvPr id="9" name="text-67"/>
          <p:cNvSpPr txBox="1"/>
          <p:nvPr/>
        </p:nvSpPr>
        <p:spPr>
          <a:xfrm>
            <a:off x="662940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4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로그라인</a:t>
            </a:r>
            <a:endParaRPr lang="en-US" sz="1200" dirty="0"/>
          </a:p>
        </p:txBody>
      </p:sp>
      <p:sp>
        <p:nvSpPr>
          <p:cNvPr id="10" name="text-68"/>
          <p:cNvSpPr txBox="1"/>
          <p:nvPr/>
        </p:nvSpPr>
        <p:spPr>
          <a:xfrm>
            <a:off x="6629400" y="20116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아무도 봐주지 않던 소극장 희극인 배우가, 은인을 만나 새로운 꿈을 찾게 되어 다시 태어나는 이야기</a:t>
            </a:r>
            <a:endParaRPr lang="en-US" sz="1600" dirty="0"/>
          </a:p>
        </p:txBody>
      </p:sp>
      <p:sp>
        <p:nvSpPr>
          <p:cNvPr id="11" name="mark-69"/>
          <p:cNvSpPr txBox="1"/>
          <p:nvPr/>
        </p:nvSpPr>
        <p:spPr>
          <a:xfrm>
            <a:off x="6629400" y="311810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04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♥</a:t>
            </a:r>
            <a:endParaRPr lang="en-US" sz="900" dirty="0"/>
          </a:p>
        </p:txBody>
      </p:sp>
      <p:sp>
        <p:nvSpPr>
          <p:cNvPr id="12" name="bullet-70"/>
          <p:cNvSpPr txBox="1"/>
          <p:nvPr/>
        </p:nvSpPr>
        <p:spPr>
          <a:xfrm>
            <a:off x="6903720" y="31089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방황하는 청년에게 노력한 사람은 꼭 빛을 본다는 메시지 전달</a:t>
            </a:r>
            <a:endParaRPr lang="en-US" sz="1400" dirty="0"/>
          </a:p>
        </p:txBody>
      </p:sp>
      <p:sp>
        <p:nvSpPr>
          <p:cNvPr id="13" name="mark-71"/>
          <p:cNvSpPr txBox="1"/>
          <p:nvPr/>
        </p:nvSpPr>
        <p:spPr>
          <a:xfrm>
            <a:off x="6629400" y="384962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04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♥</a:t>
            </a:r>
            <a:endParaRPr lang="en-US" sz="900" dirty="0"/>
          </a:p>
        </p:txBody>
      </p:sp>
      <p:sp>
        <p:nvSpPr>
          <p:cNvPr id="14" name="bullet-72"/>
          <p:cNvSpPr txBox="1"/>
          <p:nvPr/>
        </p:nvSpPr>
        <p:spPr>
          <a:xfrm>
            <a:off x="6903720" y="38404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아이돌 그룹 EINSX 타이틀곡 「No Smile」을 스토리텔링 뮤직비디오로 기획</a:t>
            </a:r>
            <a:endParaRPr lang="en-US" sz="1400" dirty="0"/>
          </a:p>
        </p:txBody>
      </p:sp>
      <p:sp>
        <p:nvSpPr>
          <p:cNvPr id="15" name="text-73"/>
          <p:cNvSpPr txBox="1"/>
          <p:nvPr/>
        </p:nvSpPr>
        <p:spPr>
          <a:xfrm>
            <a:off x="6629400" y="46634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8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장르</a:t>
            </a:r>
            <a:endParaRPr lang="en-US" sz="1200" dirty="0"/>
          </a:p>
        </p:txBody>
      </p:sp>
      <p:sp>
        <p:nvSpPr>
          <p:cNvPr id="16" name="text-74"/>
          <p:cNvSpPr txBox="1"/>
          <p:nvPr/>
        </p:nvSpPr>
        <p:spPr>
          <a:xfrm>
            <a:off x="7818120" y="46634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뮤직비디오 (심리 드라마)</a:t>
            </a:r>
            <a:endParaRPr lang="en-US" sz="1300" dirty="0"/>
          </a:p>
        </p:txBody>
      </p:sp>
      <p:sp>
        <p:nvSpPr>
          <p:cNvPr id="17" name="text-75"/>
          <p:cNvSpPr txBox="1"/>
          <p:nvPr/>
        </p:nvSpPr>
        <p:spPr>
          <a:xfrm>
            <a:off x="6629400" y="50292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8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</a:t>
            </a:r>
            <a:endParaRPr lang="en-US" sz="1200" dirty="0"/>
          </a:p>
        </p:txBody>
      </p:sp>
      <p:sp>
        <p:nvSpPr>
          <p:cNvPr id="18" name="text-76"/>
          <p:cNvSpPr txBox="1"/>
          <p:nvPr/>
        </p:nvSpPr>
        <p:spPr>
          <a:xfrm>
            <a:off x="7818120" y="50292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유튜브</a:t>
            </a:r>
            <a:endParaRPr lang="en-US" sz="1300" dirty="0"/>
          </a:p>
        </p:txBody>
      </p:sp>
      <p:sp>
        <p:nvSpPr>
          <p:cNvPr id="19" name="text-77"/>
          <p:cNvSpPr txBox="1"/>
          <p:nvPr/>
        </p:nvSpPr>
        <p:spPr>
          <a:xfrm>
            <a:off x="6629400" y="53949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8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</a:t>
            </a:r>
            <a:endParaRPr lang="en-US" sz="1200" dirty="0"/>
          </a:p>
        </p:txBody>
      </p:sp>
      <p:sp>
        <p:nvSpPr>
          <p:cNvPr id="20" name="text-78"/>
          <p:cNvSpPr txBox="1"/>
          <p:nvPr/>
        </p:nvSpPr>
        <p:spPr>
          <a:xfrm>
            <a:off x="7818120" y="53949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20~30대 / 아이돌 팬덤</a:t>
            </a:r>
            <a:endParaRPr lang="en-US" sz="1300" dirty="0"/>
          </a:p>
        </p:txBody>
      </p:sp>
      <p:sp>
        <p:nvSpPr>
          <p:cNvPr id="21" name="text-79"/>
          <p:cNvSpPr txBox="1"/>
          <p:nvPr/>
        </p:nvSpPr>
        <p:spPr>
          <a:xfrm>
            <a:off x="6629400" y="57607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8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러닝타임</a:t>
            </a:r>
            <a:endParaRPr lang="en-US" sz="1200" dirty="0"/>
          </a:p>
        </p:txBody>
      </p:sp>
      <p:sp>
        <p:nvSpPr>
          <p:cNvPr id="22" name="text-80"/>
          <p:cNvSpPr txBox="1"/>
          <p:nvPr/>
        </p:nvSpPr>
        <p:spPr>
          <a:xfrm>
            <a:off x="7818120" y="57607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4분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6E66"/>
                </a:solidFill>
                <a:latin typeface="Impact"/>
                <a:ea typeface="Impact"/>
                <a:cs typeface="Impact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noir-81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uit-82"/>
          <p:cNvSpPr txBox="1"/>
          <p:nvPr/>
        </p:nvSpPr>
        <p:spPr>
          <a:xfrm>
            <a:off x="640080" y="32918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4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♥</a:t>
            </a:r>
            <a:endParaRPr lang="en-US" sz="1500" dirty="0"/>
          </a:p>
        </p:txBody>
      </p:sp>
      <p:sp>
        <p:nvSpPr>
          <p:cNvPr id="4" name="label-83"/>
          <p:cNvSpPr txBox="1"/>
          <p:nvPr/>
        </p:nvSpPr>
        <p:spPr>
          <a:xfrm>
            <a:off x="932688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E0475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I'M NOT JOKER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퇴폐미 있는 외모의 노잼 희극인과 그를 알아본 은인</a:t>
            </a:r>
            <a:endParaRPr lang="en-US" sz="2800" dirty="0"/>
          </a:p>
        </p:txBody>
      </p:sp>
      <p:sp>
        <p:nvSpPr>
          <p:cNvPr id="6" name="border-84"/>
          <p:cNvSpPr/>
          <p:nvPr/>
        </p:nvSpPr>
        <p:spPr>
          <a:xfrm>
            <a:off x="603504" y="1665923"/>
            <a:ext cx="5376672" cy="3023235"/>
          </a:xfrm>
          <a:prstGeom prst="rect">
            <a:avLst/>
          </a:prstGeom>
          <a:solidFill>
            <a:srgbClr val="F3EBDD"/>
          </a:solidFill>
          <a:ln/>
        </p:spPr>
      </p:sp>
      <p:pic>
        <p:nvPicPr>
          <p:cNvPr id="7" name="img-hyunjun-85" descr="박현준 캐릭터 시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02499"/>
            <a:ext cx="5303520" cy="2950083"/>
          </a:xfrm>
          <a:prstGeom prst="rect">
            <a:avLst/>
          </a:prstGeom>
        </p:spPr>
      </p:pic>
      <p:sp>
        <p:nvSpPr>
          <p:cNvPr id="8" name="text-86"/>
          <p:cNvSpPr txBox="1"/>
          <p:nvPr/>
        </p:nvSpPr>
        <p:spPr>
          <a:xfrm>
            <a:off x="640080" y="4846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박현준</a:t>
            </a:r>
            <a:endParaRPr lang="en-US" sz="2100" dirty="0"/>
          </a:p>
        </p:txBody>
      </p:sp>
      <p:sp>
        <p:nvSpPr>
          <p:cNvPr id="9" name="text-87"/>
          <p:cNvSpPr txBox="1"/>
          <p:nvPr/>
        </p:nvSpPr>
        <p:spPr>
          <a:xfrm>
            <a:off x="2057400" y="49011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4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주인공 / EINSX 멤버</a:t>
            </a:r>
            <a:endParaRPr lang="en-US" sz="1200" dirty="0"/>
          </a:p>
        </p:txBody>
      </p:sp>
      <p:sp>
        <p:nvSpPr>
          <p:cNvPr id="10" name="text-88"/>
          <p:cNvSpPr txBox="1"/>
          <p:nvPr/>
        </p:nvSpPr>
        <p:spPr>
          <a:xfrm>
            <a:off x="640080" y="53492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CF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ISTJ, 퇴폐미 있게 잘생긴 외모. 주위 권유로 희극인이 됐지만 웃음의 재능이 없어 방황하는 인물</a:t>
            </a:r>
            <a:endParaRPr lang="en-US" sz="1300" dirty="0"/>
          </a:p>
        </p:txBody>
      </p:sp>
      <p:sp>
        <p:nvSpPr>
          <p:cNvPr id="11" name="border-89"/>
          <p:cNvSpPr/>
          <p:nvPr/>
        </p:nvSpPr>
        <p:spPr>
          <a:xfrm>
            <a:off x="6182669" y="1655064"/>
            <a:ext cx="5374022" cy="3044952"/>
          </a:xfrm>
          <a:prstGeom prst="rect">
            <a:avLst/>
          </a:prstGeom>
          <a:solidFill>
            <a:srgbClr val="F3EBDD"/>
          </a:solidFill>
          <a:ln/>
        </p:spPr>
      </p:sp>
      <p:pic>
        <p:nvPicPr>
          <p:cNvPr id="12" name="img-kanghoon-90" descr="강훈 캐릭터 시트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245" y="1691640"/>
            <a:ext cx="5300870" cy="2971800"/>
          </a:xfrm>
          <a:prstGeom prst="rect">
            <a:avLst/>
          </a:prstGeom>
        </p:spPr>
      </p:pic>
      <p:sp>
        <p:nvSpPr>
          <p:cNvPr id="13" name="text-91"/>
          <p:cNvSpPr txBox="1"/>
          <p:nvPr/>
        </p:nvSpPr>
        <p:spPr>
          <a:xfrm>
            <a:off x="6217920" y="4846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강훈</a:t>
            </a:r>
            <a:endParaRPr lang="en-US" sz="2100" dirty="0"/>
          </a:p>
        </p:txBody>
      </p:sp>
      <p:sp>
        <p:nvSpPr>
          <p:cNvPr id="14" name="text-92"/>
          <p:cNvSpPr txBox="1"/>
          <p:nvPr/>
        </p:nvSpPr>
        <p:spPr>
          <a:xfrm>
            <a:off x="7635240" y="49011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4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소극장 연출자 / 40대</a:t>
            </a:r>
            <a:endParaRPr lang="en-US" sz="1200" dirty="0"/>
          </a:p>
        </p:txBody>
      </p:sp>
      <p:sp>
        <p:nvSpPr>
          <p:cNvPr id="15" name="text-93"/>
          <p:cNvSpPr txBox="1"/>
          <p:nvPr/>
        </p:nvSpPr>
        <p:spPr>
          <a:xfrm>
            <a:off x="6217920" y="53492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CF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현준의 마스크를 알아보고 뮤지컬에 캐스팅, 가창력까지 발견해 새 길을 열어 주는 은인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6E66"/>
                </a:solidFill>
                <a:latin typeface="Impact"/>
                <a:ea typeface="Impact"/>
                <a:cs typeface="Impact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alley-94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uit-95"/>
          <p:cNvSpPr txBox="1"/>
          <p:nvPr/>
        </p:nvSpPr>
        <p:spPr>
          <a:xfrm>
            <a:off x="640080" y="32918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4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♥</a:t>
            </a:r>
            <a:endParaRPr lang="en-US" sz="1500" dirty="0"/>
          </a:p>
        </p:txBody>
      </p:sp>
      <p:sp>
        <p:nvSpPr>
          <p:cNvPr id="4" name="label-96"/>
          <p:cNvSpPr txBox="1"/>
          <p:nvPr/>
        </p:nvSpPr>
        <p:spPr>
          <a:xfrm>
            <a:off x="932688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E0475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I'M NOT JOKER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몰락에서 비상까지, 3막 서사 구조</a:t>
            </a:r>
            <a:endParaRPr lang="en-US" sz="2800" dirty="0"/>
          </a:p>
        </p:txBody>
      </p:sp>
      <p:sp>
        <p:nvSpPr>
          <p:cNvPr id="6" name="text-97"/>
          <p:cNvSpPr txBox="1"/>
          <p:nvPr/>
        </p:nvSpPr>
        <p:spPr>
          <a:xfrm>
            <a:off x="640080" y="1645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475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ACT 1  </a:t>
            </a:r>
            <a:pPr indent="0" marL="0">
              <a:buNone/>
            </a:pPr>
            <a:r>
              <a:rPr lang="en-US" sz="18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몰락</a:t>
            </a:r>
            <a:endParaRPr lang="en-US" sz="1800" dirty="0"/>
          </a:p>
        </p:txBody>
      </p:sp>
      <p:sp>
        <p:nvSpPr>
          <p:cNvPr id="7" name="border-98"/>
          <p:cNvSpPr/>
          <p:nvPr/>
        </p:nvSpPr>
        <p:spPr>
          <a:xfrm>
            <a:off x="603504" y="2114550"/>
            <a:ext cx="3364992" cy="1924812"/>
          </a:xfrm>
          <a:prstGeom prst="rect">
            <a:avLst/>
          </a:prstGeom>
          <a:solidFill>
            <a:srgbClr val="3A302C"/>
          </a:solidFill>
          <a:ln/>
        </p:spPr>
      </p:sp>
      <p:pic>
        <p:nvPicPr>
          <p:cNvPr id="8" name="img-a5_3-99" descr="몰락 장면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51126"/>
            <a:ext cx="3291840" cy="1851660"/>
          </a:xfrm>
          <a:prstGeom prst="rect">
            <a:avLst/>
          </a:prstGeom>
        </p:spPr>
      </p:pic>
      <p:sp>
        <p:nvSpPr>
          <p:cNvPr id="9" name="border-100"/>
          <p:cNvSpPr/>
          <p:nvPr/>
        </p:nvSpPr>
        <p:spPr>
          <a:xfrm>
            <a:off x="603504" y="4080510"/>
            <a:ext cx="3364992" cy="1924812"/>
          </a:xfrm>
          <a:prstGeom prst="rect">
            <a:avLst/>
          </a:prstGeom>
          <a:solidFill>
            <a:srgbClr val="3A302C"/>
          </a:solidFill>
          <a:ln/>
        </p:spPr>
      </p:sp>
      <p:pic>
        <p:nvPicPr>
          <p:cNvPr id="10" name="img-a7_9-101" descr="몰락 장면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17086"/>
            <a:ext cx="3291840" cy="1851660"/>
          </a:xfrm>
          <a:prstGeom prst="rect">
            <a:avLst/>
          </a:prstGeom>
        </p:spPr>
      </p:pic>
      <p:sp>
        <p:nvSpPr>
          <p:cNvPr id="11" name="text-102"/>
          <p:cNvSpPr txBox="1"/>
          <p:nvPr/>
        </p:nvSpPr>
        <p:spPr>
          <a:xfrm>
            <a:off x="4005072" y="29718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4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600" dirty="0"/>
          </a:p>
        </p:txBody>
      </p:sp>
      <p:sp>
        <p:nvSpPr>
          <p:cNvPr id="12" name="text-103"/>
          <p:cNvSpPr txBox="1"/>
          <p:nvPr/>
        </p:nvSpPr>
        <p:spPr>
          <a:xfrm>
            <a:off x="4389120" y="1645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475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ACT 2  </a:t>
            </a:r>
            <a:pPr indent="0" marL="0">
              <a:buNone/>
            </a:pPr>
            <a:r>
              <a:rPr lang="en-US" sz="18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</a:t>
            </a:r>
            <a:endParaRPr lang="en-US" sz="1800" dirty="0"/>
          </a:p>
        </p:txBody>
      </p:sp>
      <p:sp>
        <p:nvSpPr>
          <p:cNvPr id="13" name="border-104"/>
          <p:cNvSpPr/>
          <p:nvPr/>
        </p:nvSpPr>
        <p:spPr>
          <a:xfrm>
            <a:off x="4352544" y="2114550"/>
            <a:ext cx="3364992" cy="1924812"/>
          </a:xfrm>
          <a:prstGeom prst="rect">
            <a:avLst/>
          </a:prstGeom>
          <a:solidFill>
            <a:srgbClr val="3A302C"/>
          </a:solidFill>
          <a:ln/>
        </p:spPr>
      </p:sp>
      <p:pic>
        <p:nvPicPr>
          <p:cNvPr id="14" name="img-a7_14-105" descr="전환 장면 1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151126"/>
            <a:ext cx="3291840" cy="1851660"/>
          </a:xfrm>
          <a:prstGeom prst="rect">
            <a:avLst/>
          </a:prstGeom>
        </p:spPr>
      </p:pic>
      <p:sp>
        <p:nvSpPr>
          <p:cNvPr id="15" name="border-106"/>
          <p:cNvSpPr/>
          <p:nvPr/>
        </p:nvSpPr>
        <p:spPr>
          <a:xfrm>
            <a:off x="4352544" y="4080510"/>
            <a:ext cx="3364992" cy="1924812"/>
          </a:xfrm>
          <a:prstGeom prst="rect">
            <a:avLst/>
          </a:prstGeom>
          <a:solidFill>
            <a:srgbClr val="3A302C"/>
          </a:solidFill>
          <a:ln/>
        </p:spPr>
      </p:sp>
      <p:pic>
        <p:nvPicPr>
          <p:cNvPr id="16" name="img-a9_1-107" descr="전환 장면 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4117086"/>
            <a:ext cx="3291840" cy="1851660"/>
          </a:xfrm>
          <a:prstGeom prst="rect">
            <a:avLst/>
          </a:prstGeom>
        </p:spPr>
      </p:pic>
      <p:sp>
        <p:nvSpPr>
          <p:cNvPr id="17" name="text-108"/>
          <p:cNvSpPr txBox="1"/>
          <p:nvPr/>
        </p:nvSpPr>
        <p:spPr>
          <a:xfrm>
            <a:off x="7754112" y="29718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4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600" dirty="0"/>
          </a:p>
        </p:txBody>
      </p:sp>
      <p:sp>
        <p:nvSpPr>
          <p:cNvPr id="18" name="text-109"/>
          <p:cNvSpPr txBox="1"/>
          <p:nvPr/>
        </p:nvSpPr>
        <p:spPr>
          <a:xfrm>
            <a:off x="8138160" y="1645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475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ACT 3  </a:t>
            </a:r>
            <a:pPr indent="0" marL="0">
              <a:buNone/>
            </a:pPr>
            <a:r>
              <a:rPr lang="en-US" sz="18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비상</a:t>
            </a:r>
            <a:endParaRPr lang="en-US" sz="1800" dirty="0"/>
          </a:p>
        </p:txBody>
      </p:sp>
      <p:sp>
        <p:nvSpPr>
          <p:cNvPr id="19" name="border-110"/>
          <p:cNvSpPr/>
          <p:nvPr/>
        </p:nvSpPr>
        <p:spPr>
          <a:xfrm>
            <a:off x="8101584" y="2114550"/>
            <a:ext cx="3364992" cy="1924812"/>
          </a:xfrm>
          <a:prstGeom prst="rect">
            <a:avLst/>
          </a:prstGeom>
          <a:solidFill>
            <a:srgbClr val="3A302C"/>
          </a:solidFill>
          <a:ln/>
        </p:spPr>
      </p:sp>
      <p:pic>
        <p:nvPicPr>
          <p:cNvPr id="20" name="img-a12_6-111" descr="비상 장면 1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2151126"/>
            <a:ext cx="3291840" cy="1851660"/>
          </a:xfrm>
          <a:prstGeom prst="rect">
            <a:avLst/>
          </a:prstGeom>
        </p:spPr>
      </p:pic>
      <p:sp>
        <p:nvSpPr>
          <p:cNvPr id="21" name="border-112"/>
          <p:cNvSpPr/>
          <p:nvPr/>
        </p:nvSpPr>
        <p:spPr>
          <a:xfrm>
            <a:off x="8101584" y="4080510"/>
            <a:ext cx="3364992" cy="1924812"/>
          </a:xfrm>
          <a:prstGeom prst="rect">
            <a:avLst/>
          </a:prstGeom>
          <a:solidFill>
            <a:srgbClr val="3A302C"/>
          </a:solidFill>
          <a:ln/>
        </p:spPr>
      </p:sp>
      <p:pic>
        <p:nvPicPr>
          <p:cNvPr id="22" name="img-a16_5-113" descr="비상 장면 2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4117086"/>
            <a:ext cx="3291840" cy="1851660"/>
          </a:xfrm>
          <a:prstGeom prst="rect">
            <a:avLst/>
          </a:prstGeom>
        </p:spPr>
      </p:pic>
      <p:sp>
        <p:nvSpPr>
          <p:cNvPr id="23" name="text-114"/>
          <p:cNvSpPr txBox="1"/>
          <p:nvPr/>
        </p:nvSpPr>
        <p:spPr>
          <a:xfrm>
            <a:off x="640080" y="6035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CF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소극장 무대의 싸늘한 반응과 계란 세례, 골목에서의 주먹다짐</a:t>
            </a:r>
            <a:endParaRPr lang="en-US" sz="1100" dirty="0"/>
          </a:p>
        </p:txBody>
      </p:sp>
      <p:sp>
        <p:nvSpPr>
          <p:cNvPr id="24" name="text-115"/>
          <p:cNvSpPr txBox="1"/>
          <p:nvPr/>
        </p:nvSpPr>
        <p:spPr>
          <a:xfrm>
            <a:off x="4389120" y="6035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CF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쓰러진 현준에게 던져진 뮤지컬 대본, 녹음실에서 드러난 가창력</a:t>
            </a:r>
            <a:endParaRPr lang="en-US" sz="1100" dirty="0"/>
          </a:p>
        </p:txBody>
      </p:sp>
      <p:sp>
        <p:nvSpPr>
          <p:cNvPr id="25" name="text-116"/>
          <p:cNvSpPr txBox="1"/>
          <p:nvPr/>
        </p:nvSpPr>
        <p:spPr>
          <a:xfrm>
            <a:off x="8138160" y="6035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CF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트럼프 카드가 흩날리는 대극장 무대와 처음으로 활짝 웃는 현준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6E66"/>
                </a:solidFill>
                <a:latin typeface="Impact"/>
                <a:ea typeface="Impact"/>
                <a:cs typeface="Impact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noir-117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uit-118"/>
          <p:cNvSpPr txBox="1"/>
          <p:nvPr/>
        </p:nvSpPr>
        <p:spPr>
          <a:xfrm>
            <a:off x="640080" y="32918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4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♥</a:t>
            </a:r>
            <a:endParaRPr lang="en-US" sz="1500" dirty="0"/>
          </a:p>
        </p:txBody>
      </p:sp>
      <p:sp>
        <p:nvSpPr>
          <p:cNvPr id="4" name="label-119"/>
          <p:cNvSpPr txBox="1"/>
          <p:nvPr/>
        </p:nvSpPr>
        <p:spPr>
          <a:xfrm>
            <a:off x="932688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E0475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I'M NOT JOKER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붉게 번진 입꼬리, 작품을 관통하는 조커 모티프</a:t>
            </a:r>
            <a:endParaRPr lang="en-US" sz="2800" dirty="0"/>
          </a:p>
        </p:txBody>
      </p:sp>
      <p:sp>
        <p:nvSpPr>
          <p:cNvPr id="6" name="border-120"/>
          <p:cNvSpPr/>
          <p:nvPr/>
        </p:nvSpPr>
        <p:spPr>
          <a:xfrm>
            <a:off x="620535" y="1655064"/>
            <a:ext cx="3513810" cy="2029968"/>
          </a:xfrm>
          <a:prstGeom prst="rect">
            <a:avLst/>
          </a:prstGeom>
          <a:solidFill>
            <a:srgbClr val="3A302C"/>
          </a:solidFill>
          <a:ln/>
        </p:spPr>
      </p:sp>
      <p:pic>
        <p:nvPicPr>
          <p:cNvPr id="7" name="img-a3_3-121" descr="S#3 장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11" y="1691640"/>
            <a:ext cx="3440658" cy="1956816"/>
          </a:xfrm>
          <a:prstGeom prst="rect">
            <a:avLst/>
          </a:prstGeom>
        </p:spPr>
      </p:pic>
      <p:sp>
        <p:nvSpPr>
          <p:cNvPr id="8" name="rect-122"/>
          <p:cNvSpPr/>
          <p:nvPr/>
        </p:nvSpPr>
        <p:spPr>
          <a:xfrm>
            <a:off x="640080" y="3794760"/>
            <a:ext cx="731520" cy="274320"/>
          </a:xfrm>
          <a:prstGeom prst="rect">
            <a:avLst/>
          </a:prstGeom>
          <a:solidFill>
            <a:srgbClr val="B3122E"/>
          </a:solidFill>
          <a:ln/>
        </p:spPr>
      </p:sp>
      <p:sp>
        <p:nvSpPr>
          <p:cNvPr id="9" name="tag-123"/>
          <p:cNvSpPr txBox="1"/>
          <p:nvPr/>
        </p:nvSpPr>
        <p:spPr>
          <a:xfrm>
            <a:off x="640080" y="3794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EBD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S#3</a:t>
            </a:r>
            <a:endParaRPr lang="en-US" sz="1200" dirty="0"/>
          </a:p>
        </p:txBody>
      </p:sp>
      <p:sp>
        <p:nvSpPr>
          <p:cNvPr id="10" name="text-124"/>
          <p:cNvSpPr txBox="1"/>
          <p:nvPr/>
        </p:nvSpPr>
        <p:spPr>
          <a:xfrm>
            <a:off x="640080" y="4160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분장실, 입꼬리까지 삐져나오게 그린 붉은 립</a:t>
            </a:r>
            <a:endParaRPr lang="en-US" sz="1300" dirty="0"/>
          </a:p>
        </p:txBody>
      </p:sp>
      <p:sp>
        <p:nvSpPr>
          <p:cNvPr id="11" name="border-125"/>
          <p:cNvSpPr/>
          <p:nvPr/>
        </p:nvSpPr>
        <p:spPr>
          <a:xfrm>
            <a:off x="4261104" y="1656207"/>
            <a:ext cx="3547872" cy="2027682"/>
          </a:xfrm>
          <a:prstGeom prst="rect">
            <a:avLst/>
          </a:prstGeom>
          <a:solidFill>
            <a:srgbClr val="3A302C"/>
          </a:solidFill>
          <a:ln/>
        </p:spPr>
      </p:sp>
      <p:pic>
        <p:nvPicPr>
          <p:cNvPr id="12" name="img-a7_15-126" descr="S#7 장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692783"/>
            <a:ext cx="3474720" cy="1954530"/>
          </a:xfrm>
          <a:prstGeom prst="rect">
            <a:avLst/>
          </a:prstGeom>
        </p:spPr>
      </p:pic>
      <p:sp>
        <p:nvSpPr>
          <p:cNvPr id="13" name="rect-127"/>
          <p:cNvSpPr/>
          <p:nvPr/>
        </p:nvSpPr>
        <p:spPr>
          <a:xfrm>
            <a:off x="4297680" y="3794760"/>
            <a:ext cx="731520" cy="274320"/>
          </a:xfrm>
          <a:prstGeom prst="rect">
            <a:avLst/>
          </a:prstGeom>
          <a:solidFill>
            <a:srgbClr val="B3122E"/>
          </a:solidFill>
          <a:ln/>
        </p:spPr>
      </p:sp>
      <p:sp>
        <p:nvSpPr>
          <p:cNvPr id="14" name="tag-128"/>
          <p:cNvSpPr txBox="1"/>
          <p:nvPr/>
        </p:nvSpPr>
        <p:spPr>
          <a:xfrm>
            <a:off x="4297680" y="3794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EBD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S#7</a:t>
            </a:r>
            <a:endParaRPr lang="en-US" sz="1200" dirty="0"/>
          </a:p>
        </p:txBody>
      </p:sp>
      <p:sp>
        <p:nvSpPr>
          <p:cNvPr id="15" name="text-129"/>
          <p:cNvSpPr txBox="1"/>
          <p:nvPr/>
        </p:nvSpPr>
        <p:spPr>
          <a:xfrm>
            <a:off x="4297680" y="4160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분장인지 피인지 모르게 번진 입술과 WILD CARD 대본</a:t>
            </a:r>
            <a:endParaRPr lang="en-US" sz="1300" dirty="0"/>
          </a:p>
        </p:txBody>
      </p:sp>
      <p:sp>
        <p:nvSpPr>
          <p:cNvPr id="16" name="border-130"/>
          <p:cNvSpPr/>
          <p:nvPr/>
        </p:nvSpPr>
        <p:spPr>
          <a:xfrm>
            <a:off x="7918704" y="1656207"/>
            <a:ext cx="3547872" cy="2027682"/>
          </a:xfrm>
          <a:prstGeom prst="rect">
            <a:avLst/>
          </a:prstGeom>
          <a:solidFill>
            <a:srgbClr val="B3122E"/>
          </a:solidFill>
          <a:ln/>
        </p:spPr>
      </p:sp>
      <p:pic>
        <p:nvPicPr>
          <p:cNvPr id="17" name="img-a16_5-131" descr="S#17 장면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1692783"/>
            <a:ext cx="3474720" cy="1954530"/>
          </a:xfrm>
          <a:prstGeom prst="rect">
            <a:avLst/>
          </a:prstGeom>
        </p:spPr>
      </p:pic>
      <p:sp>
        <p:nvSpPr>
          <p:cNvPr id="18" name="rect-132"/>
          <p:cNvSpPr/>
          <p:nvPr/>
        </p:nvSpPr>
        <p:spPr>
          <a:xfrm>
            <a:off x="7955280" y="3794760"/>
            <a:ext cx="731520" cy="274320"/>
          </a:xfrm>
          <a:prstGeom prst="rect">
            <a:avLst/>
          </a:prstGeom>
          <a:solidFill>
            <a:srgbClr val="B3122E"/>
          </a:solidFill>
          <a:ln/>
        </p:spPr>
      </p:sp>
      <p:sp>
        <p:nvSpPr>
          <p:cNvPr id="19" name="tag-133"/>
          <p:cNvSpPr txBox="1"/>
          <p:nvPr/>
        </p:nvSpPr>
        <p:spPr>
          <a:xfrm>
            <a:off x="7955280" y="3794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EBD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S#17</a:t>
            </a:r>
            <a:endParaRPr lang="en-US" sz="1200" dirty="0"/>
          </a:p>
        </p:txBody>
      </p:sp>
      <p:sp>
        <p:nvSpPr>
          <p:cNvPr id="20" name="text-134"/>
          <p:cNvSpPr txBox="1"/>
          <p:nvPr/>
        </p:nvSpPr>
        <p:spPr>
          <a:xfrm>
            <a:off x="7955280" y="4160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얼굴에 처음으로 피어난 진짜 웃음</a:t>
            </a:r>
            <a:endParaRPr lang="en-US" sz="1300" dirty="0"/>
          </a:p>
        </p:txBody>
      </p:sp>
      <p:sp>
        <p:nvSpPr>
          <p:cNvPr id="21" name="rect-135"/>
          <p:cNvSpPr/>
          <p:nvPr/>
        </p:nvSpPr>
        <p:spPr>
          <a:xfrm>
            <a:off x="640080" y="4983480"/>
            <a:ext cx="10881360" cy="1097280"/>
          </a:xfrm>
          <a:prstGeom prst="rect">
            <a:avLst/>
          </a:prstGeom>
          <a:solidFill>
            <a:srgbClr val="1C1817">
              <a:alpha val="85000"/>
            </a:srgbClr>
          </a:solidFill>
          <a:ln/>
        </p:spPr>
      </p:sp>
      <p:sp>
        <p:nvSpPr>
          <p:cNvPr id="22" name="rect-136"/>
          <p:cNvSpPr/>
          <p:nvPr/>
        </p:nvSpPr>
        <p:spPr>
          <a:xfrm>
            <a:off x="640080" y="4983480"/>
            <a:ext cx="73152" cy="1097280"/>
          </a:xfrm>
          <a:prstGeom prst="rect">
            <a:avLst/>
          </a:prstGeom>
          <a:solidFill>
            <a:srgbClr val="B3122E"/>
          </a:solidFill>
          <a:ln/>
        </p:spPr>
      </p:sp>
      <p:sp>
        <p:nvSpPr>
          <p:cNvPr id="23" name="mark-137"/>
          <p:cNvSpPr txBox="1"/>
          <p:nvPr/>
        </p:nvSpPr>
        <p:spPr>
          <a:xfrm>
            <a:off x="960120" y="512978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04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♥</a:t>
            </a:r>
            <a:endParaRPr lang="en-US" sz="900" dirty="0"/>
          </a:p>
        </p:txBody>
      </p:sp>
      <p:sp>
        <p:nvSpPr>
          <p:cNvPr id="24" name="bullet-138"/>
          <p:cNvSpPr txBox="1"/>
          <p:nvPr/>
        </p:nvSpPr>
        <p:spPr>
          <a:xfrm>
            <a:off x="1234440" y="5120640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웃음을 강요받는 분장을 몰락과 비상을 잇는 시각 모티프로 반복 배치</a:t>
            </a:r>
            <a:endParaRPr lang="en-US" sz="1400" dirty="0"/>
          </a:p>
        </p:txBody>
      </p:sp>
      <p:sp>
        <p:nvSpPr>
          <p:cNvPr id="25" name="mark-139"/>
          <p:cNvSpPr txBox="1"/>
          <p:nvPr/>
        </p:nvSpPr>
        <p:spPr>
          <a:xfrm>
            <a:off x="960120" y="556869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04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♥</a:t>
            </a:r>
            <a:endParaRPr lang="en-US" sz="900" dirty="0"/>
          </a:p>
        </p:txBody>
      </p:sp>
      <p:sp>
        <p:nvSpPr>
          <p:cNvPr id="26" name="bullet-140"/>
          <p:cNvSpPr txBox="1"/>
          <p:nvPr/>
        </p:nvSpPr>
        <p:spPr>
          <a:xfrm>
            <a:off x="1234440" y="5559552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'WILD CARD' 대본과 트럼프 카드 연출로 인생 역전의 계기를 상징화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6E66"/>
                </a:solidFill>
                <a:latin typeface="Impact"/>
                <a:ea typeface="Impact"/>
                <a:cs typeface="Impact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noir-141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uit-142"/>
          <p:cNvSpPr txBox="1"/>
          <p:nvPr/>
        </p:nvSpPr>
        <p:spPr>
          <a:xfrm>
            <a:off x="640080" y="32918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4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♥</a:t>
            </a:r>
            <a:endParaRPr lang="en-US" sz="1500" dirty="0"/>
          </a:p>
        </p:txBody>
      </p:sp>
      <p:sp>
        <p:nvSpPr>
          <p:cNvPr id="4" name="label-143"/>
          <p:cNvSpPr txBox="1"/>
          <p:nvPr/>
        </p:nvSpPr>
        <p:spPr>
          <a:xfrm>
            <a:off x="932688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E0475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I'M NOT JOKER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카드와 샹들리에로 완성한 무대 스펙터클</a:t>
            </a:r>
            <a:endParaRPr lang="en-US" sz="2800" dirty="0"/>
          </a:p>
        </p:txBody>
      </p:sp>
      <p:sp>
        <p:nvSpPr>
          <p:cNvPr id="6" name="border-144"/>
          <p:cNvSpPr/>
          <p:nvPr/>
        </p:nvSpPr>
        <p:spPr>
          <a:xfrm>
            <a:off x="603504" y="1656779"/>
            <a:ext cx="6748272" cy="3827907"/>
          </a:xfrm>
          <a:prstGeom prst="rect">
            <a:avLst/>
          </a:prstGeom>
          <a:solidFill>
            <a:srgbClr val="3A302C"/>
          </a:solidFill>
          <a:ln/>
        </p:spPr>
      </p:sp>
      <p:pic>
        <p:nvPicPr>
          <p:cNvPr id="7" name="img-a12_1-145" descr="샹들리에와 붉은 커튼 앞에서 노래하는 현준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3355"/>
            <a:ext cx="6675120" cy="3754755"/>
          </a:xfrm>
          <a:prstGeom prst="rect">
            <a:avLst/>
          </a:prstGeom>
        </p:spPr>
      </p:pic>
      <p:sp>
        <p:nvSpPr>
          <p:cNvPr id="8" name="border-146"/>
          <p:cNvSpPr/>
          <p:nvPr/>
        </p:nvSpPr>
        <p:spPr>
          <a:xfrm>
            <a:off x="7509510" y="1655064"/>
            <a:ext cx="4046220" cy="2240280"/>
          </a:xfrm>
          <a:prstGeom prst="rect">
            <a:avLst/>
          </a:prstGeom>
          <a:solidFill>
            <a:srgbClr val="B8955A"/>
          </a:solidFill>
          <a:ln/>
        </p:spPr>
      </p:sp>
      <p:pic>
        <p:nvPicPr>
          <p:cNvPr id="9" name="img-a11_1-147" descr="트럼프 카드 위로 떠오른 몇 달 후 인서트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6086" y="1691640"/>
            <a:ext cx="3973068" cy="2167128"/>
          </a:xfrm>
          <a:prstGeom prst="rect">
            <a:avLst/>
          </a:prstGeom>
        </p:spPr>
      </p:pic>
      <p:sp>
        <p:nvSpPr>
          <p:cNvPr id="10" name="border-148"/>
          <p:cNvSpPr/>
          <p:nvPr/>
        </p:nvSpPr>
        <p:spPr>
          <a:xfrm>
            <a:off x="8195564" y="3950208"/>
            <a:ext cx="2674112" cy="1536192"/>
          </a:xfrm>
          <a:prstGeom prst="rect">
            <a:avLst/>
          </a:prstGeom>
          <a:solidFill>
            <a:srgbClr val="3A302C"/>
          </a:solidFill>
          <a:ln/>
        </p:spPr>
      </p:sp>
      <p:pic>
        <p:nvPicPr>
          <p:cNvPr id="11" name="img-a12_7-149" descr="거대한 공연장 한가운데 선 현준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2140" y="3986784"/>
            <a:ext cx="2600960" cy="1463040"/>
          </a:xfrm>
          <a:prstGeom prst="rect">
            <a:avLst/>
          </a:prstGeom>
        </p:spPr>
      </p:pic>
      <p:sp>
        <p:nvSpPr>
          <p:cNvPr id="12" name="mark-150"/>
          <p:cNvSpPr txBox="1"/>
          <p:nvPr/>
        </p:nvSpPr>
        <p:spPr>
          <a:xfrm>
            <a:off x="640080" y="560527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04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♥</a:t>
            </a:r>
            <a:endParaRPr lang="en-US" sz="750" dirty="0"/>
          </a:p>
        </p:txBody>
      </p:sp>
      <p:sp>
        <p:nvSpPr>
          <p:cNvPr id="13" name="bullet-151"/>
          <p:cNvSpPr txBox="1"/>
          <p:nvPr/>
        </p:nvSpPr>
        <p:spPr>
          <a:xfrm>
            <a:off x="914400" y="559612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'몇 달 후' 카드 인서트로 시간 경과를 장면 전환에 녹인 연출</a:t>
            </a:r>
            <a:endParaRPr lang="en-US" sz="1250" dirty="0"/>
          </a:p>
        </p:txBody>
      </p:sp>
      <p:sp>
        <p:nvSpPr>
          <p:cNvPr id="14" name="mark-152"/>
          <p:cNvSpPr txBox="1"/>
          <p:nvPr/>
        </p:nvSpPr>
        <p:spPr>
          <a:xfrm>
            <a:off x="640080" y="587959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04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♥</a:t>
            </a:r>
            <a:endParaRPr lang="en-US" sz="750" dirty="0"/>
          </a:p>
        </p:txBody>
      </p:sp>
      <p:sp>
        <p:nvSpPr>
          <p:cNvPr id="15" name="bullet-153"/>
          <p:cNvSpPr txBox="1"/>
          <p:nvPr/>
        </p:nvSpPr>
        <p:spPr>
          <a:xfrm>
            <a:off x="914400" y="58704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붉은 커튼 / 샹들리에 / 흩날리는 카드로 소극장과 대비되는 무대 스케일 표현</a:t>
            </a:r>
            <a:endParaRPr lang="en-US" sz="1250" dirty="0"/>
          </a:p>
        </p:txBody>
      </p:sp>
      <p:sp>
        <p:nvSpPr>
          <p:cNvPr id="16" name="mark-154"/>
          <p:cNvSpPr txBox="1"/>
          <p:nvPr/>
        </p:nvSpPr>
        <p:spPr>
          <a:xfrm>
            <a:off x="640080" y="615391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04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♥</a:t>
            </a:r>
            <a:endParaRPr lang="en-US" sz="750" dirty="0"/>
          </a:p>
        </p:txBody>
      </p:sp>
      <p:sp>
        <p:nvSpPr>
          <p:cNvPr id="17" name="bullet-155"/>
          <p:cNvSpPr txBox="1"/>
          <p:nvPr/>
        </p:nvSpPr>
        <p:spPr>
          <a:xfrm>
            <a:off x="914400" y="614476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OST 「내 심장이 하는 일」을 SUNO AI로 제작, 감정 고조 구간과 컷 호흡 일치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6E66"/>
                </a:solidFill>
                <a:latin typeface="Impact"/>
                <a:ea typeface="Impact"/>
                <a:cs typeface="Impact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wf-156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uit-157"/>
          <p:cNvSpPr txBox="1"/>
          <p:nvPr/>
        </p:nvSpPr>
        <p:spPr>
          <a:xfrm>
            <a:off x="640080" y="32918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4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♥</a:t>
            </a:r>
            <a:endParaRPr lang="en-US" sz="1500" dirty="0"/>
          </a:p>
        </p:txBody>
      </p:sp>
      <p:sp>
        <p:nvSpPr>
          <p:cNvPr id="4" name="label-158"/>
          <p:cNvSpPr txBox="1"/>
          <p:nvPr/>
        </p:nvSpPr>
        <p:spPr>
          <a:xfrm>
            <a:off x="932688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E0475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I'M NOT JOKER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프로젝트로 체계화한 기획 / 프롬프트 설계</a:t>
            </a:r>
            <a:endParaRPr lang="en-US" sz="2800" dirty="0"/>
          </a:p>
        </p:txBody>
      </p:sp>
      <p:sp>
        <p:nvSpPr>
          <p:cNvPr id="6" name="border-159"/>
          <p:cNvSpPr/>
          <p:nvPr/>
        </p:nvSpPr>
        <p:spPr>
          <a:xfrm>
            <a:off x="604012" y="1655064"/>
            <a:ext cx="5421376" cy="3081528"/>
          </a:xfrm>
          <a:prstGeom prst="rect">
            <a:avLst/>
          </a:prstGeom>
          <a:solidFill>
            <a:srgbClr val="3A302C"/>
          </a:solidFill>
          <a:ln/>
        </p:spPr>
      </p:sp>
      <p:pic>
        <p:nvPicPr>
          <p:cNvPr id="7" name="img-wf_claude-160" descr="Claude 프로젝트 I'm Not Joker 화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88" y="1691640"/>
            <a:ext cx="5348224" cy="3008376"/>
          </a:xfrm>
          <a:prstGeom prst="rect">
            <a:avLst/>
          </a:prstGeom>
        </p:spPr>
      </p:pic>
      <p:sp>
        <p:nvSpPr>
          <p:cNvPr id="8" name="border-161"/>
          <p:cNvSpPr/>
          <p:nvPr/>
        </p:nvSpPr>
        <p:spPr>
          <a:xfrm>
            <a:off x="6136132" y="1655064"/>
            <a:ext cx="5421376" cy="3081528"/>
          </a:xfrm>
          <a:prstGeom prst="rect">
            <a:avLst/>
          </a:prstGeom>
          <a:solidFill>
            <a:srgbClr val="3A302C"/>
          </a:solidFill>
          <a:ln/>
        </p:spPr>
      </p:sp>
      <p:pic>
        <p:nvPicPr>
          <p:cNvPr id="9" name="img-wf_prompt-162" descr="립싱크 영상 프롬프트 작성 화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708" y="1691640"/>
            <a:ext cx="5348224" cy="3008376"/>
          </a:xfrm>
          <a:prstGeom prst="rect">
            <a:avLst/>
          </a:prstGeom>
        </p:spPr>
      </p:pic>
      <p:sp>
        <p:nvSpPr>
          <p:cNvPr id="10" name="rect-163"/>
          <p:cNvSpPr/>
          <p:nvPr/>
        </p:nvSpPr>
        <p:spPr>
          <a:xfrm>
            <a:off x="640080" y="4846320"/>
            <a:ext cx="914400" cy="274320"/>
          </a:xfrm>
          <a:prstGeom prst="rect">
            <a:avLst/>
          </a:prstGeom>
          <a:solidFill>
            <a:srgbClr val="B3122E"/>
          </a:solidFill>
          <a:ln/>
        </p:spPr>
      </p:sp>
      <p:sp>
        <p:nvSpPr>
          <p:cNvPr id="11" name="tag-164"/>
          <p:cNvSpPr txBox="1"/>
          <p:nvPr/>
        </p:nvSpPr>
        <p:spPr>
          <a:xfrm>
            <a:off x="640080" y="4846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endParaRPr lang="en-US" sz="1000" dirty="0"/>
          </a:p>
        </p:txBody>
      </p:sp>
      <p:sp>
        <p:nvSpPr>
          <p:cNvPr id="12" name="rect-165"/>
          <p:cNvSpPr/>
          <p:nvPr/>
        </p:nvSpPr>
        <p:spPr>
          <a:xfrm>
            <a:off x="6172200" y="4846320"/>
            <a:ext cx="914400" cy="274320"/>
          </a:xfrm>
          <a:prstGeom prst="rect">
            <a:avLst/>
          </a:prstGeom>
          <a:solidFill>
            <a:srgbClr val="B3122E"/>
          </a:solidFill>
          <a:ln/>
        </p:spPr>
      </p:sp>
      <p:sp>
        <p:nvSpPr>
          <p:cNvPr id="13" name="tag-166"/>
          <p:cNvSpPr txBox="1"/>
          <p:nvPr/>
        </p:nvSpPr>
        <p:spPr>
          <a:xfrm>
            <a:off x="6172200" y="4846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endParaRPr lang="en-US" sz="1000" dirty="0"/>
          </a:p>
        </p:txBody>
      </p:sp>
      <p:sp>
        <p:nvSpPr>
          <p:cNvPr id="14" name="text-167"/>
          <p:cNvSpPr txBox="1"/>
          <p:nvPr/>
        </p:nvSpPr>
        <p:spPr>
          <a:xfrm>
            <a:off x="640080" y="5230368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설정 / 씬별 이미지 프롬프트 / 촬영 계획을 한 프로젝트에서 관리</a:t>
            </a:r>
            <a:endParaRPr lang="en-US" sz="1300" dirty="0"/>
          </a:p>
        </p:txBody>
      </p:sp>
      <p:sp>
        <p:nvSpPr>
          <p:cNvPr id="15" name="text-168"/>
          <p:cNvSpPr txBox="1"/>
          <p:nvPr/>
        </p:nvSpPr>
        <p:spPr>
          <a:xfrm>
            <a:off x="6172200" y="5230368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고정 / 표정 / 대사 타이밍까지 지정한 립싱크 영상 프롬프트로 연출 의도 정밀 반영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6E66"/>
                </a:solidFill>
                <a:latin typeface="Impact"/>
                <a:ea typeface="Impact"/>
                <a:cs typeface="Impact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wf-169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uit-170"/>
          <p:cNvSpPr txBox="1"/>
          <p:nvPr/>
        </p:nvSpPr>
        <p:spPr>
          <a:xfrm>
            <a:off x="640080" y="32918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4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♥</a:t>
            </a:r>
            <a:endParaRPr lang="en-US" sz="1500" dirty="0"/>
          </a:p>
        </p:txBody>
      </p:sp>
      <p:sp>
        <p:nvSpPr>
          <p:cNvPr id="4" name="label-171"/>
          <p:cNvSpPr txBox="1"/>
          <p:nvPr/>
        </p:nvSpPr>
        <p:spPr>
          <a:xfrm>
            <a:off x="932688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E0475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I'M NOT JOKER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생성부터 후반 편집까지 이어진 AI 제작 공정</a:t>
            </a:r>
            <a:endParaRPr lang="en-US" sz="2800" dirty="0"/>
          </a:p>
        </p:txBody>
      </p:sp>
      <p:sp>
        <p:nvSpPr>
          <p:cNvPr id="6" name="border-172"/>
          <p:cNvSpPr/>
          <p:nvPr/>
        </p:nvSpPr>
        <p:spPr>
          <a:xfrm>
            <a:off x="606044" y="1700784"/>
            <a:ext cx="2674112" cy="1536192"/>
          </a:xfrm>
          <a:prstGeom prst="rect">
            <a:avLst/>
          </a:prstGeom>
          <a:solidFill>
            <a:srgbClr val="3A302C"/>
          </a:solidFill>
          <a:ln/>
        </p:spPr>
      </p:sp>
      <p:pic>
        <p:nvPicPr>
          <p:cNvPr id="7" name="img-wf_gen1-173" descr="PixVerse 작업 화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20" y="1737360"/>
            <a:ext cx="2600960" cy="1463040"/>
          </a:xfrm>
          <a:prstGeom prst="rect">
            <a:avLst/>
          </a:prstGeom>
        </p:spPr>
      </p:pic>
      <p:sp>
        <p:nvSpPr>
          <p:cNvPr id="8" name="rect-174"/>
          <p:cNvSpPr/>
          <p:nvPr/>
        </p:nvSpPr>
        <p:spPr>
          <a:xfrm>
            <a:off x="640080" y="3337560"/>
            <a:ext cx="1234440" cy="274320"/>
          </a:xfrm>
          <a:prstGeom prst="rect">
            <a:avLst/>
          </a:prstGeom>
          <a:solidFill>
            <a:srgbClr val="B3122E"/>
          </a:solidFill>
          <a:ln/>
        </p:spPr>
      </p:sp>
      <p:sp>
        <p:nvSpPr>
          <p:cNvPr id="9" name="tag-175"/>
          <p:cNvSpPr txBox="1"/>
          <p:nvPr/>
        </p:nvSpPr>
        <p:spPr>
          <a:xfrm>
            <a:off x="640080" y="33375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PixVerse</a:t>
            </a:r>
            <a:endParaRPr lang="en-US" sz="1000" dirty="0"/>
          </a:p>
        </p:txBody>
      </p:sp>
      <p:sp>
        <p:nvSpPr>
          <p:cNvPr id="10" name="text-176"/>
          <p:cNvSpPr txBox="1"/>
          <p:nvPr/>
        </p:nvSpPr>
        <p:spPr>
          <a:xfrm>
            <a:off x="640080" y="37033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흑백 시네마틱 영상 생성</a:t>
            </a:r>
            <a:endParaRPr lang="en-US" sz="1250" dirty="0"/>
          </a:p>
        </p:txBody>
      </p:sp>
      <p:sp>
        <p:nvSpPr>
          <p:cNvPr id="11" name="text-177"/>
          <p:cNvSpPr txBox="1"/>
          <p:nvPr/>
        </p:nvSpPr>
        <p:spPr>
          <a:xfrm>
            <a:off x="3246120" y="22860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4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border-178"/>
          <p:cNvSpPr/>
          <p:nvPr/>
        </p:nvSpPr>
        <p:spPr>
          <a:xfrm>
            <a:off x="3349244" y="1700784"/>
            <a:ext cx="2674112" cy="1536192"/>
          </a:xfrm>
          <a:prstGeom prst="rect">
            <a:avLst/>
          </a:prstGeom>
          <a:solidFill>
            <a:srgbClr val="3A302C"/>
          </a:solidFill>
          <a:ln/>
        </p:spPr>
      </p:sp>
      <p:pic>
        <p:nvPicPr>
          <p:cNvPr id="13" name="img-wf_lipsync-179" descr="LipSync 작업 화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5820" y="1737360"/>
            <a:ext cx="2600960" cy="1463040"/>
          </a:xfrm>
          <a:prstGeom prst="rect">
            <a:avLst/>
          </a:prstGeom>
        </p:spPr>
      </p:pic>
      <p:sp>
        <p:nvSpPr>
          <p:cNvPr id="14" name="rect-180"/>
          <p:cNvSpPr/>
          <p:nvPr/>
        </p:nvSpPr>
        <p:spPr>
          <a:xfrm>
            <a:off x="3383280" y="3337560"/>
            <a:ext cx="1234440" cy="274320"/>
          </a:xfrm>
          <a:prstGeom prst="rect">
            <a:avLst/>
          </a:prstGeom>
          <a:solidFill>
            <a:srgbClr val="B3122E"/>
          </a:solidFill>
          <a:ln/>
        </p:spPr>
      </p:sp>
      <p:sp>
        <p:nvSpPr>
          <p:cNvPr id="15" name="tag-181"/>
          <p:cNvSpPr txBox="1"/>
          <p:nvPr/>
        </p:nvSpPr>
        <p:spPr>
          <a:xfrm>
            <a:off x="3383280" y="33375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LipSync</a:t>
            </a:r>
            <a:endParaRPr lang="en-US" sz="1000" dirty="0"/>
          </a:p>
        </p:txBody>
      </p:sp>
      <p:sp>
        <p:nvSpPr>
          <p:cNvPr id="16" name="text-182"/>
          <p:cNvSpPr txBox="1"/>
          <p:nvPr/>
        </p:nvSpPr>
        <p:spPr>
          <a:xfrm>
            <a:off x="3383280" y="37033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노래 립싱크 영상 생성</a:t>
            </a:r>
            <a:endParaRPr lang="en-US" sz="1250" dirty="0"/>
          </a:p>
        </p:txBody>
      </p:sp>
      <p:sp>
        <p:nvSpPr>
          <p:cNvPr id="17" name="text-183"/>
          <p:cNvSpPr txBox="1"/>
          <p:nvPr/>
        </p:nvSpPr>
        <p:spPr>
          <a:xfrm>
            <a:off x="5989320" y="22860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4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  <p:sp>
        <p:nvSpPr>
          <p:cNvPr id="18" name="border-184"/>
          <p:cNvSpPr/>
          <p:nvPr/>
        </p:nvSpPr>
        <p:spPr>
          <a:xfrm>
            <a:off x="6092444" y="1700784"/>
            <a:ext cx="2674112" cy="1536192"/>
          </a:xfrm>
          <a:prstGeom prst="rect">
            <a:avLst/>
          </a:prstGeom>
          <a:solidFill>
            <a:srgbClr val="3A302C"/>
          </a:solidFill>
          <a:ln/>
        </p:spPr>
      </p:sp>
      <p:pic>
        <p:nvPicPr>
          <p:cNvPr id="19" name="img-wf_clip-185" descr="클립스튜디오 작업 화면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9020" y="1737360"/>
            <a:ext cx="2600960" cy="1463040"/>
          </a:xfrm>
          <a:prstGeom prst="rect">
            <a:avLst/>
          </a:prstGeom>
        </p:spPr>
      </p:pic>
      <p:sp>
        <p:nvSpPr>
          <p:cNvPr id="20" name="rect-186"/>
          <p:cNvSpPr/>
          <p:nvPr/>
        </p:nvSpPr>
        <p:spPr>
          <a:xfrm>
            <a:off x="6126480" y="3337560"/>
            <a:ext cx="1234440" cy="274320"/>
          </a:xfrm>
          <a:prstGeom prst="rect">
            <a:avLst/>
          </a:prstGeom>
          <a:solidFill>
            <a:srgbClr val="B3122E"/>
          </a:solidFill>
          <a:ln/>
        </p:spPr>
      </p:sp>
      <p:sp>
        <p:nvSpPr>
          <p:cNvPr id="21" name="tag-187"/>
          <p:cNvSpPr txBox="1"/>
          <p:nvPr/>
        </p:nvSpPr>
        <p:spPr>
          <a:xfrm>
            <a:off x="6126480" y="33375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클립스튜디오</a:t>
            </a:r>
            <a:endParaRPr lang="en-US" sz="1000" dirty="0"/>
          </a:p>
        </p:txBody>
      </p:sp>
      <p:sp>
        <p:nvSpPr>
          <p:cNvPr id="22" name="text-188"/>
          <p:cNvSpPr txBox="1"/>
          <p:nvPr/>
        </p:nvSpPr>
        <p:spPr>
          <a:xfrm>
            <a:off x="6126480" y="37033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얼굴형 / 입꼬리 디지털 성형 보정</a:t>
            </a:r>
            <a:endParaRPr lang="en-US" sz="1250" dirty="0"/>
          </a:p>
        </p:txBody>
      </p:sp>
      <p:sp>
        <p:nvSpPr>
          <p:cNvPr id="23" name="text-189"/>
          <p:cNvSpPr txBox="1"/>
          <p:nvPr/>
        </p:nvSpPr>
        <p:spPr>
          <a:xfrm>
            <a:off x="8732520" y="228600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4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00" dirty="0"/>
          </a:p>
        </p:txBody>
      </p:sp>
      <p:sp>
        <p:nvSpPr>
          <p:cNvPr id="24" name="border-190"/>
          <p:cNvSpPr/>
          <p:nvPr/>
        </p:nvSpPr>
        <p:spPr>
          <a:xfrm>
            <a:off x="8835644" y="1700784"/>
            <a:ext cx="2674112" cy="1536192"/>
          </a:xfrm>
          <a:prstGeom prst="rect">
            <a:avLst/>
          </a:prstGeom>
          <a:solidFill>
            <a:srgbClr val="3A302C"/>
          </a:solidFill>
          <a:ln/>
        </p:spPr>
      </p:sp>
      <p:pic>
        <p:nvPicPr>
          <p:cNvPr id="25" name="img-wf_premiere-191" descr="프리미어 작업 화면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2220" y="1737360"/>
            <a:ext cx="2600960" cy="1463040"/>
          </a:xfrm>
          <a:prstGeom prst="rect">
            <a:avLst/>
          </a:prstGeom>
        </p:spPr>
      </p:pic>
      <p:sp>
        <p:nvSpPr>
          <p:cNvPr id="26" name="rect-192"/>
          <p:cNvSpPr/>
          <p:nvPr/>
        </p:nvSpPr>
        <p:spPr>
          <a:xfrm>
            <a:off x="8869680" y="3337560"/>
            <a:ext cx="1234440" cy="274320"/>
          </a:xfrm>
          <a:prstGeom prst="rect">
            <a:avLst/>
          </a:prstGeom>
          <a:solidFill>
            <a:srgbClr val="B8955A"/>
          </a:solidFill>
          <a:ln/>
        </p:spPr>
      </p:sp>
      <p:sp>
        <p:nvSpPr>
          <p:cNvPr id="27" name="tag-193"/>
          <p:cNvSpPr txBox="1"/>
          <p:nvPr/>
        </p:nvSpPr>
        <p:spPr>
          <a:xfrm>
            <a:off x="8869680" y="33375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프리미어</a:t>
            </a:r>
            <a:endParaRPr lang="en-US" sz="1000" dirty="0"/>
          </a:p>
        </p:txBody>
      </p:sp>
      <p:sp>
        <p:nvSpPr>
          <p:cNvPr id="28" name="text-194"/>
          <p:cNvSpPr txBox="1"/>
          <p:nvPr/>
        </p:nvSpPr>
        <p:spPr>
          <a:xfrm>
            <a:off x="8869680" y="37033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컷 편집 / 타이틀 / 사운드 완성</a:t>
            </a:r>
            <a:endParaRPr lang="en-US" sz="1250" dirty="0"/>
          </a:p>
        </p:txBody>
      </p:sp>
      <p:sp>
        <p:nvSpPr>
          <p:cNvPr id="29" name="rect-195"/>
          <p:cNvSpPr/>
          <p:nvPr/>
        </p:nvSpPr>
        <p:spPr>
          <a:xfrm>
            <a:off x="640080" y="4526280"/>
            <a:ext cx="10881360" cy="1554480"/>
          </a:xfrm>
          <a:prstGeom prst="rect">
            <a:avLst/>
          </a:prstGeom>
          <a:solidFill>
            <a:srgbClr val="1C1817">
              <a:alpha val="85000"/>
            </a:srgbClr>
          </a:solidFill>
          <a:ln/>
        </p:spPr>
      </p:sp>
      <p:sp>
        <p:nvSpPr>
          <p:cNvPr id="30" name="text-196"/>
          <p:cNvSpPr txBox="1"/>
          <p:nvPr/>
        </p:nvSpPr>
        <p:spPr>
          <a:xfrm>
            <a:off x="91440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0475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Project: Digital Face Remodeling</a:t>
            </a:r>
            <a:endParaRPr lang="en-US" sz="1500" dirty="0"/>
          </a:p>
        </p:txBody>
      </p:sp>
      <p:sp>
        <p:nvSpPr>
          <p:cNvPr id="31" name="mark-197"/>
          <p:cNvSpPr txBox="1"/>
          <p:nvPr/>
        </p:nvSpPr>
        <p:spPr>
          <a:xfrm>
            <a:off x="914400" y="503834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04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♥</a:t>
            </a:r>
            <a:endParaRPr lang="en-US" sz="800" dirty="0"/>
          </a:p>
        </p:txBody>
      </p:sp>
      <p:sp>
        <p:nvSpPr>
          <p:cNvPr id="32" name="bullet-198"/>
          <p:cNvSpPr txBox="1"/>
          <p:nvPr/>
        </p:nvSpPr>
        <p:spPr>
          <a:xfrm>
            <a:off x="1188720" y="5029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얼굴 크기 축소 / 턱선 V라인 정리 / 조커 콘셉트의 입꼬리 리프팅 / 황금 비율 이목구비 재배치</a:t>
            </a:r>
            <a:endParaRPr lang="en-US" sz="1300" dirty="0"/>
          </a:p>
        </p:txBody>
      </p:sp>
      <p:sp>
        <p:nvSpPr>
          <p:cNvPr id="33" name="mark-199"/>
          <p:cNvSpPr txBox="1"/>
          <p:nvPr/>
        </p:nvSpPr>
        <p:spPr>
          <a:xfrm>
            <a:off x="914400" y="549554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04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♥</a:t>
            </a:r>
            <a:endParaRPr lang="en-US" sz="800" dirty="0"/>
          </a:p>
        </p:txBody>
      </p:sp>
      <p:sp>
        <p:nvSpPr>
          <p:cNvPr id="34" name="bullet-200"/>
          <p:cNvSpPr txBox="1"/>
          <p:nvPr/>
        </p:nvSpPr>
        <p:spPr>
          <a:xfrm>
            <a:off x="1188720" y="5486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생성 결과를 그대로 쓰지 않고 캐릭터 설정에 맞춰 직접 보정한 완성도 관리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6E66"/>
                </a:solidFill>
                <a:latin typeface="Impact"/>
                <a:ea typeface="Impact"/>
                <a:cs typeface="Impact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noir-201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uit-202"/>
          <p:cNvSpPr txBox="1"/>
          <p:nvPr/>
        </p:nvSpPr>
        <p:spPr>
          <a:xfrm>
            <a:off x="640080" y="32918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4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♥</a:t>
            </a:r>
            <a:endParaRPr lang="en-US" sz="1500" dirty="0"/>
          </a:p>
        </p:txBody>
      </p:sp>
      <p:sp>
        <p:nvSpPr>
          <p:cNvPr id="4" name="label-203"/>
          <p:cNvSpPr txBox="1"/>
          <p:nvPr/>
        </p:nvSpPr>
        <p:spPr>
          <a:xfrm>
            <a:off x="932688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E0475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I'M NOT JOKER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뮤직비디오 1차 편집본</a:t>
            </a:r>
            <a:endParaRPr lang="en-US" sz="2800" dirty="0"/>
          </a:p>
        </p:txBody>
      </p:sp>
      <p:sp>
        <p:nvSpPr>
          <p:cNvPr id="6" name="border-204"/>
          <p:cNvSpPr/>
          <p:nvPr/>
        </p:nvSpPr>
        <p:spPr>
          <a:xfrm>
            <a:off x="603504" y="1657350"/>
            <a:ext cx="7022592" cy="3982212"/>
          </a:xfrm>
          <a:prstGeom prst="rect">
            <a:avLst/>
          </a:prstGeom>
          <a:solidFill>
            <a:srgbClr val="3A302C"/>
          </a:solidFill>
          <a:ln/>
        </p:spPr>
      </p:sp>
      <p:pic>
        <p:nvPicPr>
          <p:cNvPr id="7" name="img-poster_mv-205" descr="I'm Not Joker 1차 편집본 영상 보기">
            <a:hlinkClick r:id="rId3" tooltip="영상 보기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3926"/>
            <a:ext cx="6949440" cy="3909060"/>
          </a:xfrm>
          <a:prstGeom prst="rect">
            <a:avLst/>
          </a:prstGeom>
        </p:spPr>
      </p:pic>
      <p:sp>
        <p:nvSpPr>
          <p:cNvPr id="8" name="text-206"/>
          <p:cNvSpPr txBox="1"/>
          <p:nvPr/>
        </p:nvSpPr>
        <p:spPr>
          <a:xfrm>
            <a:off x="640080" y="57607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8E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이미지를 클릭하면 영상이 재생됩니다</a:t>
            </a:r>
            <a:endParaRPr lang="en-US" sz="1100" dirty="0"/>
          </a:p>
        </p:txBody>
      </p:sp>
      <p:sp>
        <p:nvSpPr>
          <p:cNvPr id="9" name="rect-207"/>
          <p:cNvSpPr/>
          <p:nvPr/>
        </p:nvSpPr>
        <p:spPr>
          <a:xfrm>
            <a:off x="8001000" y="1737360"/>
            <a:ext cx="1554480" cy="274320"/>
          </a:xfrm>
          <a:prstGeom prst="rect">
            <a:avLst/>
          </a:prstGeom>
          <a:solidFill>
            <a:srgbClr val="B3122E"/>
          </a:solidFill>
          <a:ln/>
        </p:spPr>
      </p:sp>
      <p:sp>
        <p:nvSpPr>
          <p:cNvPr id="10" name="tag-208"/>
          <p:cNvSpPr txBox="1"/>
          <p:nvPr/>
        </p:nvSpPr>
        <p:spPr>
          <a:xfrm>
            <a:off x="8001000" y="1737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편집 / 미완성</a:t>
            </a:r>
            <a:endParaRPr lang="en-US" sz="1000" dirty="0"/>
          </a:p>
        </p:txBody>
      </p:sp>
      <p:sp>
        <p:nvSpPr>
          <p:cNvPr id="11" name="text-209"/>
          <p:cNvSpPr txBox="1"/>
          <p:nvPr/>
        </p:nvSpPr>
        <p:spPr>
          <a:xfrm>
            <a:off x="8001000" y="21488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3EBD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I'm Not Joker</a:t>
            </a:r>
            <a:endParaRPr lang="en-US" sz="3200" dirty="0"/>
          </a:p>
        </p:txBody>
      </p:sp>
      <p:sp>
        <p:nvSpPr>
          <p:cNvPr id="12" name="text-210"/>
          <p:cNvSpPr txBox="1"/>
          <p:nvPr/>
        </p:nvSpPr>
        <p:spPr>
          <a:xfrm>
            <a:off x="8001000" y="2743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04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EINSX  「No Smile (웃을 수 없는 남자)」</a:t>
            </a:r>
            <a:endParaRPr lang="en-US" sz="1300" dirty="0"/>
          </a:p>
        </p:txBody>
      </p:sp>
      <p:sp>
        <p:nvSpPr>
          <p:cNvPr id="13" name="mark-211"/>
          <p:cNvSpPr txBox="1"/>
          <p:nvPr/>
        </p:nvSpPr>
        <p:spPr>
          <a:xfrm>
            <a:off x="8001000" y="334670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04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♥</a:t>
            </a:r>
            <a:endParaRPr lang="en-US" sz="800" dirty="0"/>
          </a:p>
        </p:txBody>
      </p:sp>
      <p:sp>
        <p:nvSpPr>
          <p:cNvPr id="14" name="bullet-212"/>
          <p:cNvSpPr txBox="1"/>
          <p:nvPr/>
        </p:nvSpPr>
        <p:spPr>
          <a:xfrm>
            <a:off x="8275320" y="33375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2022년 흑백 화면에서 2026년 컬러 데뷔 무대로 이어지는 시간 전환</a:t>
            </a:r>
            <a:endParaRPr lang="en-US" sz="1300" dirty="0"/>
          </a:p>
        </p:txBody>
      </p:sp>
      <p:sp>
        <p:nvSpPr>
          <p:cNvPr id="15" name="mark-213"/>
          <p:cNvSpPr txBox="1"/>
          <p:nvPr/>
        </p:nvSpPr>
        <p:spPr>
          <a:xfrm>
            <a:off x="8001000" y="412394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047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♥</a:t>
            </a:r>
            <a:endParaRPr lang="en-US" sz="800" dirty="0"/>
          </a:p>
        </p:txBody>
      </p:sp>
      <p:sp>
        <p:nvSpPr>
          <p:cNvPr id="16" name="bullet-214"/>
          <p:cNvSpPr txBox="1"/>
          <p:nvPr/>
        </p:nvSpPr>
        <p:spPr>
          <a:xfrm>
            <a:off x="8275320" y="41148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분장실과 대기실을 대구로 배치한 데뷔 엔딩</a:t>
            </a:r>
            <a:endParaRPr lang="en-US" sz="1300" dirty="0"/>
          </a:p>
        </p:txBody>
      </p:sp>
      <p:sp>
        <p:nvSpPr>
          <p:cNvPr id="17" name="rect-215"/>
          <p:cNvSpPr/>
          <p:nvPr/>
        </p:nvSpPr>
        <p:spPr>
          <a:xfrm>
            <a:off x="8001000" y="5074920"/>
            <a:ext cx="2240280" cy="457200"/>
          </a:xfrm>
          <a:prstGeom prst="rect">
            <a:avLst/>
          </a:prstGeom>
          <a:solidFill>
            <a:srgbClr val="B3122E"/>
          </a:solidFill>
          <a:ln/>
        </p:spPr>
      </p:sp>
      <p:sp>
        <p:nvSpPr>
          <p:cNvPr id="18" name="link-216"/>
          <p:cNvSpPr txBox="1"/>
          <p:nvPr/>
        </p:nvSpPr>
        <p:spPr>
          <a:xfrm>
            <a:off x="8001000" y="5074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invalidUrl="" action="" tgtFrame="" tooltip="https://drive.google.com/file/d/1FxAWrfKejtH5CH7youn3iG33vNt5Ns2T/vie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영상 보기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6E66"/>
                </a:solidFill>
                <a:latin typeface="Impact"/>
                <a:ea typeface="Impact"/>
                <a:cs typeface="Impact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2_bg-217" descr="챕터 대표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2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C0B">
              <a:alpha val="45000"/>
            </a:srgbClr>
          </a:solidFill>
          <a:ln/>
        </p:spPr>
      </p:sp>
      <p:pic>
        <p:nvPicPr>
          <p:cNvPr id="4" name="card-cardback-219" descr="카드 뒷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960000">
            <a:off x="502920" y="1234440"/>
            <a:ext cx="3004457" cy="4206240"/>
          </a:xfrm>
          <a:prstGeom prst="rect">
            <a:avLst/>
          </a:prstGeom>
        </p:spPr>
      </p:pic>
      <p:pic>
        <p:nvPicPr>
          <p:cNvPr id="5" name="card-cardback-220" descr="카드 뒷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80000">
            <a:off x="2651760" y="1417320"/>
            <a:ext cx="3004457" cy="4206240"/>
          </a:xfrm>
          <a:prstGeom prst="rect">
            <a:avLst/>
          </a:prstGeom>
        </p:spPr>
      </p:pic>
      <p:pic>
        <p:nvPicPr>
          <p:cNvPr id="6" name="card-card2_face-221" descr="2♦ 카드 앞면 대표 이미지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80000">
            <a:off x="1325880" y="685800"/>
            <a:ext cx="3853543" cy="5394960"/>
          </a:xfrm>
          <a:prstGeom prst="rect">
            <a:avLst/>
          </a:prstGeom>
        </p:spPr>
      </p:pic>
      <p:sp>
        <p:nvSpPr>
          <p:cNvPr id="7" name="text-222"/>
          <p:cNvSpPr txBox="1"/>
          <p:nvPr/>
        </p:nvSpPr>
        <p:spPr>
          <a:xfrm>
            <a:off x="6583680" y="1143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600" kern="0" dirty="0">
                <a:solidFill>
                  <a:srgbClr val="E08A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CHAPTER 2</a:t>
            </a:r>
            <a:endParaRPr lang="en-US" sz="1800" dirty="0"/>
          </a:p>
        </p:txBody>
      </p:sp>
      <p:sp>
        <p:nvSpPr>
          <p:cNvPr id="8" name="ch-rank-223"/>
          <p:cNvSpPr txBox="1"/>
          <p:nvPr/>
        </p:nvSpPr>
        <p:spPr>
          <a:xfrm>
            <a:off x="6492240" y="146304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dirty="0">
                <a:solidFill>
                  <a:srgbClr val="F3EBD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pPr indent="0" marL="0">
              <a:buNone/>
            </a:pPr>
            <a:r>
              <a:rPr lang="en-US" sz="11000" dirty="0">
                <a:solidFill>
                  <a:srgbClr val="E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♦</a:t>
            </a:r>
            <a:endParaRPr lang="en-US" sz="15000" dirty="0"/>
          </a:p>
        </p:txBody>
      </p:sp>
      <p:sp>
        <p:nvSpPr>
          <p:cNvPr id="9" name="rect-224"/>
          <p:cNvSpPr/>
          <p:nvPr/>
        </p:nvSpPr>
        <p:spPr>
          <a:xfrm>
            <a:off x="6583680" y="3794760"/>
            <a:ext cx="1097280" cy="54864"/>
          </a:xfrm>
          <a:prstGeom prst="rect">
            <a:avLst/>
          </a:prstGeom>
          <a:solidFill>
            <a:srgbClr val="E08A2E"/>
          </a:solidFill>
          <a:ln/>
        </p:spPr>
      </p:sp>
      <p:sp>
        <p:nvSpPr>
          <p:cNvPr id="10" name="text-225"/>
          <p:cNvSpPr txBox="1"/>
          <p:nvPr/>
        </p:nvSpPr>
        <p:spPr>
          <a:xfrm>
            <a:off x="6583680" y="39776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돈깨비 방망이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오해소지</a:t>
            </a:r>
            <a:endParaRPr lang="en-US" sz="3000" dirty="0"/>
          </a:p>
        </p:txBody>
      </p:sp>
      <p:sp>
        <p:nvSpPr>
          <p:cNvPr id="11" name="text-226"/>
          <p:cNvSpPr txBox="1"/>
          <p:nvPr/>
        </p:nvSpPr>
        <p:spPr>
          <a:xfrm>
            <a:off x="6583680" y="5257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C9BFB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CHARACTER IP  &amp;  WEBTOON</a:t>
            </a:r>
            <a:endParaRPr lang="en-US" sz="1500" dirty="0"/>
          </a:p>
        </p:txBody>
      </p:sp>
      <p:sp>
        <p:nvSpPr>
          <p:cNvPr id="12" name="text-227"/>
          <p:cNvSpPr txBox="1"/>
          <p:nvPr/>
        </p:nvSpPr>
        <p:spPr>
          <a:xfrm>
            <a:off x="6583680" y="56692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웹툰 / 이모티콘 / 일상툰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작가 본인 캐릭터에서 출발한 IP 확장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ivory-228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uit-229"/>
          <p:cNvSpPr txBox="1"/>
          <p:nvPr/>
        </p:nvSpPr>
        <p:spPr>
          <a:xfrm>
            <a:off x="640080" y="32918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66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♦</a:t>
            </a:r>
            <a:endParaRPr lang="en-US" sz="1500" dirty="0"/>
          </a:p>
        </p:txBody>
      </p:sp>
      <p:sp>
        <p:nvSpPr>
          <p:cNvPr id="4" name="label-230"/>
          <p:cNvSpPr txBox="1"/>
          <p:nvPr/>
        </p:nvSpPr>
        <p:spPr>
          <a:xfrm>
            <a:off x="932688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B866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CHARACTER IP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5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작가 본인 캐릭터와 두 조력자</a:t>
            </a:r>
            <a:endParaRPr lang="en-US" sz="2800" dirty="0"/>
          </a:p>
        </p:txBody>
      </p:sp>
      <p:sp>
        <p:nvSpPr>
          <p:cNvPr id="6" name="rect-231"/>
          <p:cNvSpPr/>
          <p:nvPr/>
        </p:nvSpPr>
        <p:spPr>
          <a:xfrm>
            <a:off x="640080" y="1645920"/>
            <a:ext cx="34747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3D7C4"/>
            </a:solidFill>
            <a:prstDash val="solid"/>
          </a:ln>
        </p:spPr>
      </p:sp>
      <p:pic>
        <p:nvPicPr>
          <p:cNvPr id="7" name="img-eun-232" descr="조은탁 캐릭터 시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737360"/>
            <a:ext cx="1645920" cy="2926080"/>
          </a:xfrm>
          <a:prstGeom prst="rect">
            <a:avLst/>
          </a:prstGeom>
        </p:spPr>
      </p:pic>
      <p:sp>
        <p:nvSpPr>
          <p:cNvPr id="8" name="text-233"/>
          <p:cNvSpPr txBox="1"/>
          <p:nvPr/>
        </p:nvSpPr>
        <p:spPr>
          <a:xfrm>
            <a:off x="640080" y="4892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5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조은탁</a:t>
            </a:r>
            <a:endParaRPr lang="en-US" sz="2000" dirty="0"/>
          </a:p>
        </p:txBody>
      </p:sp>
      <p:sp>
        <p:nvSpPr>
          <p:cNvPr id="9" name="rect-234"/>
          <p:cNvSpPr/>
          <p:nvPr/>
        </p:nvSpPr>
        <p:spPr>
          <a:xfrm>
            <a:off x="2011680" y="4956048"/>
            <a:ext cx="1463040" cy="274320"/>
          </a:xfrm>
          <a:prstGeom prst="rect">
            <a:avLst/>
          </a:prstGeom>
          <a:solidFill>
            <a:srgbClr val="E08A2E"/>
          </a:solidFill>
          <a:ln/>
        </p:spPr>
      </p:sp>
      <p:sp>
        <p:nvSpPr>
          <p:cNvPr id="10" name="tag-235"/>
          <p:cNvSpPr txBox="1"/>
          <p:nvPr/>
        </p:nvSpPr>
        <p:spPr>
          <a:xfrm>
            <a:off x="2011680" y="4956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작가 본인 캐릭터</a:t>
            </a:r>
            <a:endParaRPr lang="en-US" sz="1000" dirty="0"/>
          </a:p>
        </p:txBody>
      </p:sp>
      <p:sp>
        <p:nvSpPr>
          <p:cNvPr id="11" name="text-236"/>
          <p:cNvSpPr txBox="1"/>
          <p:nvPr/>
        </p:nvSpPr>
        <p:spPr>
          <a:xfrm>
            <a:off x="640080" y="53949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통장 잔고 100원에 한숨 쉬는 현실 공감형 주인공</a:t>
            </a:r>
            <a:endParaRPr lang="en-US" sz="1250" dirty="0"/>
          </a:p>
        </p:txBody>
      </p:sp>
      <p:sp>
        <p:nvSpPr>
          <p:cNvPr id="12" name="rect-237"/>
          <p:cNvSpPr/>
          <p:nvPr/>
        </p:nvSpPr>
        <p:spPr>
          <a:xfrm>
            <a:off x="4297680" y="1645920"/>
            <a:ext cx="34747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3D7C4"/>
            </a:solidFill>
            <a:prstDash val="solid"/>
          </a:ln>
        </p:spPr>
      </p:sp>
      <p:pic>
        <p:nvPicPr>
          <p:cNvPr id="13" name="img-isin-238" descr="이신 캐릭터 시트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927" y="1737360"/>
            <a:ext cx="1882226" cy="2926080"/>
          </a:xfrm>
          <a:prstGeom prst="rect">
            <a:avLst/>
          </a:prstGeom>
        </p:spPr>
      </p:pic>
      <p:sp>
        <p:nvSpPr>
          <p:cNvPr id="14" name="text-239"/>
          <p:cNvSpPr txBox="1"/>
          <p:nvPr/>
        </p:nvSpPr>
        <p:spPr>
          <a:xfrm>
            <a:off x="4297680" y="4892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5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이신</a:t>
            </a:r>
            <a:endParaRPr lang="en-US" sz="2000" dirty="0"/>
          </a:p>
        </p:txBody>
      </p:sp>
      <p:sp>
        <p:nvSpPr>
          <p:cNvPr id="15" name="rect-240"/>
          <p:cNvSpPr/>
          <p:nvPr/>
        </p:nvSpPr>
        <p:spPr>
          <a:xfrm>
            <a:off x="5669280" y="4956048"/>
            <a:ext cx="1463040" cy="274320"/>
          </a:xfrm>
          <a:prstGeom prst="rect">
            <a:avLst/>
          </a:prstGeom>
          <a:solidFill>
            <a:srgbClr val="E08A2E"/>
          </a:solidFill>
          <a:ln/>
        </p:spPr>
      </p:sp>
      <p:sp>
        <p:nvSpPr>
          <p:cNvPr id="16" name="tag-241"/>
          <p:cNvSpPr txBox="1"/>
          <p:nvPr/>
        </p:nvSpPr>
        <p:spPr>
          <a:xfrm>
            <a:off x="5669280" y="4956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도깨비</a:t>
            </a:r>
            <a:endParaRPr lang="en-US" sz="1000" dirty="0"/>
          </a:p>
        </p:txBody>
      </p:sp>
      <p:sp>
        <p:nvSpPr>
          <p:cNvPr id="17" name="text-242"/>
          <p:cNvSpPr txBox="1"/>
          <p:nvPr/>
        </p:nvSpPr>
        <p:spPr>
          <a:xfrm>
            <a:off x="4297680" y="53949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돈깨비 방망이를 든 냉정한 조력자, 노력 없는 소원은 단호히 거절</a:t>
            </a:r>
            <a:endParaRPr lang="en-US" sz="1250" dirty="0"/>
          </a:p>
        </p:txBody>
      </p:sp>
      <p:sp>
        <p:nvSpPr>
          <p:cNvPr id="18" name="rect-243"/>
          <p:cNvSpPr/>
          <p:nvPr/>
        </p:nvSpPr>
        <p:spPr>
          <a:xfrm>
            <a:off x="7955280" y="1645920"/>
            <a:ext cx="34747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3D7C4"/>
            </a:solidFill>
            <a:prstDash val="solid"/>
          </a:ln>
        </p:spPr>
      </p:sp>
      <p:pic>
        <p:nvPicPr>
          <p:cNvPr id="19" name="img-reaper_toon-244" descr="킹여 캐릭터 시트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6190" y="1737360"/>
            <a:ext cx="1932901" cy="2926080"/>
          </a:xfrm>
          <a:prstGeom prst="rect">
            <a:avLst/>
          </a:prstGeom>
        </p:spPr>
      </p:pic>
      <p:sp>
        <p:nvSpPr>
          <p:cNvPr id="20" name="text-245"/>
          <p:cNvSpPr txBox="1"/>
          <p:nvPr/>
        </p:nvSpPr>
        <p:spPr>
          <a:xfrm>
            <a:off x="7955280" y="4892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5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킹여</a:t>
            </a:r>
            <a:endParaRPr lang="en-US" sz="2000" dirty="0"/>
          </a:p>
        </p:txBody>
      </p:sp>
      <p:sp>
        <p:nvSpPr>
          <p:cNvPr id="21" name="rect-246"/>
          <p:cNvSpPr/>
          <p:nvPr/>
        </p:nvSpPr>
        <p:spPr>
          <a:xfrm>
            <a:off x="9326880" y="4956048"/>
            <a:ext cx="1463040" cy="274320"/>
          </a:xfrm>
          <a:prstGeom prst="rect">
            <a:avLst/>
          </a:prstGeom>
          <a:solidFill>
            <a:srgbClr val="E08A2E"/>
          </a:solidFill>
          <a:ln/>
        </p:spPr>
      </p:sp>
      <p:sp>
        <p:nvSpPr>
          <p:cNvPr id="22" name="tag-247"/>
          <p:cNvSpPr txBox="1"/>
          <p:nvPr/>
        </p:nvSpPr>
        <p:spPr>
          <a:xfrm>
            <a:off x="9326880" y="4956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저승사자</a:t>
            </a:r>
            <a:endParaRPr lang="en-US" sz="1000" dirty="0"/>
          </a:p>
        </p:txBody>
      </p:sp>
      <p:sp>
        <p:nvSpPr>
          <p:cNvPr id="23" name="text-248"/>
          <p:cNvSpPr txBox="1"/>
          <p:nvPr/>
        </p:nvSpPr>
        <p:spPr>
          <a:xfrm>
            <a:off x="7955280" y="53949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이신과 함께 나타나는 검은 코트의 동행자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A8E84"/>
                </a:solidFill>
                <a:latin typeface="Impact"/>
                <a:ea typeface="Impact"/>
                <a:cs typeface="Impact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ivory-249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uit-250"/>
          <p:cNvSpPr txBox="1"/>
          <p:nvPr/>
        </p:nvSpPr>
        <p:spPr>
          <a:xfrm>
            <a:off x="640080" y="32918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66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♦</a:t>
            </a:r>
            <a:endParaRPr lang="en-US" sz="1500" dirty="0"/>
          </a:p>
        </p:txBody>
      </p:sp>
      <p:sp>
        <p:nvSpPr>
          <p:cNvPr id="4" name="label-251"/>
          <p:cNvSpPr txBox="1"/>
          <p:nvPr/>
        </p:nvSpPr>
        <p:spPr>
          <a:xfrm>
            <a:off x="932688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B866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CHARACTER IP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5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웹툰 「돈깨비 방망이」</a:t>
            </a:r>
            <a:endParaRPr lang="en-US" sz="2800" dirty="0"/>
          </a:p>
        </p:txBody>
      </p:sp>
      <p:sp>
        <p:nvSpPr>
          <p:cNvPr id="6" name="border-252"/>
          <p:cNvSpPr/>
          <p:nvPr/>
        </p:nvSpPr>
        <p:spPr>
          <a:xfrm>
            <a:off x="603504" y="1609344"/>
            <a:ext cx="1719072" cy="3651239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g-web1-253" descr="돈깨비 방망이 장면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1645920" cy="3578087"/>
          </a:xfrm>
          <a:prstGeom prst="rect">
            <a:avLst/>
          </a:prstGeom>
        </p:spPr>
      </p:pic>
      <p:sp>
        <p:nvSpPr>
          <p:cNvPr id="8" name="border-254"/>
          <p:cNvSpPr/>
          <p:nvPr/>
        </p:nvSpPr>
        <p:spPr>
          <a:xfrm>
            <a:off x="2386584" y="1609344"/>
            <a:ext cx="1719072" cy="34127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g-web2-255" descr="돈깨비 방망이 장면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1645920"/>
            <a:ext cx="1645920" cy="3339548"/>
          </a:xfrm>
          <a:prstGeom prst="rect">
            <a:avLst/>
          </a:prstGeom>
        </p:spPr>
      </p:pic>
      <p:sp>
        <p:nvSpPr>
          <p:cNvPr id="10" name="border-256"/>
          <p:cNvSpPr/>
          <p:nvPr/>
        </p:nvSpPr>
        <p:spPr>
          <a:xfrm>
            <a:off x="4169664" y="1609344"/>
            <a:ext cx="1719072" cy="346040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1" name="img-web3-257" descr="돈깨비 방망이 장면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645920"/>
            <a:ext cx="1645920" cy="3387256"/>
          </a:xfrm>
          <a:prstGeom prst="rect">
            <a:avLst/>
          </a:prstGeom>
        </p:spPr>
      </p:pic>
      <p:sp>
        <p:nvSpPr>
          <p:cNvPr id="12" name="border-258"/>
          <p:cNvSpPr/>
          <p:nvPr/>
        </p:nvSpPr>
        <p:spPr>
          <a:xfrm>
            <a:off x="5952744" y="1609344"/>
            <a:ext cx="1719072" cy="34127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img-web4-259" descr="돈깨비 방망이 장면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1645920"/>
            <a:ext cx="1645920" cy="3339548"/>
          </a:xfrm>
          <a:prstGeom prst="rect">
            <a:avLst/>
          </a:prstGeom>
        </p:spPr>
      </p:pic>
      <p:pic>
        <p:nvPicPr>
          <p:cNvPr id="14" name="img-web_title-260" descr="돈깨비 방망이 타이틀 카드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9560" y="1645920"/>
            <a:ext cx="1816331" cy="1737360"/>
          </a:xfrm>
          <a:prstGeom prst="rect">
            <a:avLst/>
          </a:prstGeom>
        </p:spPr>
      </p:pic>
      <p:sp>
        <p:nvSpPr>
          <p:cNvPr id="15" name="text-261"/>
          <p:cNvSpPr txBox="1"/>
          <p:nvPr/>
        </p:nvSpPr>
        <p:spPr>
          <a:xfrm>
            <a:off x="7909560" y="352044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5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돈이 하늘에서 떨어지길 바라는 조은탁 앞에 나타난 도깨비와 저승사자, 노력하지 않는 인간은 소원을 빌 자격도 없다는 반전</a:t>
            </a:r>
            <a:endParaRPr lang="en-US" sz="1300" dirty="0"/>
          </a:p>
        </p:txBody>
      </p:sp>
      <p:sp>
        <p:nvSpPr>
          <p:cNvPr id="16" name="mark-262"/>
          <p:cNvSpPr txBox="1"/>
          <p:nvPr/>
        </p:nvSpPr>
        <p:spPr>
          <a:xfrm>
            <a:off x="7909560" y="467258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E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♦</a:t>
            </a:r>
            <a:endParaRPr lang="en-US" sz="700" dirty="0"/>
          </a:p>
        </p:txBody>
      </p:sp>
      <p:sp>
        <p:nvSpPr>
          <p:cNvPr id="17" name="bullet-263"/>
          <p:cNvSpPr txBox="1"/>
          <p:nvPr/>
        </p:nvSpPr>
        <p:spPr>
          <a:xfrm>
            <a:off x="8183880" y="466344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4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놀라거나 설렐 때 그림체가 바뀌는 연출로 감정 변화를 코믹하게 표현</a:t>
            </a:r>
            <a:endParaRPr lang="en-US" sz="1200" dirty="0"/>
          </a:p>
        </p:txBody>
      </p:sp>
      <p:sp>
        <p:nvSpPr>
          <p:cNvPr id="18" name="mark-264"/>
          <p:cNvSpPr txBox="1"/>
          <p:nvPr/>
        </p:nvSpPr>
        <p:spPr>
          <a:xfrm>
            <a:off x="7909560" y="523951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E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♦</a:t>
            </a:r>
            <a:endParaRPr lang="en-US" sz="700" dirty="0"/>
          </a:p>
        </p:txBody>
      </p:sp>
      <p:sp>
        <p:nvSpPr>
          <p:cNvPr id="19" name="bullet-265"/>
          <p:cNvSpPr txBox="1"/>
          <p:nvPr/>
        </p:nvSpPr>
        <p:spPr>
          <a:xfrm>
            <a:off x="8183880" y="523036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4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'지옥 같은 회사'를 이겨내라는 결말로 직장인 공감 극대화</a:t>
            </a:r>
            <a:endParaRPr lang="en-US" sz="1200" dirty="0"/>
          </a:p>
        </p:txBody>
      </p:sp>
      <p:sp>
        <p:nvSpPr>
          <p:cNvPr id="20" name="text-266"/>
          <p:cNvSpPr txBox="1"/>
          <p:nvPr/>
        </p:nvSpPr>
        <p:spPr>
          <a:xfrm>
            <a:off x="7909560" y="58521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866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글: CHOSK, claude_AI  /  그림: gemini_AI, pixverse.AI, googleAI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A8E84"/>
                </a:solidFill>
                <a:latin typeface="Impact"/>
                <a:ea typeface="Impact"/>
                <a:cs typeface="Impact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ivory-267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uit-268"/>
          <p:cNvSpPr txBox="1"/>
          <p:nvPr/>
        </p:nvSpPr>
        <p:spPr>
          <a:xfrm>
            <a:off x="640080" y="32918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66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♦</a:t>
            </a:r>
            <a:endParaRPr lang="en-US" sz="1500" dirty="0"/>
          </a:p>
        </p:txBody>
      </p:sp>
      <p:sp>
        <p:nvSpPr>
          <p:cNvPr id="4" name="label-269"/>
          <p:cNvSpPr txBox="1"/>
          <p:nvPr/>
        </p:nvSpPr>
        <p:spPr>
          <a:xfrm>
            <a:off x="932688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B866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CHARACTER IP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5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 사투리 소시지 캐릭터 「오해소지」</a:t>
            </a:r>
            <a:endParaRPr lang="en-US" sz="2800" dirty="0"/>
          </a:p>
        </p:txBody>
      </p:sp>
      <p:sp>
        <p:nvSpPr>
          <p:cNvPr id="6" name="border-270"/>
          <p:cNvSpPr/>
          <p:nvPr/>
        </p:nvSpPr>
        <p:spPr>
          <a:xfrm>
            <a:off x="603504" y="1563624"/>
            <a:ext cx="1704376" cy="464515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g-sausage_prof-271" descr="오해소지 캐릭터 소개 프로필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1631224" cy="4572000"/>
          </a:xfrm>
          <a:prstGeom prst="rect">
            <a:avLst/>
          </a:prstGeom>
        </p:spPr>
      </p:pic>
      <p:sp>
        <p:nvSpPr>
          <p:cNvPr id="8" name="text-272"/>
          <p:cNvSpPr txBox="1"/>
          <p:nvPr/>
        </p:nvSpPr>
        <p:spPr>
          <a:xfrm>
            <a:off x="292608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5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"마, 오해하지 마라카이. 내는 햄이다! 알긋나?"</a:t>
            </a:r>
            <a:endParaRPr lang="en-US" sz="1700" dirty="0"/>
          </a:p>
        </p:txBody>
      </p:sp>
      <p:sp>
        <p:nvSpPr>
          <p:cNvPr id="9" name="text-273"/>
          <p:cNvSpPr txBox="1"/>
          <p:nvPr/>
        </p:nvSpPr>
        <p:spPr>
          <a:xfrm>
            <a:off x="2926080" y="2331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66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모티브</a:t>
            </a:r>
            <a:endParaRPr lang="en-US" sz="1200" dirty="0"/>
          </a:p>
        </p:txBody>
      </p:sp>
      <p:sp>
        <p:nvSpPr>
          <p:cNvPr id="10" name="text-274"/>
          <p:cNvSpPr txBox="1"/>
          <p:nvPr/>
        </p:nvSpPr>
        <p:spPr>
          <a:xfrm>
            <a:off x="3840480" y="2331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가성비 좋은 분홍 소시지</a:t>
            </a:r>
            <a:endParaRPr lang="en-US" sz="1300" dirty="0"/>
          </a:p>
        </p:txBody>
      </p:sp>
      <p:sp>
        <p:nvSpPr>
          <p:cNvPr id="11" name="text-275"/>
          <p:cNvSpPr txBox="1"/>
          <p:nvPr/>
        </p:nvSpPr>
        <p:spPr>
          <a:xfrm>
            <a:off x="2926080" y="2788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66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endParaRPr lang="en-US" sz="1200" dirty="0"/>
          </a:p>
        </p:txBody>
      </p:sp>
      <p:sp>
        <p:nvSpPr>
          <p:cNvPr id="12" name="text-276"/>
          <p:cNvSpPr txBox="1"/>
          <p:nvPr/>
        </p:nvSpPr>
        <p:spPr>
          <a:xfrm>
            <a:off x="3840480" y="2788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 토박이 / 180g / 5살 / 외동아들 / INFP</a:t>
            </a:r>
            <a:endParaRPr lang="en-US" sz="1300" dirty="0"/>
          </a:p>
        </p:txBody>
      </p:sp>
      <p:sp>
        <p:nvSpPr>
          <p:cNvPr id="13" name="text-277"/>
          <p:cNvSpPr txBox="1"/>
          <p:nvPr/>
        </p:nvSpPr>
        <p:spPr>
          <a:xfrm>
            <a:off x="2926080" y="3246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66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성격</a:t>
            </a:r>
            <a:endParaRPr lang="en-US" sz="1200" dirty="0"/>
          </a:p>
        </p:txBody>
      </p:sp>
      <p:sp>
        <p:nvSpPr>
          <p:cNvPr id="14" name="text-278"/>
          <p:cNvSpPr txBox="1"/>
          <p:nvPr/>
        </p:nvSpPr>
        <p:spPr>
          <a:xfrm>
            <a:off x="3840480" y="3246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부끄러움을 감추려 괜히 센 척, 듬직한 '햄(형님)'이 되고 싶은 막내</a:t>
            </a:r>
            <a:endParaRPr lang="en-US" sz="1300" dirty="0"/>
          </a:p>
        </p:txBody>
      </p:sp>
      <p:sp>
        <p:nvSpPr>
          <p:cNvPr id="15" name="rect-279"/>
          <p:cNvSpPr/>
          <p:nvPr/>
        </p:nvSpPr>
        <p:spPr>
          <a:xfrm>
            <a:off x="2926080" y="379476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3D7C4"/>
            </a:solidFill>
            <a:prstDash val="solid"/>
          </a:ln>
        </p:spPr>
      </p:sp>
      <p:pic>
        <p:nvPicPr>
          <p:cNvPr id="16" name="img-sausage_wanna-280" descr="왔나?! 이모티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3931920"/>
            <a:ext cx="2057400" cy="2057400"/>
          </a:xfrm>
          <a:prstGeom prst="rect">
            <a:avLst/>
          </a:prstGeom>
        </p:spPr>
      </p:pic>
      <p:sp>
        <p:nvSpPr>
          <p:cNvPr id="17" name="text-281"/>
          <p:cNvSpPr txBox="1"/>
          <p:nvPr/>
        </p:nvSpPr>
        <p:spPr>
          <a:xfrm>
            <a:off x="5349240" y="4023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66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 사투리 이모티콘</a:t>
            </a:r>
            <a:endParaRPr lang="en-US" sz="1300" dirty="0"/>
          </a:p>
        </p:txBody>
      </p:sp>
      <p:sp>
        <p:nvSpPr>
          <p:cNvPr id="18" name="text-282"/>
          <p:cNvSpPr txBox="1"/>
          <p:nvPr/>
        </p:nvSpPr>
        <p:spPr>
          <a:xfrm>
            <a:off x="5349240" y="44348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A15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왔나?!  /  모라꼬?  /  밥도!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A15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마! 카톡 봤나 안 봤나? 으이?</a:t>
            </a:r>
            <a:endParaRPr lang="en-US" sz="1350" dirty="0"/>
          </a:p>
        </p:txBody>
      </p:sp>
      <p:sp>
        <p:nvSpPr>
          <p:cNvPr id="19" name="text-283"/>
          <p:cNvSpPr txBox="1"/>
          <p:nvPr/>
        </p:nvSpPr>
        <p:spPr>
          <a:xfrm>
            <a:off x="5349240" y="5349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A5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화면 형식의 프로필로 캐릭터 세계관을 대화하듯 소개</a:t>
            </a:r>
            <a:endParaRPr lang="en-US" sz="1150" dirty="0"/>
          </a:p>
        </p:txBody>
      </p:sp>
      <p:sp>
        <p:nvSpPr>
          <p:cNvPr id="20" name="border-284"/>
          <p:cNvSpPr/>
          <p:nvPr/>
        </p:nvSpPr>
        <p:spPr>
          <a:xfrm>
            <a:off x="8604504" y="1676400"/>
            <a:ext cx="2953512" cy="29108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1" name="img-sausage_emo-285" descr="오해소지 이모티콘 4종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1712976"/>
            <a:ext cx="2880360" cy="2837688"/>
          </a:xfrm>
          <a:prstGeom prst="rect">
            <a:avLst/>
          </a:prstGeom>
        </p:spPr>
      </p:pic>
      <p:sp>
        <p:nvSpPr>
          <p:cNvPr id="22" name="text-286"/>
          <p:cNvSpPr txBox="1"/>
          <p:nvPr/>
        </p:nvSpPr>
        <p:spPr>
          <a:xfrm>
            <a:off x="8641080" y="47091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866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기본형 + 감정별 변형 이모티콘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A8E84"/>
                </a:solidFill>
                <a:latin typeface="Impact"/>
                <a:ea typeface="Impact"/>
                <a:cs typeface="Impact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ivory-287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uit-288"/>
          <p:cNvSpPr txBox="1"/>
          <p:nvPr/>
        </p:nvSpPr>
        <p:spPr>
          <a:xfrm>
            <a:off x="640080" y="32918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66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♦</a:t>
            </a:r>
            <a:endParaRPr lang="en-US" sz="1500" dirty="0"/>
          </a:p>
        </p:txBody>
      </p:sp>
      <p:sp>
        <p:nvSpPr>
          <p:cNvPr id="4" name="label-289"/>
          <p:cNvSpPr txBox="1"/>
          <p:nvPr/>
        </p:nvSpPr>
        <p:spPr>
          <a:xfrm>
            <a:off x="932688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B866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CHARACTER IP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5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일상툰 「햄이 되고싶어」</a:t>
            </a:r>
            <a:endParaRPr lang="en-US" sz="2800" dirty="0"/>
          </a:p>
        </p:txBody>
      </p:sp>
      <p:sp>
        <p:nvSpPr>
          <p:cNvPr id="6" name="border-290"/>
          <p:cNvSpPr/>
          <p:nvPr/>
        </p:nvSpPr>
        <p:spPr>
          <a:xfrm>
            <a:off x="603504" y="1521006"/>
            <a:ext cx="3044952" cy="4730387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g-hamtoon-291" descr="일상툰 햄이 되고싶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7582"/>
            <a:ext cx="2971800" cy="4657235"/>
          </a:xfrm>
          <a:prstGeom prst="rect">
            <a:avLst/>
          </a:prstGeom>
        </p:spPr>
      </p:pic>
      <p:sp>
        <p:nvSpPr>
          <p:cNvPr id="8" name="rect-292"/>
          <p:cNvSpPr/>
          <p:nvPr/>
        </p:nvSpPr>
        <p:spPr>
          <a:xfrm>
            <a:off x="4114800" y="1691640"/>
            <a:ext cx="1188720" cy="274320"/>
          </a:xfrm>
          <a:prstGeom prst="rect">
            <a:avLst/>
          </a:prstGeom>
          <a:solidFill>
            <a:srgbClr val="E08A2E"/>
          </a:solidFill>
          <a:ln/>
        </p:spPr>
      </p:sp>
      <p:sp>
        <p:nvSpPr>
          <p:cNvPr id="9" name="tag-293"/>
          <p:cNvSpPr txBox="1"/>
          <p:nvPr/>
        </p:nvSpPr>
        <p:spPr>
          <a:xfrm>
            <a:off x="4114800" y="1691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6컷 일상툰</a:t>
            </a:r>
            <a:endParaRPr lang="en-US" sz="1000" dirty="0"/>
          </a:p>
        </p:txBody>
      </p:sp>
      <p:sp>
        <p:nvSpPr>
          <p:cNvPr id="10" name="text-294"/>
          <p:cNvSpPr txBox="1"/>
          <p:nvPr/>
        </p:nvSpPr>
        <p:spPr>
          <a:xfrm>
            <a:off x="4114800" y="21488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5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부산에서 형님을 '햄'이라 부르는 사투리를 소재로 한 언어유희</a:t>
            </a:r>
            <a:endParaRPr lang="en-US" sz="1800" dirty="0"/>
          </a:p>
        </p:txBody>
      </p:sp>
      <p:sp>
        <p:nvSpPr>
          <p:cNvPr id="11" name="mark-295"/>
          <p:cNvSpPr txBox="1"/>
          <p:nvPr/>
        </p:nvSpPr>
        <p:spPr>
          <a:xfrm>
            <a:off x="4114800" y="284378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♦</a:t>
            </a:r>
            <a:endParaRPr lang="en-US" sz="950" dirty="0"/>
          </a:p>
        </p:txBody>
      </p:sp>
      <p:sp>
        <p:nvSpPr>
          <p:cNvPr id="12" name="bullet-296"/>
          <p:cNvSpPr txBox="1"/>
          <p:nvPr/>
        </p:nvSpPr>
        <p:spPr>
          <a:xfrm>
            <a:off x="4389120" y="283464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4A4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냉장고에서 떨어지는 아기햄을 구한 오해소지가 '햄' 소리에 빠져드는 짧은 에피소드</a:t>
            </a:r>
            <a:endParaRPr lang="en-US" sz="1450" dirty="0"/>
          </a:p>
        </p:txBody>
      </p:sp>
      <p:sp>
        <p:nvSpPr>
          <p:cNvPr id="13" name="mark-297"/>
          <p:cNvSpPr txBox="1"/>
          <p:nvPr/>
        </p:nvSpPr>
        <p:spPr>
          <a:xfrm>
            <a:off x="4114800" y="350215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♦</a:t>
            </a:r>
            <a:endParaRPr lang="en-US" sz="950" dirty="0"/>
          </a:p>
        </p:txBody>
      </p:sp>
      <p:sp>
        <p:nvSpPr>
          <p:cNvPr id="14" name="bullet-298"/>
          <p:cNvSpPr txBox="1"/>
          <p:nvPr/>
        </p:nvSpPr>
        <p:spPr>
          <a:xfrm>
            <a:off x="4389120" y="3493008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4A4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수채화풍 냉장고 배경과 둥근 캐릭터로 친근한 브랜드 톤 확보</a:t>
            </a:r>
            <a:endParaRPr lang="en-US" sz="1450" dirty="0"/>
          </a:p>
        </p:txBody>
      </p:sp>
      <p:sp>
        <p:nvSpPr>
          <p:cNvPr id="15" name="mark-299"/>
          <p:cNvSpPr txBox="1"/>
          <p:nvPr/>
        </p:nvSpPr>
        <p:spPr>
          <a:xfrm>
            <a:off x="4114800" y="41605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08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♦</a:t>
            </a:r>
            <a:endParaRPr lang="en-US" sz="950" dirty="0"/>
          </a:p>
        </p:txBody>
      </p:sp>
      <p:sp>
        <p:nvSpPr>
          <p:cNvPr id="16" name="bullet-300"/>
          <p:cNvSpPr txBox="1"/>
          <p:nvPr/>
        </p:nvSpPr>
        <p:spPr>
          <a:xfrm>
            <a:off x="4389120" y="4151376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4A4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/ 이모티콘 / 일상툰으로 이어지는 캐릭터 IP 확장 구조</a:t>
            </a:r>
            <a:endParaRPr lang="en-US" sz="1450" dirty="0"/>
          </a:p>
        </p:txBody>
      </p:sp>
      <p:sp>
        <p:nvSpPr>
          <p:cNvPr id="17" name="rect-301"/>
          <p:cNvSpPr/>
          <p:nvPr/>
        </p:nvSpPr>
        <p:spPr>
          <a:xfrm>
            <a:off x="4114800" y="4937760"/>
            <a:ext cx="74066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7C4"/>
            </a:solidFill>
            <a:prstDash val="solid"/>
          </a:ln>
        </p:spPr>
      </p:sp>
      <p:sp>
        <p:nvSpPr>
          <p:cNvPr id="18" name="text-302"/>
          <p:cNvSpPr txBox="1"/>
          <p:nvPr/>
        </p:nvSpPr>
        <p:spPr>
          <a:xfrm>
            <a:off x="4389120" y="50749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866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"엣헴! 내를 이제 햄이라 부르레이~"</a:t>
            </a:r>
            <a:endParaRPr lang="en-US" sz="1700" dirty="0"/>
          </a:p>
        </p:txBody>
      </p:sp>
      <p:sp>
        <p:nvSpPr>
          <p:cNvPr id="19" name="text-303"/>
          <p:cNvSpPr txBox="1"/>
          <p:nvPr/>
        </p:nvSpPr>
        <p:spPr>
          <a:xfrm>
            <a:off x="4389120" y="55321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5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"영원히 햄으로 모시겠습니다!!"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A8E84"/>
                </a:solidFill>
                <a:latin typeface="Impact"/>
                <a:ea typeface="Impact"/>
                <a:cs typeface="Impact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3_bg-304" descr="챕터 대표 장면을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-30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C0B">
              <a:alpha val="45000"/>
            </a:srgbClr>
          </a:solidFill>
          <a:ln/>
        </p:spPr>
      </p:sp>
      <p:pic>
        <p:nvPicPr>
          <p:cNvPr id="4" name="card-cardback-306" descr="카드 뒷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960000">
            <a:off x="502920" y="1234440"/>
            <a:ext cx="3004457" cy="4206240"/>
          </a:xfrm>
          <a:prstGeom prst="rect">
            <a:avLst/>
          </a:prstGeom>
        </p:spPr>
      </p:pic>
      <p:pic>
        <p:nvPicPr>
          <p:cNvPr id="5" name="card-cardback-307" descr="카드 뒷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80000">
            <a:off x="2651760" y="1417320"/>
            <a:ext cx="3004457" cy="4206240"/>
          </a:xfrm>
          <a:prstGeom prst="rect">
            <a:avLst/>
          </a:prstGeom>
        </p:spPr>
      </p:pic>
      <p:pic>
        <p:nvPicPr>
          <p:cNvPr id="6" name="card-card3_face-308" descr="3♠ 카드 앞면 대표 이미지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80000">
            <a:off x="1325880" y="685800"/>
            <a:ext cx="3853543" cy="5394960"/>
          </a:xfrm>
          <a:prstGeom prst="rect">
            <a:avLst/>
          </a:prstGeom>
        </p:spPr>
      </p:pic>
      <p:sp>
        <p:nvSpPr>
          <p:cNvPr id="7" name="text-309"/>
          <p:cNvSpPr txBox="1"/>
          <p:nvPr/>
        </p:nvSpPr>
        <p:spPr>
          <a:xfrm>
            <a:off x="6583680" y="1143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600" kern="0" dirty="0">
                <a:solidFill>
                  <a:srgbClr val="8EA6D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CHAPTER 3</a:t>
            </a:r>
            <a:endParaRPr lang="en-US" sz="1800" dirty="0"/>
          </a:p>
        </p:txBody>
      </p:sp>
      <p:sp>
        <p:nvSpPr>
          <p:cNvPr id="8" name="ch-rank-310"/>
          <p:cNvSpPr txBox="1"/>
          <p:nvPr/>
        </p:nvSpPr>
        <p:spPr>
          <a:xfrm>
            <a:off x="6492240" y="146304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dirty="0">
                <a:solidFill>
                  <a:srgbClr val="F3EBD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pPr indent="0" marL="0">
              <a:buNone/>
            </a:pPr>
            <a:r>
              <a:rPr lang="en-US" sz="11000" dirty="0">
                <a:solidFill>
                  <a:srgbClr val="8EA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♠</a:t>
            </a:r>
            <a:endParaRPr lang="en-US" sz="15000" dirty="0"/>
          </a:p>
        </p:txBody>
      </p:sp>
      <p:sp>
        <p:nvSpPr>
          <p:cNvPr id="9" name="rect-311"/>
          <p:cNvSpPr/>
          <p:nvPr/>
        </p:nvSpPr>
        <p:spPr>
          <a:xfrm>
            <a:off x="6583680" y="3794760"/>
            <a:ext cx="1097280" cy="54864"/>
          </a:xfrm>
          <a:prstGeom prst="rect">
            <a:avLst/>
          </a:prstGeom>
          <a:solidFill>
            <a:srgbClr val="8EA6DA"/>
          </a:solidFill>
          <a:ln/>
        </p:spPr>
      </p:sp>
      <p:sp>
        <p:nvSpPr>
          <p:cNvPr id="10" name="text-312"/>
          <p:cNvSpPr txBox="1"/>
          <p:nvPr/>
        </p:nvSpPr>
        <p:spPr>
          <a:xfrm>
            <a:off x="6583680" y="39776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숏폼 광고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스토리보드</a:t>
            </a:r>
            <a:endParaRPr lang="en-US" sz="3000" dirty="0"/>
          </a:p>
        </p:txBody>
      </p:sp>
      <p:sp>
        <p:nvSpPr>
          <p:cNvPr id="11" name="text-313"/>
          <p:cNvSpPr txBox="1"/>
          <p:nvPr/>
        </p:nvSpPr>
        <p:spPr>
          <a:xfrm>
            <a:off x="6583680" y="5257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C9BFB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AI SHORT-FORM AD  9:16</a:t>
            </a:r>
            <a:endParaRPr lang="en-US" sz="1500" dirty="0"/>
          </a:p>
        </p:txBody>
      </p:sp>
      <p:sp>
        <p:nvSpPr>
          <p:cNvPr id="12" name="text-314"/>
          <p:cNvSpPr txBox="1"/>
          <p:nvPr/>
        </p:nvSpPr>
        <p:spPr>
          <a:xfrm>
            <a:off x="6583680" y="56692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어두운 골목의 추격에서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출근길 지하철로 이어지는 세로형 시퀀스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ad-315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uit-316"/>
          <p:cNvSpPr txBox="1"/>
          <p:nvPr/>
        </p:nvSpPr>
        <p:spPr>
          <a:xfrm>
            <a:off x="640080" y="32918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A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♠</a:t>
            </a:r>
            <a:endParaRPr lang="en-US" sz="1500" dirty="0"/>
          </a:p>
        </p:txBody>
      </p:sp>
      <p:sp>
        <p:nvSpPr>
          <p:cNvPr id="4" name="label-317"/>
          <p:cNvSpPr txBox="1"/>
          <p:nvPr/>
        </p:nvSpPr>
        <p:spPr>
          <a:xfrm>
            <a:off x="932688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8EA6D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SHORT-FORM AD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세로형 화면에 맞춘 두 인물 설계</a:t>
            </a:r>
            <a:endParaRPr lang="en-US" sz="2800" dirty="0"/>
          </a:p>
        </p:txBody>
      </p:sp>
      <p:sp>
        <p:nvSpPr>
          <p:cNvPr id="6" name="rect-318"/>
          <p:cNvSpPr/>
          <p:nvPr/>
        </p:nvSpPr>
        <p:spPr>
          <a:xfrm>
            <a:off x="640080" y="1645920"/>
            <a:ext cx="7315200" cy="2606040"/>
          </a:xfrm>
          <a:prstGeom prst="rect">
            <a:avLst/>
          </a:prstGeom>
          <a:solidFill>
            <a:srgbClr val="E6E6E6"/>
          </a:solidFill>
          <a:ln/>
        </p:spPr>
      </p:sp>
      <p:pic>
        <p:nvPicPr>
          <p:cNvPr id="7" name="img-bays-319" descr="배이스 캐릭터 시트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2509"/>
            <a:ext cx="7132320" cy="2332863"/>
          </a:xfrm>
          <a:prstGeom prst="rect">
            <a:avLst/>
          </a:prstGeom>
        </p:spPr>
      </p:pic>
      <p:sp>
        <p:nvSpPr>
          <p:cNvPr id="8" name="rect-320"/>
          <p:cNvSpPr/>
          <p:nvPr/>
        </p:nvSpPr>
        <p:spPr>
          <a:xfrm>
            <a:off x="8229600" y="1645920"/>
            <a:ext cx="3291840" cy="4434840"/>
          </a:xfrm>
          <a:prstGeom prst="rect">
            <a:avLst/>
          </a:prstGeom>
          <a:solidFill>
            <a:srgbClr val="E6E6E6"/>
          </a:solidFill>
          <a:ln/>
        </p:spPr>
      </p:sp>
      <p:pic>
        <p:nvPicPr>
          <p:cNvPr id="9" name="img-reaper_ad-321" descr="저승사자 캐릭터 시트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4950" y="1691640"/>
            <a:ext cx="3041139" cy="4343400"/>
          </a:xfrm>
          <a:prstGeom prst="rect">
            <a:avLst/>
          </a:prstGeom>
        </p:spPr>
      </p:pic>
      <p:sp>
        <p:nvSpPr>
          <p:cNvPr id="10" name="text-322"/>
          <p:cNvSpPr txBox="1"/>
          <p:nvPr/>
        </p:nvSpPr>
        <p:spPr>
          <a:xfrm>
            <a:off x="640080" y="4434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배이스</a:t>
            </a:r>
            <a:endParaRPr lang="en-US" sz="2000" dirty="0"/>
          </a:p>
        </p:txBody>
      </p:sp>
      <p:sp>
        <p:nvSpPr>
          <p:cNvPr id="11" name="text-323"/>
          <p:cNvSpPr txBox="1"/>
          <p:nvPr/>
        </p:nvSpPr>
        <p:spPr>
          <a:xfrm>
            <a:off x="640080" y="4892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CF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블라우스 / 데님 롱스커트 / 사원증 / 붉은 마스크를 시그니처로 한 직장인 캐릭터, 7방향 시트로 컷마다 의상 일관성 유지</a:t>
            </a:r>
            <a:endParaRPr lang="en-US" sz="1300" dirty="0"/>
          </a:p>
        </p:txBody>
      </p:sp>
      <p:sp>
        <p:nvSpPr>
          <p:cNvPr id="12" name="text-324"/>
          <p:cNvSpPr txBox="1"/>
          <p:nvPr/>
        </p:nvSpPr>
        <p:spPr>
          <a:xfrm>
            <a:off x="8229600" y="6126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EA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저승사자</a:t>
            </a:r>
            <a:endParaRPr lang="en-US" sz="1200" dirty="0"/>
          </a:p>
        </p:txBody>
      </p:sp>
      <p:sp>
        <p:nvSpPr>
          <p:cNvPr id="13" name="text-325"/>
          <p:cNvSpPr txBox="1"/>
          <p:nvPr/>
        </p:nvSpPr>
        <p:spPr>
          <a:xfrm>
            <a:off x="9372600" y="6126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CF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검은 로브 / 정장 두 가지 버전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6E66"/>
                </a:solidFill>
                <a:latin typeface="Impact"/>
                <a:ea typeface="Impact"/>
                <a:cs typeface="Impact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ad-326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uit-327"/>
          <p:cNvSpPr txBox="1"/>
          <p:nvPr/>
        </p:nvSpPr>
        <p:spPr>
          <a:xfrm>
            <a:off x="640080" y="32918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A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♠</a:t>
            </a:r>
            <a:endParaRPr lang="en-US" sz="1500" dirty="0"/>
          </a:p>
        </p:txBody>
      </p:sp>
      <p:sp>
        <p:nvSpPr>
          <p:cNvPr id="4" name="label-328"/>
          <p:cNvSpPr txBox="1"/>
          <p:nvPr/>
        </p:nvSpPr>
        <p:spPr>
          <a:xfrm>
            <a:off x="932688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8EA6D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SHORT-FORM AD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S#1  골목 추격, 긴장감을 쌓는 세로 구도</a:t>
            </a:r>
            <a:endParaRPr lang="en-US" sz="2800" dirty="0"/>
          </a:p>
        </p:txBody>
      </p:sp>
      <p:sp>
        <p:nvSpPr>
          <p:cNvPr id="6" name="border-329"/>
          <p:cNvSpPr/>
          <p:nvPr/>
        </p:nvSpPr>
        <p:spPr>
          <a:xfrm>
            <a:off x="1183005" y="1609344"/>
            <a:ext cx="2114550" cy="3730752"/>
          </a:xfrm>
          <a:prstGeom prst="rect">
            <a:avLst/>
          </a:prstGeom>
          <a:solidFill>
            <a:srgbClr val="3A302C"/>
          </a:solidFill>
          <a:ln/>
        </p:spPr>
      </p:sp>
      <p:pic>
        <p:nvPicPr>
          <p:cNvPr id="7" name="img-d1_1-330" descr="S#1 C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581" y="1645920"/>
            <a:ext cx="2041398" cy="3657600"/>
          </a:xfrm>
          <a:prstGeom prst="rect">
            <a:avLst/>
          </a:prstGeom>
        </p:spPr>
      </p:pic>
      <p:sp>
        <p:nvSpPr>
          <p:cNvPr id="8" name="rect-331"/>
          <p:cNvSpPr/>
          <p:nvPr/>
        </p:nvSpPr>
        <p:spPr>
          <a:xfrm>
            <a:off x="1219581" y="5394960"/>
            <a:ext cx="868680" cy="274320"/>
          </a:xfrm>
          <a:prstGeom prst="rect">
            <a:avLst/>
          </a:prstGeom>
          <a:solidFill>
            <a:srgbClr val="3E5A9E"/>
          </a:solidFill>
          <a:ln/>
        </p:spPr>
      </p:sp>
      <p:sp>
        <p:nvSpPr>
          <p:cNvPr id="9" name="tag-332"/>
          <p:cNvSpPr txBox="1"/>
          <p:nvPr/>
        </p:nvSpPr>
        <p:spPr>
          <a:xfrm>
            <a:off x="1219581" y="53949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EBD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S#1 C1</a:t>
            </a:r>
            <a:endParaRPr lang="en-US" sz="1200" dirty="0"/>
          </a:p>
        </p:txBody>
      </p:sp>
      <p:sp>
        <p:nvSpPr>
          <p:cNvPr id="10" name="border-333"/>
          <p:cNvSpPr/>
          <p:nvPr/>
        </p:nvSpPr>
        <p:spPr>
          <a:xfrm>
            <a:off x="3789045" y="1609344"/>
            <a:ext cx="2114550" cy="3730752"/>
          </a:xfrm>
          <a:prstGeom prst="rect">
            <a:avLst/>
          </a:prstGeom>
          <a:solidFill>
            <a:srgbClr val="3A302C"/>
          </a:solidFill>
          <a:ln/>
        </p:spPr>
      </p:sp>
      <p:pic>
        <p:nvPicPr>
          <p:cNvPr id="11" name="img-d1_2-334" descr="S#1 C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5621" y="1645920"/>
            <a:ext cx="2041398" cy="3657600"/>
          </a:xfrm>
          <a:prstGeom prst="rect">
            <a:avLst/>
          </a:prstGeom>
        </p:spPr>
      </p:pic>
      <p:sp>
        <p:nvSpPr>
          <p:cNvPr id="12" name="rect-335"/>
          <p:cNvSpPr/>
          <p:nvPr/>
        </p:nvSpPr>
        <p:spPr>
          <a:xfrm>
            <a:off x="3825621" y="5394960"/>
            <a:ext cx="868680" cy="274320"/>
          </a:xfrm>
          <a:prstGeom prst="rect">
            <a:avLst/>
          </a:prstGeom>
          <a:solidFill>
            <a:srgbClr val="3E5A9E"/>
          </a:solidFill>
          <a:ln/>
        </p:spPr>
      </p:sp>
      <p:sp>
        <p:nvSpPr>
          <p:cNvPr id="13" name="tag-336"/>
          <p:cNvSpPr txBox="1"/>
          <p:nvPr/>
        </p:nvSpPr>
        <p:spPr>
          <a:xfrm>
            <a:off x="3825621" y="53949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EBD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S#1 C2</a:t>
            </a:r>
            <a:endParaRPr lang="en-US" sz="1200" dirty="0"/>
          </a:p>
        </p:txBody>
      </p:sp>
      <p:sp>
        <p:nvSpPr>
          <p:cNvPr id="14" name="border-337"/>
          <p:cNvSpPr/>
          <p:nvPr/>
        </p:nvSpPr>
        <p:spPr>
          <a:xfrm>
            <a:off x="6395085" y="1609344"/>
            <a:ext cx="2114550" cy="3730752"/>
          </a:xfrm>
          <a:prstGeom prst="rect">
            <a:avLst/>
          </a:prstGeom>
          <a:solidFill>
            <a:srgbClr val="3A302C"/>
          </a:solidFill>
          <a:ln/>
        </p:spPr>
      </p:sp>
      <p:pic>
        <p:nvPicPr>
          <p:cNvPr id="15" name="img-d1_3-338" descr="S#1 C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1661" y="1645920"/>
            <a:ext cx="2041398" cy="3657600"/>
          </a:xfrm>
          <a:prstGeom prst="rect">
            <a:avLst/>
          </a:prstGeom>
        </p:spPr>
      </p:pic>
      <p:sp>
        <p:nvSpPr>
          <p:cNvPr id="16" name="rect-339"/>
          <p:cNvSpPr/>
          <p:nvPr/>
        </p:nvSpPr>
        <p:spPr>
          <a:xfrm>
            <a:off x="6431661" y="5394960"/>
            <a:ext cx="868680" cy="274320"/>
          </a:xfrm>
          <a:prstGeom prst="rect">
            <a:avLst/>
          </a:prstGeom>
          <a:solidFill>
            <a:srgbClr val="3E5A9E"/>
          </a:solidFill>
          <a:ln/>
        </p:spPr>
      </p:sp>
      <p:sp>
        <p:nvSpPr>
          <p:cNvPr id="17" name="tag-340"/>
          <p:cNvSpPr txBox="1"/>
          <p:nvPr/>
        </p:nvSpPr>
        <p:spPr>
          <a:xfrm>
            <a:off x="6431661" y="53949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EBD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S#1 C3</a:t>
            </a:r>
            <a:endParaRPr lang="en-US" sz="1200" dirty="0"/>
          </a:p>
        </p:txBody>
      </p:sp>
      <p:sp>
        <p:nvSpPr>
          <p:cNvPr id="18" name="border-341"/>
          <p:cNvSpPr/>
          <p:nvPr/>
        </p:nvSpPr>
        <p:spPr>
          <a:xfrm>
            <a:off x="8802624" y="1609344"/>
            <a:ext cx="2511552" cy="3730752"/>
          </a:xfrm>
          <a:prstGeom prst="rect">
            <a:avLst/>
          </a:prstGeom>
          <a:solidFill>
            <a:srgbClr val="3A302C"/>
          </a:solidFill>
          <a:ln/>
        </p:spPr>
      </p:sp>
      <p:pic>
        <p:nvPicPr>
          <p:cNvPr id="19" name="img-d1_4-342" descr="S#1 C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9200" y="1645920"/>
            <a:ext cx="2438400" cy="3657600"/>
          </a:xfrm>
          <a:prstGeom prst="rect">
            <a:avLst/>
          </a:prstGeom>
        </p:spPr>
      </p:pic>
      <p:sp>
        <p:nvSpPr>
          <p:cNvPr id="20" name="rect-343"/>
          <p:cNvSpPr/>
          <p:nvPr/>
        </p:nvSpPr>
        <p:spPr>
          <a:xfrm>
            <a:off x="8839200" y="5394960"/>
            <a:ext cx="868680" cy="274320"/>
          </a:xfrm>
          <a:prstGeom prst="rect">
            <a:avLst/>
          </a:prstGeom>
          <a:solidFill>
            <a:srgbClr val="3E5A9E"/>
          </a:solidFill>
          <a:ln/>
        </p:spPr>
      </p:sp>
      <p:sp>
        <p:nvSpPr>
          <p:cNvPr id="21" name="tag-344"/>
          <p:cNvSpPr txBox="1"/>
          <p:nvPr/>
        </p:nvSpPr>
        <p:spPr>
          <a:xfrm>
            <a:off x="8839200" y="53949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EBD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S#1 C4</a:t>
            </a:r>
            <a:endParaRPr lang="en-US" sz="1200" dirty="0"/>
          </a:p>
        </p:txBody>
      </p:sp>
      <p:sp>
        <p:nvSpPr>
          <p:cNvPr id="22" name="mark-345"/>
          <p:cNvSpPr txBox="1"/>
          <p:nvPr/>
        </p:nvSpPr>
        <p:spPr>
          <a:xfrm>
            <a:off x="640080" y="581558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EA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♠</a:t>
            </a:r>
            <a:endParaRPr lang="en-US" sz="750" dirty="0"/>
          </a:p>
        </p:txBody>
      </p:sp>
      <p:sp>
        <p:nvSpPr>
          <p:cNvPr id="23" name="bullet-346"/>
          <p:cNvSpPr txBox="1"/>
          <p:nvPr/>
        </p:nvSpPr>
        <p:spPr>
          <a:xfrm>
            <a:off x="914400" y="5806440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좁은 골목의 소실점 구도와 세로 화면으로 도망치는 인물의 고립감 강조</a:t>
            </a:r>
            <a:endParaRPr lang="en-US" sz="1250" dirty="0"/>
          </a:p>
        </p:txBody>
      </p:sp>
      <p:sp>
        <p:nvSpPr>
          <p:cNvPr id="24" name="mark-347"/>
          <p:cNvSpPr txBox="1"/>
          <p:nvPr/>
        </p:nvSpPr>
        <p:spPr>
          <a:xfrm>
            <a:off x="640080" y="611733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EA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♠</a:t>
            </a:r>
            <a:endParaRPr lang="en-US" sz="750" dirty="0"/>
          </a:p>
        </p:txBody>
      </p:sp>
      <p:sp>
        <p:nvSpPr>
          <p:cNvPr id="25" name="bullet-348"/>
          <p:cNvSpPr txBox="1"/>
          <p:nvPr/>
        </p:nvSpPr>
        <p:spPr>
          <a:xfrm>
            <a:off x="914400" y="6108192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점점 다가오는 저승사자의 실루엣과 붙잡히는 순간까지 컷 단위로 긴장감 고조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6E66"/>
                </a:solidFill>
                <a:latin typeface="Impact"/>
                <a:ea typeface="Impact"/>
                <a:cs typeface="Impact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ad-349" descr="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uit-350"/>
          <p:cNvSpPr txBox="1"/>
          <p:nvPr/>
        </p:nvSpPr>
        <p:spPr>
          <a:xfrm>
            <a:off x="640080" y="32918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A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♠</a:t>
            </a:r>
            <a:endParaRPr lang="en-US" sz="1500" dirty="0"/>
          </a:p>
        </p:txBody>
      </p:sp>
      <p:sp>
        <p:nvSpPr>
          <p:cNvPr id="4" name="label-351"/>
          <p:cNvSpPr txBox="1"/>
          <p:nvPr/>
        </p:nvSpPr>
        <p:spPr>
          <a:xfrm>
            <a:off x="932688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8EA6D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SHORT-FORM AD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676656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S#2~S#3  반전의 미소에서 출근길로</a:t>
            </a:r>
            <a:endParaRPr lang="en-US" sz="2800" dirty="0"/>
          </a:p>
        </p:txBody>
      </p:sp>
      <p:sp>
        <p:nvSpPr>
          <p:cNvPr id="6" name="border-352"/>
          <p:cNvSpPr/>
          <p:nvPr/>
        </p:nvSpPr>
        <p:spPr>
          <a:xfrm>
            <a:off x="611478" y="1609344"/>
            <a:ext cx="2114603" cy="3730752"/>
          </a:xfrm>
          <a:prstGeom prst="rect">
            <a:avLst/>
          </a:prstGeom>
          <a:solidFill>
            <a:srgbClr val="3A302C"/>
          </a:solidFill>
          <a:ln/>
        </p:spPr>
      </p:sp>
      <p:pic>
        <p:nvPicPr>
          <p:cNvPr id="7" name="img-d2_1-353" descr="S#2 C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54" y="1645920"/>
            <a:ext cx="2041451" cy="3657600"/>
          </a:xfrm>
          <a:prstGeom prst="rect">
            <a:avLst/>
          </a:prstGeom>
        </p:spPr>
      </p:pic>
      <p:sp>
        <p:nvSpPr>
          <p:cNvPr id="8" name="rect-354"/>
          <p:cNvSpPr/>
          <p:nvPr/>
        </p:nvSpPr>
        <p:spPr>
          <a:xfrm>
            <a:off x="648054" y="5394960"/>
            <a:ext cx="868680" cy="274320"/>
          </a:xfrm>
          <a:prstGeom prst="rect">
            <a:avLst/>
          </a:prstGeom>
          <a:solidFill>
            <a:srgbClr val="3E5A9E"/>
          </a:solidFill>
          <a:ln/>
        </p:spPr>
      </p:sp>
      <p:sp>
        <p:nvSpPr>
          <p:cNvPr id="9" name="tag-355"/>
          <p:cNvSpPr txBox="1"/>
          <p:nvPr/>
        </p:nvSpPr>
        <p:spPr>
          <a:xfrm>
            <a:off x="648054" y="53949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EBD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S#2 C1</a:t>
            </a:r>
            <a:endParaRPr lang="en-US" sz="1200" dirty="0"/>
          </a:p>
        </p:txBody>
      </p:sp>
      <p:sp>
        <p:nvSpPr>
          <p:cNvPr id="10" name="border-356"/>
          <p:cNvSpPr/>
          <p:nvPr/>
        </p:nvSpPr>
        <p:spPr>
          <a:xfrm>
            <a:off x="2805208" y="1609344"/>
            <a:ext cx="2116265" cy="3730752"/>
          </a:xfrm>
          <a:prstGeom prst="rect">
            <a:avLst/>
          </a:prstGeom>
          <a:solidFill>
            <a:srgbClr val="3A302C"/>
          </a:solidFill>
          <a:ln/>
        </p:spPr>
      </p:sp>
      <p:pic>
        <p:nvPicPr>
          <p:cNvPr id="11" name="img-d2_2-357" descr="S#2 C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1784" y="1645920"/>
            <a:ext cx="2043113" cy="3657600"/>
          </a:xfrm>
          <a:prstGeom prst="rect">
            <a:avLst/>
          </a:prstGeom>
        </p:spPr>
      </p:pic>
      <p:sp>
        <p:nvSpPr>
          <p:cNvPr id="12" name="rect-358"/>
          <p:cNvSpPr/>
          <p:nvPr/>
        </p:nvSpPr>
        <p:spPr>
          <a:xfrm>
            <a:off x="2841784" y="5394960"/>
            <a:ext cx="868680" cy="274320"/>
          </a:xfrm>
          <a:prstGeom prst="rect">
            <a:avLst/>
          </a:prstGeom>
          <a:solidFill>
            <a:srgbClr val="3E5A9E"/>
          </a:solidFill>
          <a:ln/>
        </p:spPr>
      </p:sp>
      <p:sp>
        <p:nvSpPr>
          <p:cNvPr id="13" name="tag-359"/>
          <p:cNvSpPr txBox="1"/>
          <p:nvPr/>
        </p:nvSpPr>
        <p:spPr>
          <a:xfrm>
            <a:off x="2841784" y="53949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EBD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S#2 C2</a:t>
            </a:r>
            <a:endParaRPr lang="en-US" sz="1200" dirty="0"/>
          </a:p>
        </p:txBody>
      </p:sp>
      <p:sp>
        <p:nvSpPr>
          <p:cNvPr id="14" name="border-360"/>
          <p:cNvSpPr/>
          <p:nvPr/>
        </p:nvSpPr>
        <p:spPr>
          <a:xfrm>
            <a:off x="5000598" y="1609344"/>
            <a:ext cx="2114603" cy="3730752"/>
          </a:xfrm>
          <a:prstGeom prst="rect">
            <a:avLst/>
          </a:prstGeom>
          <a:solidFill>
            <a:srgbClr val="3A302C"/>
          </a:solidFill>
          <a:ln/>
        </p:spPr>
      </p:sp>
      <p:pic>
        <p:nvPicPr>
          <p:cNvPr id="15" name="img-d2_3-361" descr="S#2 C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7174" y="1645920"/>
            <a:ext cx="2041451" cy="3657600"/>
          </a:xfrm>
          <a:prstGeom prst="rect">
            <a:avLst/>
          </a:prstGeom>
        </p:spPr>
      </p:pic>
      <p:sp>
        <p:nvSpPr>
          <p:cNvPr id="16" name="rect-362"/>
          <p:cNvSpPr/>
          <p:nvPr/>
        </p:nvSpPr>
        <p:spPr>
          <a:xfrm>
            <a:off x="5037174" y="5394960"/>
            <a:ext cx="868680" cy="274320"/>
          </a:xfrm>
          <a:prstGeom prst="rect">
            <a:avLst/>
          </a:prstGeom>
          <a:solidFill>
            <a:srgbClr val="3E5A9E"/>
          </a:solidFill>
          <a:ln/>
        </p:spPr>
      </p:sp>
      <p:sp>
        <p:nvSpPr>
          <p:cNvPr id="17" name="tag-363"/>
          <p:cNvSpPr txBox="1"/>
          <p:nvPr/>
        </p:nvSpPr>
        <p:spPr>
          <a:xfrm>
            <a:off x="5037174" y="53949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EBD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S#2 C3</a:t>
            </a:r>
            <a:endParaRPr lang="en-US" sz="1200" dirty="0"/>
          </a:p>
        </p:txBody>
      </p:sp>
      <p:sp>
        <p:nvSpPr>
          <p:cNvPr id="18" name="border-364"/>
          <p:cNvSpPr/>
          <p:nvPr/>
        </p:nvSpPr>
        <p:spPr>
          <a:xfrm>
            <a:off x="7195158" y="1609344"/>
            <a:ext cx="2114603" cy="3730752"/>
          </a:xfrm>
          <a:prstGeom prst="rect">
            <a:avLst/>
          </a:prstGeom>
          <a:solidFill>
            <a:srgbClr val="3A302C"/>
          </a:solidFill>
          <a:ln/>
        </p:spPr>
      </p:sp>
      <p:pic>
        <p:nvPicPr>
          <p:cNvPr id="19" name="img-d3_1-365" descr="S#3 C1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1734" y="1645920"/>
            <a:ext cx="2041451" cy="3657600"/>
          </a:xfrm>
          <a:prstGeom prst="rect">
            <a:avLst/>
          </a:prstGeom>
        </p:spPr>
      </p:pic>
      <p:sp>
        <p:nvSpPr>
          <p:cNvPr id="20" name="rect-366"/>
          <p:cNvSpPr/>
          <p:nvPr/>
        </p:nvSpPr>
        <p:spPr>
          <a:xfrm>
            <a:off x="7231734" y="5394960"/>
            <a:ext cx="868680" cy="274320"/>
          </a:xfrm>
          <a:prstGeom prst="rect">
            <a:avLst/>
          </a:prstGeom>
          <a:solidFill>
            <a:srgbClr val="3E5A9E"/>
          </a:solidFill>
          <a:ln/>
        </p:spPr>
      </p:sp>
      <p:sp>
        <p:nvSpPr>
          <p:cNvPr id="21" name="tag-367"/>
          <p:cNvSpPr txBox="1"/>
          <p:nvPr/>
        </p:nvSpPr>
        <p:spPr>
          <a:xfrm>
            <a:off x="7231734" y="53949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EBD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S#3 C1</a:t>
            </a:r>
            <a:endParaRPr lang="en-US" sz="1200" dirty="0"/>
          </a:p>
        </p:txBody>
      </p:sp>
      <p:sp>
        <p:nvSpPr>
          <p:cNvPr id="22" name="border-368"/>
          <p:cNvSpPr/>
          <p:nvPr/>
        </p:nvSpPr>
        <p:spPr>
          <a:xfrm>
            <a:off x="9381744" y="1609344"/>
            <a:ext cx="2130552" cy="3730752"/>
          </a:xfrm>
          <a:prstGeom prst="rect">
            <a:avLst/>
          </a:prstGeom>
          <a:solidFill>
            <a:srgbClr val="3A302C"/>
          </a:solidFill>
          <a:ln/>
        </p:spPr>
      </p:sp>
      <p:pic>
        <p:nvPicPr>
          <p:cNvPr id="23" name="img-d3_2-369" descr="S#3 C2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0" y="1645920"/>
            <a:ext cx="2057400" cy="3657600"/>
          </a:xfrm>
          <a:prstGeom prst="rect">
            <a:avLst/>
          </a:prstGeom>
        </p:spPr>
      </p:pic>
      <p:sp>
        <p:nvSpPr>
          <p:cNvPr id="24" name="rect-370"/>
          <p:cNvSpPr/>
          <p:nvPr/>
        </p:nvSpPr>
        <p:spPr>
          <a:xfrm>
            <a:off x="9418320" y="5394960"/>
            <a:ext cx="868680" cy="274320"/>
          </a:xfrm>
          <a:prstGeom prst="rect">
            <a:avLst/>
          </a:prstGeom>
          <a:solidFill>
            <a:srgbClr val="3E5A9E"/>
          </a:solidFill>
          <a:ln/>
        </p:spPr>
      </p:sp>
      <p:sp>
        <p:nvSpPr>
          <p:cNvPr id="25" name="tag-371"/>
          <p:cNvSpPr txBox="1"/>
          <p:nvPr/>
        </p:nvSpPr>
        <p:spPr>
          <a:xfrm>
            <a:off x="9418320" y="53949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EBD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S#3 C2</a:t>
            </a:r>
            <a:endParaRPr lang="en-US" sz="1200" dirty="0"/>
          </a:p>
        </p:txBody>
      </p:sp>
      <p:sp>
        <p:nvSpPr>
          <p:cNvPr id="26" name="mark-372"/>
          <p:cNvSpPr txBox="1"/>
          <p:nvPr/>
        </p:nvSpPr>
        <p:spPr>
          <a:xfrm>
            <a:off x="640080" y="581558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EA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♠</a:t>
            </a:r>
            <a:endParaRPr lang="en-US" sz="750" dirty="0"/>
          </a:p>
        </p:txBody>
      </p:sp>
      <p:sp>
        <p:nvSpPr>
          <p:cNvPr id="27" name="bullet-373"/>
          <p:cNvSpPr txBox="1"/>
          <p:nvPr/>
        </p:nvSpPr>
        <p:spPr>
          <a:xfrm>
            <a:off x="914400" y="5806440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붙잡힌 순간의 섬뜩한 미소와 붉은 마스크로 장르를 뒤집는 반전 연출</a:t>
            </a:r>
            <a:endParaRPr lang="en-US" sz="1250" dirty="0"/>
          </a:p>
        </p:txBody>
      </p:sp>
      <p:sp>
        <p:nvSpPr>
          <p:cNvPr id="28" name="mark-374"/>
          <p:cNvSpPr txBox="1"/>
          <p:nvPr/>
        </p:nvSpPr>
        <p:spPr>
          <a:xfrm>
            <a:off x="640080" y="611733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EA6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♠</a:t>
            </a:r>
            <a:endParaRPr lang="en-US" sz="750" dirty="0"/>
          </a:p>
        </p:txBody>
      </p:sp>
      <p:sp>
        <p:nvSpPr>
          <p:cNvPr id="29" name="bullet-375"/>
          <p:cNvSpPr txBox="1"/>
          <p:nvPr/>
        </p:nvSpPr>
        <p:spPr>
          <a:xfrm>
            <a:off x="914400" y="6108192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심야 골목에서 붐비는 아침 지하철로 공간을 전환하며 붉은 마스크를 반복 노출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A6E66"/>
                </a:solidFill>
                <a:latin typeface="Impact"/>
                <a:ea typeface="Impact"/>
                <a:cs typeface="Impact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_end-376" descr="조명이 쏟아지는 대극장 무대를 흐리게 깐 배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card-cardback-377" descr="카드 뒷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480000">
            <a:off x="5074920" y="685800"/>
            <a:ext cx="2024743" cy="2834640"/>
          </a:xfrm>
          <a:prstGeom prst="rect">
            <a:avLst/>
          </a:prstGeom>
        </p:spPr>
      </p:pic>
      <p:pic>
        <p:nvPicPr>
          <p:cNvPr id="4" name="card-card1_face-378" descr="A♥ 카드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20000">
            <a:off x="5440680" y="868680"/>
            <a:ext cx="2024743" cy="2834640"/>
          </a:xfrm>
          <a:prstGeom prst="rect">
            <a:avLst/>
          </a:prstGeom>
        </p:spPr>
      </p:pic>
      <p:sp>
        <p:nvSpPr>
          <p:cNvPr id="5" name="text-379"/>
          <p:cNvSpPr txBox="1"/>
          <p:nvPr/>
        </p:nvSpPr>
        <p:spPr>
          <a:xfrm>
            <a:off x="0" y="40690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rgbClr val="E0475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6" name="text-380"/>
          <p:cNvSpPr txBox="1"/>
          <p:nvPr/>
        </p:nvSpPr>
        <p:spPr>
          <a:xfrm>
            <a:off x="0" y="44348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7" name="text-381"/>
          <p:cNvSpPr txBox="1"/>
          <p:nvPr/>
        </p:nvSpPr>
        <p:spPr>
          <a:xfrm>
            <a:off x="0" y="530352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EB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조성기  ·  CHOSK</a:t>
            </a:r>
            <a:endParaRPr lang="en-US" sz="1800" dirty="0"/>
          </a:p>
        </p:txBody>
      </p:sp>
      <p:sp>
        <p:nvSpPr>
          <p:cNvPr id="8" name="text-382"/>
          <p:cNvSpPr txBox="1"/>
          <p:nvPr/>
        </p:nvSpPr>
        <p:spPr>
          <a:xfrm>
            <a:off x="0" y="57607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BF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뮤직비디오 / 캐릭터 IP 웹툰 / 숏폼 광고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ld Card">
  <a:themeElements>
    <a:clrScheme name="Wild Card">
      <a:dk1>
        <a:srgbClr val="0E0C0B"/>
      </a:dk1>
      <a:lt1>
        <a:srgbClr val="F3EBDD"/>
      </a:lt1>
      <a:dk2>
        <a:srgbClr val="1C1817"/>
      </a:dk2>
      <a:lt2>
        <a:srgbClr val="FBF7F0"/>
      </a:lt2>
      <a:accent1>
        <a:srgbClr val="B3122E"/>
      </a:accent1>
      <a:accent2>
        <a:srgbClr val="E08A2E"/>
      </a:accent2>
      <a:accent3>
        <a:srgbClr val="3E5A9E"/>
      </a:accent3>
      <a:accent4>
        <a:srgbClr val="B8955A"/>
      </a:accent4>
      <a:accent5>
        <a:srgbClr val="E0475E"/>
      </a:accent5>
      <a:accent6>
        <a:srgbClr val="9A8E84"/>
      </a:accent6>
      <a:hlink>
        <a:srgbClr val="E0475E"/>
      </a:hlink>
      <a:folHlink>
        <a:srgbClr val="E0475E"/>
      </a:folHlink>
    </a:clrScheme>
    <a:fontScheme name="Wild Card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조성기 포트폴리오</dc:title>
  <dc:subject>PptxGenJS Presentation</dc:subject>
  <dc:creator>조성기</dc:creator>
  <cp:lastModifiedBy>조성기</cp:lastModifiedBy>
  <cp:revision>1</cp:revision>
  <dcterms:created xsi:type="dcterms:W3CDTF">2026-10-02T03:36:09Z</dcterms:created>
  <dcterms:modified xsi:type="dcterms:W3CDTF">2026-10-02T03:36:09Z</dcterms:modified>
</cp:coreProperties>
</file>